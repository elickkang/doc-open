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84" r:id="rId3"/>
    <p:sldMasterId id="2147483696" r:id="rId4"/>
  </p:sldMasterIdLst>
  <p:notesMasterIdLst>
    <p:notesMasterId r:id="rId80"/>
  </p:notesMasterIdLst>
  <p:sldIdLst>
    <p:sldId id="256" r:id="rId5"/>
    <p:sldId id="300" r:id="rId6"/>
    <p:sldId id="294" r:id="rId7"/>
    <p:sldId id="302" r:id="rId8"/>
    <p:sldId id="405" r:id="rId9"/>
    <p:sldId id="394" r:id="rId10"/>
    <p:sldId id="295" r:id="rId11"/>
    <p:sldId id="393" r:id="rId12"/>
    <p:sldId id="308" r:id="rId13"/>
    <p:sldId id="406" r:id="rId14"/>
    <p:sldId id="309" r:id="rId15"/>
    <p:sldId id="310" r:id="rId16"/>
    <p:sldId id="311" r:id="rId17"/>
    <p:sldId id="313" r:id="rId18"/>
    <p:sldId id="314" r:id="rId19"/>
    <p:sldId id="315" r:id="rId20"/>
    <p:sldId id="407" r:id="rId21"/>
    <p:sldId id="318" r:id="rId22"/>
    <p:sldId id="319" r:id="rId23"/>
    <p:sldId id="321" r:id="rId24"/>
    <p:sldId id="322" r:id="rId25"/>
    <p:sldId id="323" r:id="rId26"/>
    <p:sldId id="325" r:id="rId27"/>
    <p:sldId id="326" r:id="rId28"/>
    <p:sldId id="296" r:id="rId29"/>
    <p:sldId id="327" r:id="rId30"/>
    <p:sldId id="329" r:id="rId31"/>
    <p:sldId id="395" r:id="rId32"/>
    <p:sldId id="408" r:id="rId33"/>
    <p:sldId id="330" r:id="rId34"/>
    <p:sldId id="333" r:id="rId35"/>
    <p:sldId id="338" r:id="rId36"/>
    <p:sldId id="409" r:id="rId37"/>
    <p:sldId id="340" r:id="rId38"/>
    <p:sldId id="341" r:id="rId39"/>
    <p:sldId id="297" r:id="rId40"/>
    <p:sldId id="342" r:id="rId41"/>
    <p:sldId id="396" r:id="rId42"/>
    <p:sldId id="413" r:id="rId43"/>
    <p:sldId id="344" r:id="rId44"/>
    <p:sldId id="345" r:id="rId45"/>
    <p:sldId id="346" r:id="rId46"/>
    <p:sldId id="348" r:id="rId47"/>
    <p:sldId id="349" r:id="rId48"/>
    <p:sldId id="355" r:id="rId49"/>
    <p:sldId id="357" r:id="rId50"/>
    <p:sldId id="397" r:id="rId51"/>
    <p:sldId id="358" r:id="rId52"/>
    <p:sldId id="298" r:id="rId53"/>
    <p:sldId id="360" r:id="rId54"/>
    <p:sldId id="361" r:id="rId55"/>
    <p:sldId id="362" r:id="rId56"/>
    <p:sldId id="398" r:id="rId57"/>
    <p:sldId id="399" r:id="rId58"/>
    <p:sldId id="365" r:id="rId59"/>
    <p:sldId id="366" r:id="rId60"/>
    <p:sldId id="367" r:id="rId61"/>
    <p:sldId id="410" r:id="rId62"/>
    <p:sldId id="369" r:id="rId63"/>
    <p:sldId id="400" r:id="rId64"/>
    <p:sldId id="370" r:id="rId65"/>
    <p:sldId id="411" r:id="rId66"/>
    <p:sldId id="371" r:id="rId67"/>
    <p:sldId id="412" r:id="rId68"/>
    <p:sldId id="373" r:id="rId69"/>
    <p:sldId id="375" r:id="rId70"/>
    <p:sldId id="376" r:id="rId71"/>
    <p:sldId id="401" r:id="rId72"/>
    <p:sldId id="377" r:id="rId73"/>
    <p:sldId id="379" r:id="rId74"/>
    <p:sldId id="380" r:id="rId75"/>
    <p:sldId id="403" r:id="rId76"/>
    <p:sldId id="402" r:id="rId77"/>
    <p:sldId id="287" r:id="rId78"/>
    <p:sldId id="404" r:id="rId7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83"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5C249"/>
    <a:srgbClr val="A50000"/>
    <a:srgbClr val="009DD9"/>
    <a:srgbClr val="FFD343"/>
    <a:srgbClr val="262C8B"/>
    <a:srgbClr val="0A0F23"/>
    <a:srgbClr val="194782"/>
    <a:srgbClr val="3B8FBD"/>
    <a:srgbClr val="0B1224"/>
    <a:srgbClr val="2D2D7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502" autoAdjust="0"/>
  </p:normalViewPr>
  <p:slideViewPr>
    <p:cSldViewPr snapToGrid="0" showGuides="1">
      <p:cViewPr varScale="1">
        <p:scale>
          <a:sx n="65" d="100"/>
          <a:sy n="65" d="100"/>
        </p:scale>
        <p:origin x="-102" y="-876"/>
      </p:cViewPr>
      <p:guideLst>
        <p:guide orient="horz" pos="2183"/>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slide" Target="slides/slide59.xml"/><Relationship Id="rId68" Type="http://schemas.openxmlformats.org/officeDocument/2006/relationships/slide" Target="slides/slide64.xml"/><Relationship Id="rId76" Type="http://schemas.openxmlformats.org/officeDocument/2006/relationships/slide" Target="slides/slide72.xml"/><Relationship Id="rId84" Type="http://schemas.openxmlformats.org/officeDocument/2006/relationships/tableStyles" Target="tableStyles.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61" Type="http://schemas.openxmlformats.org/officeDocument/2006/relationships/slide" Target="slides/slide57.xml"/><Relationship Id="rId82"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notesMaster" Target="notesMasters/notesMaster1.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B86FE02-0DE2-41EF-AF34-3029E4857EAB}" type="datetimeFigureOut">
              <a:rPr lang="zh-CN" altLang="en-US" smtClean="0"/>
              <a:t>2019/7/18</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375CDB1-F3DC-4D33-A0B1-48C7890272ED}" type="slidenum">
              <a:rPr lang="zh-CN" altLang="en-US" smtClean="0"/>
              <a:t>‹#›</a:t>
            </a:fld>
            <a:endParaRPr lang="zh-CN" altLang="en-US"/>
          </a:p>
        </p:txBody>
      </p:sp>
    </p:spTree>
    <p:extLst>
      <p:ext uri="{BB962C8B-B14F-4D97-AF65-F5344CB8AC3E}">
        <p14:creationId xmlns:p14="http://schemas.microsoft.com/office/powerpoint/2010/main" val="4801716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375CDB1-F3DC-4D33-A0B1-48C7890272ED}" type="slidenum">
              <a:rPr lang="zh-CN" altLang="en-US" smtClean="0"/>
              <a:t>1</a:t>
            </a:fld>
            <a:endParaRPr lang="zh-CN" altLang="en-US"/>
          </a:p>
        </p:txBody>
      </p:sp>
    </p:spTree>
    <p:extLst>
      <p:ext uri="{BB962C8B-B14F-4D97-AF65-F5344CB8AC3E}">
        <p14:creationId xmlns:p14="http://schemas.microsoft.com/office/powerpoint/2010/main" val="23968711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375CDB1-F3DC-4D33-A0B1-48C7890272ED}" type="slidenum">
              <a:rPr lang="zh-CN" altLang="en-US" smtClean="0"/>
              <a:t>2</a:t>
            </a:fld>
            <a:endParaRPr lang="zh-CN" altLang="en-US"/>
          </a:p>
        </p:txBody>
      </p:sp>
    </p:spTree>
    <p:extLst>
      <p:ext uri="{BB962C8B-B14F-4D97-AF65-F5344CB8AC3E}">
        <p14:creationId xmlns:p14="http://schemas.microsoft.com/office/powerpoint/2010/main" val="18227488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让读者对</a:t>
            </a:r>
            <a:r>
              <a:rPr lang="en-US" altLang="zh-CN" dirty="0" err="1" smtClean="0"/>
              <a:t>redis</a:t>
            </a:r>
            <a:r>
              <a:rPr lang="zh-CN" altLang="en-US" dirty="0" smtClean="0"/>
              <a:t>产生一个基本的画面感</a:t>
            </a:r>
            <a:endParaRPr lang="zh-CN" altLang="en-US" dirty="0"/>
          </a:p>
        </p:txBody>
      </p:sp>
      <p:sp>
        <p:nvSpPr>
          <p:cNvPr id="4" name="灯片编号占位符 3"/>
          <p:cNvSpPr>
            <a:spLocks noGrp="1"/>
          </p:cNvSpPr>
          <p:nvPr>
            <p:ph type="sldNum" sz="quarter" idx="10"/>
          </p:nvPr>
        </p:nvSpPr>
        <p:spPr/>
        <p:txBody>
          <a:bodyPr/>
          <a:lstStyle/>
          <a:p>
            <a:fld id="{8375CDB1-F3DC-4D33-A0B1-48C7890272ED}" type="slidenum">
              <a:rPr lang="zh-CN" altLang="en-US" smtClean="0"/>
              <a:t>4</a:t>
            </a:fld>
            <a:endParaRPr lang="zh-CN" altLang="en-US"/>
          </a:p>
        </p:txBody>
      </p:sp>
    </p:spTree>
    <p:extLst>
      <p:ext uri="{BB962C8B-B14F-4D97-AF65-F5344CB8AC3E}">
        <p14:creationId xmlns:p14="http://schemas.microsoft.com/office/powerpoint/2010/main" val="20419206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让读者对</a:t>
            </a:r>
            <a:r>
              <a:rPr lang="en-US" altLang="zh-CN" dirty="0" err="1" smtClean="0"/>
              <a:t>redis</a:t>
            </a:r>
            <a:r>
              <a:rPr lang="zh-CN" altLang="en-US" dirty="0" smtClean="0"/>
              <a:t>产生一个基本的画面感</a:t>
            </a:r>
            <a:endParaRPr lang="zh-CN" altLang="en-US" dirty="0"/>
          </a:p>
        </p:txBody>
      </p:sp>
      <p:sp>
        <p:nvSpPr>
          <p:cNvPr id="4" name="灯片编号占位符 3"/>
          <p:cNvSpPr>
            <a:spLocks noGrp="1"/>
          </p:cNvSpPr>
          <p:nvPr>
            <p:ph type="sldNum" sz="quarter" idx="10"/>
          </p:nvPr>
        </p:nvSpPr>
        <p:spPr/>
        <p:txBody>
          <a:bodyPr/>
          <a:lstStyle/>
          <a:p>
            <a:fld id="{8375CDB1-F3DC-4D33-A0B1-48C7890272ED}" type="slidenum">
              <a:rPr lang="zh-CN" altLang="en-US" smtClean="0">
                <a:solidFill>
                  <a:prstClr val="black"/>
                </a:solidFill>
              </a:rPr>
              <a:pPr/>
              <a:t>5</a:t>
            </a:fld>
            <a:endParaRPr lang="zh-CN" altLang="en-US">
              <a:solidFill>
                <a:prstClr val="black"/>
              </a:solidFill>
            </a:endParaRPr>
          </a:p>
        </p:txBody>
      </p:sp>
    </p:spTree>
    <p:extLst>
      <p:ext uri="{BB962C8B-B14F-4D97-AF65-F5344CB8AC3E}">
        <p14:creationId xmlns:p14="http://schemas.microsoft.com/office/powerpoint/2010/main" val="20419206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让读者对</a:t>
            </a:r>
            <a:r>
              <a:rPr lang="en-US" altLang="zh-CN" dirty="0" err="1" smtClean="0"/>
              <a:t>redis</a:t>
            </a:r>
            <a:r>
              <a:rPr lang="zh-CN" altLang="en-US" dirty="0" smtClean="0"/>
              <a:t>产生一个基本的画面感</a:t>
            </a: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75CDB1-F3DC-4D33-A0B1-48C7890272ED}"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4037793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能量包</a:t>
            </a:r>
            <a:r>
              <a:rPr lang="en-US" altLang="zh-CN" dirty="0" smtClean="0"/>
              <a:t>-1</a:t>
            </a:r>
            <a:r>
              <a:rPr lang="zh-CN" altLang="en-US" dirty="0" smtClean="0"/>
              <a:t>：课程名称的包装</a:t>
            </a:r>
            <a:endParaRPr lang="zh-CN" altLang="en-US" dirty="0"/>
          </a:p>
        </p:txBody>
      </p:sp>
      <p:sp>
        <p:nvSpPr>
          <p:cNvPr id="4" name="灯片编号占位符 3"/>
          <p:cNvSpPr>
            <a:spLocks noGrp="1"/>
          </p:cNvSpPr>
          <p:nvPr>
            <p:ph type="sldNum" sz="quarter" idx="10"/>
          </p:nvPr>
        </p:nvSpPr>
        <p:spPr/>
        <p:txBody>
          <a:bodyPr/>
          <a:lstStyle/>
          <a:p>
            <a:fld id="{7C5C9BD4-FD12-4A01-997E-C6219DCE8D8E}" type="slidenum">
              <a:rPr lang="zh-CN" altLang="en-US" smtClean="0">
                <a:solidFill>
                  <a:prstClr val="black"/>
                </a:solidFill>
              </a:rPr>
              <a:pPr/>
              <a:t>75</a:t>
            </a:fld>
            <a:endParaRPr lang="zh-CN" altLang="en-US">
              <a:solidFill>
                <a:prstClr val="black"/>
              </a:solidFill>
            </a:endParaRPr>
          </a:p>
        </p:txBody>
      </p:sp>
    </p:spTree>
    <p:extLst>
      <p:ext uri="{BB962C8B-B14F-4D97-AF65-F5344CB8AC3E}">
        <p14:creationId xmlns:p14="http://schemas.microsoft.com/office/powerpoint/2010/main" val="18084796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D8F49A70-ACAF-493B-82B4-2C28FFEE7286}"/>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xmlns="" id="{F79E55C8-968D-4310-BD60-250D0051F4A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xmlns="" id="{3EBDE0DE-EDFA-4FBC-AE08-372DA88695C5}"/>
              </a:ext>
            </a:extLst>
          </p:cNvPr>
          <p:cNvSpPr>
            <a:spLocks noGrp="1"/>
          </p:cNvSpPr>
          <p:nvPr>
            <p:ph type="dt" sz="half" idx="10"/>
          </p:nvPr>
        </p:nvSpPr>
        <p:spPr/>
        <p:txBody>
          <a:bodyPr/>
          <a:lstStyle/>
          <a:p>
            <a:fld id="{333A3093-40F6-47B9-825A-D42085300745}" type="datetimeFigureOut">
              <a:rPr lang="zh-CN" altLang="en-US" smtClean="0"/>
              <a:t>2019/7/18</a:t>
            </a:fld>
            <a:endParaRPr lang="zh-CN" altLang="en-US"/>
          </a:p>
        </p:txBody>
      </p:sp>
      <p:sp>
        <p:nvSpPr>
          <p:cNvPr id="5" name="页脚占位符 4">
            <a:extLst>
              <a:ext uri="{FF2B5EF4-FFF2-40B4-BE49-F238E27FC236}">
                <a16:creationId xmlns:a16="http://schemas.microsoft.com/office/drawing/2014/main" xmlns="" id="{9EB5CFA1-A161-45E8-8022-687A84FED17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xmlns="" id="{8D34531C-BE2B-4049-A313-4603A818C4A7}"/>
              </a:ext>
            </a:extLst>
          </p:cNvPr>
          <p:cNvSpPr>
            <a:spLocks noGrp="1"/>
          </p:cNvSpPr>
          <p:nvPr>
            <p:ph type="sldNum" sz="quarter" idx="12"/>
          </p:nvPr>
        </p:nvSpPr>
        <p:spPr/>
        <p:txBody>
          <a:bodyPr/>
          <a:lstStyle/>
          <a:p>
            <a:fld id="{36969FF9-A5DA-4662-921D-53CEF3A13F09}" type="slidenum">
              <a:rPr lang="zh-CN" altLang="en-US" smtClean="0"/>
              <a:t>‹#›</a:t>
            </a:fld>
            <a:endParaRPr lang="zh-CN" altLang="en-US"/>
          </a:p>
        </p:txBody>
      </p:sp>
    </p:spTree>
    <p:extLst>
      <p:ext uri="{BB962C8B-B14F-4D97-AF65-F5344CB8AC3E}">
        <p14:creationId xmlns:p14="http://schemas.microsoft.com/office/powerpoint/2010/main" val="31457537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830C5C92-9822-40F8-9F6F-24F959C70985}"/>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xmlns="" id="{211C7B4C-A680-44B3-BB16-9BCA3AA68E76}"/>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xmlns="" id="{7ADBC638-93FC-4DDB-BA5D-BA1608C51E83}"/>
              </a:ext>
            </a:extLst>
          </p:cNvPr>
          <p:cNvSpPr>
            <a:spLocks noGrp="1"/>
          </p:cNvSpPr>
          <p:nvPr>
            <p:ph type="dt" sz="half" idx="10"/>
          </p:nvPr>
        </p:nvSpPr>
        <p:spPr/>
        <p:txBody>
          <a:bodyPr/>
          <a:lstStyle/>
          <a:p>
            <a:fld id="{333A3093-40F6-47B9-825A-D42085300745}" type="datetimeFigureOut">
              <a:rPr lang="zh-CN" altLang="en-US" smtClean="0"/>
              <a:t>2019/7/18</a:t>
            </a:fld>
            <a:endParaRPr lang="zh-CN" altLang="en-US"/>
          </a:p>
        </p:txBody>
      </p:sp>
      <p:sp>
        <p:nvSpPr>
          <p:cNvPr id="5" name="页脚占位符 4">
            <a:extLst>
              <a:ext uri="{FF2B5EF4-FFF2-40B4-BE49-F238E27FC236}">
                <a16:creationId xmlns:a16="http://schemas.microsoft.com/office/drawing/2014/main" xmlns="" id="{0B388A69-DED5-4667-8C3C-526282BCF30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xmlns="" id="{0E5D1A26-7FA0-4FC2-A634-7D890ABFE33C}"/>
              </a:ext>
            </a:extLst>
          </p:cNvPr>
          <p:cNvSpPr>
            <a:spLocks noGrp="1"/>
          </p:cNvSpPr>
          <p:nvPr>
            <p:ph type="sldNum" sz="quarter" idx="12"/>
          </p:nvPr>
        </p:nvSpPr>
        <p:spPr/>
        <p:txBody>
          <a:bodyPr/>
          <a:lstStyle/>
          <a:p>
            <a:fld id="{36969FF9-A5DA-4662-921D-53CEF3A13F09}" type="slidenum">
              <a:rPr lang="zh-CN" altLang="en-US" smtClean="0"/>
              <a:t>‹#›</a:t>
            </a:fld>
            <a:endParaRPr lang="zh-CN" altLang="en-US"/>
          </a:p>
        </p:txBody>
      </p:sp>
    </p:spTree>
    <p:extLst>
      <p:ext uri="{BB962C8B-B14F-4D97-AF65-F5344CB8AC3E}">
        <p14:creationId xmlns:p14="http://schemas.microsoft.com/office/powerpoint/2010/main" val="33816608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D6C20391-182A-40CD-A735-3B964D7D94DB}"/>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xmlns="" id="{051F9417-4B98-4C89-BF17-B916F4B2E13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xmlns="" id="{DEFF8D3A-8D46-48EC-BECE-8C9A8C9DB01B}"/>
              </a:ext>
            </a:extLst>
          </p:cNvPr>
          <p:cNvSpPr>
            <a:spLocks noGrp="1"/>
          </p:cNvSpPr>
          <p:nvPr>
            <p:ph type="dt" sz="half" idx="10"/>
          </p:nvPr>
        </p:nvSpPr>
        <p:spPr/>
        <p:txBody>
          <a:bodyPr/>
          <a:lstStyle/>
          <a:p>
            <a:fld id="{333A3093-40F6-47B9-825A-D42085300745}" type="datetimeFigureOut">
              <a:rPr lang="zh-CN" altLang="en-US" smtClean="0"/>
              <a:t>2019/7/18</a:t>
            </a:fld>
            <a:endParaRPr lang="zh-CN" altLang="en-US"/>
          </a:p>
        </p:txBody>
      </p:sp>
      <p:sp>
        <p:nvSpPr>
          <p:cNvPr id="5" name="页脚占位符 4">
            <a:extLst>
              <a:ext uri="{FF2B5EF4-FFF2-40B4-BE49-F238E27FC236}">
                <a16:creationId xmlns:a16="http://schemas.microsoft.com/office/drawing/2014/main" xmlns="" id="{A7D9C983-E286-4CFF-8CAA-891986A26F9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xmlns="" id="{8FD302C4-08BC-4E84-9AE9-3ECACC31FC45}"/>
              </a:ext>
            </a:extLst>
          </p:cNvPr>
          <p:cNvSpPr>
            <a:spLocks noGrp="1"/>
          </p:cNvSpPr>
          <p:nvPr>
            <p:ph type="sldNum" sz="quarter" idx="12"/>
          </p:nvPr>
        </p:nvSpPr>
        <p:spPr/>
        <p:txBody>
          <a:bodyPr/>
          <a:lstStyle/>
          <a:p>
            <a:fld id="{36969FF9-A5DA-4662-921D-53CEF3A13F09}" type="slidenum">
              <a:rPr lang="zh-CN" altLang="en-US" smtClean="0"/>
              <a:t>‹#›</a:t>
            </a:fld>
            <a:endParaRPr lang="zh-CN" altLang="en-US"/>
          </a:p>
        </p:txBody>
      </p:sp>
    </p:spTree>
    <p:extLst>
      <p:ext uri="{BB962C8B-B14F-4D97-AF65-F5344CB8AC3E}">
        <p14:creationId xmlns:p14="http://schemas.microsoft.com/office/powerpoint/2010/main" val="29329012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B71A1132-8831-44D0-9BD7-1EC07C23597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xmlns="" id="{E5185522-B955-447E-84F2-39668858A877}"/>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xmlns="" id="{7DFDEF6B-9FC7-4BEC-A115-ECBE908C3875}"/>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xmlns="" id="{ED6633BD-9A6E-4CFE-812A-2F13F8BA4300}"/>
              </a:ext>
            </a:extLst>
          </p:cNvPr>
          <p:cNvSpPr>
            <a:spLocks noGrp="1"/>
          </p:cNvSpPr>
          <p:nvPr>
            <p:ph type="dt" sz="half" idx="10"/>
          </p:nvPr>
        </p:nvSpPr>
        <p:spPr/>
        <p:txBody>
          <a:bodyPr/>
          <a:lstStyle/>
          <a:p>
            <a:fld id="{333A3093-40F6-47B9-825A-D42085300745}" type="datetimeFigureOut">
              <a:rPr lang="zh-CN" altLang="en-US" smtClean="0"/>
              <a:t>2019/7/18</a:t>
            </a:fld>
            <a:endParaRPr lang="zh-CN" altLang="en-US"/>
          </a:p>
        </p:txBody>
      </p:sp>
      <p:sp>
        <p:nvSpPr>
          <p:cNvPr id="6" name="页脚占位符 5">
            <a:extLst>
              <a:ext uri="{FF2B5EF4-FFF2-40B4-BE49-F238E27FC236}">
                <a16:creationId xmlns:a16="http://schemas.microsoft.com/office/drawing/2014/main" xmlns="" id="{683290BD-F9CF-4B55-A12D-9929780A4A2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xmlns="" id="{A714B468-CE00-4BB9-8664-395E6C22B755}"/>
              </a:ext>
            </a:extLst>
          </p:cNvPr>
          <p:cNvSpPr>
            <a:spLocks noGrp="1"/>
          </p:cNvSpPr>
          <p:nvPr>
            <p:ph type="sldNum" sz="quarter" idx="12"/>
          </p:nvPr>
        </p:nvSpPr>
        <p:spPr/>
        <p:txBody>
          <a:bodyPr/>
          <a:lstStyle/>
          <a:p>
            <a:fld id="{36969FF9-A5DA-4662-921D-53CEF3A13F09}" type="slidenum">
              <a:rPr lang="zh-CN" altLang="en-US" smtClean="0"/>
              <a:t>‹#›</a:t>
            </a:fld>
            <a:endParaRPr lang="zh-CN" altLang="en-US"/>
          </a:p>
        </p:txBody>
      </p:sp>
    </p:spTree>
    <p:extLst>
      <p:ext uri="{BB962C8B-B14F-4D97-AF65-F5344CB8AC3E}">
        <p14:creationId xmlns:p14="http://schemas.microsoft.com/office/powerpoint/2010/main" val="22545775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ADE213D3-5358-44F7-97E5-F93E63230282}"/>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xmlns="" id="{580A884C-2343-48DC-8CE3-E9D3FA6D201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xmlns="" id="{1BAB49BD-92BC-49B7-93E4-059BF3054112}"/>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xmlns="" id="{A8061D1E-0CF4-455E-9ACB-E2D067F4FE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xmlns="" id="{C384CAC8-6C6A-48DB-823D-DEDF88F2DAEE}"/>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xmlns="" id="{79051396-1467-4116-9534-313A4237C9AD}"/>
              </a:ext>
            </a:extLst>
          </p:cNvPr>
          <p:cNvSpPr>
            <a:spLocks noGrp="1"/>
          </p:cNvSpPr>
          <p:nvPr>
            <p:ph type="dt" sz="half" idx="10"/>
          </p:nvPr>
        </p:nvSpPr>
        <p:spPr/>
        <p:txBody>
          <a:bodyPr/>
          <a:lstStyle/>
          <a:p>
            <a:fld id="{333A3093-40F6-47B9-825A-D42085300745}" type="datetimeFigureOut">
              <a:rPr lang="zh-CN" altLang="en-US" smtClean="0"/>
              <a:t>2019/7/18</a:t>
            </a:fld>
            <a:endParaRPr lang="zh-CN" altLang="en-US"/>
          </a:p>
        </p:txBody>
      </p:sp>
      <p:sp>
        <p:nvSpPr>
          <p:cNvPr id="8" name="页脚占位符 7">
            <a:extLst>
              <a:ext uri="{FF2B5EF4-FFF2-40B4-BE49-F238E27FC236}">
                <a16:creationId xmlns:a16="http://schemas.microsoft.com/office/drawing/2014/main" xmlns="" id="{0EF97187-9D85-426F-9EBC-DEF45E5B7BD4}"/>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xmlns="" id="{75A35A50-12AC-44ED-9C1F-ECDD8F13EDFD}"/>
              </a:ext>
            </a:extLst>
          </p:cNvPr>
          <p:cNvSpPr>
            <a:spLocks noGrp="1"/>
          </p:cNvSpPr>
          <p:nvPr>
            <p:ph type="sldNum" sz="quarter" idx="12"/>
          </p:nvPr>
        </p:nvSpPr>
        <p:spPr/>
        <p:txBody>
          <a:bodyPr/>
          <a:lstStyle/>
          <a:p>
            <a:fld id="{36969FF9-A5DA-4662-921D-53CEF3A13F09}" type="slidenum">
              <a:rPr lang="zh-CN" altLang="en-US" smtClean="0"/>
              <a:t>‹#›</a:t>
            </a:fld>
            <a:endParaRPr lang="zh-CN" altLang="en-US"/>
          </a:p>
        </p:txBody>
      </p:sp>
    </p:spTree>
    <p:extLst>
      <p:ext uri="{BB962C8B-B14F-4D97-AF65-F5344CB8AC3E}">
        <p14:creationId xmlns:p14="http://schemas.microsoft.com/office/powerpoint/2010/main" val="41180381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8B043866-8C2C-4B57-B521-AC4727269303}"/>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xmlns="" id="{DB50302A-C029-4C3B-82E4-D3C0EC197340}"/>
              </a:ext>
            </a:extLst>
          </p:cNvPr>
          <p:cNvSpPr>
            <a:spLocks noGrp="1"/>
          </p:cNvSpPr>
          <p:nvPr>
            <p:ph type="dt" sz="half" idx="10"/>
          </p:nvPr>
        </p:nvSpPr>
        <p:spPr/>
        <p:txBody>
          <a:bodyPr/>
          <a:lstStyle/>
          <a:p>
            <a:fld id="{333A3093-40F6-47B9-825A-D42085300745}" type="datetimeFigureOut">
              <a:rPr lang="zh-CN" altLang="en-US" smtClean="0"/>
              <a:t>2019/7/18</a:t>
            </a:fld>
            <a:endParaRPr lang="zh-CN" altLang="en-US"/>
          </a:p>
        </p:txBody>
      </p:sp>
      <p:sp>
        <p:nvSpPr>
          <p:cNvPr id="4" name="页脚占位符 3">
            <a:extLst>
              <a:ext uri="{FF2B5EF4-FFF2-40B4-BE49-F238E27FC236}">
                <a16:creationId xmlns:a16="http://schemas.microsoft.com/office/drawing/2014/main" xmlns="" id="{276035A5-EE6E-418A-A36B-F03B86354967}"/>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xmlns="" id="{EF2CDF1A-BEF1-4EEE-BEE7-E97DA5A4220F}"/>
              </a:ext>
            </a:extLst>
          </p:cNvPr>
          <p:cNvSpPr>
            <a:spLocks noGrp="1"/>
          </p:cNvSpPr>
          <p:nvPr>
            <p:ph type="sldNum" sz="quarter" idx="12"/>
          </p:nvPr>
        </p:nvSpPr>
        <p:spPr/>
        <p:txBody>
          <a:bodyPr/>
          <a:lstStyle/>
          <a:p>
            <a:fld id="{36969FF9-A5DA-4662-921D-53CEF3A13F09}" type="slidenum">
              <a:rPr lang="zh-CN" altLang="en-US" smtClean="0"/>
              <a:t>‹#›</a:t>
            </a:fld>
            <a:endParaRPr lang="zh-CN" altLang="en-US"/>
          </a:p>
        </p:txBody>
      </p:sp>
    </p:spTree>
    <p:extLst>
      <p:ext uri="{BB962C8B-B14F-4D97-AF65-F5344CB8AC3E}">
        <p14:creationId xmlns:p14="http://schemas.microsoft.com/office/powerpoint/2010/main" val="23403525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xmlns="" id="{D36D8A96-7A2D-42D8-9D58-EDC4C3724D37}"/>
              </a:ext>
            </a:extLst>
          </p:cNvPr>
          <p:cNvSpPr>
            <a:spLocks noGrp="1"/>
          </p:cNvSpPr>
          <p:nvPr>
            <p:ph type="dt" sz="half" idx="10"/>
          </p:nvPr>
        </p:nvSpPr>
        <p:spPr/>
        <p:txBody>
          <a:bodyPr/>
          <a:lstStyle/>
          <a:p>
            <a:fld id="{333A3093-40F6-47B9-825A-D42085300745}" type="datetimeFigureOut">
              <a:rPr lang="zh-CN" altLang="en-US" smtClean="0"/>
              <a:t>2019/7/18</a:t>
            </a:fld>
            <a:endParaRPr lang="zh-CN" altLang="en-US"/>
          </a:p>
        </p:txBody>
      </p:sp>
      <p:sp>
        <p:nvSpPr>
          <p:cNvPr id="3" name="页脚占位符 2">
            <a:extLst>
              <a:ext uri="{FF2B5EF4-FFF2-40B4-BE49-F238E27FC236}">
                <a16:creationId xmlns:a16="http://schemas.microsoft.com/office/drawing/2014/main" xmlns="" id="{2613DFCA-9829-4BD1-ABEA-E2AF102D91C5}"/>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xmlns="" id="{9D300C57-5786-480F-B498-A6763A04D70A}"/>
              </a:ext>
            </a:extLst>
          </p:cNvPr>
          <p:cNvSpPr>
            <a:spLocks noGrp="1"/>
          </p:cNvSpPr>
          <p:nvPr>
            <p:ph type="sldNum" sz="quarter" idx="12"/>
          </p:nvPr>
        </p:nvSpPr>
        <p:spPr/>
        <p:txBody>
          <a:bodyPr/>
          <a:lstStyle/>
          <a:p>
            <a:fld id="{36969FF9-A5DA-4662-921D-53CEF3A13F09}" type="slidenum">
              <a:rPr lang="zh-CN" altLang="en-US" smtClean="0"/>
              <a:t>‹#›</a:t>
            </a:fld>
            <a:endParaRPr lang="zh-CN" altLang="en-US"/>
          </a:p>
        </p:txBody>
      </p:sp>
    </p:spTree>
    <p:extLst>
      <p:ext uri="{BB962C8B-B14F-4D97-AF65-F5344CB8AC3E}">
        <p14:creationId xmlns:p14="http://schemas.microsoft.com/office/powerpoint/2010/main" val="1964098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B6D2C306-E503-4410-A984-64666ABB67B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xmlns="" id="{74F4BB77-FD07-4322-BF7F-28719CFE96C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xmlns="" id="{03710F5A-69A0-4C90-BD06-B000401C6A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xmlns="" id="{CA123F3B-3B84-4247-B7F4-0DF87AC41E30}"/>
              </a:ext>
            </a:extLst>
          </p:cNvPr>
          <p:cNvSpPr>
            <a:spLocks noGrp="1"/>
          </p:cNvSpPr>
          <p:nvPr>
            <p:ph type="dt" sz="half" idx="10"/>
          </p:nvPr>
        </p:nvSpPr>
        <p:spPr/>
        <p:txBody>
          <a:bodyPr/>
          <a:lstStyle/>
          <a:p>
            <a:fld id="{333A3093-40F6-47B9-825A-D42085300745}" type="datetimeFigureOut">
              <a:rPr lang="zh-CN" altLang="en-US" smtClean="0"/>
              <a:t>2019/7/18</a:t>
            </a:fld>
            <a:endParaRPr lang="zh-CN" altLang="en-US"/>
          </a:p>
        </p:txBody>
      </p:sp>
      <p:sp>
        <p:nvSpPr>
          <p:cNvPr id="6" name="页脚占位符 5">
            <a:extLst>
              <a:ext uri="{FF2B5EF4-FFF2-40B4-BE49-F238E27FC236}">
                <a16:creationId xmlns:a16="http://schemas.microsoft.com/office/drawing/2014/main" xmlns="" id="{CFC9CAE2-77CA-4906-9993-ED5F90D1CCA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xmlns="" id="{1D66D812-5CB6-4BA4-8259-882816138EB8}"/>
              </a:ext>
            </a:extLst>
          </p:cNvPr>
          <p:cNvSpPr>
            <a:spLocks noGrp="1"/>
          </p:cNvSpPr>
          <p:nvPr>
            <p:ph type="sldNum" sz="quarter" idx="12"/>
          </p:nvPr>
        </p:nvSpPr>
        <p:spPr/>
        <p:txBody>
          <a:bodyPr/>
          <a:lstStyle/>
          <a:p>
            <a:fld id="{36969FF9-A5DA-4662-921D-53CEF3A13F09}" type="slidenum">
              <a:rPr lang="zh-CN" altLang="en-US" smtClean="0"/>
              <a:t>‹#›</a:t>
            </a:fld>
            <a:endParaRPr lang="zh-CN" altLang="en-US"/>
          </a:p>
        </p:txBody>
      </p:sp>
    </p:spTree>
    <p:extLst>
      <p:ext uri="{BB962C8B-B14F-4D97-AF65-F5344CB8AC3E}">
        <p14:creationId xmlns:p14="http://schemas.microsoft.com/office/powerpoint/2010/main" val="36289127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A8EF0E20-4091-4C13-872C-EA121CA95709}"/>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xmlns="" id="{9C16E45A-821C-41B4-B154-6AF1DD0A2C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xmlns="" id="{FC26B890-24FE-409C-8CFF-A298024191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xmlns="" id="{FC76C9DD-100F-4300-A9EB-1F268DE5FE79}"/>
              </a:ext>
            </a:extLst>
          </p:cNvPr>
          <p:cNvSpPr>
            <a:spLocks noGrp="1"/>
          </p:cNvSpPr>
          <p:nvPr>
            <p:ph type="dt" sz="half" idx="10"/>
          </p:nvPr>
        </p:nvSpPr>
        <p:spPr/>
        <p:txBody>
          <a:bodyPr/>
          <a:lstStyle/>
          <a:p>
            <a:fld id="{333A3093-40F6-47B9-825A-D42085300745}" type="datetimeFigureOut">
              <a:rPr lang="zh-CN" altLang="en-US" smtClean="0"/>
              <a:t>2019/7/18</a:t>
            </a:fld>
            <a:endParaRPr lang="zh-CN" altLang="en-US"/>
          </a:p>
        </p:txBody>
      </p:sp>
      <p:sp>
        <p:nvSpPr>
          <p:cNvPr id="6" name="页脚占位符 5">
            <a:extLst>
              <a:ext uri="{FF2B5EF4-FFF2-40B4-BE49-F238E27FC236}">
                <a16:creationId xmlns:a16="http://schemas.microsoft.com/office/drawing/2014/main" xmlns="" id="{566FA14C-574E-413C-84FF-E9417C3F93C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xmlns="" id="{12507419-4217-4309-A5E2-44D49F581E90}"/>
              </a:ext>
            </a:extLst>
          </p:cNvPr>
          <p:cNvSpPr>
            <a:spLocks noGrp="1"/>
          </p:cNvSpPr>
          <p:nvPr>
            <p:ph type="sldNum" sz="quarter" idx="12"/>
          </p:nvPr>
        </p:nvSpPr>
        <p:spPr/>
        <p:txBody>
          <a:bodyPr/>
          <a:lstStyle/>
          <a:p>
            <a:fld id="{36969FF9-A5DA-4662-921D-53CEF3A13F09}" type="slidenum">
              <a:rPr lang="zh-CN" altLang="en-US" smtClean="0"/>
              <a:t>‹#›</a:t>
            </a:fld>
            <a:endParaRPr lang="zh-CN" altLang="en-US"/>
          </a:p>
        </p:txBody>
      </p:sp>
    </p:spTree>
    <p:extLst>
      <p:ext uri="{BB962C8B-B14F-4D97-AF65-F5344CB8AC3E}">
        <p14:creationId xmlns:p14="http://schemas.microsoft.com/office/powerpoint/2010/main" val="17624995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DC1411FD-2A7E-4AED-8819-412E8DA98A5B}"/>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xmlns="" id="{70F0B269-9515-4480-8390-BCE46002B0D7}"/>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xmlns="" id="{C826F984-121D-4D8F-9768-B66240A308E8}"/>
              </a:ext>
            </a:extLst>
          </p:cNvPr>
          <p:cNvSpPr>
            <a:spLocks noGrp="1"/>
          </p:cNvSpPr>
          <p:nvPr>
            <p:ph type="dt" sz="half" idx="10"/>
          </p:nvPr>
        </p:nvSpPr>
        <p:spPr/>
        <p:txBody>
          <a:bodyPr/>
          <a:lstStyle/>
          <a:p>
            <a:fld id="{333A3093-40F6-47B9-825A-D42085300745}" type="datetimeFigureOut">
              <a:rPr lang="zh-CN" altLang="en-US" smtClean="0"/>
              <a:t>2019/7/18</a:t>
            </a:fld>
            <a:endParaRPr lang="zh-CN" altLang="en-US"/>
          </a:p>
        </p:txBody>
      </p:sp>
      <p:sp>
        <p:nvSpPr>
          <p:cNvPr id="5" name="页脚占位符 4">
            <a:extLst>
              <a:ext uri="{FF2B5EF4-FFF2-40B4-BE49-F238E27FC236}">
                <a16:creationId xmlns:a16="http://schemas.microsoft.com/office/drawing/2014/main" xmlns="" id="{90CF615E-DAA4-47C9-AAD7-5FF0AE0991C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xmlns="" id="{154E46AF-440B-41DA-A5B7-AF70CB93E073}"/>
              </a:ext>
            </a:extLst>
          </p:cNvPr>
          <p:cNvSpPr>
            <a:spLocks noGrp="1"/>
          </p:cNvSpPr>
          <p:nvPr>
            <p:ph type="sldNum" sz="quarter" idx="12"/>
          </p:nvPr>
        </p:nvSpPr>
        <p:spPr/>
        <p:txBody>
          <a:bodyPr/>
          <a:lstStyle/>
          <a:p>
            <a:fld id="{36969FF9-A5DA-4662-921D-53CEF3A13F09}" type="slidenum">
              <a:rPr lang="zh-CN" altLang="en-US" smtClean="0"/>
              <a:t>‹#›</a:t>
            </a:fld>
            <a:endParaRPr lang="zh-CN" altLang="en-US"/>
          </a:p>
        </p:txBody>
      </p:sp>
    </p:spTree>
    <p:extLst>
      <p:ext uri="{BB962C8B-B14F-4D97-AF65-F5344CB8AC3E}">
        <p14:creationId xmlns:p14="http://schemas.microsoft.com/office/powerpoint/2010/main" val="11409349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xmlns="" id="{013581F2-787E-4C88-A12C-BEB6E03895A2}"/>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xmlns="" id="{7BA2565C-37E2-44BD-A086-2A77D2D71D92}"/>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xmlns="" id="{EA87A36C-8901-48C5-87C5-9001A83146CF}"/>
              </a:ext>
            </a:extLst>
          </p:cNvPr>
          <p:cNvSpPr>
            <a:spLocks noGrp="1"/>
          </p:cNvSpPr>
          <p:nvPr>
            <p:ph type="dt" sz="half" idx="10"/>
          </p:nvPr>
        </p:nvSpPr>
        <p:spPr/>
        <p:txBody>
          <a:bodyPr/>
          <a:lstStyle/>
          <a:p>
            <a:fld id="{333A3093-40F6-47B9-825A-D42085300745}" type="datetimeFigureOut">
              <a:rPr lang="zh-CN" altLang="en-US" smtClean="0"/>
              <a:t>2019/7/18</a:t>
            </a:fld>
            <a:endParaRPr lang="zh-CN" altLang="en-US"/>
          </a:p>
        </p:txBody>
      </p:sp>
      <p:sp>
        <p:nvSpPr>
          <p:cNvPr id="5" name="页脚占位符 4">
            <a:extLst>
              <a:ext uri="{FF2B5EF4-FFF2-40B4-BE49-F238E27FC236}">
                <a16:creationId xmlns:a16="http://schemas.microsoft.com/office/drawing/2014/main" xmlns="" id="{CA6894B5-9D6E-4A54-ABD0-6B48414F798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xmlns="" id="{0F1EDEDD-D318-4B7A-B14B-B1C2DFC82954}"/>
              </a:ext>
            </a:extLst>
          </p:cNvPr>
          <p:cNvSpPr>
            <a:spLocks noGrp="1"/>
          </p:cNvSpPr>
          <p:nvPr>
            <p:ph type="sldNum" sz="quarter" idx="12"/>
          </p:nvPr>
        </p:nvSpPr>
        <p:spPr/>
        <p:txBody>
          <a:bodyPr/>
          <a:lstStyle/>
          <a:p>
            <a:fld id="{36969FF9-A5DA-4662-921D-53CEF3A13F09}" type="slidenum">
              <a:rPr lang="zh-CN" altLang="en-US" smtClean="0"/>
              <a:t>‹#›</a:t>
            </a:fld>
            <a:endParaRPr lang="zh-CN" altLang="en-US"/>
          </a:p>
        </p:txBody>
      </p:sp>
    </p:spTree>
    <p:extLst>
      <p:ext uri="{BB962C8B-B14F-4D97-AF65-F5344CB8AC3E}">
        <p14:creationId xmlns:p14="http://schemas.microsoft.com/office/powerpoint/2010/main" val="27906038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1D2E2239-6515-43C5-A789-81A6A1995746}"/>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xmlns="" id="{C174AE8B-D093-4518-9624-4EEE80CFD79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xmlns="" id="{27F8BEDE-88A6-457E-ACA4-C406C150DFD1}"/>
              </a:ext>
            </a:extLst>
          </p:cNvPr>
          <p:cNvSpPr>
            <a:spLocks noGrp="1"/>
          </p:cNvSpPr>
          <p:nvPr>
            <p:ph type="dt" sz="half" idx="10"/>
          </p:nvPr>
        </p:nvSpPr>
        <p:spPr/>
        <p:txBody>
          <a:bodyPr/>
          <a:lstStyle/>
          <a:p>
            <a:fld id="{D229E809-A5DE-4335-8D9A-324E424FD68C}" type="datetimeFigureOut">
              <a:rPr lang="zh-CN" altLang="en-US" smtClean="0"/>
              <a:t>2019/7/18</a:t>
            </a:fld>
            <a:endParaRPr lang="zh-CN" altLang="en-US"/>
          </a:p>
        </p:txBody>
      </p:sp>
      <p:sp>
        <p:nvSpPr>
          <p:cNvPr id="5" name="页脚占位符 4">
            <a:extLst>
              <a:ext uri="{FF2B5EF4-FFF2-40B4-BE49-F238E27FC236}">
                <a16:creationId xmlns:a16="http://schemas.microsoft.com/office/drawing/2014/main" xmlns="" id="{833C82BA-B06E-4EDC-A382-CD17716788D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xmlns="" id="{A325C84A-7842-4F4D-A3ED-7A7E90B3B4B2}"/>
              </a:ext>
            </a:extLst>
          </p:cNvPr>
          <p:cNvSpPr>
            <a:spLocks noGrp="1"/>
          </p:cNvSpPr>
          <p:nvPr>
            <p:ph type="sldNum" sz="quarter" idx="12"/>
          </p:nvPr>
        </p:nvSpPr>
        <p:spPr/>
        <p:txBody>
          <a:bodyPr/>
          <a:lstStyle/>
          <a:p>
            <a:fld id="{627FD4DC-FE0C-4428-9F24-254F72D3E7CF}" type="slidenum">
              <a:rPr lang="zh-CN" altLang="en-US" smtClean="0"/>
              <a:t>‹#›</a:t>
            </a:fld>
            <a:endParaRPr lang="zh-CN" altLang="en-US"/>
          </a:p>
        </p:txBody>
      </p:sp>
    </p:spTree>
    <p:extLst>
      <p:ext uri="{BB962C8B-B14F-4D97-AF65-F5344CB8AC3E}">
        <p14:creationId xmlns:p14="http://schemas.microsoft.com/office/powerpoint/2010/main" val="374614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0E94C1C1-D3CB-408F-A081-749B44C04C0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xmlns="" id="{886F065B-8080-493C-AE68-F6608FDFEA5C}"/>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xmlns="" id="{0C3B7B64-0040-4DE0-9DE1-4C6EF39A3809}"/>
              </a:ext>
            </a:extLst>
          </p:cNvPr>
          <p:cNvSpPr>
            <a:spLocks noGrp="1"/>
          </p:cNvSpPr>
          <p:nvPr>
            <p:ph type="dt" sz="half" idx="10"/>
          </p:nvPr>
        </p:nvSpPr>
        <p:spPr/>
        <p:txBody>
          <a:bodyPr/>
          <a:lstStyle/>
          <a:p>
            <a:fld id="{D229E809-A5DE-4335-8D9A-324E424FD68C}" type="datetimeFigureOut">
              <a:rPr lang="zh-CN" altLang="en-US" smtClean="0"/>
              <a:t>2019/7/18</a:t>
            </a:fld>
            <a:endParaRPr lang="zh-CN" altLang="en-US"/>
          </a:p>
        </p:txBody>
      </p:sp>
      <p:sp>
        <p:nvSpPr>
          <p:cNvPr id="5" name="页脚占位符 4">
            <a:extLst>
              <a:ext uri="{FF2B5EF4-FFF2-40B4-BE49-F238E27FC236}">
                <a16:creationId xmlns:a16="http://schemas.microsoft.com/office/drawing/2014/main" xmlns="" id="{B6955A70-1144-4580-9DF8-DE1592AF2AF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xmlns="" id="{A4941A16-2C91-47BB-B42E-ED53E9A8CAD0}"/>
              </a:ext>
            </a:extLst>
          </p:cNvPr>
          <p:cNvSpPr>
            <a:spLocks noGrp="1"/>
          </p:cNvSpPr>
          <p:nvPr>
            <p:ph type="sldNum" sz="quarter" idx="12"/>
          </p:nvPr>
        </p:nvSpPr>
        <p:spPr/>
        <p:txBody>
          <a:bodyPr/>
          <a:lstStyle/>
          <a:p>
            <a:fld id="{627FD4DC-FE0C-4428-9F24-254F72D3E7CF}" type="slidenum">
              <a:rPr lang="zh-CN" altLang="en-US" smtClean="0"/>
              <a:t>‹#›</a:t>
            </a:fld>
            <a:endParaRPr lang="zh-CN" altLang="en-US"/>
          </a:p>
        </p:txBody>
      </p:sp>
    </p:spTree>
    <p:extLst>
      <p:ext uri="{BB962C8B-B14F-4D97-AF65-F5344CB8AC3E}">
        <p14:creationId xmlns:p14="http://schemas.microsoft.com/office/powerpoint/2010/main" val="16522868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25B9013-5FB5-49F2-A347-6EBDDBCFF594}"/>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xmlns="" id="{1BEB2E66-00E5-4316-B2B2-258AD19C550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xmlns="" id="{E6991F74-8BBF-474C-BBA0-E33BFF78767E}"/>
              </a:ext>
            </a:extLst>
          </p:cNvPr>
          <p:cNvSpPr>
            <a:spLocks noGrp="1"/>
          </p:cNvSpPr>
          <p:nvPr>
            <p:ph type="dt" sz="half" idx="10"/>
          </p:nvPr>
        </p:nvSpPr>
        <p:spPr/>
        <p:txBody>
          <a:bodyPr/>
          <a:lstStyle/>
          <a:p>
            <a:fld id="{D229E809-A5DE-4335-8D9A-324E424FD68C}" type="datetimeFigureOut">
              <a:rPr lang="zh-CN" altLang="en-US" smtClean="0"/>
              <a:t>2019/7/18</a:t>
            </a:fld>
            <a:endParaRPr lang="zh-CN" altLang="en-US"/>
          </a:p>
        </p:txBody>
      </p:sp>
      <p:sp>
        <p:nvSpPr>
          <p:cNvPr id="5" name="页脚占位符 4">
            <a:extLst>
              <a:ext uri="{FF2B5EF4-FFF2-40B4-BE49-F238E27FC236}">
                <a16:creationId xmlns:a16="http://schemas.microsoft.com/office/drawing/2014/main" xmlns="" id="{DED33AA1-E4FE-426C-9BF8-420E92DF60C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xmlns="" id="{32C26A87-6A33-41E3-B80B-AFECC41C99B1}"/>
              </a:ext>
            </a:extLst>
          </p:cNvPr>
          <p:cNvSpPr>
            <a:spLocks noGrp="1"/>
          </p:cNvSpPr>
          <p:nvPr>
            <p:ph type="sldNum" sz="quarter" idx="12"/>
          </p:nvPr>
        </p:nvSpPr>
        <p:spPr/>
        <p:txBody>
          <a:bodyPr/>
          <a:lstStyle/>
          <a:p>
            <a:fld id="{627FD4DC-FE0C-4428-9F24-254F72D3E7CF}" type="slidenum">
              <a:rPr lang="zh-CN" altLang="en-US" smtClean="0"/>
              <a:t>‹#›</a:t>
            </a:fld>
            <a:endParaRPr lang="zh-CN" altLang="en-US"/>
          </a:p>
        </p:txBody>
      </p:sp>
    </p:spTree>
    <p:extLst>
      <p:ext uri="{BB962C8B-B14F-4D97-AF65-F5344CB8AC3E}">
        <p14:creationId xmlns:p14="http://schemas.microsoft.com/office/powerpoint/2010/main" val="25256828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3F3B7AE2-E318-4BBE-B9A3-403584383D92}"/>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xmlns="" id="{9D738A50-8C1E-453C-A274-97681CBB1FED}"/>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xmlns="" id="{2ABDCC99-26F7-493C-970B-B00DCB4EB0FF}"/>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xmlns="" id="{23E88CBC-DDF7-4926-A9BE-8CF27987BE0B}"/>
              </a:ext>
            </a:extLst>
          </p:cNvPr>
          <p:cNvSpPr>
            <a:spLocks noGrp="1"/>
          </p:cNvSpPr>
          <p:nvPr>
            <p:ph type="dt" sz="half" idx="10"/>
          </p:nvPr>
        </p:nvSpPr>
        <p:spPr/>
        <p:txBody>
          <a:bodyPr/>
          <a:lstStyle/>
          <a:p>
            <a:fld id="{D229E809-A5DE-4335-8D9A-324E424FD68C}" type="datetimeFigureOut">
              <a:rPr lang="zh-CN" altLang="en-US" smtClean="0"/>
              <a:t>2019/7/18</a:t>
            </a:fld>
            <a:endParaRPr lang="zh-CN" altLang="en-US"/>
          </a:p>
        </p:txBody>
      </p:sp>
      <p:sp>
        <p:nvSpPr>
          <p:cNvPr id="6" name="页脚占位符 5">
            <a:extLst>
              <a:ext uri="{FF2B5EF4-FFF2-40B4-BE49-F238E27FC236}">
                <a16:creationId xmlns:a16="http://schemas.microsoft.com/office/drawing/2014/main" xmlns="" id="{EB4CC8A8-11A8-43BE-AC9C-CDE983D2593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xmlns="" id="{185BC4CB-854B-49AC-BC5D-0F2C1B27BB6F}"/>
              </a:ext>
            </a:extLst>
          </p:cNvPr>
          <p:cNvSpPr>
            <a:spLocks noGrp="1"/>
          </p:cNvSpPr>
          <p:nvPr>
            <p:ph type="sldNum" sz="quarter" idx="12"/>
          </p:nvPr>
        </p:nvSpPr>
        <p:spPr/>
        <p:txBody>
          <a:bodyPr/>
          <a:lstStyle/>
          <a:p>
            <a:fld id="{627FD4DC-FE0C-4428-9F24-254F72D3E7CF}" type="slidenum">
              <a:rPr lang="zh-CN" altLang="en-US" smtClean="0"/>
              <a:t>‹#›</a:t>
            </a:fld>
            <a:endParaRPr lang="zh-CN" altLang="en-US"/>
          </a:p>
        </p:txBody>
      </p:sp>
    </p:spTree>
    <p:extLst>
      <p:ext uri="{BB962C8B-B14F-4D97-AF65-F5344CB8AC3E}">
        <p14:creationId xmlns:p14="http://schemas.microsoft.com/office/powerpoint/2010/main" val="4937922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DCF22353-D6E1-4E20-9DCE-951620E48C13}"/>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xmlns="" id="{045039AA-5209-4F40-B723-DA2729F44B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xmlns="" id="{02733876-270F-402B-B4A0-F94053F2F739}"/>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xmlns="" id="{466A0696-1326-4583-B3FE-CCC71E449C3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xmlns="" id="{96B9DBEA-0704-4471-9730-2692C5F846FC}"/>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xmlns="" id="{6C944F4E-228E-41AA-842E-0637CC80D504}"/>
              </a:ext>
            </a:extLst>
          </p:cNvPr>
          <p:cNvSpPr>
            <a:spLocks noGrp="1"/>
          </p:cNvSpPr>
          <p:nvPr>
            <p:ph type="dt" sz="half" idx="10"/>
          </p:nvPr>
        </p:nvSpPr>
        <p:spPr/>
        <p:txBody>
          <a:bodyPr/>
          <a:lstStyle/>
          <a:p>
            <a:fld id="{D229E809-A5DE-4335-8D9A-324E424FD68C}" type="datetimeFigureOut">
              <a:rPr lang="zh-CN" altLang="en-US" smtClean="0"/>
              <a:t>2019/7/18</a:t>
            </a:fld>
            <a:endParaRPr lang="zh-CN" altLang="en-US"/>
          </a:p>
        </p:txBody>
      </p:sp>
      <p:sp>
        <p:nvSpPr>
          <p:cNvPr id="8" name="页脚占位符 7">
            <a:extLst>
              <a:ext uri="{FF2B5EF4-FFF2-40B4-BE49-F238E27FC236}">
                <a16:creationId xmlns:a16="http://schemas.microsoft.com/office/drawing/2014/main" xmlns="" id="{7F17D14B-AE01-44A3-9953-0FD6F805D744}"/>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xmlns="" id="{1D6E10F8-216D-4C50-A52D-AAFCA43B6FF7}"/>
              </a:ext>
            </a:extLst>
          </p:cNvPr>
          <p:cNvSpPr>
            <a:spLocks noGrp="1"/>
          </p:cNvSpPr>
          <p:nvPr>
            <p:ph type="sldNum" sz="quarter" idx="12"/>
          </p:nvPr>
        </p:nvSpPr>
        <p:spPr/>
        <p:txBody>
          <a:bodyPr/>
          <a:lstStyle/>
          <a:p>
            <a:fld id="{627FD4DC-FE0C-4428-9F24-254F72D3E7CF}" type="slidenum">
              <a:rPr lang="zh-CN" altLang="en-US" smtClean="0"/>
              <a:t>‹#›</a:t>
            </a:fld>
            <a:endParaRPr lang="zh-CN" altLang="en-US"/>
          </a:p>
        </p:txBody>
      </p:sp>
    </p:spTree>
    <p:extLst>
      <p:ext uri="{BB962C8B-B14F-4D97-AF65-F5344CB8AC3E}">
        <p14:creationId xmlns:p14="http://schemas.microsoft.com/office/powerpoint/2010/main" val="16661064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2E311395-9335-44FA-97CD-3A8912DB88FC}"/>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xmlns="" id="{179C5B20-6B71-416C-ACC5-A9D1E2180267}"/>
              </a:ext>
            </a:extLst>
          </p:cNvPr>
          <p:cNvSpPr>
            <a:spLocks noGrp="1"/>
          </p:cNvSpPr>
          <p:nvPr>
            <p:ph type="dt" sz="half" idx="10"/>
          </p:nvPr>
        </p:nvSpPr>
        <p:spPr/>
        <p:txBody>
          <a:bodyPr/>
          <a:lstStyle/>
          <a:p>
            <a:fld id="{D229E809-A5DE-4335-8D9A-324E424FD68C}" type="datetimeFigureOut">
              <a:rPr lang="zh-CN" altLang="en-US" smtClean="0"/>
              <a:t>2019/7/18</a:t>
            </a:fld>
            <a:endParaRPr lang="zh-CN" altLang="en-US"/>
          </a:p>
        </p:txBody>
      </p:sp>
      <p:sp>
        <p:nvSpPr>
          <p:cNvPr id="4" name="页脚占位符 3">
            <a:extLst>
              <a:ext uri="{FF2B5EF4-FFF2-40B4-BE49-F238E27FC236}">
                <a16:creationId xmlns:a16="http://schemas.microsoft.com/office/drawing/2014/main" xmlns="" id="{480C727E-D878-400B-8CCC-258BDF2E242F}"/>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xmlns="" id="{834B61DB-DFCD-4D6D-9BBF-A7B4F320CC31}"/>
              </a:ext>
            </a:extLst>
          </p:cNvPr>
          <p:cNvSpPr>
            <a:spLocks noGrp="1"/>
          </p:cNvSpPr>
          <p:nvPr>
            <p:ph type="sldNum" sz="quarter" idx="12"/>
          </p:nvPr>
        </p:nvSpPr>
        <p:spPr/>
        <p:txBody>
          <a:bodyPr/>
          <a:lstStyle/>
          <a:p>
            <a:fld id="{627FD4DC-FE0C-4428-9F24-254F72D3E7CF}" type="slidenum">
              <a:rPr lang="zh-CN" altLang="en-US" smtClean="0"/>
              <a:t>‹#›</a:t>
            </a:fld>
            <a:endParaRPr lang="zh-CN" altLang="en-US"/>
          </a:p>
        </p:txBody>
      </p:sp>
    </p:spTree>
    <p:extLst>
      <p:ext uri="{BB962C8B-B14F-4D97-AF65-F5344CB8AC3E}">
        <p14:creationId xmlns:p14="http://schemas.microsoft.com/office/powerpoint/2010/main" val="80035328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xmlns="" id="{841C6B72-470D-45DA-9CB6-8C224D795B5F}"/>
              </a:ext>
            </a:extLst>
          </p:cNvPr>
          <p:cNvSpPr>
            <a:spLocks noGrp="1"/>
          </p:cNvSpPr>
          <p:nvPr>
            <p:ph type="dt" sz="half" idx="10"/>
          </p:nvPr>
        </p:nvSpPr>
        <p:spPr/>
        <p:txBody>
          <a:bodyPr/>
          <a:lstStyle/>
          <a:p>
            <a:fld id="{D229E809-A5DE-4335-8D9A-324E424FD68C}" type="datetimeFigureOut">
              <a:rPr lang="zh-CN" altLang="en-US" smtClean="0"/>
              <a:t>2019/7/18</a:t>
            </a:fld>
            <a:endParaRPr lang="zh-CN" altLang="en-US"/>
          </a:p>
        </p:txBody>
      </p:sp>
      <p:sp>
        <p:nvSpPr>
          <p:cNvPr id="3" name="页脚占位符 2">
            <a:extLst>
              <a:ext uri="{FF2B5EF4-FFF2-40B4-BE49-F238E27FC236}">
                <a16:creationId xmlns:a16="http://schemas.microsoft.com/office/drawing/2014/main" xmlns="" id="{A3828D21-1BB2-44DC-9CE2-D424CC2E3335}"/>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xmlns="" id="{9A9B0B77-10AB-4B0C-91FC-45F269EF701F}"/>
              </a:ext>
            </a:extLst>
          </p:cNvPr>
          <p:cNvSpPr>
            <a:spLocks noGrp="1"/>
          </p:cNvSpPr>
          <p:nvPr>
            <p:ph type="sldNum" sz="quarter" idx="12"/>
          </p:nvPr>
        </p:nvSpPr>
        <p:spPr/>
        <p:txBody>
          <a:bodyPr/>
          <a:lstStyle/>
          <a:p>
            <a:fld id="{627FD4DC-FE0C-4428-9F24-254F72D3E7CF}" type="slidenum">
              <a:rPr lang="zh-CN" altLang="en-US" smtClean="0"/>
              <a:t>‹#›</a:t>
            </a:fld>
            <a:endParaRPr lang="zh-CN" altLang="en-US"/>
          </a:p>
        </p:txBody>
      </p:sp>
    </p:spTree>
    <p:extLst>
      <p:ext uri="{BB962C8B-B14F-4D97-AF65-F5344CB8AC3E}">
        <p14:creationId xmlns:p14="http://schemas.microsoft.com/office/powerpoint/2010/main" val="6008959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9A09EC2F-0180-42AD-846F-DCC55B9EF843}"/>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xmlns="" id="{3AFDC2BC-A83D-4278-A7B1-571DCE75907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xmlns="" id="{86E7D617-099A-4AC1-943D-C7BDC2B2C9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xmlns="" id="{DA94B66F-5CCB-4921-A2A3-2559572EE9D4}"/>
              </a:ext>
            </a:extLst>
          </p:cNvPr>
          <p:cNvSpPr>
            <a:spLocks noGrp="1"/>
          </p:cNvSpPr>
          <p:nvPr>
            <p:ph type="dt" sz="half" idx="10"/>
          </p:nvPr>
        </p:nvSpPr>
        <p:spPr/>
        <p:txBody>
          <a:bodyPr/>
          <a:lstStyle/>
          <a:p>
            <a:fld id="{D229E809-A5DE-4335-8D9A-324E424FD68C}" type="datetimeFigureOut">
              <a:rPr lang="zh-CN" altLang="en-US" smtClean="0"/>
              <a:t>2019/7/18</a:t>
            </a:fld>
            <a:endParaRPr lang="zh-CN" altLang="en-US"/>
          </a:p>
        </p:txBody>
      </p:sp>
      <p:sp>
        <p:nvSpPr>
          <p:cNvPr id="6" name="页脚占位符 5">
            <a:extLst>
              <a:ext uri="{FF2B5EF4-FFF2-40B4-BE49-F238E27FC236}">
                <a16:creationId xmlns:a16="http://schemas.microsoft.com/office/drawing/2014/main" xmlns="" id="{3BA3A610-5E77-4847-9CEF-99EBF0CDE2B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xmlns="" id="{AA3F647D-C92F-4A06-827F-DD0E3F5D8F5D}"/>
              </a:ext>
            </a:extLst>
          </p:cNvPr>
          <p:cNvSpPr>
            <a:spLocks noGrp="1"/>
          </p:cNvSpPr>
          <p:nvPr>
            <p:ph type="sldNum" sz="quarter" idx="12"/>
          </p:nvPr>
        </p:nvSpPr>
        <p:spPr/>
        <p:txBody>
          <a:bodyPr/>
          <a:lstStyle/>
          <a:p>
            <a:fld id="{627FD4DC-FE0C-4428-9F24-254F72D3E7CF}" type="slidenum">
              <a:rPr lang="zh-CN" altLang="en-US" smtClean="0"/>
              <a:t>‹#›</a:t>
            </a:fld>
            <a:endParaRPr lang="zh-CN" altLang="en-US"/>
          </a:p>
        </p:txBody>
      </p:sp>
    </p:spTree>
    <p:extLst>
      <p:ext uri="{BB962C8B-B14F-4D97-AF65-F5344CB8AC3E}">
        <p14:creationId xmlns:p14="http://schemas.microsoft.com/office/powerpoint/2010/main" val="15212092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26467E88-F83C-4221-A3AC-A14640515E02}"/>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xmlns="" id="{4970BDC4-D177-4D46-A8B2-9938B16CFC6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xmlns="" id="{03E57776-39D4-4E8D-9921-2EED1D689C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xmlns="" id="{5B101DB3-0DE6-40AE-8097-ACE7381DA5A8}"/>
              </a:ext>
            </a:extLst>
          </p:cNvPr>
          <p:cNvSpPr>
            <a:spLocks noGrp="1"/>
          </p:cNvSpPr>
          <p:nvPr>
            <p:ph type="dt" sz="half" idx="10"/>
          </p:nvPr>
        </p:nvSpPr>
        <p:spPr/>
        <p:txBody>
          <a:bodyPr/>
          <a:lstStyle/>
          <a:p>
            <a:fld id="{D229E809-A5DE-4335-8D9A-324E424FD68C}" type="datetimeFigureOut">
              <a:rPr lang="zh-CN" altLang="en-US" smtClean="0"/>
              <a:t>2019/7/18</a:t>
            </a:fld>
            <a:endParaRPr lang="zh-CN" altLang="en-US"/>
          </a:p>
        </p:txBody>
      </p:sp>
      <p:sp>
        <p:nvSpPr>
          <p:cNvPr id="6" name="页脚占位符 5">
            <a:extLst>
              <a:ext uri="{FF2B5EF4-FFF2-40B4-BE49-F238E27FC236}">
                <a16:creationId xmlns:a16="http://schemas.microsoft.com/office/drawing/2014/main" xmlns="" id="{40C0AA0F-1736-43EC-82B5-F09714F349F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xmlns="" id="{63CB108F-AF47-4909-9EA7-5F186A7B6BDB}"/>
              </a:ext>
            </a:extLst>
          </p:cNvPr>
          <p:cNvSpPr>
            <a:spLocks noGrp="1"/>
          </p:cNvSpPr>
          <p:nvPr>
            <p:ph type="sldNum" sz="quarter" idx="12"/>
          </p:nvPr>
        </p:nvSpPr>
        <p:spPr/>
        <p:txBody>
          <a:bodyPr/>
          <a:lstStyle/>
          <a:p>
            <a:fld id="{627FD4DC-FE0C-4428-9F24-254F72D3E7CF}" type="slidenum">
              <a:rPr lang="zh-CN" altLang="en-US" smtClean="0"/>
              <a:t>‹#›</a:t>
            </a:fld>
            <a:endParaRPr lang="zh-CN" altLang="en-US"/>
          </a:p>
        </p:txBody>
      </p:sp>
    </p:spTree>
    <p:extLst>
      <p:ext uri="{BB962C8B-B14F-4D97-AF65-F5344CB8AC3E}">
        <p14:creationId xmlns:p14="http://schemas.microsoft.com/office/powerpoint/2010/main" val="363930792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E69FF25-98B6-4F35-B5C9-A1566208B7A5}"/>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xmlns="" id="{C446C0EB-9A1E-4403-AA18-B46E6F11B544}"/>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xmlns="" id="{66AE4092-81F0-448E-BB2B-235978E0CF0C}"/>
              </a:ext>
            </a:extLst>
          </p:cNvPr>
          <p:cNvSpPr>
            <a:spLocks noGrp="1"/>
          </p:cNvSpPr>
          <p:nvPr>
            <p:ph type="dt" sz="half" idx="10"/>
          </p:nvPr>
        </p:nvSpPr>
        <p:spPr/>
        <p:txBody>
          <a:bodyPr/>
          <a:lstStyle/>
          <a:p>
            <a:fld id="{D229E809-A5DE-4335-8D9A-324E424FD68C}" type="datetimeFigureOut">
              <a:rPr lang="zh-CN" altLang="en-US" smtClean="0"/>
              <a:t>2019/7/18</a:t>
            </a:fld>
            <a:endParaRPr lang="zh-CN" altLang="en-US"/>
          </a:p>
        </p:txBody>
      </p:sp>
      <p:sp>
        <p:nvSpPr>
          <p:cNvPr id="5" name="页脚占位符 4">
            <a:extLst>
              <a:ext uri="{FF2B5EF4-FFF2-40B4-BE49-F238E27FC236}">
                <a16:creationId xmlns:a16="http://schemas.microsoft.com/office/drawing/2014/main" xmlns="" id="{BD44ABE3-2453-4994-A33E-DFDD3B592C1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xmlns="" id="{08690E3F-F129-4D23-8577-55DF28E92811}"/>
              </a:ext>
            </a:extLst>
          </p:cNvPr>
          <p:cNvSpPr>
            <a:spLocks noGrp="1"/>
          </p:cNvSpPr>
          <p:nvPr>
            <p:ph type="sldNum" sz="quarter" idx="12"/>
          </p:nvPr>
        </p:nvSpPr>
        <p:spPr/>
        <p:txBody>
          <a:bodyPr/>
          <a:lstStyle/>
          <a:p>
            <a:fld id="{627FD4DC-FE0C-4428-9F24-254F72D3E7CF}" type="slidenum">
              <a:rPr lang="zh-CN" altLang="en-US" smtClean="0"/>
              <a:t>‹#›</a:t>
            </a:fld>
            <a:endParaRPr lang="zh-CN" altLang="en-US"/>
          </a:p>
        </p:txBody>
      </p:sp>
    </p:spTree>
    <p:extLst>
      <p:ext uri="{BB962C8B-B14F-4D97-AF65-F5344CB8AC3E}">
        <p14:creationId xmlns:p14="http://schemas.microsoft.com/office/powerpoint/2010/main" val="273473362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xmlns="" id="{35FD126F-59B8-40EF-888C-134819BAC8B1}"/>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xmlns="" id="{BD9B6727-97EC-425F-8A15-34DDAF8861A6}"/>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xmlns="" id="{FC588576-F5C4-4369-B19A-C84B7490F8F9}"/>
              </a:ext>
            </a:extLst>
          </p:cNvPr>
          <p:cNvSpPr>
            <a:spLocks noGrp="1"/>
          </p:cNvSpPr>
          <p:nvPr>
            <p:ph type="dt" sz="half" idx="10"/>
          </p:nvPr>
        </p:nvSpPr>
        <p:spPr/>
        <p:txBody>
          <a:bodyPr/>
          <a:lstStyle/>
          <a:p>
            <a:fld id="{D229E809-A5DE-4335-8D9A-324E424FD68C}" type="datetimeFigureOut">
              <a:rPr lang="zh-CN" altLang="en-US" smtClean="0"/>
              <a:t>2019/7/18</a:t>
            </a:fld>
            <a:endParaRPr lang="zh-CN" altLang="en-US"/>
          </a:p>
        </p:txBody>
      </p:sp>
      <p:sp>
        <p:nvSpPr>
          <p:cNvPr id="5" name="页脚占位符 4">
            <a:extLst>
              <a:ext uri="{FF2B5EF4-FFF2-40B4-BE49-F238E27FC236}">
                <a16:creationId xmlns:a16="http://schemas.microsoft.com/office/drawing/2014/main" xmlns="" id="{7032F485-41C6-48AA-B7F6-85D9AD0B4D5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xmlns="" id="{B373C72A-11C9-4029-BA1A-E281655BB8FB}"/>
              </a:ext>
            </a:extLst>
          </p:cNvPr>
          <p:cNvSpPr>
            <a:spLocks noGrp="1"/>
          </p:cNvSpPr>
          <p:nvPr>
            <p:ph type="sldNum" sz="quarter" idx="12"/>
          </p:nvPr>
        </p:nvSpPr>
        <p:spPr/>
        <p:txBody>
          <a:bodyPr/>
          <a:lstStyle/>
          <a:p>
            <a:fld id="{627FD4DC-FE0C-4428-9F24-254F72D3E7CF}" type="slidenum">
              <a:rPr lang="zh-CN" altLang="en-US" smtClean="0"/>
              <a:t>‹#›</a:t>
            </a:fld>
            <a:endParaRPr lang="zh-CN" altLang="en-US"/>
          </a:p>
        </p:txBody>
      </p:sp>
    </p:spTree>
    <p:extLst>
      <p:ext uri="{BB962C8B-B14F-4D97-AF65-F5344CB8AC3E}">
        <p14:creationId xmlns:p14="http://schemas.microsoft.com/office/powerpoint/2010/main" val="94566605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1D2E2239-6515-43C5-A789-81A6A1995746}"/>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xmlns="" id="{C174AE8B-D093-4518-9624-4EEE80CFD79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xmlns="" id="{27F8BEDE-88A6-457E-ACA4-C406C150DFD1}"/>
              </a:ext>
            </a:extLst>
          </p:cNvPr>
          <p:cNvSpPr>
            <a:spLocks noGrp="1"/>
          </p:cNvSpPr>
          <p:nvPr>
            <p:ph type="dt" sz="half" idx="10"/>
          </p:nvPr>
        </p:nvSpPr>
        <p:spPr/>
        <p:txBody>
          <a:bodyPr/>
          <a:lstStyle/>
          <a:p>
            <a:fld id="{D229E809-A5DE-4335-8D9A-324E424FD68C}" type="datetimeFigureOut">
              <a:rPr lang="zh-CN" altLang="en-US" smtClean="0">
                <a:solidFill>
                  <a:prstClr val="black">
                    <a:tint val="75000"/>
                  </a:prstClr>
                </a:solidFill>
              </a:rPr>
              <a:pPr/>
              <a:t>2019/7/18</a:t>
            </a:fld>
            <a:endParaRPr lang="zh-CN" altLang="en-US">
              <a:solidFill>
                <a:prstClr val="black">
                  <a:tint val="75000"/>
                </a:prstClr>
              </a:solidFill>
            </a:endParaRPr>
          </a:p>
        </p:txBody>
      </p:sp>
      <p:sp>
        <p:nvSpPr>
          <p:cNvPr id="5" name="页脚占位符 4">
            <a:extLst>
              <a:ext uri="{FF2B5EF4-FFF2-40B4-BE49-F238E27FC236}">
                <a16:creationId xmlns:a16="http://schemas.microsoft.com/office/drawing/2014/main" xmlns="" id="{833C82BA-B06E-4EDC-A382-CD17716788D4}"/>
              </a:ext>
            </a:extLst>
          </p:cNvPr>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a:extLst>
              <a:ext uri="{FF2B5EF4-FFF2-40B4-BE49-F238E27FC236}">
                <a16:creationId xmlns:a16="http://schemas.microsoft.com/office/drawing/2014/main" xmlns="" id="{A325C84A-7842-4F4D-A3ED-7A7E90B3B4B2}"/>
              </a:ext>
            </a:extLst>
          </p:cNvPr>
          <p:cNvSpPr>
            <a:spLocks noGrp="1"/>
          </p:cNvSpPr>
          <p:nvPr>
            <p:ph type="sldNum" sz="quarter" idx="12"/>
          </p:nvPr>
        </p:nvSpPr>
        <p:spPr/>
        <p:txBody>
          <a:bodyPr/>
          <a:lstStyle/>
          <a:p>
            <a:fld id="{627FD4DC-FE0C-4428-9F24-254F72D3E7CF}"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11224345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0E94C1C1-D3CB-408F-A081-749B44C04C0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xmlns="" id="{886F065B-8080-493C-AE68-F6608FDFEA5C}"/>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xmlns="" id="{0C3B7B64-0040-4DE0-9DE1-4C6EF39A3809}"/>
              </a:ext>
            </a:extLst>
          </p:cNvPr>
          <p:cNvSpPr>
            <a:spLocks noGrp="1"/>
          </p:cNvSpPr>
          <p:nvPr>
            <p:ph type="dt" sz="half" idx="10"/>
          </p:nvPr>
        </p:nvSpPr>
        <p:spPr/>
        <p:txBody>
          <a:bodyPr/>
          <a:lstStyle/>
          <a:p>
            <a:fld id="{D229E809-A5DE-4335-8D9A-324E424FD68C}" type="datetimeFigureOut">
              <a:rPr lang="zh-CN" altLang="en-US" smtClean="0">
                <a:solidFill>
                  <a:prstClr val="black">
                    <a:tint val="75000"/>
                  </a:prstClr>
                </a:solidFill>
              </a:rPr>
              <a:pPr/>
              <a:t>2019/7/18</a:t>
            </a:fld>
            <a:endParaRPr lang="zh-CN" altLang="en-US">
              <a:solidFill>
                <a:prstClr val="black">
                  <a:tint val="75000"/>
                </a:prstClr>
              </a:solidFill>
            </a:endParaRPr>
          </a:p>
        </p:txBody>
      </p:sp>
      <p:sp>
        <p:nvSpPr>
          <p:cNvPr id="5" name="页脚占位符 4">
            <a:extLst>
              <a:ext uri="{FF2B5EF4-FFF2-40B4-BE49-F238E27FC236}">
                <a16:creationId xmlns:a16="http://schemas.microsoft.com/office/drawing/2014/main" xmlns="" id="{B6955A70-1144-4580-9DF8-DE1592AF2AF8}"/>
              </a:ext>
            </a:extLst>
          </p:cNvPr>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a:extLst>
              <a:ext uri="{FF2B5EF4-FFF2-40B4-BE49-F238E27FC236}">
                <a16:creationId xmlns:a16="http://schemas.microsoft.com/office/drawing/2014/main" xmlns="" id="{A4941A16-2C91-47BB-B42E-ED53E9A8CAD0}"/>
              </a:ext>
            </a:extLst>
          </p:cNvPr>
          <p:cNvSpPr>
            <a:spLocks noGrp="1"/>
          </p:cNvSpPr>
          <p:nvPr>
            <p:ph type="sldNum" sz="quarter" idx="12"/>
          </p:nvPr>
        </p:nvSpPr>
        <p:spPr/>
        <p:txBody>
          <a:bodyPr/>
          <a:lstStyle/>
          <a:p>
            <a:fld id="{627FD4DC-FE0C-4428-9F24-254F72D3E7CF}"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42400802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25B9013-5FB5-49F2-A347-6EBDDBCFF594}"/>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xmlns="" id="{1BEB2E66-00E5-4316-B2B2-258AD19C550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xmlns="" id="{E6991F74-8BBF-474C-BBA0-E33BFF78767E}"/>
              </a:ext>
            </a:extLst>
          </p:cNvPr>
          <p:cNvSpPr>
            <a:spLocks noGrp="1"/>
          </p:cNvSpPr>
          <p:nvPr>
            <p:ph type="dt" sz="half" idx="10"/>
          </p:nvPr>
        </p:nvSpPr>
        <p:spPr/>
        <p:txBody>
          <a:bodyPr/>
          <a:lstStyle/>
          <a:p>
            <a:fld id="{D229E809-A5DE-4335-8D9A-324E424FD68C}" type="datetimeFigureOut">
              <a:rPr lang="zh-CN" altLang="en-US" smtClean="0">
                <a:solidFill>
                  <a:prstClr val="black">
                    <a:tint val="75000"/>
                  </a:prstClr>
                </a:solidFill>
              </a:rPr>
              <a:pPr/>
              <a:t>2019/7/18</a:t>
            </a:fld>
            <a:endParaRPr lang="zh-CN" altLang="en-US">
              <a:solidFill>
                <a:prstClr val="black">
                  <a:tint val="75000"/>
                </a:prstClr>
              </a:solidFill>
            </a:endParaRPr>
          </a:p>
        </p:txBody>
      </p:sp>
      <p:sp>
        <p:nvSpPr>
          <p:cNvPr id="5" name="页脚占位符 4">
            <a:extLst>
              <a:ext uri="{FF2B5EF4-FFF2-40B4-BE49-F238E27FC236}">
                <a16:creationId xmlns:a16="http://schemas.microsoft.com/office/drawing/2014/main" xmlns="" id="{DED33AA1-E4FE-426C-9BF8-420E92DF60C7}"/>
              </a:ext>
            </a:extLst>
          </p:cNvPr>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a:extLst>
              <a:ext uri="{FF2B5EF4-FFF2-40B4-BE49-F238E27FC236}">
                <a16:creationId xmlns:a16="http://schemas.microsoft.com/office/drawing/2014/main" xmlns="" id="{32C26A87-6A33-41E3-B80B-AFECC41C99B1}"/>
              </a:ext>
            </a:extLst>
          </p:cNvPr>
          <p:cNvSpPr>
            <a:spLocks noGrp="1"/>
          </p:cNvSpPr>
          <p:nvPr>
            <p:ph type="sldNum" sz="quarter" idx="12"/>
          </p:nvPr>
        </p:nvSpPr>
        <p:spPr/>
        <p:txBody>
          <a:bodyPr/>
          <a:lstStyle/>
          <a:p>
            <a:fld id="{627FD4DC-FE0C-4428-9F24-254F72D3E7CF}"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11401290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3F3B7AE2-E318-4BBE-B9A3-403584383D92}"/>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xmlns="" id="{9D738A50-8C1E-453C-A274-97681CBB1FED}"/>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xmlns="" id="{2ABDCC99-26F7-493C-970B-B00DCB4EB0FF}"/>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xmlns="" id="{23E88CBC-DDF7-4926-A9BE-8CF27987BE0B}"/>
              </a:ext>
            </a:extLst>
          </p:cNvPr>
          <p:cNvSpPr>
            <a:spLocks noGrp="1"/>
          </p:cNvSpPr>
          <p:nvPr>
            <p:ph type="dt" sz="half" idx="10"/>
          </p:nvPr>
        </p:nvSpPr>
        <p:spPr/>
        <p:txBody>
          <a:bodyPr/>
          <a:lstStyle/>
          <a:p>
            <a:fld id="{D229E809-A5DE-4335-8D9A-324E424FD68C}" type="datetimeFigureOut">
              <a:rPr lang="zh-CN" altLang="en-US" smtClean="0">
                <a:solidFill>
                  <a:prstClr val="black">
                    <a:tint val="75000"/>
                  </a:prstClr>
                </a:solidFill>
              </a:rPr>
              <a:pPr/>
              <a:t>2019/7/18</a:t>
            </a:fld>
            <a:endParaRPr lang="zh-CN" altLang="en-US">
              <a:solidFill>
                <a:prstClr val="black">
                  <a:tint val="75000"/>
                </a:prstClr>
              </a:solidFill>
            </a:endParaRPr>
          </a:p>
        </p:txBody>
      </p:sp>
      <p:sp>
        <p:nvSpPr>
          <p:cNvPr id="6" name="页脚占位符 5">
            <a:extLst>
              <a:ext uri="{FF2B5EF4-FFF2-40B4-BE49-F238E27FC236}">
                <a16:creationId xmlns:a16="http://schemas.microsoft.com/office/drawing/2014/main" xmlns="" id="{EB4CC8A8-11A8-43BE-AC9C-CDE983D25931}"/>
              </a:ext>
            </a:extLst>
          </p:cNvPr>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a:extLst>
              <a:ext uri="{FF2B5EF4-FFF2-40B4-BE49-F238E27FC236}">
                <a16:creationId xmlns:a16="http://schemas.microsoft.com/office/drawing/2014/main" xmlns="" id="{185BC4CB-854B-49AC-BC5D-0F2C1B27BB6F}"/>
              </a:ext>
            </a:extLst>
          </p:cNvPr>
          <p:cNvSpPr>
            <a:spLocks noGrp="1"/>
          </p:cNvSpPr>
          <p:nvPr>
            <p:ph type="sldNum" sz="quarter" idx="12"/>
          </p:nvPr>
        </p:nvSpPr>
        <p:spPr/>
        <p:txBody>
          <a:bodyPr/>
          <a:lstStyle/>
          <a:p>
            <a:fld id="{627FD4DC-FE0C-4428-9F24-254F72D3E7CF}"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34017965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DCF22353-D6E1-4E20-9DCE-951620E48C13}"/>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xmlns="" id="{045039AA-5209-4F40-B723-DA2729F44B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xmlns="" id="{02733876-270F-402B-B4A0-F94053F2F739}"/>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xmlns="" id="{466A0696-1326-4583-B3FE-CCC71E449C3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xmlns="" id="{96B9DBEA-0704-4471-9730-2692C5F846FC}"/>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xmlns="" id="{6C944F4E-228E-41AA-842E-0637CC80D504}"/>
              </a:ext>
            </a:extLst>
          </p:cNvPr>
          <p:cNvSpPr>
            <a:spLocks noGrp="1"/>
          </p:cNvSpPr>
          <p:nvPr>
            <p:ph type="dt" sz="half" idx="10"/>
          </p:nvPr>
        </p:nvSpPr>
        <p:spPr/>
        <p:txBody>
          <a:bodyPr/>
          <a:lstStyle/>
          <a:p>
            <a:fld id="{D229E809-A5DE-4335-8D9A-324E424FD68C}" type="datetimeFigureOut">
              <a:rPr lang="zh-CN" altLang="en-US" smtClean="0">
                <a:solidFill>
                  <a:prstClr val="black">
                    <a:tint val="75000"/>
                  </a:prstClr>
                </a:solidFill>
              </a:rPr>
              <a:pPr/>
              <a:t>2019/7/18</a:t>
            </a:fld>
            <a:endParaRPr lang="zh-CN" altLang="en-US">
              <a:solidFill>
                <a:prstClr val="black">
                  <a:tint val="75000"/>
                </a:prstClr>
              </a:solidFill>
            </a:endParaRPr>
          </a:p>
        </p:txBody>
      </p:sp>
      <p:sp>
        <p:nvSpPr>
          <p:cNvPr id="8" name="页脚占位符 7">
            <a:extLst>
              <a:ext uri="{FF2B5EF4-FFF2-40B4-BE49-F238E27FC236}">
                <a16:creationId xmlns:a16="http://schemas.microsoft.com/office/drawing/2014/main" xmlns="" id="{7F17D14B-AE01-44A3-9953-0FD6F805D744}"/>
              </a:ext>
            </a:extLst>
          </p:cNvPr>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a:extLst>
              <a:ext uri="{FF2B5EF4-FFF2-40B4-BE49-F238E27FC236}">
                <a16:creationId xmlns:a16="http://schemas.microsoft.com/office/drawing/2014/main" xmlns="" id="{1D6E10F8-216D-4C50-A52D-AAFCA43B6FF7}"/>
              </a:ext>
            </a:extLst>
          </p:cNvPr>
          <p:cNvSpPr>
            <a:spLocks noGrp="1"/>
          </p:cNvSpPr>
          <p:nvPr>
            <p:ph type="sldNum" sz="quarter" idx="12"/>
          </p:nvPr>
        </p:nvSpPr>
        <p:spPr/>
        <p:txBody>
          <a:bodyPr/>
          <a:lstStyle/>
          <a:p>
            <a:fld id="{627FD4DC-FE0C-4428-9F24-254F72D3E7CF}"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91662334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2E311395-9335-44FA-97CD-3A8912DB88FC}"/>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xmlns="" id="{179C5B20-6B71-416C-ACC5-A9D1E2180267}"/>
              </a:ext>
            </a:extLst>
          </p:cNvPr>
          <p:cNvSpPr>
            <a:spLocks noGrp="1"/>
          </p:cNvSpPr>
          <p:nvPr>
            <p:ph type="dt" sz="half" idx="10"/>
          </p:nvPr>
        </p:nvSpPr>
        <p:spPr/>
        <p:txBody>
          <a:bodyPr/>
          <a:lstStyle/>
          <a:p>
            <a:fld id="{D229E809-A5DE-4335-8D9A-324E424FD68C}" type="datetimeFigureOut">
              <a:rPr lang="zh-CN" altLang="en-US" smtClean="0">
                <a:solidFill>
                  <a:prstClr val="black">
                    <a:tint val="75000"/>
                  </a:prstClr>
                </a:solidFill>
              </a:rPr>
              <a:pPr/>
              <a:t>2019/7/18</a:t>
            </a:fld>
            <a:endParaRPr lang="zh-CN" altLang="en-US">
              <a:solidFill>
                <a:prstClr val="black">
                  <a:tint val="75000"/>
                </a:prstClr>
              </a:solidFill>
            </a:endParaRPr>
          </a:p>
        </p:txBody>
      </p:sp>
      <p:sp>
        <p:nvSpPr>
          <p:cNvPr id="4" name="页脚占位符 3">
            <a:extLst>
              <a:ext uri="{FF2B5EF4-FFF2-40B4-BE49-F238E27FC236}">
                <a16:creationId xmlns:a16="http://schemas.microsoft.com/office/drawing/2014/main" xmlns="" id="{480C727E-D878-400B-8CCC-258BDF2E242F}"/>
              </a:ext>
            </a:extLst>
          </p:cNvPr>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a:extLst>
              <a:ext uri="{FF2B5EF4-FFF2-40B4-BE49-F238E27FC236}">
                <a16:creationId xmlns:a16="http://schemas.microsoft.com/office/drawing/2014/main" xmlns="" id="{834B61DB-DFCD-4D6D-9BBF-A7B4F320CC31}"/>
              </a:ext>
            </a:extLst>
          </p:cNvPr>
          <p:cNvSpPr>
            <a:spLocks noGrp="1"/>
          </p:cNvSpPr>
          <p:nvPr>
            <p:ph type="sldNum" sz="quarter" idx="12"/>
          </p:nvPr>
        </p:nvSpPr>
        <p:spPr/>
        <p:txBody>
          <a:bodyPr/>
          <a:lstStyle/>
          <a:p>
            <a:fld id="{627FD4DC-FE0C-4428-9F24-254F72D3E7CF}"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33907557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xmlns="" id="{841C6B72-470D-45DA-9CB6-8C224D795B5F}"/>
              </a:ext>
            </a:extLst>
          </p:cNvPr>
          <p:cNvSpPr>
            <a:spLocks noGrp="1"/>
          </p:cNvSpPr>
          <p:nvPr>
            <p:ph type="dt" sz="half" idx="10"/>
          </p:nvPr>
        </p:nvSpPr>
        <p:spPr/>
        <p:txBody>
          <a:bodyPr/>
          <a:lstStyle/>
          <a:p>
            <a:fld id="{D229E809-A5DE-4335-8D9A-324E424FD68C}" type="datetimeFigureOut">
              <a:rPr lang="zh-CN" altLang="en-US" smtClean="0">
                <a:solidFill>
                  <a:prstClr val="black">
                    <a:tint val="75000"/>
                  </a:prstClr>
                </a:solidFill>
              </a:rPr>
              <a:pPr/>
              <a:t>2019/7/18</a:t>
            </a:fld>
            <a:endParaRPr lang="zh-CN" altLang="en-US">
              <a:solidFill>
                <a:prstClr val="black">
                  <a:tint val="75000"/>
                </a:prstClr>
              </a:solidFill>
            </a:endParaRPr>
          </a:p>
        </p:txBody>
      </p:sp>
      <p:sp>
        <p:nvSpPr>
          <p:cNvPr id="3" name="页脚占位符 2">
            <a:extLst>
              <a:ext uri="{FF2B5EF4-FFF2-40B4-BE49-F238E27FC236}">
                <a16:creationId xmlns:a16="http://schemas.microsoft.com/office/drawing/2014/main" xmlns="" id="{A3828D21-1BB2-44DC-9CE2-D424CC2E3335}"/>
              </a:ext>
            </a:extLst>
          </p:cNvPr>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a:extLst>
              <a:ext uri="{FF2B5EF4-FFF2-40B4-BE49-F238E27FC236}">
                <a16:creationId xmlns:a16="http://schemas.microsoft.com/office/drawing/2014/main" xmlns="" id="{9A9B0B77-10AB-4B0C-91FC-45F269EF701F}"/>
              </a:ext>
            </a:extLst>
          </p:cNvPr>
          <p:cNvSpPr>
            <a:spLocks noGrp="1"/>
          </p:cNvSpPr>
          <p:nvPr>
            <p:ph type="sldNum" sz="quarter" idx="12"/>
          </p:nvPr>
        </p:nvSpPr>
        <p:spPr/>
        <p:txBody>
          <a:bodyPr/>
          <a:lstStyle/>
          <a:p>
            <a:fld id="{627FD4DC-FE0C-4428-9F24-254F72D3E7CF}"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77020632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9A09EC2F-0180-42AD-846F-DCC55B9EF843}"/>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xmlns="" id="{3AFDC2BC-A83D-4278-A7B1-571DCE75907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xmlns="" id="{86E7D617-099A-4AC1-943D-C7BDC2B2C9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xmlns="" id="{DA94B66F-5CCB-4921-A2A3-2559572EE9D4}"/>
              </a:ext>
            </a:extLst>
          </p:cNvPr>
          <p:cNvSpPr>
            <a:spLocks noGrp="1"/>
          </p:cNvSpPr>
          <p:nvPr>
            <p:ph type="dt" sz="half" idx="10"/>
          </p:nvPr>
        </p:nvSpPr>
        <p:spPr/>
        <p:txBody>
          <a:bodyPr/>
          <a:lstStyle/>
          <a:p>
            <a:fld id="{D229E809-A5DE-4335-8D9A-324E424FD68C}" type="datetimeFigureOut">
              <a:rPr lang="zh-CN" altLang="en-US" smtClean="0">
                <a:solidFill>
                  <a:prstClr val="black">
                    <a:tint val="75000"/>
                  </a:prstClr>
                </a:solidFill>
              </a:rPr>
              <a:pPr/>
              <a:t>2019/7/18</a:t>
            </a:fld>
            <a:endParaRPr lang="zh-CN" altLang="en-US">
              <a:solidFill>
                <a:prstClr val="black">
                  <a:tint val="75000"/>
                </a:prstClr>
              </a:solidFill>
            </a:endParaRPr>
          </a:p>
        </p:txBody>
      </p:sp>
      <p:sp>
        <p:nvSpPr>
          <p:cNvPr id="6" name="页脚占位符 5">
            <a:extLst>
              <a:ext uri="{FF2B5EF4-FFF2-40B4-BE49-F238E27FC236}">
                <a16:creationId xmlns:a16="http://schemas.microsoft.com/office/drawing/2014/main" xmlns="" id="{3BA3A610-5E77-4847-9CEF-99EBF0CDE2B9}"/>
              </a:ext>
            </a:extLst>
          </p:cNvPr>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a:extLst>
              <a:ext uri="{FF2B5EF4-FFF2-40B4-BE49-F238E27FC236}">
                <a16:creationId xmlns:a16="http://schemas.microsoft.com/office/drawing/2014/main" xmlns="" id="{AA3F647D-C92F-4A06-827F-DD0E3F5D8F5D}"/>
              </a:ext>
            </a:extLst>
          </p:cNvPr>
          <p:cNvSpPr>
            <a:spLocks noGrp="1"/>
          </p:cNvSpPr>
          <p:nvPr>
            <p:ph type="sldNum" sz="quarter" idx="12"/>
          </p:nvPr>
        </p:nvSpPr>
        <p:spPr/>
        <p:txBody>
          <a:bodyPr/>
          <a:lstStyle/>
          <a:p>
            <a:fld id="{627FD4DC-FE0C-4428-9F24-254F72D3E7CF}"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28343930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26467E88-F83C-4221-A3AC-A14640515E02}"/>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xmlns="" id="{4970BDC4-D177-4D46-A8B2-9938B16CFC6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xmlns="" id="{03E57776-39D4-4E8D-9921-2EED1D689C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xmlns="" id="{5B101DB3-0DE6-40AE-8097-ACE7381DA5A8}"/>
              </a:ext>
            </a:extLst>
          </p:cNvPr>
          <p:cNvSpPr>
            <a:spLocks noGrp="1"/>
          </p:cNvSpPr>
          <p:nvPr>
            <p:ph type="dt" sz="half" idx="10"/>
          </p:nvPr>
        </p:nvSpPr>
        <p:spPr/>
        <p:txBody>
          <a:bodyPr/>
          <a:lstStyle/>
          <a:p>
            <a:fld id="{D229E809-A5DE-4335-8D9A-324E424FD68C}" type="datetimeFigureOut">
              <a:rPr lang="zh-CN" altLang="en-US" smtClean="0">
                <a:solidFill>
                  <a:prstClr val="black">
                    <a:tint val="75000"/>
                  </a:prstClr>
                </a:solidFill>
              </a:rPr>
              <a:pPr/>
              <a:t>2019/7/18</a:t>
            </a:fld>
            <a:endParaRPr lang="zh-CN" altLang="en-US">
              <a:solidFill>
                <a:prstClr val="black">
                  <a:tint val="75000"/>
                </a:prstClr>
              </a:solidFill>
            </a:endParaRPr>
          </a:p>
        </p:txBody>
      </p:sp>
      <p:sp>
        <p:nvSpPr>
          <p:cNvPr id="6" name="页脚占位符 5">
            <a:extLst>
              <a:ext uri="{FF2B5EF4-FFF2-40B4-BE49-F238E27FC236}">
                <a16:creationId xmlns:a16="http://schemas.microsoft.com/office/drawing/2014/main" xmlns="" id="{40C0AA0F-1736-43EC-82B5-F09714F349F2}"/>
              </a:ext>
            </a:extLst>
          </p:cNvPr>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a:extLst>
              <a:ext uri="{FF2B5EF4-FFF2-40B4-BE49-F238E27FC236}">
                <a16:creationId xmlns:a16="http://schemas.microsoft.com/office/drawing/2014/main" xmlns="" id="{63CB108F-AF47-4909-9EA7-5F186A7B6BDB}"/>
              </a:ext>
            </a:extLst>
          </p:cNvPr>
          <p:cNvSpPr>
            <a:spLocks noGrp="1"/>
          </p:cNvSpPr>
          <p:nvPr>
            <p:ph type="sldNum" sz="quarter" idx="12"/>
          </p:nvPr>
        </p:nvSpPr>
        <p:spPr/>
        <p:txBody>
          <a:bodyPr/>
          <a:lstStyle/>
          <a:p>
            <a:fld id="{627FD4DC-FE0C-4428-9F24-254F72D3E7CF}"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15215577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E69FF25-98B6-4F35-B5C9-A1566208B7A5}"/>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xmlns="" id="{C446C0EB-9A1E-4403-AA18-B46E6F11B544}"/>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xmlns="" id="{66AE4092-81F0-448E-BB2B-235978E0CF0C}"/>
              </a:ext>
            </a:extLst>
          </p:cNvPr>
          <p:cNvSpPr>
            <a:spLocks noGrp="1"/>
          </p:cNvSpPr>
          <p:nvPr>
            <p:ph type="dt" sz="half" idx="10"/>
          </p:nvPr>
        </p:nvSpPr>
        <p:spPr/>
        <p:txBody>
          <a:bodyPr/>
          <a:lstStyle/>
          <a:p>
            <a:fld id="{D229E809-A5DE-4335-8D9A-324E424FD68C}" type="datetimeFigureOut">
              <a:rPr lang="zh-CN" altLang="en-US" smtClean="0">
                <a:solidFill>
                  <a:prstClr val="black">
                    <a:tint val="75000"/>
                  </a:prstClr>
                </a:solidFill>
              </a:rPr>
              <a:pPr/>
              <a:t>2019/7/18</a:t>
            </a:fld>
            <a:endParaRPr lang="zh-CN" altLang="en-US">
              <a:solidFill>
                <a:prstClr val="black">
                  <a:tint val="75000"/>
                </a:prstClr>
              </a:solidFill>
            </a:endParaRPr>
          </a:p>
        </p:txBody>
      </p:sp>
      <p:sp>
        <p:nvSpPr>
          <p:cNvPr id="5" name="页脚占位符 4">
            <a:extLst>
              <a:ext uri="{FF2B5EF4-FFF2-40B4-BE49-F238E27FC236}">
                <a16:creationId xmlns:a16="http://schemas.microsoft.com/office/drawing/2014/main" xmlns="" id="{BD44ABE3-2453-4994-A33E-DFDD3B592C14}"/>
              </a:ext>
            </a:extLst>
          </p:cNvPr>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a:extLst>
              <a:ext uri="{FF2B5EF4-FFF2-40B4-BE49-F238E27FC236}">
                <a16:creationId xmlns:a16="http://schemas.microsoft.com/office/drawing/2014/main" xmlns="" id="{08690E3F-F129-4D23-8577-55DF28E92811}"/>
              </a:ext>
            </a:extLst>
          </p:cNvPr>
          <p:cNvSpPr>
            <a:spLocks noGrp="1"/>
          </p:cNvSpPr>
          <p:nvPr>
            <p:ph type="sldNum" sz="quarter" idx="12"/>
          </p:nvPr>
        </p:nvSpPr>
        <p:spPr/>
        <p:txBody>
          <a:bodyPr/>
          <a:lstStyle/>
          <a:p>
            <a:fld id="{627FD4DC-FE0C-4428-9F24-254F72D3E7CF}"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6268911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xmlns="" id="{35FD126F-59B8-40EF-888C-134819BAC8B1}"/>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xmlns="" id="{BD9B6727-97EC-425F-8A15-34DDAF8861A6}"/>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xmlns="" id="{FC588576-F5C4-4369-B19A-C84B7490F8F9}"/>
              </a:ext>
            </a:extLst>
          </p:cNvPr>
          <p:cNvSpPr>
            <a:spLocks noGrp="1"/>
          </p:cNvSpPr>
          <p:nvPr>
            <p:ph type="dt" sz="half" idx="10"/>
          </p:nvPr>
        </p:nvSpPr>
        <p:spPr/>
        <p:txBody>
          <a:bodyPr/>
          <a:lstStyle/>
          <a:p>
            <a:fld id="{D229E809-A5DE-4335-8D9A-324E424FD68C}" type="datetimeFigureOut">
              <a:rPr lang="zh-CN" altLang="en-US" smtClean="0">
                <a:solidFill>
                  <a:prstClr val="black">
                    <a:tint val="75000"/>
                  </a:prstClr>
                </a:solidFill>
              </a:rPr>
              <a:pPr/>
              <a:t>2019/7/18</a:t>
            </a:fld>
            <a:endParaRPr lang="zh-CN" altLang="en-US">
              <a:solidFill>
                <a:prstClr val="black">
                  <a:tint val="75000"/>
                </a:prstClr>
              </a:solidFill>
            </a:endParaRPr>
          </a:p>
        </p:txBody>
      </p:sp>
      <p:sp>
        <p:nvSpPr>
          <p:cNvPr id="5" name="页脚占位符 4">
            <a:extLst>
              <a:ext uri="{FF2B5EF4-FFF2-40B4-BE49-F238E27FC236}">
                <a16:creationId xmlns:a16="http://schemas.microsoft.com/office/drawing/2014/main" xmlns="" id="{7032F485-41C6-48AA-B7F6-85D9AD0B4D52}"/>
              </a:ext>
            </a:extLst>
          </p:cNvPr>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a:extLst>
              <a:ext uri="{FF2B5EF4-FFF2-40B4-BE49-F238E27FC236}">
                <a16:creationId xmlns:a16="http://schemas.microsoft.com/office/drawing/2014/main" xmlns="" id="{B373C72A-11C9-4029-BA1A-E281655BB8FB}"/>
              </a:ext>
            </a:extLst>
          </p:cNvPr>
          <p:cNvSpPr>
            <a:spLocks noGrp="1"/>
          </p:cNvSpPr>
          <p:nvPr>
            <p:ph type="sldNum" sz="quarter" idx="12"/>
          </p:nvPr>
        </p:nvSpPr>
        <p:spPr/>
        <p:txBody>
          <a:bodyPr/>
          <a:lstStyle/>
          <a:p>
            <a:fld id="{627FD4DC-FE0C-4428-9F24-254F72D3E7CF}"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42395470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1D2E2239-6515-43C5-A789-81A6A1995746}"/>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xmlns="" id="{C174AE8B-D093-4518-9624-4EEE80CFD79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xmlns="" id="{27F8BEDE-88A6-457E-ACA4-C406C150DFD1}"/>
              </a:ext>
            </a:extLst>
          </p:cNvPr>
          <p:cNvSpPr>
            <a:spLocks noGrp="1"/>
          </p:cNvSpPr>
          <p:nvPr>
            <p:ph type="dt" sz="half" idx="10"/>
          </p:nvPr>
        </p:nvSpPr>
        <p:spPr/>
        <p:txBody>
          <a:bodyPr/>
          <a:lstStyle/>
          <a:p>
            <a:fld id="{D229E809-A5DE-4335-8D9A-324E424FD68C}" type="datetimeFigureOut">
              <a:rPr lang="zh-CN" altLang="en-US" smtClean="0">
                <a:solidFill>
                  <a:prstClr val="black">
                    <a:tint val="75000"/>
                  </a:prstClr>
                </a:solidFill>
              </a:rPr>
              <a:pPr/>
              <a:t>2019/7/18</a:t>
            </a:fld>
            <a:endParaRPr lang="zh-CN" altLang="en-US">
              <a:solidFill>
                <a:prstClr val="black">
                  <a:tint val="75000"/>
                </a:prstClr>
              </a:solidFill>
            </a:endParaRPr>
          </a:p>
        </p:txBody>
      </p:sp>
      <p:sp>
        <p:nvSpPr>
          <p:cNvPr id="5" name="页脚占位符 4">
            <a:extLst>
              <a:ext uri="{FF2B5EF4-FFF2-40B4-BE49-F238E27FC236}">
                <a16:creationId xmlns:a16="http://schemas.microsoft.com/office/drawing/2014/main" xmlns="" id="{833C82BA-B06E-4EDC-A382-CD17716788D4}"/>
              </a:ext>
            </a:extLst>
          </p:cNvPr>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a:extLst>
              <a:ext uri="{FF2B5EF4-FFF2-40B4-BE49-F238E27FC236}">
                <a16:creationId xmlns:a16="http://schemas.microsoft.com/office/drawing/2014/main" xmlns="" id="{A325C84A-7842-4F4D-A3ED-7A7E90B3B4B2}"/>
              </a:ext>
            </a:extLst>
          </p:cNvPr>
          <p:cNvSpPr>
            <a:spLocks noGrp="1"/>
          </p:cNvSpPr>
          <p:nvPr>
            <p:ph type="sldNum" sz="quarter" idx="12"/>
          </p:nvPr>
        </p:nvSpPr>
        <p:spPr/>
        <p:txBody>
          <a:bodyPr/>
          <a:lstStyle/>
          <a:p>
            <a:fld id="{627FD4DC-FE0C-4428-9F24-254F72D3E7CF}"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81152590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0E94C1C1-D3CB-408F-A081-749B44C04C0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xmlns="" id="{886F065B-8080-493C-AE68-F6608FDFEA5C}"/>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xmlns="" id="{0C3B7B64-0040-4DE0-9DE1-4C6EF39A3809}"/>
              </a:ext>
            </a:extLst>
          </p:cNvPr>
          <p:cNvSpPr>
            <a:spLocks noGrp="1"/>
          </p:cNvSpPr>
          <p:nvPr>
            <p:ph type="dt" sz="half" idx="10"/>
          </p:nvPr>
        </p:nvSpPr>
        <p:spPr/>
        <p:txBody>
          <a:bodyPr/>
          <a:lstStyle/>
          <a:p>
            <a:fld id="{D229E809-A5DE-4335-8D9A-324E424FD68C}" type="datetimeFigureOut">
              <a:rPr lang="zh-CN" altLang="en-US" smtClean="0">
                <a:solidFill>
                  <a:prstClr val="black">
                    <a:tint val="75000"/>
                  </a:prstClr>
                </a:solidFill>
              </a:rPr>
              <a:pPr/>
              <a:t>2019/7/18</a:t>
            </a:fld>
            <a:endParaRPr lang="zh-CN" altLang="en-US">
              <a:solidFill>
                <a:prstClr val="black">
                  <a:tint val="75000"/>
                </a:prstClr>
              </a:solidFill>
            </a:endParaRPr>
          </a:p>
        </p:txBody>
      </p:sp>
      <p:sp>
        <p:nvSpPr>
          <p:cNvPr id="5" name="页脚占位符 4">
            <a:extLst>
              <a:ext uri="{FF2B5EF4-FFF2-40B4-BE49-F238E27FC236}">
                <a16:creationId xmlns:a16="http://schemas.microsoft.com/office/drawing/2014/main" xmlns="" id="{B6955A70-1144-4580-9DF8-DE1592AF2AF8}"/>
              </a:ext>
            </a:extLst>
          </p:cNvPr>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a:extLst>
              <a:ext uri="{FF2B5EF4-FFF2-40B4-BE49-F238E27FC236}">
                <a16:creationId xmlns:a16="http://schemas.microsoft.com/office/drawing/2014/main" xmlns="" id="{A4941A16-2C91-47BB-B42E-ED53E9A8CAD0}"/>
              </a:ext>
            </a:extLst>
          </p:cNvPr>
          <p:cNvSpPr>
            <a:spLocks noGrp="1"/>
          </p:cNvSpPr>
          <p:nvPr>
            <p:ph type="sldNum" sz="quarter" idx="12"/>
          </p:nvPr>
        </p:nvSpPr>
        <p:spPr/>
        <p:txBody>
          <a:bodyPr/>
          <a:lstStyle/>
          <a:p>
            <a:fld id="{627FD4DC-FE0C-4428-9F24-254F72D3E7CF}"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63167562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25B9013-5FB5-49F2-A347-6EBDDBCFF594}"/>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xmlns="" id="{1BEB2E66-00E5-4316-B2B2-258AD19C550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xmlns="" id="{E6991F74-8BBF-474C-BBA0-E33BFF78767E}"/>
              </a:ext>
            </a:extLst>
          </p:cNvPr>
          <p:cNvSpPr>
            <a:spLocks noGrp="1"/>
          </p:cNvSpPr>
          <p:nvPr>
            <p:ph type="dt" sz="half" idx="10"/>
          </p:nvPr>
        </p:nvSpPr>
        <p:spPr/>
        <p:txBody>
          <a:bodyPr/>
          <a:lstStyle/>
          <a:p>
            <a:fld id="{D229E809-A5DE-4335-8D9A-324E424FD68C}" type="datetimeFigureOut">
              <a:rPr lang="zh-CN" altLang="en-US" smtClean="0">
                <a:solidFill>
                  <a:prstClr val="black">
                    <a:tint val="75000"/>
                  </a:prstClr>
                </a:solidFill>
              </a:rPr>
              <a:pPr/>
              <a:t>2019/7/18</a:t>
            </a:fld>
            <a:endParaRPr lang="zh-CN" altLang="en-US">
              <a:solidFill>
                <a:prstClr val="black">
                  <a:tint val="75000"/>
                </a:prstClr>
              </a:solidFill>
            </a:endParaRPr>
          </a:p>
        </p:txBody>
      </p:sp>
      <p:sp>
        <p:nvSpPr>
          <p:cNvPr id="5" name="页脚占位符 4">
            <a:extLst>
              <a:ext uri="{FF2B5EF4-FFF2-40B4-BE49-F238E27FC236}">
                <a16:creationId xmlns:a16="http://schemas.microsoft.com/office/drawing/2014/main" xmlns="" id="{DED33AA1-E4FE-426C-9BF8-420E92DF60C7}"/>
              </a:ext>
            </a:extLst>
          </p:cNvPr>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a:extLst>
              <a:ext uri="{FF2B5EF4-FFF2-40B4-BE49-F238E27FC236}">
                <a16:creationId xmlns:a16="http://schemas.microsoft.com/office/drawing/2014/main" xmlns="" id="{32C26A87-6A33-41E3-B80B-AFECC41C99B1}"/>
              </a:ext>
            </a:extLst>
          </p:cNvPr>
          <p:cNvSpPr>
            <a:spLocks noGrp="1"/>
          </p:cNvSpPr>
          <p:nvPr>
            <p:ph type="sldNum" sz="quarter" idx="12"/>
          </p:nvPr>
        </p:nvSpPr>
        <p:spPr/>
        <p:txBody>
          <a:bodyPr/>
          <a:lstStyle/>
          <a:p>
            <a:fld id="{627FD4DC-FE0C-4428-9F24-254F72D3E7CF}"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00154754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3F3B7AE2-E318-4BBE-B9A3-403584383D92}"/>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xmlns="" id="{9D738A50-8C1E-453C-A274-97681CBB1FED}"/>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xmlns="" id="{2ABDCC99-26F7-493C-970B-B00DCB4EB0FF}"/>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xmlns="" id="{23E88CBC-DDF7-4926-A9BE-8CF27987BE0B}"/>
              </a:ext>
            </a:extLst>
          </p:cNvPr>
          <p:cNvSpPr>
            <a:spLocks noGrp="1"/>
          </p:cNvSpPr>
          <p:nvPr>
            <p:ph type="dt" sz="half" idx="10"/>
          </p:nvPr>
        </p:nvSpPr>
        <p:spPr/>
        <p:txBody>
          <a:bodyPr/>
          <a:lstStyle/>
          <a:p>
            <a:fld id="{D229E809-A5DE-4335-8D9A-324E424FD68C}" type="datetimeFigureOut">
              <a:rPr lang="zh-CN" altLang="en-US" smtClean="0">
                <a:solidFill>
                  <a:prstClr val="black">
                    <a:tint val="75000"/>
                  </a:prstClr>
                </a:solidFill>
              </a:rPr>
              <a:pPr/>
              <a:t>2019/7/18</a:t>
            </a:fld>
            <a:endParaRPr lang="zh-CN" altLang="en-US">
              <a:solidFill>
                <a:prstClr val="black">
                  <a:tint val="75000"/>
                </a:prstClr>
              </a:solidFill>
            </a:endParaRPr>
          </a:p>
        </p:txBody>
      </p:sp>
      <p:sp>
        <p:nvSpPr>
          <p:cNvPr id="6" name="页脚占位符 5">
            <a:extLst>
              <a:ext uri="{FF2B5EF4-FFF2-40B4-BE49-F238E27FC236}">
                <a16:creationId xmlns:a16="http://schemas.microsoft.com/office/drawing/2014/main" xmlns="" id="{EB4CC8A8-11A8-43BE-AC9C-CDE983D25931}"/>
              </a:ext>
            </a:extLst>
          </p:cNvPr>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a:extLst>
              <a:ext uri="{FF2B5EF4-FFF2-40B4-BE49-F238E27FC236}">
                <a16:creationId xmlns:a16="http://schemas.microsoft.com/office/drawing/2014/main" xmlns="" id="{185BC4CB-854B-49AC-BC5D-0F2C1B27BB6F}"/>
              </a:ext>
            </a:extLst>
          </p:cNvPr>
          <p:cNvSpPr>
            <a:spLocks noGrp="1"/>
          </p:cNvSpPr>
          <p:nvPr>
            <p:ph type="sldNum" sz="quarter" idx="12"/>
          </p:nvPr>
        </p:nvSpPr>
        <p:spPr/>
        <p:txBody>
          <a:bodyPr/>
          <a:lstStyle/>
          <a:p>
            <a:fld id="{627FD4DC-FE0C-4428-9F24-254F72D3E7CF}"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99571598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DCF22353-D6E1-4E20-9DCE-951620E48C13}"/>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xmlns="" id="{045039AA-5209-4F40-B723-DA2729F44B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xmlns="" id="{02733876-270F-402B-B4A0-F94053F2F739}"/>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xmlns="" id="{466A0696-1326-4583-B3FE-CCC71E449C3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xmlns="" id="{96B9DBEA-0704-4471-9730-2692C5F846FC}"/>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xmlns="" id="{6C944F4E-228E-41AA-842E-0637CC80D504}"/>
              </a:ext>
            </a:extLst>
          </p:cNvPr>
          <p:cNvSpPr>
            <a:spLocks noGrp="1"/>
          </p:cNvSpPr>
          <p:nvPr>
            <p:ph type="dt" sz="half" idx="10"/>
          </p:nvPr>
        </p:nvSpPr>
        <p:spPr/>
        <p:txBody>
          <a:bodyPr/>
          <a:lstStyle/>
          <a:p>
            <a:fld id="{D229E809-A5DE-4335-8D9A-324E424FD68C}" type="datetimeFigureOut">
              <a:rPr lang="zh-CN" altLang="en-US" smtClean="0">
                <a:solidFill>
                  <a:prstClr val="black">
                    <a:tint val="75000"/>
                  </a:prstClr>
                </a:solidFill>
              </a:rPr>
              <a:pPr/>
              <a:t>2019/7/18</a:t>
            </a:fld>
            <a:endParaRPr lang="zh-CN" altLang="en-US">
              <a:solidFill>
                <a:prstClr val="black">
                  <a:tint val="75000"/>
                </a:prstClr>
              </a:solidFill>
            </a:endParaRPr>
          </a:p>
        </p:txBody>
      </p:sp>
      <p:sp>
        <p:nvSpPr>
          <p:cNvPr id="8" name="页脚占位符 7">
            <a:extLst>
              <a:ext uri="{FF2B5EF4-FFF2-40B4-BE49-F238E27FC236}">
                <a16:creationId xmlns:a16="http://schemas.microsoft.com/office/drawing/2014/main" xmlns="" id="{7F17D14B-AE01-44A3-9953-0FD6F805D744}"/>
              </a:ext>
            </a:extLst>
          </p:cNvPr>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a:extLst>
              <a:ext uri="{FF2B5EF4-FFF2-40B4-BE49-F238E27FC236}">
                <a16:creationId xmlns:a16="http://schemas.microsoft.com/office/drawing/2014/main" xmlns="" id="{1D6E10F8-216D-4C50-A52D-AAFCA43B6FF7}"/>
              </a:ext>
            </a:extLst>
          </p:cNvPr>
          <p:cNvSpPr>
            <a:spLocks noGrp="1"/>
          </p:cNvSpPr>
          <p:nvPr>
            <p:ph type="sldNum" sz="quarter" idx="12"/>
          </p:nvPr>
        </p:nvSpPr>
        <p:spPr/>
        <p:txBody>
          <a:bodyPr/>
          <a:lstStyle/>
          <a:p>
            <a:fld id="{627FD4DC-FE0C-4428-9F24-254F72D3E7CF}"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78060777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2E311395-9335-44FA-97CD-3A8912DB88FC}"/>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xmlns="" id="{179C5B20-6B71-416C-ACC5-A9D1E2180267}"/>
              </a:ext>
            </a:extLst>
          </p:cNvPr>
          <p:cNvSpPr>
            <a:spLocks noGrp="1"/>
          </p:cNvSpPr>
          <p:nvPr>
            <p:ph type="dt" sz="half" idx="10"/>
          </p:nvPr>
        </p:nvSpPr>
        <p:spPr/>
        <p:txBody>
          <a:bodyPr/>
          <a:lstStyle/>
          <a:p>
            <a:fld id="{D229E809-A5DE-4335-8D9A-324E424FD68C}" type="datetimeFigureOut">
              <a:rPr lang="zh-CN" altLang="en-US" smtClean="0">
                <a:solidFill>
                  <a:prstClr val="black">
                    <a:tint val="75000"/>
                  </a:prstClr>
                </a:solidFill>
              </a:rPr>
              <a:pPr/>
              <a:t>2019/7/18</a:t>
            </a:fld>
            <a:endParaRPr lang="zh-CN" altLang="en-US">
              <a:solidFill>
                <a:prstClr val="black">
                  <a:tint val="75000"/>
                </a:prstClr>
              </a:solidFill>
            </a:endParaRPr>
          </a:p>
        </p:txBody>
      </p:sp>
      <p:sp>
        <p:nvSpPr>
          <p:cNvPr id="4" name="页脚占位符 3">
            <a:extLst>
              <a:ext uri="{FF2B5EF4-FFF2-40B4-BE49-F238E27FC236}">
                <a16:creationId xmlns:a16="http://schemas.microsoft.com/office/drawing/2014/main" xmlns="" id="{480C727E-D878-400B-8CCC-258BDF2E242F}"/>
              </a:ext>
            </a:extLst>
          </p:cNvPr>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a:extLst>
              <a:ext uri="{FF2B5EF4-FFF2-40B4-BE49-F238E27FC236}">
                <a16:creationId xmlns:a16="http://schemas.microsoft.com/office/drawing/2014/main" xmlns="" id="{834B61DB-DFCD-4D6D-9BBF-A7B4F320CC31}"/>
              </a:ext>
            </a:extLst>
          </p:cNvPr>
          <p:cNvSpPr>
            <a:spLocks noGrp="1"/>
          </p:cNvSpPr>
          <p:nvPr>
            <p:ph type="sldNum" sz="quarter" idx="12"/>
          </p:nvPr>
        </p:nvSpPr>
        <p:spPr/>
        <p:txBody>
          <a:bodyPr/>
          <a:lstStyle/>
          <a:p>
            <a:fld id="{627FD4DC-FE0C-4428-9F24-254F72D3E7CF}"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17036640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xmlns="" id="{841C6B72-470D-45DA-9CB6-8C224D795B5F}"/>
              </a:ext>
            </a:extLst>
          </p:cNvPr>
          <p:cNvSpPr>
            <a:spLocks noGrp="1"/>
          </p:cNvSpPr>
          <p:nvPr>
            <p:ph type="dt" sz="half" idx="10"/>
          </p:nvPr>
        </p:nvSpPr>
        <p:spPr/>
        <p:txBody>
          <a:bodyPr/>
          <a:lstStyle/>
          <a:p>
            <a:fld id="{D229E809-A5DE-4335-8D9A-324E424FD68C}" type="datetimeFigureOut">
              <a:rPr lang="zh-CN" altLang="en-US" smtClean="0">
                <a:solidFill>
                  <a:prstClr val="black">
                    <a:tint val="75000"/>
                  </a:prstClr>
                </a:solidFill>
              </a:rPr>
              <a:pPr/>
              <a:t>2019/7/18</a:t>
            </a:fld>
            <a:endParaRPr lang="zh-CN" altLang="en-US">
              <a:solidFill>
                <a:prstClr val="black">
                  <a:tint val="75000"/>
                </a:prstClr>
              </a:solidFill>
            </a:endParaRPr>
          </a:p>
        </p:txBody>
      </p:sp>
      <p:sp>
        <p:nvSpPr>
          <p:cNvPr id="3" name="页脚占位符 2">
            <a:extLst>
              <a:ext uri="{FF2B5EF4-FFF2-40B4-BE49-F238E27FC236}">
                <a16:creationId xmlns:a16="http://schemas.microsoft.com/office/drawing/2014/main" xmlns="" id="{A3828D21-1BB2-44DC-9CE2-D424CC2E3335}"/>
              </a:ext>
            </a:extLst>
          </p:cNvPr>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a:extLst>
              <a:ext uri="{FF2B5EF4-FFF2-40B4-BE49-F238E27FC236}">
                <a16:creationId xmlns:a16="http://schemas.microsoft.com/office/drawing/2014/main" xmlns="" id="{9A9B0B77-10AB-4B0C-91FC-45F269EF701F}"/>
              </a:ext>
            </a:extLst>
          </p:cNvPr>
          <p:cNvSpPr>
            <a:spLocks noGrp="1"/>
          </p:cNvSpPr>
          <p:nvPr>
            <p:ph type="sldNum" sz="quarter" idx="12"/>
          </p:nvPr>
        </p:nvSpPr>
        <p:spPr/>
        <p:txBody>
          <a:bodyPr/>
          <a:lstStyle/>
          <a:p>
            <a:fld id="{627FD4DC-FE0C-4428-9F24-254F72D3E7CF}"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44996313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9A09EC2F-0180-42AD-846F-DCC55B9EF843}"/>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xmlns="" id="{3AFDC2BC-A83D-4278-A7B1-571DCE75907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xmlns="" id="{86E7D617-099A-4AC1-943D-C7BDC2B2C9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xmlns="" id="{DA94B66F-5CCB-4921-A2A3-2559572EE9D4}"/>
              </a:ext>
            </a:extLst>
          </p:cNvPr>
          <p:cNvSpPr>
            <a:spLocks noGrp="1"/>
          </p:cNvSpPr>
          <p:nvPr>
            <p:ph type="dt" sz="half" idx="10"/>
          </p:nvPr>
        </p:nvSpPr>
        <p:spPr/>
        <p:txBody>
          <a:bodyPr/>
          <a:lstStyle/>
          <a:p>
            <a:fld id="{D229E809-A5DE-4335-8D9A-324E424FD68C}" type="datetimeFigureOut">
              <a:rPr lang="zh-CN" altLang="en-US" smtClean="0">
                <a:solidFill>
                  <a:prstClr val="black">
                    <a:tint val="75000"/>
                  </a:prstClr>
                </a:solidFill>
              </a:rPr>
              <a:pPr/>
              <a:t>2019/7/18</a:t>
            </a:fld>
            <a:endParaRPr lang="zh-CN" altLang="en-US">
              <a:solidFill>
                <a:prstClr val="black">
                  <a:tint val="75000"/>
                </a:prstClr>
              </a:solidFill>
            </a:endParaRPr>
          </a:p>
        </p:txBody>
      </p:sp>
      <p:sp>
        <p:nvSpPr>
          <p:cNvPr id="6" name="页脚占位符 5">
            <a:extLst>
              <a:ext uri="{FF2B5EF4-FFF2-40B4-BE49-F238E27FC236}">
                <a16:creationId xmlns:a16="http://schemas.microsoft.com/office/drawing/2014/main" xmlns="" id="{3BA3A610-5E77-4847-9CEF-99EBF0CDE2B9}"/>
              </a:ext>
            </a:extLst>
          </p:cNvPr>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a:extLst>
              <a:ext uri="{FF2B5EF4-FFF2-40B4-BE49-F238E27FC236}">
                <a16:creationId xmlns:a16="http://schemas.microsoft.com/office/drawing/2014/main" xmlns="" id="{AA3F647D-C92F-4A06-827F-DD0E3F5D8F5D}"/>
              </a:ext>
            </a:extLst>
          </p:cNvPr>
          <p:cNvSpPr>
            <a:spLocks noGrp="1"/>
          </p:cNvSpPr>
          <p:nvPr>
            <p:ph type="sldNum" sz="quarter" idx="12"/>
          </p:nvPr>
        </p:nvSpPr>
        <p:spPr/>
        <p:txBody>
          <a:bodyPr/>
          <a:lstStyle/>
          <a:p>
            <a:fld id="{627FD4DC-FE0C-4428-9F24-254F72D3E7CF}"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42493072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26467E88-F83C-4221-A3AC-A14640515E02}"/>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xmlns="" id="{4970BDC4-D177-4D46-A8B2-9938B16CFC6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xmlns="" id="{03E57776-39D4-4E8D-9921-2EED1D689C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xmlns="" id="{5B101DB3-0DE6-40AE-8097-ACE7381DA5A8}"/>
              </a:ext>
            </a:extLst>
          </p:cNvPr>
          <p:cNvSpPr>
            <a:spLocks noGrp="1"/>
          </p:cNvSpPr>
          <p:nvPr>
            <p:ph type="dt" sz="half" idx="10"/>
          </p:nvPr>
        </p:nvSpPr>
        <p:spPr/>
        <p:txBody>
          <a:bodyPr/>
          <a:lstStyle/>
          <a:p>
            <a:fld id="{D229E809-A5DE-4335-8D9A-324E424FD68C}" type="datetimeFigureOut">
              <a:rPr lang="zh-CN" altLang="en-US" smtClean="0">
                <a:solidFill>
                  <a:prstClr val="black">
                    <a:tint val="75000"/>
                  </a:prstClr>
                </a:solidFill>
              </a:rPr>
              <a:pPr/>
              <a:t>2019/7/18</a:t>
            </a:fld>
            <a:endParaRPr lang="zh-CN" altLang="en-US">
              <a:solidFill>
                <a:prstClr val="black">
                  <a:tint val="75000"/>
                </a:prstClr>
              </a:solidFill>
            </a:endParaRPr>
          </a:p>
        </p:txBody>
      </p:sp>
      <p:sp>
        <p:nvSpPr>
          <p:cNvPr id="6" name="页脚占位符 5">
            <a:extLst>
              <a:ext uri="{FF2B5EF4-FFF2-40B4-BE49-F238E27FC236}">
                <a16:creationId xmlns:a16="http://schemas.microsoft.com/office/drawing/2014/main" xmlns="" id="{40C0AA0F-1736-43EC-82B5-F09714F349F2}"/>
              </a:ext>
            </a:extLst>
          </p:cNvPr>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a:extLst>
              <a:ext uri="{FF2B5EF4-FFF2-40B4-BE49-F238E27FC236}">
                <a16:creationId xmlns:a16="http://schemas.microsoft.com/office/drawing/2014/main" xmlns="" id="{63CB108F-AF47-4909-9EA7-5F186A7B6BDB}"/>
              </a:ext>
            </a:extLst>
          </p:cNvPr>
          <p:cNvSpPr>
            <a:spLocks noGrp="1"/>
          </p:cNvSpPr>
          <p:nvPr>
            <p:ph type="sldNum" sz="quarter" idx="12"/>
          </p:nvPr>
        </p:nvSpPr>
        <p:spPr/>
        <p:txBody>
          <a:bodyPr/>
          <a:lstStyle/>
          <a:p>
            <a:fld id="{627FD4DC-FE0C-4428-9F24-254F72D3E7CF}"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85942102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E69FF25-98B6-4F35-B5C9-A1566208B7A5}"/>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xmlns="" id="{C446C0EB-9A1E-4403-AA18-B46E6F11B544}"/>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xmlns="" id="{66AE4092-81F0-448E-BB2B-235978E0CF0C}"/>
              </a:ext>
            </a:extLst>
          </p:cNvPr>
          <p:cNvSpPr>
            <a:spLocks noGrp="1"/>
          </p:cNvSpPr>
          <p:nvPr>
            <p:ph type="dt" sz="half" idx="10"/>
          </p:nvPr>
        </p:nvSpPr>
        <p:spPr/>
        <p:txBody>
          <a:bodyPr/>
          <a:lstStyle/>
          <a:p>
            <a:fld id="{D229E809-A5DE-4335-8D9A-324E424FD68C}" type="datetimeFigureOut">
              <a:rPr lang="zh-CN" altLang="en-US" smtClean="0">
                <a:solidFill>
                  <a:prstClr val="black">
                    <a:tint val="75000"/>
                  </a:prstClr>
                </a:solidFill>
              </a:rPr>
              <a:pPr/>
              <a:t>2019/7/18</a:t>
            </a:fld>
            <a:endParaRPr lang="zh-CN" altLang="en-US">
              <a:solidFill>
                <a:prstClr val="black">
                  <a:tint val="75000"/>
                </a:prstClr>
              </a:solidFill>
            </a:endParaRPr>
          </a:p>
        </p:txBody>
      </p:sp>
      <p:sp>
        <p:nvSpPr>
          <p:cNvPr id="5" name="页脚占位符 4">
            <a:extLst>
              <a:ext uri="{FF2B5EF4-FFF2-40B4-BE49-F238E27FC236}">
                <a16:creationId xmlns:a16="http://schemas.microsoft.com/office/drawing/2014/main" xmlns="" id="{BD44ABE3-2453-4994-A33E-DFDD3B592C14}"/>
              </a:ext>
            </a:extLst>
          </p:cNvPr>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a:extLst>
              <a:ext uri="{FF2B5EF4-FFF2-40B4-BE49-F238E27FC236}">
                <a16:creationId xmlns:a16="http://schemas.microsoft.com/office/drawing/2014/main" xmlns="" id="{08690E3F-F129-4D23-8577-55DF28E92811}"/>
              </a:ext>
            </a:extLst>
          </p:cNvPr>
          <p:cNvSpPr>
            <a:spLocks noGrp="1"/>
          </p:cNvSpPr>
          <p:nvPr>
            <p:ph type="sldNum" sz="quarter" idx="12"/>
          </p:nvPr>
        </p:nvSpPr>
        <p:spPr/>
        <p:txBody>
          <a:bodyPr/>
          <a:lstStyle/>
          <a:p>
            <a:fld id="{627FD4DC-FE0C-4428-9F24-254F72D3E7CF}"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11003835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xmlns="" id="{35FD126F-59B8-40EF-888C-134819BAC8B1}"/>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xmlns="" id="{BD9B6727-97EC-425F-8A15-34DDAF8861A6}"/>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xmlns="" id="{FC588576-F5C4-4369-B19A-C84B7490F8F9}"/>
              </a:ext>
            </a:extLst>
          </p:cNvPr>
          <p:cNvSpPr>
            <a:spLocks noGrp="1"/>
          </p:cNvSpPr>
          <p:nvPr>
            <p:ph type="dt" sz="half" idx="10"/>
          </p:nvPr>
        </p:nvSpPr>
        <p:spPr/>
        <p:txBody>
          <a:bodyPr/>
          <a:lstStyle/>
          <a:p>
            <a:fld id="{D229E809-A5DE-4335-8D9A-324E424FD68C}" type="datetimeFigureOut">
              <a:rPr lang="zh-CN" altLang="en-US" smtClean="0">
                <a:solidFill>
                  <a:prstClr val="black">
                    <a:tint val="75000"/>
                  </a:prstClr>
                </a:solidFill>
              </a:rPr>
              <a:pPr/>
              <a:t>2019/7/18</a:t>
            </a:fld>
            <a:endParaRPr lang="zh-CN" altLang="en-US">
              <a:solidFill>
                <a:prstClr val="black">
                  <a:tint val="75000"/>
                </a:prstClr>
              </a:solidFill>
            </a:endParaRPr>
          </a:p>
        </p:txBody>
      </p:sp>
      <p:sp>
        <p:nvSpPr>
          <p:cNvPr id="5" name="页脚占位符 4">
            <a:extLst>
              <a:ext uri="{FF2B5EF4-FFF2-40B4-BE49-F238E27FC236}">
                <a16:creationId xmlns:a16="http://schemas.microsoft.com/office/drawing/2014/main" xmlns="" id="{7032F485-41C6-48AA-B7F6-85D9AD0B4D52}"/>
              </a:ext>
            </a:extLst>
          </p:cNvPr>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a:extLst>
              <a:ext uri="{FF2B5EF4-FFF2-40B4-BE49-F238E27FC236}">
                <a16:creationId xmlns:a16="http://schemas.microsoft.com/office/drawing/2014/main" xmlns="" id="{B373C72A-11C9-4029-BA1A-E281655BB8FB}"/>
              </a:ext>
            </a:extLst>
          </p:cNvPr>
          <p:cNvSpPr>
            <a:spLocks noGrp="1"/>
          </p:cNvSpPr>
          <p:nvPr>
            <p:ph type="sldNum" sz="quarter" idx="12"/>
          </p:nvPr>
        </p:nvSpPr>
        <p:spPr/>
        <p:txBody>
          <a:bodyPr/>
          <a:lstStyle/>
          <a:p>
            <a:fld id="{627FD4DC-FE0C-4428-9F24-254F72D3E7CF}"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8961467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xmlns="" id="{90FB62CA-20E0-46C0-A82C-D3E4473FA5F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xmlns="" id="{781E3AF1-637E-496E-8367-86367F9A975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xmlns="" id="{FD6E0757-BDD9-4DFC-BFE4-9F609D34FC8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33A3093-40F6-47B9-825A-D42085300745}" type="datetimeFigureOut">
              <a:rPr lang="zh-CN" altLang="en-US" smtClean="0"/>
              <a:t>2019/7/18</a:t>
            </a:fld>
            <a:endParaRPr lang="zh-CN" altLang="en-US"/>
          </a:p>
        </p:txBody>
      </p:sp>
      <p:sp>
        <p:nvSpPr>
          <p:cNvPr id="5" name="页脚占位符 4">
            <a:extLst>
              <a:ext uri="{FF2B5EF4-FFF2-40B4-BE49-F238E27FC236}">
                <a16:creationId xmlns:a16="http://schemas.microsoft.com/office/drawing/2014/main" xmlns="" id="{A3BB547A-3881-43EE-8A3D-5A733E6CEAD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xmlns="" id="{5A97CDAA-1D33-4C0C-BB4B-064057B22CD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6969FF9-A5DA-4662-921D-53CEF3A13F09}" type="slidenum">
              <a:rPr lang="zh-CN" altLang="en-US" smtClean="0"/>
              <a:t>‹#›</a:t>
            </a:fld>
            <a:endParaRPr lang="zh-CN" altLang="en-US"/>
          </a:p>
        </p:txBody>
      </p:sp>
    </p:spTree>
    <p:extLst>
      <p:ext uri="{BB962C8B-B14F-4D97-AF65-F5344CB8AC3E}">
        <p14:creationId xmlns:p14="http://schemas.microsoft.com/office/powerpoint/2010/main" val="5211545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xmlns="" id="{B88467C2-BC86-45E0-9761-7D8DDBDB359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xmlns="" id="{412941AB-D4C2-462C-B1E3-987A3975AD4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xmlns="" id="{39D66098-8900-43C1-B07C-8DC1F42E214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229E809-A5DE-4335-8D9A-324E424FD68C}" type="datetimeFigureOut">
              <a:rPr lang="zh-CN" altLang="en-US" smtClean="0"/>
              <a:t>2019/7/18</a:t>
            </a:fld>
            <a:endParaRPr lang="zh-CN" altLang="en-US"/>
          </a:p>
        </p:txBody>
      </p:sp>
      <p:sp>
        <p:nvSpPr>
          <p:cNvPr id="5" name="页脚占位符 4">
            <a:extLst>
              <a:ext uri="{FF2B5EF4-FFF2-40B4-BE49-F238E27FC236}">
                <a16:creationId xmlns:a16="http://schemas.microsoft.com/office/drawing/2014/main" xmlns="" id="{D9D2F4EE-8722-4BF3-B447-DBC17108FF9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xmlns="" id="{4AA1D5E4-38C1-48A5-AA83-5B248209BE4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7FD4DC-FE0C-4428-9F24-254F72D3E7CF}" type="slidenum">
              <a:rPr lang="zh-CN" altLang="en-US" smtClean="0"/>
              <a:t>‹#›</a:t>
            </a:fld>
            <a:endParaRPr lang="zh-CN" altLang="en-US"/>
          </a:p>
        </p:txBody>
      </p:sp>
    </p:spTree>
    <p:extLst>
      <p:ext uri="{BB962C8B-B14F-4D97-AF65-F5344CB8AC3E}">
        <p14:creationId xmlns:p14="http://schemas.microsoft.com/office/powerpoint/2010/main" val="31083675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xmlns="" id="{B88467C2-BC86-45E0-9761-7D8DDBDB359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xmlns="" id="{412941AB-D4C2-462C-B1E3-987A3975AD4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xmlns="" id="{39D66098-8900-43C1-B07C-8DC1F42E214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229E809-A5DE-4335-8D9A-324E424FD68C}" type="datetimeFigureOut">
              <a:rPr lang="zh-CN" altLang="en-US" smtClean="0">
                <a:solidFill>
                  <a:prstClr val="black">
                    <a:tint val="75000"/>
                  </a:prstClr>
                </a:solidFill>
              </a:rPr>
              <a:pPr/>
              <a:t>2019/7/18</a:t>
            </a:fld>
            <a:endParaRPr lang="zh-CN" altLang="en-US">
              <a:solidFill>
                <a:prstClr val="black">
                  <a:tint val="75000"/>
                </a:prstClr>
              </a:solidFill>
            </a:endParaRPr>
          </a:p>
        </p:txBody>
      </p:sp>
      <p:sp>
        <p:nvSpPr>
          <p:cNvPr id="5" name="页脚占位符 4">
            <a:extLst>
              <a:ext uri="{FF2B5EF4-FFF2-40B4-BE49-F238E27FC236}">
                <a16:creationId xmlns:a16="http://schemas.microsoft.com/office/drawing/2014/main" xmlns="" id="{D9D2F4EE-8722-4BF3-B447-DBC17108FF9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6" name="灯片编号占位符 5">
            <a:extLst>
              <a:ext uri="{FF2B5EF4-FFF2-40B4-BE49-F238E27FC236}">
                <a16:creationId xmlns:a16="http://schemas.microsoft.com/office/drawing/2014/main" xmlns="" id="{4AA1D5E4-38C1-48A5-AA83-5B248209BE4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7FD4DC-FE0C-4428-9F24-254F72D3E7CF}"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67443021"/>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xmlns="" id="{B88467C2-BC86-45E0-9761-7D8DDBDB359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xmlns="" id="{412941AB-D4C2-462C-B1E3-987A3975AD4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xmlns="" id="{39D66098-8900-43C1-B07C-8DC1F42E214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229E809-A5DE-4335-8D9A-324E424FD68C}" type="datetimeFigureOut">
              <a:rPr lang="zh-CN" altLang="en-US" smtClean="0">
                <a:solidFill>
                  <a:prstClr val="black">
                    <a:tint val="75000"/>
                  </a:prstClr>
                </a:solidFill>
              </a:rPr>
              <a:pPr/>
              <a:t>2019/7/18</a:t>
            </a:fld>
            <a:endParaRPr lang="zh-CN" altLang="en-US">
              <a:solidFill>
                <a:prstClr val="black">
                  <a:tint val="75000"/>
                </a:prstClr>
              </a:solidFill>
            </a:endParaRPr>
          </a:p>
        </p:txBody>
      </p:sp>
      <p:sp>
        <p:nvSpPr>
          <p:cNvPr id="5" name="页脚占位符 4">
            <a:extLst>
              <a:ext uri="{FF2B5EF4-FFF2-40B4-BE49-F238E27FC236}">
                <a16:creationId xmlns:a16="http://schemas.microsoft.com/office/drawing/2014/main" xmlns="" id="{D9D2F4EE-8722-4BF3-B447-DBC17108FF9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6" name="灯片编号占位符 5">
            <a:extLst>
              <a:ext uri="{FF2B5EF4-FFF2-40B4-BE49-F238E27FC236}">
                <a16:creationId xmlns:a16="http://schemas.microsoft.com/office/drawing/2014/main" xmlns="" id="{4AA1D5E4-38C1-48A5-AA83-5B248209BE4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7FD4DC-FE0C-4428-9F24-254F72D3E7CF}"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7779243"/>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microsoft.com/office/2007/relationships/hdphoto" Target="../media/hdphoto1.wdp"/><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7.xml"/><Relationship Id="rId1" Type="http://schemas.openxmlformats.org/officeDocument/2006/relationships/themeOverride" Target="../theme/themeOverride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17.xml"/><Relationship Id="rId5" Type="http://schemas.microsoft.com/office/2007/relationships/hdphoto" Target="../media/hdphoto1.wdp"/><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8.xml"/><Relationship Id="rId5" Type="http://schemas.microsoft.com/office/2007/relationships/hdphoto" Target="../media/hdphoto1.wdp"/><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8.xml"/><Relationship Id="rId5" Type="http://schemas.microsoft.com/office/2007/relationships/hdphoto" Target="../media/hdphoto1.wdp"/><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8.xml"/><Relationship Id="rId5" Type="http://schemas.microsoft.com/office/2007/relationships/hdphoto" Target="../media/hdphoto1.wdp"/><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17.xml"/><Relationship Id="rId5" Type="http://schemas.microsoft.com/office/2007/relationships/hdphoto" Target="../media/hdphoto1.wdp"/><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8.xml"/><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8.xml"/><Relationship Id="rId4" Type="http://schemas.microsoft.com/office/2007/relationships/hdphoto" Target="../media/hdphoto1.wdp"/></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8.xml"/><Relationship Id="rId4" Type="http://schemas.microsoft.com/office/2007/relationships/hdphoto" Target="../media/hdphoto1.wdp"/></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8.xml"/><Relationship Id="rId4" Type="http://schemas.microsoft.com/office/2007/relationships/hdphoto" Target="../media/hdphoto1.wdp"/></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8.xml"/><Relationship Id="rId4" Type="http://schemas.microsoft.com/office/2007/relationships/hdphoto" Target="../media/hdphoto1.wdp"/></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8.xml"/><Relationship Id="rId4" Type="http://schemas.microsoft.com/office/2007/relationships/hdphoto" Target="../media/hdphoto1.wdp"/></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8.xml"/><Relationship Id="rId4" Type="http://schemas.microsoft.com/office/2007/relationships/hdphoto" Target="../media/hdphoto1.wdp"/></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8.xml"/><Relationship Id="rId4" Type="http://schemas.microsoft.com/office/2007/relationships/hdphoto" Target="../media/hdphoto1.wdp"/></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8.xml"/><Relationship Id="rId4" Type="http://schemas.microsoft.com/office/2007/relationships/hdphoto" Target="../media/hdphoto1.wdp"/></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8.xml"/><Relationship Id="rId4" Type="http://schemas.microsoft.com/office/2007/relationships/hdphoto" Target="../media/hdphoto1.wdp"/></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8.xml"/><Relationship Id="rId4" Type="http://schemas.microsoft.com/office/2007/relationships/hdphoto" Target="../media/hdphoto1.wdp"/></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8.xml"/><Relationship Id="rId4" Type="http://schemas.microsoft.com/office/2007/relationships/hdphoto" Target="../media/hdphoto1.wdp"/></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8.xml"/><Relationship Id="rId4" Type="http://schemas.microsoft.com/office/2007/relationships/hdphoto" Target="../media/hdphoto1.wdp"/></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8.xml"/><Relationship Id="rId4" Type="http://schemas.microsoft.com/office/2007/relationships/hdphoto" Target="../media/hdphoto1.wdp"/></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8.xml"/><Relationship Id="rId4" Type="http://schemas.microsoft.com/office/2007/relationships/hdphoto" Target="../media/hdphoto1.wdp"/></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8.xml"/><Relationship Id="rId4" Type="http://schemas.microsoft.com/office/2007/relationships/hdphoto" Target="../media/hdphoto1.wdp"/></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8.xml"/><Relationship Id="rId4" Type="http://schemas.microsoft.com/office/2007/relationships/hdphoto" Target="../media/hdphoto1.wdp"/></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17.xml"/><Relationship Id="rId5" Type="http://schemas.microsoft.com/office/2007/relationships/hdphoto" Target="../media/hdphoto1.wdp"/><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8.xml"/><Relationship Id="rId4" Type="http://schemas.microsoft.com/office/2007/relationships/hdphoto" Target="../media/hdphoto1.wdp"/></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8.xml"/><Relationship Id="rId4" Type="http://schemas.microsoft.com/office/2007/relationships/hdphoto" Target="../media/hdphoto1.wdp"/></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8.xml"/><Relationship Id="rId4" Type="http://schemas.microsoft.com/office/2007/relationships/hdphoto" Target="../media/hdphoto1.wdp"/></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8.xml"/><Relationship Id="rId4" Type="http://schemas.microsoft.com/office/2007/relationships/hdphoto" Target="../media/hdphoto1.wdp"/></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8.xml"/><Relationship Id="rId4" Type="http://schemas.microsoft.com/office/2007/relationships/hdphoto" Target="../media/hdphoto1.wdp"/></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8.xml"/><Relationship Id="rId4" Type="http://schemas.microsoft.com/office/2007/relationships/hdphoto" Target="../media/hdphoto1.wdp"/></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8.xml"/><Relationship Id="rId4" Type="http://schemas.microsoft.com/office/2007/relationships/hdphoto" Target="../media/hdphoto1.wdp"/></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8.xml"/><Relationship Id="rId4" Type="http://schemas.microsoft.com/office/2007/relationships/hdphoto" Target="../media/hdphoto1.wdp"/></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8.xml"/><Relationship Id="rId4" Type="http://schemas.microsoft.com/office/2007/relationships/hdphoto" Target="../media/hdphoto1.wdp"/></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8.xml"/><Relationship Id="rId4" Type="http://schemas.microsoft.com/office/2007/relationships/hdphoto" Target="../media/hdphoto1.wdp"/></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17.xml"/><Relationship Id="rId5" Type="http://schemas.microsoft.com/office/2007/relationships/hdphoto" Target="../media/hdphoto1.wdp"/><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8.xml"/><Relationship Id="rId4" Type="http://schemas.microsoft.com/office/2007/relationships/hdphoto" Target="../media/hdphoto1.wdp"/></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8.xml"/><Relationship Id="rId4" Type="http://schemas.microsoft.com/office/2007/relationships/hdphoto" Target="../media/hdphoto1.wdp"/></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8.xml"/><Relationship Id="rId4" Type="http://schemas.microsoft.com/office/2007/relationships/hdphoto" Target="../media/hdphoto1.wdp"/></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8.xml"/><Relationship Id="rId4" Type="http://schemas.microsoft.com/office/2007/relationships/hdphoto" Target="../media/hdphoto1.wdp"/></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8.xml"/><Relationship Id="rId4" Type="http://schemas.microsoft.com/office/2007/relationships/hdphoto" Target="../media/hdphoto1.wdp"/></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8.xml"/><Relationship Id="rId4" Type="http://schemas.microsoft.com/office/2007/relationships/hdphoto" Target="../media/hdphoto1.wdp"/></Relationships>
</file>

<file path=ppt/slides/_rels/slide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8.xml"/><Relationship Id="rId4" Type="http://schemas.microsoft.com/office/2007/relationships/hdphoto" Target="../media/hdphoto1.wdp"/></Relationships>
</file>

<file path=ppt/slides/_rels/slide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8.xml"/><Relationship Id="rId4" Type="http://schemas.microsoft.com/office/2007/relationships/hdphoto" Target="../media/hdphoto1.wdp"/></Relationships>
</file>

<file path=ppt/slides/_rels/slide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8.xml"/><Relationship Id="rId4" Type="http://schemas.microsoft.com/office/2007/relationships/hdphoto" Target="../media/hdphoto1.wdp"/></Relationships>
</file>

<file path=ppt/slides/_rels/slide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8.xml"/><Relationship Id="rId4" Type="http://schemas.microsoft.com/office/2007/relationships/hdphoto" Target="../media/hdphoto1.wdp"/></Relationships>
</file>

<file path=ppt/slides/_rels/slide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8.xml"/><Relationship Id="rId4" Type="http://schemas.microsoft.com/office/2007/relationships/hdphoto" Target="../media/hdphoto1.wdp"/></Relationships>
</file>

<file path=ppt/slides/_rels/slide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8.xml"/><Relationship Id="rId4" Type="http://schemas.microsoft.com/office/2007/relationships/hdphoto" Target="../media/hdphoto1.wdp"/></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17.xml"/><Relationship Id="rId5" Type="http://schemas.microsoft.com/office/2007/relationships/hdphoto" Target="../media/hdphoto1.wdp"/><Relationship Id="rId4" Type="http://schemas.openxmlformats.org/officeDocument/2006/relationships/image" Target="../media/image3.png"/></Relationships>
</file>

<file path=ppt/slides/_rels/slide5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8.xml"/><Relationship Id="rId4" Type="http://schemas.microsoft.com/office/2007/relationships/hdphoto" Target="../media/hdphoto1.wdp"/></Relationships>
</file>

<file path=ppt/slides/_rels/slide5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8.xml"/><Relationship Id="rId4" Type="http://schemas.microsoft.com/office/2007/relationships/hdphoto" Target="../media/hdphoto1.wdp"/></Relationships>
</file>

<file path=ppt/slides/_rels/slide5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8.xml"/><Relationship Id="rId4" Type="http://schemas.microsoft.com/office/2007/relationships/hdphoto" Target="../media/hdphoto1.wdp"/></Relationships>
</file>

<file path=ppt/slides/_rels/slide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8.xml"/><Relationship Id="rId4" Type="http://schemas.microsoft.com/office/2007/relationships/hdphoto" Target="../media/hdphoto1.wdp"/></Relationships>
</file>

<file path=ppt/slides/_rels/slide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8.xml"/><Relationship Id="rId4" Type="http://schemas.microsoft.com/office/2007/relationships/hdphoto" Target="../media/hdphoto1.wdp"/></Relationships>
</file>

<file path=ppt/slides/_rels/slide5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8.xml"/><Relationship Id="rId4" Type="http://schemas.microsoft.com/office/2007/relationships/hdphoto" Target="../media/hdphoto1.wdp"/></Relationships>
</file>

<file path=ppt/slides/_rels/slide5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8.xml"/><Relationship Id="rId4" Type="http://schemas.microsoft.com/office/2007/relationships/hdphoto" Target="../media/hdphoto1.wdp"/></Relationships>
</file>

<file path=ppt/slides/_rels/slide5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8.xml"/><Relationship Id="rId4" Type="http://schemas.microsoft.com/office/2007/relationships/hdphoto" Target="../media/hdphoto1.wdp"/></Relationships>
</file>

<file path=ppt/slides/_rels/slide5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8.xml"/><Relationship Id="rId4" Type="http://schemas.microsoft.com/office/2007/relationships/hdphoto" Target="../media/hdphoto1.wdp"/></Relationships>
</file>

<file path=ppt/slides/_rels/slide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8.xml"/><Relationship Id="rId1" Type="http://schemas.openxmlformats.org/officeDocument/2006/relationships/themeOverride" Target="../theme/themeOverride2.xml"/><Relationship Id="rId5" Type="http://schemas.microsoft.com/office/2007/relationships/hdphoto" Target="../media/hdphoto1.wdp"/><Relationship Id="rId4" Type="http://schemas.openxmlformats.org/officeDocument/2006/relationships/image" Target="../media/image3.png"/></Relationships>
</file>

<file path=ppt/slides/_rels/slide6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8.xml"/><Relationship Id="rId4" Type="http://schemas.microsoft.com/office/2007/relationships/hdphoto" Target="../media/hdphoto1.wdp"/></Relationships>
</file>

<file path=ppt/slides/_rels/slide6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8.xml"/><Relationship Id="rId4" Type="http://schemas.microsoft.com/office/2007/relationships/hdphoto" Target="../media/hdphoto1.wdp"/></Relationships>
</file>

<file path=ppt/slides/_rels/slide6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8.xml"/><Relationship Id="rId4" Type="http://schemas.microsoft.com/office/2007/relationships/hdphoto" Target="../media/hdphoto1.wdp"/></Relationships>
</file>

<file path=ppt/slides/_rels/slide6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8.xml"/><Relationship Id="rId4" Type="http://schemas.microsoft.com/office/2007/relationships/hdphoto" Target="../media/hdphoto1.wdp"/></Relationships>
</file>

<file path=ppt/slides/_rels/slide6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8.xml"/><Relationship Id="rId4" Type="http://schemas.microsoft.com/office/2007/relationships/hdphoto" Target="../media/hdphoto1.wdp"/></Relationships>
</file>

<file path=ppt/slides/_rels/slide6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8.xml"/><Relationship Id="rId4" Type="http://schemas.microsoft.com/office/2007/relationships/hdphoto" Target="../media/hdphoto1.wdp"/></Relationships>
</file>

<file path=ppt/slides/_rels/slide6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8.xml"/><Relationship Id="rId1" Type="http://schemas.openxmlformats.org/officeDocument/2006/relationships/themeOverride" Target="../theme/themeOverride3.xml"/><Relationship Id="rId5" Type="http://schemas.microsoft.com/office/2007/relationships/hdphoto" Target="../media/hdphoto1.wdp"/><Relationship Id="rId4" Type="http://schemas.openxmlformats.org/officeDocument/2006/relationships/image" Target="../media/image3.png"/></Relationships>
</file>

<file path=ppt/slides/_rels/slide6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8.xml"/><Relationship Id="rId4" Type="http://schemas.microsoft.com/office/2007/relationships/hdphoto" Target="../media/hdphoto1.wdp"/></Relationships>
</file>

<file path=ppt/slides/_rels/slide6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8.xml"/><Relationship Id="rId4" Type="http://schemas.microsoft.com/office/2007/relationships/hdphoto" Target="../media/hdphoto1.wdp"/></Relationships>
</file>

<file path=ppt/slides/_rels/slide6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8.xml"/><Relationship Id="rId4" Type="http://schemas.microsoft.com/office/2007/relationships/hdphoto" Target="../media/hdphoto1.wdp"/></Relationships>
</file>

<file path=ppt/slides/_rels/slide7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8.xml"/><Relationship Id="rId4" Type="http://schemas.microsoft.com/office/2007/relationships/hdphoto" Target="../media/hdphoto1.wdp"/></Relationships>
</file>

<file path=ppt/slides/_rels/slide7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8.xml"/><Relationship Id="rId4" Type="http://schemas.microsoft.com/office/2007/relationships/hdphoto" Target="../media/hdphoto1.wdp"/></Relationships>
</file>

<file path=ppt/slides/_rels/slide7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8.xml"/><Relationship Id="rId4" Type="http://schemas.microsoft.com/office/2007/relationships/hdphoto" Target="../media/hdphoto1.wdp"/></Relationships>
</file>

<file path=ppt/slides/_rels/slide7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8.xml"/><Relationship Id="rId6" Type="http://schemas.openxmlformats.org/officeDocument/2006/relationships/image" Target="../media/image7.png"/><Relationship Id="rId5" Type="http://schemas.openxmlformats.org/officeDocument/2006/relationships/image" Target="../media/image6.jpeg"/><Relationship Id="rId4" Type="http://schemas.microsoft.com/office/2007/relationships/hdphoto" Target="../media/hdphoto1.wdp"/></Relationships>
</file>

<file path=ppt/slides/_rels/slide7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12.xml"/><Relationship Id="rId1" Type="http://schemas.openxmlformats.org/officeDocument/2006/relationships/themeOverride" Target="../theme/themeOverride4.xml"/><Relationship Id="rId6" Type="http://schemas.microsoft.com/office/2007/relationships/hdphoto" Target="../media/hdphoto2.wdp"/><Relationship Id="rId5" Type="http://schemas.openxmlformats.org/officeDocument/2006/relationships/image" Target="../media/image9.png"/><Relationship Id="rId4" Type="http://schemas.openxmlformats.org/officeDocument/2006/relationships/image" Target="../media/image8.png"/></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35.xml"/><Relationship Id="rId1" Type="http://schemas.openxmlformats.org/officeDocument/2006/relationships/themeOverride" Target="../theme/themeOverride5.xml"/><Relationship Id="rId6" Type="http://schemas.microsoft.com/office/2007/relationships/hdphoto" Target="../media/hdphoto3.wdp"/><Relationship Id="rId5" Type="http://schemas.openxmlformats.org/officeDocument/2006/relationships/image" Target="../media/image11.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xmlns="" id="{3114F74D-3E12-41A7-8C4F-12087E585057}"/>
              </a:ext>
            </a:extLst>
          </p:cNvPr>
          <p:cNvSpPr/>
          <p:nvPr/>
        </p:nvSpPr>
        <p:spPr>
          <a:xfrm>
            <a:off x="5883428" y="2669324"/>
            <a:ext cx="2834045" cy="584775"/>
          </a:xfrm>
          <a:prstGeom prst="rect">
            <a:avLst/>
          </a:prstGeom>
        </p:spPr>
        <p:txBody>
          <a:bodyPr wrap="none">
            <a:spAutoFit/>
          </a:bodyPr>
          <a:lstStyle/>
          <a:p>
            <a:r>
              <a:rPr lang="en-US" altLang="zh-CN" sz="3200" b="1" dirty="0" err="1" smtClean="0">
                <a:solidFill>
                  <a:schemeClr val="bg1"/>
                </a:solidFill>
                <a:latin typeface="Microsoft YaHei" charset="-122"/>
                <a:ea typeface="Microsoft YaHei" charset="-122"/>
                <a:cs typeface="Microsoft YaHei" charset="-122"/>
              </a:rPr>
              <a:t>redis</a:t>
            </a:r>
            <a:r>
              <a:rPr lang="zh-CN" altLang="en-US" sz="3200" b="1" dirty="0">
                <a:solidFill>
                  <a:schemeClr val="bg1"/>
                </a:solidFill>
                <a:latin typeface="Microsoft YaHei" charset="-122"/>
                <a:ea typeface="Microsoft YaHei" charset="-122"/>
                <a:cs typeface="Microsoft YaHei" charset="-122"/>
              </a:rPr>
              <a:t>轻松进</a:t>
            </a:r>
            <a:r>
              <a:rPr lang="zh-CN" altLang="en-US" sz="3200" b="1" dirty="0" smtClean="0">
                <a:solidFill>
                  <a:schemeClr val="bg1"/>
                </a:solidFill>
                <a:latin typeface="Microsoft YaHei" charset="-122"/>
                <a:ea typeface="Microsoft YaHei" charset="-122"/>
                <a:cs typeface="Microsoft YaHei" charset="-122"/>
              </a:rPr>
              <a:t>阶</a:t>
            </a:r>
            <a:endParaRPr lang="zh-CN" altLang="en-US" sz="3200" b="1" dirty="0">
              <a:solidFill>
                <a:schemeClr val="bg1"/>
              </a:solidFill>
              <a:latin typeface="Microsoft YaHei" charset="-122"/>
              <a:ea typeface="Microsoft YaHei" charset="-122"/>
              <a:cs typeface="Microsoft YaHei" charset="-122"/>
            </a:endParaRPr>
          </a:p>
        </p:txBody>
      </p:sp>
      <p:cxnSp>
        <p:nvCxnSpPr>
          <p:cNvPr id="13" name="直接连接符 12">
            <a:extLst>
              <a:ext uri="{FF2B5EF4-FFF2-40B4-BE49-F238E27FC236}">
                <a16:creationId xmlns:a16="http://schemas.microsoft.com/office/drawing/2014/main" xmlns="" id="{F1DB460F-824B-4CE8-93E9-19BD83061384}"/>
              </a:ext>
            </a:extLst>
          </p:cNvPr>
          <p:cNvCxnSpPr/>
          <p:nvPr/>
        </p:nvCxnSpPr>
        <p:spPr>
          <a:xfrm>
            <a:off x="5883428" y="3250812"/>
            <a:ext cx="5913156"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xmlns="" id="{F6A59375-D27B-4A27-8562-A92B1D5BDE7C}"/>
              </a:ext>
            </a:extLst>
          </p:cNvPr>
          <p:cNvSpPr txBox="1"/>
          <p:nvPr/>
        </p:nvSpPr>
        <p:spPr>
          <a:xfrm>
            <a:off x="7058785" y="5966460"/>
            <a:ext cx="4697718" cy="369332"/>
          </a:xfrm>
          <a:prstGeom prst="rect">
            <a:avLst/>
          </a:prstGeom>
          <a:noFill/>
        </p:spPr>
        <p:txBody>
          <a:bodyPr wrap="square" rtlCol="0">
            <a:spAutoFit/>
          </a:bodyPr>
          <a:lstStyle/>
          <a:p>
            <a:pPr algn="r"/>
            <a:r>
              <a:rPr lang="zh-CN" altLang="en-US" dirty="0">
                <a:solidFill>
                  <a:schemeClr val="bg1"/>
                </a:solidFill>
                <a:latin typeface="微软雅黑" panose="020B0503020204020204" pitchFamily="34" charset="-122"/>
                <a:ea typeface="微软雅黑" panose="020B0503020204020204" pitchFamily="34" charset="-122"/>
              </a:rPr>
              <a:t>主讲人</a:t>
            </a:r>
            <a:r>
              <a:rPr lang="zh-CN" altLang="en-US" dirty="0" smtClean="0">
                <a:solidFill>
                  <a:schemeClr val="bg1"/>
                </a:solidFill>
                <a:latin typeface="微软雅黑" panose="020B0503020204020204" pitchFamily="34" charset="-122"/>
                <a:ea typeface="微软雅黑" panose="020B0503020204020204" pitchFamily="34" charset="-122"/>
              </a:rPr>
              <a:t>：符勇兵       </a:t>
            </a:r>
            <a:r>
              <a:rPr lang="zh-CN" altLang="en-US" dirty="0">
                <a:solidFill>
                  <a:schemeClr val="bg1"/>
                </a:solidFill>
                <a:latin typeface="微软雅黑" panose="020B0503020204020204" pitchFamily="34" charset="-122"/>
                <a:ea typeface="微软雅黑" panose="020B0503020204020204" pitchFamily="34" charset="-122"/>
              </a:rPr>
              <a:t>时间：</a:t>
            </a:r>
            <a:r>
              <a:rPr lang="en-US" altLang="zh-CN" dirty="0">
                <a:solidFill>
                  <a:schemeClr val="bg1"/>
                </a:solidFill>
                <a:latin typeface="微软雅黑" panose="020B0503020204020204" pitchFamily="34" charset="-122"/>
                <a:ea typeface="微软雅黑" panose="020B0503020204020204" pitchFamily="34" charset="-122"/>
              </a:rPr>
              <a:t>2019</a:t>
            </a:r>
            <a:r>
              <a:rPr lang="zh-CN" altLang="en-US" dirty="0" smtClean="0">
                <a:solidFill>
                  <a:schemeClr val="bg1"/>
                </a:solidFill>
                <a:latin typeface="微软雅黑" panose="020B0503020204020204" pitchFamily="34" charset="-122"/>
                <a:ea typeface="微软雅黑" panose="020B0503020204020204" pitchFamily="34" charset="-122"/>
              </a:rPr>
              <a:t>年</a:t>
            </a:r>
            <a:r>
              <a:rPr lang="en-US" altLang="zh-CN" dirty="0">
                <a:solidFill>
                  <a:schemeClr val="bg1"/>
                </a:solidFill>
                <a:latin typeface="微软雅黑" panose="020B0503020204020204" pitchFamily="34" charset="-122"/>
                <a:ea typeface="微软雅黑" panose="020B0503020204020204" pitchFamily="34" charset="-122"/>
              </a:rPr>
              <a:t>7</a:t>
            </a:r>
            <a:r>
              <a:rPr lang="zh-CN" altLang="en-US" dirty="0" smtClean="0">
                <a:solidFill>
                  <a:schemeClr val="bg1"/>
                </a:solidFill>
                <a:latin typeface="微软雅黑" panose="020B0503020204020204" pitchFamily="34" charset="-122"/>
                <a:ea typeface="微软雅黑" panose="020B0503020204020204" pitchFamily="34" charset="-122"/>
              </a:rPr>
              <a:t>月</a:t>
            </a:r>
            <a:r>
              <a:rPr lang="en-US" altLang="zh-CN" dirty="0" smtClean="0">
                <a:solidFill>
                  <a:schemeClr val="bg1"/>
                </a:solidFill>
                <a:latin typeface="微软雅黑" panose="020B0503020204020204" pitchFamily="34" charset="-122"/>
                <a:ea typeface="微软雅黑" panose="020B0503020204020204" pitchFamily="34" charset="-122"/>
              </a:rPr>
              <a:t>26</a:t>
            </a:r>
            <a:r>
              <a:rPr lang="zh-CN" altLang="en-US" dirty="0" smtClean="0">
                <a:solidFill>
                  <a:schemeClr val="bg1"/>
                </a:solidFill>
                <a:latin typeface="微软雅黑" panose="020B0503020204020204" pitchFamily="34" charset="-122"/>
                <a:ea typeface="微软雅黑" panose="020B0503020204020204" pitchFamily="34" charset="-122"/>
              </a:rPr>
              <a:t>日</a:t>
            </a:r>
            <a:endParaRPr lang="zh-CN" altLang="en-US" dirty="0">
              <a:solidFill>
                <a:schemeClr val="bg1"/>
              </a:solidFill>
              <a:latin typeface="微软雅黑" panose="020B0503020204020204" pitchFamily="34" charset="-122"/>
              <a:ea typeface="微软雅黑" panose="020B0503020204020204" pitchFamily="34" charset="-122"/>
            </a:endParaRPr>
          </a:p>
        </p:txBody>
      </p:sp>
      <p:pic>
        <p:nvPicPr>
          <p:cNvPr id="17" name="图片 16">
            <a:extLst>
              <a:ext uri="{FF2B5EF4-FFF2-40B4-BE49-F238E27FC236}">
                <a16:creationId xmlns:a16="http://schemas.microsoft.com/office/drawing/2014/main" xmlns="" id="{A602FFD0-63E3-499E-95CC-3964B283592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801385" y="-114300"/>
            <a:ext cx="1301859" cy="920356"/>
          </a:xfrm>
          <a:prstGeom prst="rect">
            <a:avLst/>
          </a:prstGeom>
        </p:spPr>
      </p:pic>
      <p:pic>
        <p:nvPicPr>
          <p:cNvPr id="18" name="图片 17">
            <a:extLst>
              <a:ext uri="{FF2B5EF4-FFF2-40B4-BE49-F238E27FC236}">
                <a16:creationId xmlns:a16="http://schemas.microsoft.com/office/drawing/2014/main" xmlns="" id="{7532D754-33CD-454C-9173-5F016D0C0663}"/>
              </a:ext>
            </a:extLst>
          </p:cNvPr>
          <p:cNvPicPr>
            <a:picLocks noChangeAspect="1"/>
          </p:cNvPicPr>
          <p:nvPr/>
        </p:nvPicPr>
        <p:blipFill rotWithShape="1">
          <a:blip r:embed="rId5" cstate="print">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rcRect b="63537"/>
          <a:stretch/>
        </p:blipFill>
        <p:spPr>
          <a:xfrm>
            <a:off x="11184164" y="217733"/>
            <a:ext cx="572339" cy="337210"/>
          </a:xfrm>
          <a:prstGeom prst="rect">
            <a:avLst/>
          </a:prstGeom>
        </p:spPr>
      </p:pic>
      <p:cxnSp>
        <p:nvCxnSpPr>
          <p:cNvPr id="19" name="直接连接符 18">
            <a:extLst>
              <a:ext uri="{FF2B5EF4-FFF2-40B4-BE49-F238E27FC236}">
                <a16:creationId xmlns:a16="http://schemas.microsoft.com/office/drawing/2014/main" xmlns="" id="{3995A445-6629-455A-A089-32B94E6AF824}"/>
              </a:ext>
            </a:extLst>
          </p:cNvPr>
          <p:cNvCxnSpPr/>
          <p:nvPr/>
        </p:nvCxnSpPr>
        <p:spPr>
          <a:xfrm>
            <a:off x="11103244" y="225825"/>
            <a:ext cx="0" cy="2435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918477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1124"/>
        </a:solidFill>
        <a:effectLst/>
      </p:bgPr>
    </p:bg>
    <p:spTree>
      <p:nvGrpSpPr>
        <p:cNvPr id="1" name=""/>
        <p:cNvGrpSpPr/>
        <p:nvPr/>
      </p:nvGrpSpPr>
      <p:grpSpPr>
        <a:xfrm>
          <a:off x="0" y="0"/>
          <a:ext cx="0" cy="0"/>
          <a:chOff x="0" y="0"/>
          <a:chExt cx="0" cy="0"/>
        </a:xfrm>
      </p:grpSpPr>
      <p:pic>
        <p:nvPicPr>
          <p:cNvPr id="33" name="图片 32">
            <a:extLst>
              <a:ext uri="{FF2B5EF4-FFF2-40B4-BE49-F238E27FC236}">
                <a16:creationId xmlns:a16="http://schemas.microsoft.com/office/drawing/2014/main" xmlns="" id="{098753BE-3066-427F-8141-BEFF56922E63}"/>
              </a:ext>
            </a:extLst>
          </p:cNvPr>
          <p:cNvPicPr>
            <a:picLocks noChangeAspect="1"/>
          </p:cNvPicPr>
          <p:nvPr/>
        </p:nvPicPr>
        <p:blipFill rotWithShape="1">
          <a:blip r:embed="rId4"/>
          <a:srcRect l="17385" r="49004"/>
          <a:stretch/>
        </p:blipFill>
        <p:spPr>
          <a:xfrm>
            <a:off x="344110" y="3108122"/>
            <a:ext cx="3609433" cy="3045598"/>
          </a:xfrm>
          <a:prstGeom prst="rect">
            <a:avLst/>
          </a:prstGeom>
          <a:effectLst>
            <a:softEdge rad="660400"/>
          </a:effectLst>
        </p:spPr>
      </p:pic>
      <p:sp>
        <p:nvSpPr>
          <p:cNvPr id="9" name="ïṡḻîďê">
            <a:extLst>
              <a:ext uri="{FF2B5EF4-FFF2-40B4-BE49-F238E27FC236}">
                <a16:creationId xmlns:a16="http://schemas.microsoft.com/office/drawing/2014/main" xmlns="" id="{6C62D331-93AB-4508-95BB-759D9AAB821E}"/>
              </a:ext>
            </a:extLst>
          </p:cNvPr>
          <p:cNvSpPr txBox="1"/>
          <p:nvPr/>
        </p:nvSpPr>
        <p:spPr bwMode="auto">
          <a:xfrm>
            <a:off x="873124" y="1182822"/>
            <a:ext cx="3080419"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sp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dist">
              <a:spcBef>
                <a:spcPct val="0"/>
              </a:spcBef>
            </a:pPr>
            <a:r>
              <a:rPr lang="en-US" altLang="zh-CN" sz="4000" b="1" dirty="0">
                <a:solidFill>
                  <a:schemeClr val="bg1"/>
                </a:solidFill>
                <a:latin typeface="微软雅黑" panose="020B0503020204020204" pitchFamily="34" charset="-122"/>
                <a:ea typeface="微软雅黑" panose="020B0503020204020204" pitchFamily="34" charset="-122"/>
              </a:rPr>
              <a:t>Contents</a:t>
            </a:r>
          </a:p>
        </p:txBody>
      </p:sp>
      <p:sp>
        <p:nvSpPr>
          <p:cNvPr id="10" name="ïṡḻîďê">
            <a:extLst>
              <a:ext uri="{FF2B5EF4-FFF2-40B4-BE49-F238E27FC236}">
                <a16:creationId xmlns:a16="http://schemas.microsoft.com/office/drawing/2014/main" xmlns="" id="{F9C8EBC1-03B4-46A2-A7C7-D1B0D20A4D27}"/>
              </a:ext>
            </a:extLst>
          </p:cNvPr>
          <p:cNvSpPr txBox="1"/>
          <p:nvPr/>
        </p:nvSpPr>
        <p:spPr bwMode="auto">
          <a:xfrm>
            <a:off x="873124" y="1890708"/>
            <a:ext cx="3080419"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sp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spcBef>
                <a:spcPct val="0"/>
              </a:spcBef>
            </a:pPr>
            <a:r>
              <a:rPr lang="zh-CN" altLang="en-US" sz="4000" b="1" dirty="0">
                <a:solidFill>
                  <a:schemeClr val="bg1"/>
                </a:solidFill>
                <a:latin typeface="微软雅黑" panose="020B0503020204020204" pitchFamily="34" charset="-122"/>
                <a:ea typeface="微软雅黑" panose="020B0503020204020204" pitchFamily="34" charset="-122"/>
              </a:rPr>
              <a:t>目   录</a:t>
            </a:r>
            <a:endParaRPr lang="en-US" altLang="zh-CN" sz="4000" b="1" dirty="0">
              <a:solidFill>
                <a:schemeClr val="bg1"/>
              </a:solidFill>
              <a:latin typeface="微软雅黑" panose="020B0503020204020204" pitchFamily="34" charset="-122"/>
              <a:ea typeface="微软雅黑" panose="020B0503020204020204" pitchFamily="34" charset="-122"/>
            </a:endParaRPr>
          </a:p>
        </p:txBody>
      </p:sp>
      <p:grpSp>
        <p:nvGrpSpPr>
          <p:cNvPr id="27" name="组合 26">
            <a:extLst>
              <a:ext uri="{FF2B5EF4-FFF2-40B4-BE49-F238E27FC236}">
                <a16:creationId xmlns:a16="http://schemas.microsoft.com/office/drawing/2014/main" xmlns="" id="{E8E95F80-DB1D-4546-B326-672B72DCA65A}"/>
              </a:ext>
            </a:extLst>
          </p:cNvPr>
          <p:cNvGrpSpPr/>
          <p:nvPr/>
        </p:nvGrpSpPr>
        <p:grpSpPr>
          <a:xfrm>
            <a:off x="5645064" y="1402916"/>
            <a:ext cx="5315211" cy="504970"/>
            <a:chOff x="6096000" y="1691014"/>
            <a:chExt cx="5315211" cy="504970"/>
          </a:xfrm>
        </p:grpSpPr>
        <p:sp>
          <p:nvSpPr>
            <p:cNvPr id="12" name="矩形 11">
              <a:extLst>
                <a:ext uri="{FF2B5EF4-FFF2-40B4-BE49-F238E27FC236}">
                  <a16:creationId xmlns:a16="http://schemas.microsoft.com/office/drawing/2014/main" xmlns="" id="{272A7ACF-F1B3-403B-BCF8-F669E0C982D6}"/>
                </a:ext>
              </a:extLst>
            </p:cNvPr>
            <p:cNvSpPr/>
            <p:nvPr/>
          </p:nvSpPr>
          <p:spPr>
            <a:xfrm>
              <a:off x="6096000" y="1691014"/>
              <a:ext cx="576000" cy="504968"/>
            </a:xfrm>
            <a:custGeom>
              <a:avLst/>
              <a:gdLst>
                <a:gd name="connsiteX0" fmla="*/ 0 w 576000"/>
                <a:gd name="connsiteY0" fmla="*/ 0 h 612000"/>
                <a:gd name="connsiteX1" fmla="*/ 576000 w 576000"/>
                <a:gd name="connsiteY1" fmla="*/ 0 h 612000"/>
                <a:gd name="connsiteX2" fmla="*/ 576000 w 576000"/>
                <a:gd name="connsiteY2" fmla="*/ 612000 h 612000"/>
                <a:gd name="connsiteX3" fmla="*/ 0 w 576000"/>
                <a:gd name="connsiteY3" fmla="*/ 612000 h 612000"/>
                <a:gd name="connsiteX4" fmla="*/ 0 w 576000"/>
                <a:gd name="connsiteY4" fmla="*/ 0 h 612000"/>
                <a:gd name="connsiteX0" fmla="*/ 0 w 576000"/>
                <a:gd name="connsiteY0" fmla="*/ 0 h 612000"/>
                <a:gd name="connsiteX1" fmla="*/ 576000 w 576000"/>
                <a:gd name="connsiteY1" fmla="*/ 68580 h 612000"/>
                <a:gd name="connsiteX2" fmla="*/ 576000 w 576000"/>
                <a:gd name="connsiteY2" fmla="*/ 612000 h 612000"/>
                <a:gd name="connsiteX3" fmla="*/ 0 w 576000"/>
                <a:gd name="connsiteY3" fmla="*/ 612000 h 612000"/>
                <a:gd name="connsiteX4" fmla="*/ 0 w 576000"/>
                <a:gd name="connsiteY4" fmla="*/ 0 h 61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6000" h="612000">
                  <a:moveTo>
                    <a:pt x="0" y="0"/>
                  </a:moveTo>
                  <a:lnTo>
                    <a:pt x="576000" y="68580"/>
                  </a:lnTo>
                  <a:lnTo>
                    <a:pt x="576000" y="612000"/>
                  </a:lnTo>
                  <a:lnTo>
                    <a:pt x="0" y="612000"/>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rgbClr val="0A0F23"/>
                  </a:solidFill>
                  <a:latin typeface="微软雅黑" panose="020B0503020204020204" pitchFamily="34" charset="-122"/>
                  <a:ea typeface="微软雅黑" panose="020B0503020204020204" pitchFamily="34" charset="-122"/>
                </a:rPr>
                <a:t>01</a:t>
              </a:r>
              <a:endParaRPr lang="zh-CN" altLang="en-US" sz="2000" dirty="0">
                <a:solidFill>
                  <a:srgbClr val="0A0F23"/>
                </a:solidFill>
                <a:latin typeface="微软雅黑" panose="020B0503020204020204" pitchFamily="34" charset="-122"/>
                <a:ea typeface="微软雅黑" panose="020B0503020204020204" pitchFamily="34" charset="-122"/>
              </a:endParaRPr>
            </a:p>
          </p:txBody>
        </p:sp>
        <p:sp>
          <p:nvSpPr>
            <p:cNvPr id="13" name="等腰三角形 12">
              <a:extLst>
                <a:ext uri="{FF2B5EF4-FFF2-40B4-BE49-F238E27FC236}">
                  <a16:creationId xmlns:a16="http://schemas.microsoft.com/office/drawing/2014/main" xmlns="" id="{C9DAC525-1ABC-4137-AA42-08C97B5993DE}"/>
                </a:ext>
              </a:extLst>
            </p:cNvPr>
            <p:cNvSpPr/>
            <p:nvPr/>
          </p:nvSpPr>
          <p:spPr>
            <a:xfrm rot="5400000">
              <a:off x="6642208" y="2038558"/>
              <a:ext cx="187218" cy="127634"/>
            </a:xfrm>
            <a:prstGeom prst="triangle">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xmlns="" id="{78D58F20-19BA-431A-A678-5778917B0E2D}"/>
                </a:ext>
              </a:extLst>
            </p:cNvPr>
            <p:cNvSpPr txBox="1"/>
            <p:nvPr/>
          </p:nvSpPr>
          <p:spPr>
            <a:xfrm>
              <a:off x="7102257" y="1778696"/>
              <a:ext cx="4308954" cy="400110"/>
            </a:xfrm>
            <a:prstGeom prst="rect">
              <a:avLst/>
            </a:prstGeom>
            <a:noFill/>
          </p:spPr>
          <p:txBody>
            <a:bodyPr wrap="square" rtlCol="0">
              <a:spAutoFit/>
            </a:bodyPr>
            <a:lstStyle/>
            <a:p>
              <a:pPr algn="l"/>
              <a:r>
                <a:rPr lang="en-US" altLang="zh-CN" sz="2000" b="1" dirty="0" err="1" smtClean="0">
                  <a:solidFill>
                    <a:schemeClr val="bg1"/>
                  </a:solidFill>
                  <a:latin typeface="微软雅黑" panose="020B0503020204020204" pitchFamily="34" charset="-122"/>
                  <a:ea typeface="微软雅黑" panose="020B0503020204020204" pitchFamily="34" charset="-122"/>
                </a:rPr>
                <a:t>redis</a:t>
              </a:r>
              <a:r>
                <a:rPr lang="zh-CN" altLang="en-US" sz="2000" b="1" dirty="0" smtClean="0">
                  <a:solidFill>
                    <a:schemeClr val="bg1"/>
                  </a:solidFill>
                  <a:latin typeface="微软雅黑" panose="020B0503020204020204" pitchFamily="34" charset="-122"/>
                  <a:ea typeface="微软雅黑" panose="020B0503020204020204" pitchFamily="34" charset="-122"/>
                </a:rPr>
                <a:t>介绍</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grpSp>
      <p:grpSp>
        <p:nvGrpSpPr>
          <p:cNvPr id="28" name="组合 27">
            <a:extLst>
              <a:ext uri="{FF2B5EF4-FFF2-40B4-BE49-F238E27FC236}">
                <a16:creationId xmlns:a16="http://schemas.microsoft.com/office/drawing/2014/main" xmlns="" id="{E2062930-7516-4773-B45E-202C77E04BB1}"/>
              </a:ext>
            </a:extLst>
          </p:cNvPr>
          <p:cNvGrpSpPr/>
          <p:nvPr/>
        </p:nvGrpSpPr>
        <p:grpSpPr>
          <a:xfrm>
            <a:off x="5645064" y="2325395"/>
            <a:ext cx="5315211" cy="504970"/>
            <a:chOff x="6096000" y="2496558"/>
            <a:chExt cx="5315211" cy="504970"/>
          </a:xfrm>
        </p:grpSpPr>
        <p:sp>
          <p:nvSpPr>
            <p:cNvPr id="15" name="矩形 11">
              <a:extLst>
                <a:ext uri="{FF2B5EF4-FFF2-40B4-BE49-F238E27FC236}">
                  <a16:creationId xmlns:a16="http://schemas.microsoft.com/office/drawing/2014/main" xmlns="" id="{ED55EAD5-C468-4E3F-AD84-43464CFF334E}"/>
                </a:ext>
              </a:extLst>
            </p:cNvPr>
            <p:cNvSpPr/>
            <p:nvPr/>
          </p:nvSpPr>
          <p:spPr>
            <a:xfrm>
              <a:off x="6096000" y="2496558"/>
              <a:ext cx="576000" cy="504968"/>
            </a:xfrm>
            <a:custGeom>
              <a:avLst/>
              <a:gdLst>
                <a:gd name="connsiteX0" fmla="*/ 0 w 576000"/>
                <a:gd name="connsiteY0" fmla="*/ 0 h 612000"/>
                <a:gd name="connsiteX1" fmla="*/ 576000 w 576000"/>
                <a:gd name="connsiteY1" fmla="*/ 0 h 612000"/>
                <a:gd name="connsiteX2" fmla="*/ 576000 w 576000"/>
                <a:gd name="connsiteY2" fmla="*/ 612000 h 612000"/>
                <a:gd name="connsiteX3" fmla="*/ 0 w 576000"/>
                <a:gd name="connsiteY3" fmla="*/ 612000 h 612000"/>
                <a:gd name="connsiteX4" fmla="*/ 0 w 576000"/>
                <a:gd name="connsiteY4" fmla="*/ 0 h 612000"/>
                <a:gd name="connsiteX0" fmla="*/ 0 w 576000"/>
                <a:gd name="connsiteY0" fmla="*/ 0 h 612000"/>
                <a:gd name="connsiteX1" fmla="*/ 576000 w 576000"/>
                <a:gd name="connsiteY1" fmla="*/ 68580 h 612000"/>
                <a:gd name="connsiteX2" fmla="*/ 576000 w 576000"/>
                <a:gd name="connsiteY2" fmla="*/ 612000 h 612000"/>
                <a:gd name="connsiteX3" fmla="*/ 0 w 576000"/>
                <a:gd name="connsiteY3" fmla="*/ 612000 h 612000"/>
                <a:gd name="connsiteX4" fmla="*/ 0 w 576000"/>
                <a:gd name="connsiteY4" fmla="*/ 0 h 61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6000" h="612000">
                  <a:moveTo>
                    <a:pt x="0" y="0"/>
                  </a:moveTo>
                  <a:lnTo>
                    <a:pt x="576000" y="68580"/>
                  </a:lnTo>
                  <a:lnTo>
                    <a:pt x="576000" y="612000"/>
                  </a:lnTo>
                  <a:lnTo>
                    <a:pt x="0" y="612000"/>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rgbClr val="0A0F23"/>
                  </a:solidFill>
                  <a:latin typeface="微软雅黑" panose="020B0503020204020204" pitchFamily="34" charset="-122"/>
                  <a:ea typeface="微软雅黑" panose="020B0503020204020204" pitchFamily="34" charset="-122"/>
                </a:rPr>
                <a:t>02</a:t>
              </a:r>
              <a:endParaRPr lang="zh-CN" altLang="en-US" sz="2000" dirty="0">
                <a:solidFill>
                  <a:srgbClr val="0A0F23"/>
                </a:solidFill>
                <a:latin typeface="微软雅黑" panose="020B0503020204020204" pitchFamily="34" charset="-122"/>
                <a:ea typeface="微软雅黑" panose="020B0503020204020204" pitchFamily="34" charset="-122"/>
              </a:endParaRPr>
            </a:p>
          </p:txBody>
        </p:sp>
        <p:sp>
          <p:nvSpPr>
            <p:cNvPr id="16" name="等腰三角形 15">
              <a:extLst>
                <a:ext uri="{FF2B5EF4-FFF2-40B4-BE49-F238E27FC236}">
                  <a16:creationId xmlns:a16="http://schemas.microsoft.com/office/drawing/2014/main" xmlns="" id="{EFCF7262-D82E-456C-8A1A-1166BC545E28}"/>
                </a:ext>
              </a:extLst>
            </p:cNvPr>
            <p:cNvSpPr/>
            <p:nvPr/>
          </p:nvSpPr>
          <p:spPr>
            <a:xfrm rot="5400000">
              <a:off x="6642208" y="2844102"/>
              <a:ext cx="187218" cy="127634"/>
            </a:xfrm>
            <a:prstGeom prst="triangle">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a:extLst>
                <a:ext uri="{FF2B5EF4-FFF2-40B4-BE49-F238E27FC236}">
                  <a16:creationId xmlns:a16="http://schemas.microsoft.com/office/drawing/2014/main" xmlns="" id="{9396BB6A-E50C-45C5-8692-BC2EC13560B5}"/>
                </a:ext>
              </a:extLst>
            </p:cNvPr>
            <p:cNvSpPr txBox="1"/>
            <p:nvPr/>
          </p:nvSpPr>
          <p:spPr>
            <a:xfrm>
              <a:off x="7102257" y="2584240"/>
              <a:ext cx="4308954" cy="400110"/>
            </a:xfrm>
            <a:prstGeom prst="rect">
              <a:avLst/>
            </a:prstGeom>
            <a:noFill/>
          </p:spPr>
          <p:txBody>
            <a:bodyPr wrap="square" rtlCol="0">
              <a:spAutoFit/>
            </a:bodyPr>
            <a:lstStyle/>
            <a:p>
              <a:pPr algn="l"/>
              <a:r>
                <a:rPr lang="en-US" altLang="zh-CN" sz="2000" b="1" dirty="0" err="1" smtClean="0">
                  <a:solidFill>
                    <a:schemeClr val="bg1"/>
                  </a:solidFill>
                  <a:latin typeface="微软雅黑" panose="020B0503020204020204" pitchFamily="34" charset="-122"/>
                  <a:ea typeface="微软雅黑" panose="020B0503020204020204" pitchFamily="34" charset="-122"/>
                </a:rPr>
                <a:t>redis</a:t>
              </a:r>
              <a:r>
                <a:rPr lang="zh-CN" altLang="en-US" sz="2000" b="1" dirty="0" smtClean="0">
                  <a:solidFill>
                    <a:schemeClr val="bg1"/>
                  </a:solidFill>
                  <a:latin typeface="微软雅黑" panose="020B0503020204020204" pitchFamily="34" charset="-122"/>
                  <a:ea typeface="微软雅黑" panose="020B0503020204020204" pitchFamily="34" charset="-122"/>
                </a:rPr>
                <a:t>基本类型</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grpSp>
      <p:grpSp>
        <p:nvGrpSpPr>
          <p:cNvPr id="29" name="组合 28">
            <a:extLst>
              <a:ext uri="{FF2B5EF4-FFF2-40B4-BE49-F238E27FC236}">
                <a16:creationId xmlns:a16="http://schemas.microsoft.com/office/drawing/2014/main" xmlns="" id="{43C3BEF9-F61A-4553-86AC-553164F4E0DD}"/>
              </a:ext>
            </a:extLst>
          </p:cNvPr>
          <p:cNvGrpSpPr/>
          <p:nvPr/>
        </p:nvGrpSpPr>
        <p:grpSpPr>
          <a:xfrm>
            <a:off x="5645064" y="3230698"/>
            <a:ext cx="5315211" cy="504970"/>
            <a:chOff x="6096000" y="3392939"/>
            <a:chExt cx="5315211" cy="504970"/>
          </a:xfrm>
        </p:grpSpPr>
        <p:sp>
          <p:nvSpPr>
            <p:cNvPr id="18" name="矩形 11">
              <a:extLst>
                <a:ext uri="{FF2B5EF4-FFF2-40B4-BE49-F238E27FC236}">
                  <a16:creationId xmlns:a16="http://schemas.microsoft.com/office/drawing/2014/main" xmlns="" id="{60358697-B745-453E-95FA-A0964A331C11}"/>
                </a:ext>
              </a:extLst>
            </p:cNvPr>
            <p:cNvSpPr/>
            <p:nvPr/>
          </p:nvSpPr>
          <p:spPr>
            <a:xfrm>
              <a:off x="6096000" y="3392939"/>
              <a:ext cx="576000" cy="504968"/>
            </a:xfrm>
            <a:custGeom>
              <a:avLst/>
              <a:gdLst>
                <a:gd name="connsiteX0" fmla="*/ 0 w 576000"/>
                <a:gd name="connsiteY0" fmla="*/ 0 h 612000"/>
                <a:gd name="connsiteX1" fmla="*/ 576000 w 576000"/>
                <a:gd name="connsiteY1" fmla="*/ 0 h 612000"/>
                <a:gd name="connsiteX2" fmla="*/ 576000 w 576000"/>
                <a:gd name="connsiteY2" fmla="*/ 612000 h 612000"/>
                <a:gd name="connsiteX3" fmla="*/ 0 w 576000"/>
                <a:gd name="connsiteY3" fmla="*/ 612000 h 612000"/>
                <a:gd name="connsiteX4" fmla="*/ 0 w 576000"/>
                <a:gd name="connsiteY4" fmla="*/ 0 h 612000"/>
                <a:gd name="connsiteX0" fmla="*/ 0 w 576000"/>
                <a:gd name="connsiteY0" fmla="*/ 0 h 612000"/>
                <a:gd name="connsiteX1" fmla="*/ 576000 w 576000"/>
                <a:gd name="connsiteY1" fmla="*/ 68580 h 612000"/>
                <a:gd name="connsiteX2" fmla="*/ 576000 w 576000"/>
                <a:gd name="connsiteY2" fmla="*/ 612000 h 612000"/>
                <a:gd name="connsiteX3" fmla="*/ 0 w 576000"/>
                <a:gd name="connsiteY3" fmla="*/ 612000 h 612000"/>
                <a:gd name="connsiteX4" fmla="*/ 0 w 576000"/>
                <a:gd name="connsiteY4" fmla="*/ 0 h 61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6000" h="612000">
                  <a:moveTo>
                    <a:pt x="0" y="0"/>
                  </a:moveTo>
                  <a:lnTo>
                    <a:pt x="576000" y="68580"/>
                  </a:lnTo>
                  <a:lnTo>
                    <a:pt x="576000" y="612000"/>
                  </a:lnTo>
                  <a:lnTo>
                    <a:pt x="0" y="612000"/>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rgbClr val="0A0F23"/>
                  </a:solidFill>
                  <a:latin typeface="微软雅黑" panose="020B0503020204020204" pitchFamily="34" charset="-122"/>
                  <a:ea typeface="微软雅黑" panose="020B0503020204020204" pitchFamily="34" charset="-122"/>
                </a:rPr>
                <a:t>03</a:t>
              </a:r>
              <a:endParaRPr lang="zh-CN" altLang="en-US" sz="2000" dirty="0">
                <a:solidFill>
                  <a:srgbClr val="0A0F23"/>
                </a:solidFill>
                <a:latin typeface="微软雅黑" panose="020B0503020204020204" pitchFamily="34" charset="-122"/>
                <a:ea typeface="微软雅黑" panose="020B0503020204020204" pitchFamily="34" charset="-122"/>
              </a:endParaRPr>
            </a:p>
          </p:txBody>
        </p:sp>
        <p:sp>
          <p:nvSpPr>
            <p:cNvPr id="19" name="等腰三角形 18">
              <a:extLst>
                <a:ext uri="{FF2B5EF4-FFF2-40B4-BE49-F238E27FC236}">
                  <a16:creationId xmlns:a16="http://schemas.microsoft.com/office/drawing/2014/main" xmlns="" id="{9DD56C2B-7ABA-4B0D-9C5D-BCB41ECDFD75}"/>
                </a:ext>
              </a:extLst>
            </p:cNvPr>
            <p:cNvSpPr/>
            <p:nvPr/>
          </p:nvSpPr>
          <p:spPr>
            <a:xfrm rot="5400000">
              <a:off x="6642208" y="3740483"/>
              <a:ext cx="187218" cy="127634"/>
            </a:xfrm>
            <a:prstGeom prst="triangle">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xmlns="" id="{5EEA594E-E273-42F8-848F-C6AC97DBA7EA}"/>
                </a:ext>
              </a:extLst>
            </p:cNvPr>
            <p:cNvSpPr txBox="1"/>
            <p:nvPr/>
          </p:nvSpPr>
          <p:spPr>
            <a:xfrm>
              <a:off x="7102257" y="3480621"/>
              <a:ext cx="4308954" cy="400110"/>
            </a:xfrm>
            <a:prstGeom prst="rect">
              <a:avLst/>
            </a:prstGeom>
            <a:noFill/>
          </p:spPr>
          <p:txBody>
            <a:bodyPr wrap="square" rtlCol="0">
              <a:spAutoFit/>
            </a:bodyPr>
            <a:lstStyle/>
            <a:p>
              <a:pPr algn="l"/>
              <a:r>
                <a:rPr lang="en-US" altLang="zh-CN" sz="2000" b="1" dirty="0" err="1" smtClean="0">
                  <a:solidFill>
                    <a:schemeClr val="bg1"/>
                  </a:solidFill>
                  <a:latin typeface="微软雅黑" panose="020B0503020204020204" pitchFamily="34" charset="-122"/>
                  <a:ea typeface="微软雅黑" panose="020B0503020204020204" pitchFamily="34" charset="-122"/>
                </a:rPr>
                <a:t>redis</a:t>
              </a:r>
              <a:r>
                <a:rPr lang="zh-CN" altLang="en-US" sz="2000" b="1" dirty="0" smtClean="0">
                  <a:solidFill>
                    <a:schemeClr val="bg1"/>
                  </a:solidFill>
                  <a:latin typeface="微软雅黑" panose="020B0503020204020204" pitchFamily="34" charset="-122"/>
                  <a:ea typeface="微软雅黑" panose="020B0503020204020204" pitchFamily="34" charset="-122"/>
                </a:rPr>
                <a:t>其它数据类型</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grpSp>
      <p:grpSp>
        <p:nvGrpSpPr>
          <p:cNvPr id="30" name="组合 29">
            <a:extLst>
              <a:ext uri="{FF2B5EF4-FFF2-40B4-BE49-F238E27FC236}">
                <a16:creationId xmlns:a16="http://schemas.microsoft.com/office/drawing/2014/main" xmlns="" id="{2643387E-C038-4100-843A-1914756C0183}"/>
              </a:ext>
            </a:extLst>
          </p:cNvPr>
          <p:cNvGrpSpPr/>
          <p:nvPr/>
        </p:nvGrpSpPr>
        <p:grpSpPr>
          <a:xfrm>
            <a:off x="5645064" y="4223683"/>
            <a:ext cx="5315211" cy="504970"/>
            <a:chOff x="6096000" y="4306496"/>
            <a:chExt cx="5315211" cy="504970"/>
          </a:xfrm>
        </p:grpSpPr>
        <p:sp>
          <p:nvSpPr>
            <p:cNvPr id="21" name="矩形 11">
              <a:extLst>
                <a:ext uri="{FF2B5EF4-FFF2-40B4-BE49-F238E27FC236}">
                  <a16:creationId xmlns:a16="http://schemas.microsoft.com/office/drawing/2014/main" xmlns="" id="{E4D0C1B2-1CC7-4074-BAE8-C2E050A90238}"/>
                </a:ext>
              </a:extLst>
            </p:cNvPr>
            <p:cNvSpPr/>
            <p:nvPr/>
          </p:nvSpPr>
          <p:spPr>
            <a:xfrm>
              <a:off x="6096000" y="4306496"/>
              <a:ext cx="576000" cy="504968"/>
            </a:xfrm>
            <a:custGeom>
              <a:avLst/>
              <a:gdLst>
                <a:gd name="connsiteX0" fmla="*/ 0 w 576000"/>
                <a:gd name="connsiteY0" fmla="*/ 0 h 612000"/>
                <a:gd name="connsiteX1" fmla="*/ 576000 w 576000"/>
                <a:gd name="connsiteY1" fmla="*/ 0 h 612000"/>
                <a:gd name="connsiteX2" fmla="*/ 576000 w 576000"/>
                <a:gd name="connsiteY2" fmla="*/ 612000 h 612000"/>
                <a:gd name="connsiteX3" fmla="*/ 0 w 576000"/>
                <a:gd name="connsiteY3" fmla="*/ 612000 h 612000"/>
                <a:gd name="connsiteX4" fmla="*/ 0 w 576000"/>
                <a:gd name="connsiteY4" fmla="*/ 0 h 612000"/>
                <a:gd name="connsiteX0" fmla="*/ 0 w 576000"/>
                <a:gd name="connsiteY0" fmla="*/ 0 h 612000"/>
                <a:gd name="connsiteX1" fmla="*/ 576000 w 576000"/>
                <a:gd name="connsiteY1" fmla="*/ 68580 h 612000"/>
                <a:gd name="connsiteX2" fmla="*/ 576000 w 576000"/>
                <a:gd name="connsiteY2" fmla="*/ 612000 h 612000"/>
                <a:gd name="connsiteX3" fmla="*/ 0 w 576000"/>
                <a:gd name="connsiteY3" fmla="*/ 612000 h 612000"/>
                <a:gd name="connsiteX4" fmla="*/ 0 w 576000"/>
                <a:gd name="connsiteY4" fmla="*/ 0 h 61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6000" h="612000">
                  <a:moveTo>
                    <a:pt x="0" y="0"/>
                  </a:moveTo>
                  <a:lnTo>
                    <a:pt x="576000" y="68580"/>
                  </a:lnTo>
                  <a:lnTo>
                    <a:pt x="576000" y="612000"/>
                  </a:lnTo>
                  <a:lnTo>
                    <a:pt x="0" y="612000"/>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rgbClr val="0A0F23"/>
                  </a:solidFill>
                  <a:latin typeface="微软雅黑" panose="020B0503020204020204" pitchFamily="34" charset="-122"/>
                  <a:ea typeface="微软雅黑" panose="020B0503020204020204" pitchFamily="34" charset="-122"/>
                </a:rPr>
                <a:t>04</a:t>
              </a:r>
              <a:endParaRPr lang="zh-CN" altLang="en-US" sz="2000" dirty="0">
                <a:solidFill>
                  <a:srgbClr val="0A0F23"/>
                </a:solidFill>
                <a:latin typeface="微软雅黑" panose="020B0503020204020204" pitchFamily="34" charset="-122"/>
                <a:ea typeface="微软雅黑" panose="020B0503020204020204" pitchFamily="34" charset="-122"/>
              </a:endParaRPr>
            </a:p>
          </p:txBody>
        </p:sp>
        <p:sp>
          <p:nvSpPr>
            <p:cNvPr id="22" name="等腰三角形 21">
              <a:extLst>
                <a:ext uri="{FF2B5EF4-FFF2-40B4-BE49-F238E27FC236}">
                  <a16:creationId xmlns:a16="http://schemas.microsoft.com/office/drawing/2014/main" xmlns="" id="{C9B6C189-F7FE-4A43-AB55-BFDEBC95373B}"/>
                </a:ext>
              </a:extLst>
            </p:cNvPr>
            <p:cNvSpPr/>
            <p:nvPr/>
          </p:nvSpPr>
          <p:spPr>
            <a:xfrm rot="5400000">
              <a:off x="6642208" y="4654040"/>
              <a:ext cx="187218" cy="127634"/>
            </a:xfrm>
            <a:prstGeom prst="triangle">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xmlns="" id="{8F961419-C908-4447-B78D-C1B0B4EF1451}"/>
                </a:ext>
              </a:extLst>
            </p:cNvPr>
            <p:cNvSpPr txBox="1"/>
            <p:nvPr/>
          </p:nvSpPr>
          <p:spPr>
            <a:xfrm>
              <a:off x="7102257" y="4394178"/>
              <a:ext cx="4308954" cy="400110"/>
            </a:xfrm>
            <a:prstGeom prst="rect">
              <a:avLst/>
            </a:prstGeom>
            <a:noFill/>
          </p:spPr>
          <p:txBody>
            <a:bodyPr wrap="square" rtlCol="0">
              <a:spAutoFit/>
            </a:bodyPr>
            <a:lstStyle/>
            <a:p>
              <a:pPr algn="l"/>
              <a:r>
                <a:rPr lang="en-US" altLang="zh-CN" sz="2000" b="1" dirty="0" err="1" smtClean="0">
                  <a:solidFill>
                    <a:schemeClr val="bg1"/>
                  </a:solidFill>
                  <a:latin typeface="微软雅黑" panose="020B0503020204020204" pitchFamily="34" charset="-122"/>
                  <a:ea typeface="微软雅黑" panose="020B0503020204020204" pitchFamily="34" charset="-122"/>
                </a:rPr>
                <a:t>redis</a:t>
              </a:r>
              <a:r>
                <a:rPr lang="zh-CN" altLang="en-US" sz="2000" b="1" dirty="0" smtClean="0">
                  <a:solidFill>
                    <a:schemeClr val="bg1"/>
                  </a:solidFill>
                  <a:latin typeface="微软雅黑" panose="020B0503020204020204" pitchFamily="34" charset="-122"/>
                  <a:ea typeface="微软雅黑" panose="020B0503020204020204" pitchFamily="34" charset="-122"/>
                </a:rPr>
                <a:t>高级功能</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grpSp>
      <p:grpSp>
        <p:nvGrpSpPr>
          <p:cNvPr id="31" name="组合 30">
            <a:extLst>
              <a:ext uri="{FF2B5EF4-FFF2-40B4-BE49-F238E27FC236}">
                <a16:creationId xmlns:a16="http://schemas.microsoft.com/office/drawing/2014/main" xmlns="" id="{30D19BE9-7B17-484A-AFF1-18A11B0A121E}"/>
              </a:ext>
            </a:extLst>
          </p:cNvPr>
          <p:cNvGrpSpPr/>
          <p:nvPr/>
        </p:nvGrpSpPr>
        <p:grpSpPr>
          <a:xfrm>
            <a:off x="5645064" y="5216666"/>
            <a:ext cx="5315211" cy="504970"/>
            <a:chOff x="6096000" y="5321731"/>
            <a:chExt cx="5315211" cy="504970"/>
          </a:xfrm>
        </p:grpSpPr>
        <p:sp>
          <p:nvSpPr>
            <p:cNvPr id="24" name="矩形 11">
              <a:extLst>
                <a:ext uri="{FF2B5EF4-FFF2-40B4-BE49-F238E27FC236}">
                  <a16:creationId xmlns:a16="http://schemas.microsoft.com/office/drawing/2014/main" xmlns="" id="{07C34CB3-C6BC-4B8E-B9CE-77283FB86848}"/>
                </a:ext>
              </a:extLst>
            </p:cNvPr>
            <p:cNvSpPr/>
            <p:nvPr/>
          </p:nvSpPr>
          <p:spPr>
            <a:xfrm>
              <a:off x="6096000" y="5321731"/>
              <a:ext cx="576000" cy="504968"/>
            </a:xfrm>
            <a:custGeom>
              <a:avLst/>
              <a:gdLst>
                <a:gd name="connsiteX0" fmla="*/ 0 w 576000"/>
                <a:gd name="connsiteY0" fmla="*/ 0 h 612000"/>
                <a:gd name="connsiteX1" fmla="*/ 576000 w 576000"/>
                <a:gd name="connsiteY1" fmla="*/ 0 h 612000"/>
                <a:gd name="connsiteX2" fmla="*/ 576000 w 576000"/>
                <a:gd name="connsiteY2" fmla="*/ 612000 h 612000"/>
                <a:gd name="connsiteX3" fmla="*/ 0 w 576000"/>
                <a:gd name="connsiteY3" fmla="*/ 612000 h 612000"/>
                <a:gd name="connsiteX4" fmla="*/ 0 w 576000"/>
                <a:gd name="connsiteY4" fmla="*/ 0 h 612000"/>
                <a:gd name="connsiteX0" fmla="*/ 0 w 576000"/>
                <a:gd name="connsiteY0" fmla="*/ 0 h 612000"/>
                <a:gd name="connsiteX1" fmla="*/ 576000 w 576000"/>
                <a:gd name="connsiteY1" fmla="*/ 68580 h 612000"/>
                <a:gd name="connsiteX2" fmla="*/ 576000 w 576000"/>
                <a:gd name="connsiteY2" fmla="*/ 612000 h 612000"/>
                <a:gd name="connsiteX3" fmla="*/ 0 w 576000"/>
                <a:gd name="connsiteY3" fmla="*/ 612000 h 612000"/>
                <a:gd name="connsiteX4" fmla="*/ 0 w 576000"/>
                <a:gd name="connsiteY4" fmla="*/ 0 h 61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6000" h="612000">
                  <a:moveTo>
                    <a:pt x="0" y="0"/>
                  </a:moveTo>
                  <a:lnTo>
                    <a:pt x="576000" y="68580"/>
                  </a:lnTo>
                  <a:lnTo>
                    <a:pt x="576000" y="612000"/>
                  </a:lnTo>
                  <a:lnTo>
                    <a:pt x="0" y="612000"/>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rgbClr val="0A0F23"/>
                  </a:solidFill>
                  <a:latin typeface="微软雅黑" panose="020B0503020204020204" pitchFamily="34" charset="-122"/>
                  <a:ea typeface="微软雅黑" panose="020B0503020204020204" pitchFamily="34" charset="-122"/>
                </a:rPr>
                <a:t>05</a:t>
              </a:r>
              <a:endParaRPr lang="zh-CN" altLang="en-US" sz="2000" dirty="0">
                <a:solidFill>
                  <a:srgbClr val="0A0F23"/>
                </a:solidFill>
                <a:latin typeface="微软雅黑" panose="020B0503020204020204" pitchFamily="34" charset="-122"/>
                <a:ea typeface="微软雅黑" panose="020B0503020204020204" pitchFamily="34" charset="-122"/>
              </a:endParaRPr>
            </a:p>
          </p:txBody>
        </p:sp>
        <p:sp>
          <p:nvSpPr>
            <p:cNvPr id="25" name="等腰三角形 24">
              <a:extLst>
                <a:ext uri="{FF2B5EF4-FFF2-40B4-BE49-F238E27FC236}">
                  <a16:creationId xmlns:a16="http://schemas.microsoft.com/office/drawing/2014/main" xmlns="" id="{7B82B6BE-B9CC-455D-96DB-B6AB6910989D}"/>
                </a:ext>
              </a:extLst>
            </p:cNvPr>
            <p:cNvSpPr/>
            <p:nvPr/>
          </p:nvSpPr>
          <p:spPr>
            <a:xfrm rot="5400000">
              <a:off x="6642208" y="5669275"/>
              <a:ext cx="187218" cy="127634"/>
            </a:xfrm>
            <a:prstGeom prst="triangle">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a:extLst>
                <a:ext uri="{FF2B5EF4-FFF2-40B4-BE49-F238E27FC236}">
                  <a16:creationId xmlns:a16="http://schemas.microsoft.com/office/drawing/2014/main" xmlns="" id="{44E0E971-535B-4515-8BBB-7AEB62BF3DC2}"/>
                </a:ext>
              </a:extLst>
            </p:cNvPr>
            <p:cNvSpPr txBox="1"/>
            <p:nvPr/>
          </p:nvSpPr>
          <p:spPr>
            <a:xfrm>
              <a:off x="7102257" y="5409413"/>
              <a:ext cx="4308954" cy="400110"/>
            </a:xfrm>
            <a:prstGeom prst="rect">
              <a:avLst/>
            </a:prstGeom>
            <a:noFill/>
          </p:spPr>
          <p:txBody>
            <a:bodyPr wrap="square" rtlCol="0">
              <a:spAutoFit/>
            </a:bodyPr>
            <a:lstStyle/>
            <a:p>
              <a:pPr algn="l"/>
              <a:r>
                <a:rPr lang="en-US" altLang="zh-CN" sz="2000" b="1" dirty="0" err="1" smtClean="0">
                  <a:solidFill>
                    <a:schemeClr val="bg1"/>
                  </a:solidFill>
                  <a:latin typeface="微软雅黑" panose="020B0503020204020204" pitchFamily="34" charset="-122"/>
                  <a:ea typeface="微软雅黑" panose="020B0503020204020204" pitchFamily="34" charset="-122"/>
                </a:rPr>
                <a:t>redis</a:t>
              </a:r>
              <a:r>
                <a:rPr lang="zh-CN" altLang="en-US" sz="2000" b="1" dirty="0" smtClean="0">
                  <a:solidFill>
                    <a:schemeClr val="bg1"/>
                  </a:solidFill>
                  <a:latin typeface="微软雅黑" panose="020B0503020204020204" pitchFamily="34" charset="-122"/>
                  <a:ea typeface="微软雅黑" panose="020B0503020204020204" pitchFamily="34" charset="-122"/>
                </a:rPr>
                <a:t>集群</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grpSp>
      <p:sp>
        <p:nvSpPr>
          <p:cNvPr id="32" name="矩形 31">
            <a:extLst>
              <a:ext uri="{FF2B5EF4-FFF2-40B4-BE49-F238E27FC236}">
                <a16:creationId xmlns:a16="http://schemas.microsoft.com/office/drawing/2014/main" xmlns="" id="{CB954184-1215-4D49-9E22-57206BBCD164}"/>
              </a:ext>
            </a:extLst>
          </p:cNvPr>
          <p:cNvSpPr/>
          <p:nvPr/>
        </p:nvSpPr>
        <p:spPr>
          <a:xfrm>
            <a:off x="964504" y="2678451"/>
            <a:ext cx="463463"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669104219"/>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additive="base">
                                        <p:cTn id="7" dur="500" fill="hold"/>
                                        <p:tgtEl>
                                          <p:spTgt spid="27"/>
                                        </p:tgtEl>
                                        <p:attrNameLst>
                                          <p:attrName>ppt_x</p:attrName>
                                        </p:attrNameLst>
                                      </p:cBhvr>
                                      <p:tavLst>
                                        <p:tav tm="0">
                                          <p:val>
                                            <p:strVal val="#ppt_x"/>
                                          </p:val>
                                        </p:tav>
                                        <p:tav tm="100000">
                                          <p:val>
                                            <p:strVal val="#ppt_x"/>
                                          </p:val>
                                        </p:tav>
                                      </p:tavLst>
                                    </p:anim>
                                    <p:anim calcmode="lin" valueType="num">
                                      <p:cBhvr additive="base">
                                        <p:cTn id="8"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8"/>
                                        </p:tgtEl>
                                        <p:attrNameLst>
                                          <p:attrName>style.visibility</p:attrName>
                                        </p:attrNameLst>
                                      </p:cBhvr>
                                      <p:to>
                                        <p:strVal val="visible"/>
                                      </p:to>
                                    </p:set>
                                    <p:anim calcmode="lin" valueType="num">
                                      <p:cBhvr additive="base">
                                        <p:cTn id="13" dur="500" fill="hold"/>
                                        <p:tgtEl>
                                          <p:spTgt spid="28"/>
                                        </p:tgtEl>
                                        <p:attrNameLst>
                                          <p:attrName>ppt_x</p:attrName>
                                        </p:attrNameLst>
                                      </p:cBhvr>
                                      <p:tavLst>
                                        <p:tav tm="0">
                                          <p:val>
                                            <p:strVal val="#ppt_x"/>
                                          </p:val>
                                        </p:tav>
                                        <p:tav tm="100000">
                                          <p:val>
                                            <p:strVal val="#ppt_x"/>
                                          </p:val>
                                        </p:tav>
                                      </p:tavLst>
                                    </p:anim>
                                    <p:anim calcmode="lin" valueType="num">
                                      <p:cBhvr additive="base">
                                        <p:cTn id="14"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9"/>
                                        </p:tgtEl>
                                        <p:attrNameLst>
                                          <p:attrName>style.visibility</p:attrName>
                                        </p:attrNameLst>
                                      </p:cBhvr>
                                      <p:to>
                                        <p:strVal val="visible"/>
                                      </p:to>
                                    </p:set>
                                    <p:anim calcmode="lin" valueType="num">
                                      <p:cBhvr additive="base">
                                        <p:cTn id="19" dur="500" fill="hold"/>
                                        <p:tgtEl>
                                          <p:spTgt spid="29"/>
                                        </p:tgtEl>
                                        <p:attrNameLst>
                                          <p:attrName>ppt_x</p:attrName>
                                        </p:attrNameLst>
                                      </p:cBhvr>
                                      <p:tavLst>
                                        <p:tav tm="0">
                                          <p:val>
                                            <p:strVal val="#ppt_x"/>
                                          </p:val>
                                        </p:tav>
                                        <p:tav tm="100000">
                                          <p:val>
                                            <p:strVal val="#ppt_x"/>
                                          </p:val>
                                        </p:tav>
                                      </p:tavLst>
                                    </p:anim>
                                    <p:anim calcmode="lin" valueType="num">
                                      <p:cBhvr additive="base">
                                        <p:cTn id="20"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0"/>
                                        </p:tgtEl>
                                        <p:attrNameLst>
                                          <p:attrName>style.visibility</p:attrName>
                                        </p:attrNameLst>
                                      </p:cBhvr>
                                      <p:to>
                                        <p:strVal val="visible"/>
                                      </p:to>
                                    </p:set>
                                    <p:anim calcmode="lin" valueType="num">
                                      <p:cBhvr additive="base">
                                        <p:cTn id="25" dur="500" fill="hold"/>
                                        <p:tgtEl>
                                          <p:spTgt spid="30"/>
                                        </p:tgtEl>
                                        <p:attrNameLst>
                                          <p:attrName>ppt_x</p:attrName>
                                        </p:attrNameLst>
                                      </p:cBhvr>
                                      <p:tavLst>
                                        <p:tav tm="0">
                                          <p:val>
                                            <p:strVal val="#ppt_x"/>
                                          </p:val>
                                        </p:tav>
                                        <p:tav tm="100000">
                                          <p:val>
                                            <p:strVal val="#ppt_x"/>
                                          </p:val>
                                        </p:tav>
                                      </p:tavLst>
                                    </p:anim>
                                    <p:anim calcmode="lin" valueType="num">
                                      <p:cBhvr additive="base">
                                        <p:cTn id="26"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1"/>
                                        </p:tgtEl>
                                        <p:attrNameLst>
                                          <p:attrName>style.visibility</p:attrName>
                                        </p:attrNameLst>
                                      </p:cBhvr>
                                      <p:to>
                                        <p:strVal val="visible"/>
                                      </p:to>
                                    </p:set>
                                    <p:anim calcmode="lin" valueType="num">
                                      <p:cBhvr additive="base">
                                        <p:cTn id="31" dur="500" fill="hold"/>
                                        <p:tgtEl>
                                          <p:spTgt spid="31"/>
                                        </p:tgtEl>
                                        <p:attrNameLst>
                                          <p:attrName>ppt_x</p:attrName>
                                        </p:attrNameLst>
                                      </p:cBhvr>
                                      <p:tavLst>
                                        <p:tav tm="0">
                                          <p:val>
                                            <p:strVal val="#ppt_x"/>
                                          </p:val>
                                        </p:tav>
                                        <p:tav tm="100000">
                                          <p:val>
                                            <p:strVal val="#ppt_x"/>
                                          </p:val>
                                        </p:tav>
                                      </p:tavLst>
                                    </p:anim>
                                    <p:anim calcmode="lin" valueType="num">
                                      <p:cBhvr additive="base">
                                        <p:cTn id="32"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0F23"/>
        </a:solidFill>
        <a:effectLst/>
      </p:bgPr>
    </p:bg>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xmlns="" id="{62500BA0-5435-4394-A67D-935D06E8473D}"/>
              </a:ext>
            </a:extLst>
          </p:cNvPr>
          <p:cNvPicPr>
            <a:picLocks noChangeAspect="1"/>
          </p:cNvPicPr>
          <p:nvPr/>
        </p:nvPicPr>
        <p:blipFill rotWithShape="1">
          <a:blip r:embed="rId2"/>
          <a:srcRect l="60878"/>
          <a:stretch/>
        </p:blipFill>
        <p:spPr>
          <a:xfrm>
            <a:off x="6096000" y="652085"/>
            <a:ext cx="6269207" cy="5314808"/>
          </a:xfrm>
          <a:prstGeom prst="rect">
            <a:avLst/>
          </a:prstGeom>
          <a:solidFill>
            <a:srgbClr val="0A0F23"/>
          </a:solidFill>
          <a:effectLst>
            <a:softEdge rad="927100"/>
          </a:effectLst>
        </p:spPr>
      </p:pic>
      <p:sp>
        <p:nvSpPr>
          <p:cNvPr id="11" name="文本框 10">
            <a:extLst>
              <a:ext uri="{FF2B5EF4-FFF2-40B4-BE49-F238E27FC236}">
                <a16:creationId xmlns:a16="http://schemas.microsoft.com/office/drawing/2014/main" xmlns="" id="{070AA53B-EE7D-407A-93E5-ACCD74BA7C5C}"/>
              </a:ext>
            </a:extLst>
          </p:cNvPr>
          <p:cNvSpPr txBox="1"/>
          <p:nvPr/>
        </p:nvSpPr>
        <p:spPr>
          <a:xfrm>
            <a:off x="487679" y="2604821"/>
            <a:ext cx="3722371" cy="1200329"/>
          </a:xfrm>
          <a:prstGeom prst="rect">
            <a:avLst/>
          </a:prstGeom>
          <a:noFill/>
        </p:spPr>
        <p:txBody>
          <a:bodyPr wrap="square" rtlCol="0">
            <a:spAutoFit/>
          </a:bodyPr>
          <a:lstStyle/>
          <a:p>
            <a:pPr algn="dist"/>
            <a:r>
              <a:rPr lang="en-US" altLang="zh-CN" sz="7200" dirty="0">
                <a:solidFill>
                  <a:schemeClr val="bg1"/>
                </a:solidFill>
                <a:latin typeface="Impact" panose="020B0806030902050204" pitchFamily="34" charset="0"/>
              </a:rPr>
              <a:t>PART 01</a:t>
            </a:r>
            <a:endParaRPr lang="zh-CN" altLang="en-US" sz="7200" dirty="0">
              <a:solidFill>
                <a:schemeClr val="bg1"/>
              </a:solidFill>
              <a:latin typeface="Impact" panose="020B0806030902050204" pitchFamily="34" charset="0"/>
            </a:endParaRPr>
          </a:p>
        </p:txBody>
      </p:sp>
      <p:sp>
        <p:nvSpPr>
          <p:cNvPr id="12" name="矩形 11">
            <a:extLst>
              <a:ext uri="{FF2B5EF4-FFF2-40B4-BE49-F238E27FC236}">
                <a16:creationId xmlns:a16="http://schemas.microsoft.com/office/drawing/2014/main" xmlns="" id="{1365D9B2-CE2D-4820-B0DA-C0FD3C575F5F}"/>
              </a:ext>
            </a:extLst>
          </p:cNvPr>
          <p:cNvSpPr/>
          <p:nvPr/>
        </p:nvSpPr>
        <p:spPr>
          <a:xfrm>
            <a:off x="487679" y="3837807"/>
            <a:ext cx="4232366" cy="6362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tx1">
                    <a:lumMod val="85000"/>
                    <a:lumOff val="15000"/>
                  </a:schemeClr>
                </a:solidFill>
                <a:latin typeface="微软雅黑" panose="020B0503020204020204" pitchFamily="34" charset="-122"/>
                <a:ea typeface="微软雅黑" panose="020B0503020204020204" pitchFamily="34" charset="-122"/>
              </a:rPr>
              <a:t> </a:t>
            </a:r>
            <a:r>
              <a:rPr lang="en-US" altLang="zh-CN" sz="2000" b="1" dirty="0" err="1" smtClean="0">
                <a:solidFill>
                  <a:schemeClr val="tx1">
                    <a:lumMod val="85000"/>
                    <a:lumOff val="15000"/>
                  </a:schemeClr>
                </a:solidFill>
                <a:latin typeface="微软雅黑" panose="020B0503020204020204" pitchFamily="34" charset="-122"/>
                <a:ea typeface="微软雅黑" panose="020B0503020204020204" pitchFamily="34" charset="-122"/>
              </a:rPr>
              <a:t>redis</a:t>
            </a:r>
            <a:r>
              <a:rPr lang="zh-CN" altLang="en-US" sz="2000" b="1" dirty="0" smtClean="0">
                <a:solidFill>
                  <a:schemeClr val="tx1">
                    <a:lumMod val="85000"/>
                    <a:lumOff val="15000"/>
                  </a:schemeClr>
                </a:solidFill>
                <a:latin typeface="微软雅黑" panose="020B0503020204020204" pitchFamily="34" charset="-122"/>
                <a:ea typeface="微软雅黑" panose="020B0503020204020204" pitchFamily="34" charset="-122"/>
              </a:rPr>
              <a:t>介绍</a:t>
            </a:r>
            <a:endParaRPr lang="zh-CN" altLang="en-US" sz="2000" b="1" dirty="0">
              <a:solidFill>
                <a:schemeClr val="tx1">
                  <a:lumMod val="85000"/>
                  <a:lumOff val="15000"/>
                </a:schemeClr>
              </a:solidFill>
              <a:latin typeface="微软雅黑" panose="020B0503020204020204" pitchFamily="34" charset="-122"/>
              <a:ea typeface="微软雅黑" panose="020B0503020204020204" pitchFamily="34" charset="-122"/>
            </a:endParaRPr>
          </a:p>
        </p:txBody>
      </p:sp>
      <p:pic>
        <p:nvPicPr>
          <p:cNvPr id="13" name="图片 12">
            <a:extLst>
              <a:ext uri="{FF2B5EF4-FFF2-40B4-BE49-F238E27FC236}">
                <a16:creationId xmlns:a16="http://schemas.microsoft.com/office/drawing/2014/main" xmlns="" id="{CBDC52CD-1D62-48AF-A9DF-9F18AEA2B1F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801385" y="-114300"/>
            <a:ext cx="1301859" cy="920356"/>
          </a:xfrm>
          <a:prstGeom prst="rect">
            <a:avLst/>
          </a:prstGeom>
        </p:spPr>
      </p:pic>
      <p:pic>
        <p:nvPicPr>
          <p:cNvPr id="14" name="图片 13">
            <a:extLst>
              <a:ext uri="{FF2B5EF4-FFF2-40B4-BE49-F238E27FC236}">
                <a16:creationId xmlns:a16="http://schemas.microsoft.com/office/drawing/2014/main" xmlns="" id="{F78DA958-9B1B-47DA-A870-8C0B3A7D8866}"/>
              </a:ext>
            </a:extLst>
          </p:cNvPr>
          <p:cNvPicPr>
            <a:picLocks noChangeAspect="1"/>
          </p:cNvPicPr>
          <p:nvPr/>
        </p:nvPicPr>
        <p:blipFill rotWithShape="1">
          <a:blip r:embed="rId4" cstate="print">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rcRect b="63537"/>
          <a:stretch/>
        </p:blipFill>
        <p:spPr>
          <a:xfrm>
            <a:off x="11184164" y="217733"/>
            <a:ext cx="572339" cy="337210"/>
          </a:xfrm>
          <a:prstGeom prst="rect">
            <a:avLst/>
          </a:prstGeom>
        </p:spPr>
      </p:pic>
      <p:cxnSp>
        <p:nvCxnSpPr>
          <p:cNvPr id="15" name="直接连接符 14">
            <a:extLst>
              <a:ext uri="{FF2B5EF4-FFF2-40B4-BE49-F238E27FC236}">
                <a16:creationId xmlns:a16="http://schemas.microsoft.com/office/drawing/2014/main" xmlns="" id="{93240A06-D526-4907-A163-94ABB41190CC}"/>
              </a:ext>
            </a:extLst>
          </p:cNvPr>
          <p:cNvCxnSpPr/>
          <p:nvPr/>
        </p:nvCxnSpPr>
        <p:spPr>
          <a:xfrm>
            <a:off x="11103244" y="225825"/>
            <a:ext cx="0" cy="2435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16" name="图片 15">
            <a:extLst>
              <a:ext uri="{FF2B5EF4-FFF2-40B4-BE49-F238E27FC236}">
                <a16:creationId xmlns:a16="http://schemas.microsoft.com/office/drawing/2014/main" xmlns="" id="{9D9CC490-11D4-4019-960D-2E0BA57F3E51}"/>
              </a:ext>
            </a:extLst>
          </p:cNvPr>
          <p:cNvPicPr>
            <a:picLocks noChangeAspect="1"/>
          </p:cNvPicPr>
          <p:nvPr/>
        </p:nvPicPr>
        <p:blipFill rotWithShape="1">
          <a:blip r:embed="rId2"/>
          <a:srcRect l="60878"/>
          <a:stretch/>
        </p:blipFill>
        <p:spPr>
          <a:xfrm>
            <a:off x="-5153300" y="547581"/>
            <a:ext cx="6269207" cy="5314808"/>
          </a:xfrm>
          <a:prstGeom prst="rect">
            <a:avLst/>
          </a:prstGeom>
          <a:solidFill>
            <a:srgbClr val="0A0F23"/>
          </a:solidFill>
          <a:effectLst>
            <a:softEdge rad="927100"/>
          </a:effectLst>
        </p:spPr>
      </p:pic>
    </p:spTree>
    <p:extLst>
      <p:ext uri="{BB962C8B-B14F-4D97-AF65-F5344CB8AC3E}">
        <p14:creationId xmlns:p14="http://schemas.microsoft.com/office/powerpoint/2010/main" val="319077023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0F23"/>
        </a:solidFill>
        <a:effectLst/>
      </p:bgPr>
    </p:bg>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xmlns="" id="{CBDC52CD-1D62-48AF-A9DF-9F18AEA2B1F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801385" y="-114300"/>
            <a:ext cx="1301859" cy="920356"/>
          </a:xfrm>
          <a:prstGeom prst="rect">
            <a:avLst/>
          </a:prstGeom>
        </p:spPr>
      </p:pic>
      <p:pic>
        <p:nvPicPr>
          <p:cNvPr id="14" name="图片 13">
            <a:extLst>
              <a:ext uri="{FF2B5EF4-FFF2-40B4-BE49-F238E27FC236}">
                <a16:creationId xmlns:a16="http://schemas.microsoft.com/office/drawing/2014/main" xmlns="" id="{F78DA958-9B1B-47DA-A870-8C0B3A7D8866}"/>
              </a:ext>
            </a:extLst>
          </p:cNvPr>
          <p:cNvPicPr>
            <a:picLocks noChangeAspect="1"/>
          </p:cNvPicPr>
          <p:nvPr/>
        </p:nvPicPr>
        <p:blipFill rotWithShape="1">
          <a:blip r:embed="rId4" cstate="print">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rcRect b="63537"/>
          <a:stretch/>
        </p:blipFill>
        <p:spPr>
          <a:xfrm>
            <a:off x="11184164" y="217733"/>
            <a:ext cx="572339" cy="337210"/>
          </a:xfrm>
          <a:prstGeom prst="rect">
            <a:avLst/>
          </a:prstGeom>
        </p:spPr>
      </p:pic>
      <p:cxnSp>
        <p:nvCxnSpPr>
          <p:cNvPr id="15" name="直接连接符 14">
            <a:extLst>
              <a:ext uri="{FF2B5EF4-FFF2-40B4-BE49-F238E27FC236}">
                <a16:creationId xmlns:a16="http://schemas.microsoft.com/office/drawing/2014/main" xmlns="" id="{93240A06-D526-4907-A163-94ABB41190CC}"/>
              </a:ext>
            </a:extLst>
          </p:cNvPr>
          <p:cNvCxnSpPr/>
          <p:nvPr/>
        </p:nvCxnSpPr>
        <p:spPr>
          <a:xfrm>
            <a:off x="11103244" y="225825"/>
            <a:ext cx="0" cy="2435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xmlns="" id="{74C59758-12AB-44A5-92FA-DB52904027AE}"/>
              </a:ext>
            </a:extLst>
          </p:cNvPr>
          <p:cNvSpPr/>
          <p:nvPr/>
        </p:nvSpPr>
        <p:spPr>
          <a:xfrm>
            <a:off x="802332" y="1287114"/>
            <a:ext cx="10765483" cy="1705403"/>
          </a:xfrm>
          <a:prstGeom prst="rect">
            <a:avLst/>
          </a:prstGeom>
        </p:spPr>
        <p:txBody>
          <a:bodyPr wrap="square">
            <a:spAutoFit/>
          </a:bodyPr>
          <a:lstStyle/>
          <a:p>
            <a:pPr>
              <a:lnSpc>
                <a:spcPct val="150000"/>
              </a:lnSpc>
            </a:pPr>
            <a:r>
              <a:rPr lang="en-US" altLang="zh-CN" dirty="0">
                <a:solidFill>
                  <a:prstClr val="white"/>
                </a:solidFill>
                <a:latin typeface="微软雅黑" panose="020B0503020204020204" pitchFamily="34" charset="-122"/>
                <a:ea typeface="微软雅黑" panose="020B0503020204020204" pitchFamily="34" charset="-122"/>
              </a:rPr>
              <a:t> </a:t>
            </a:r>
            <a:r>
              <a:rPr lang="en-US" altLang="zh-CN" dirty="0" smtClean="0">
                <a:solidFill>
                  <a:prstClr val="white"/>
                </a:solidFill>
                <a:latin typeface="微软雅黑" panose="020B0503020204020204" pitchFamily="34" charset="-122"/>
                <a:ea typeface="微软雅黑" panose="020B0503020204020204" pitchFamily="34" charset="-122"/>
              </a:rPr>
              <a:t>    </a:t>
            </a:r>
            <a:r>
              <a:rPr lang="en-US" altLang="zh-CN" dirty="0" err="1" smtClean="0">
                <a:solidFill>
                  <a:prstClr val="white"/>
                </a:solidFill>
                <a:latin typeface="微软雅黑" panose="020B0503020204020204" pitchFamily="34" charset="-122"/>
                <a:ea typeface="微软雅黑" panose="020B0503020204020204" pitchFamily="34" charset="-122"/>
              </a:rPr>
              <a:t>Redis</a:t>
            </a:r>
            <a:r>
              <a:rPr lang="zh-CN" altLang="en-US" dirty="0">
                <a:solidFill>
                  <a:prstClr val="white"/>
                </a:solidFill>
                <a:latin typeface="微软雅黑" panose="020B0503020204020204" pitchFamily="34" charset="-122"/>
                <a:ea typeface="微软雅黑" panose="020B0503020204020204" pitchFamily="34" charset="-122"/>
              </a:rPr>
              <a:t>是一个开源（</a:t>
            </a:r>
            <a:r>
              <a:rPr lang="en-US" altLang="zh-CN" dirty="0">
                <a:solidFill>
                  <a:prstClr val="white"/>
                </a:solidFill>
                <a:latin typeface="微软雅黑" panose="020B0503020204020204" pitchFamily="34" charset="-122"/>
                <a:ea typeface="微软雅黑" panose="020B0503020204020204" pitchFamily="34" charset="-122"/>
              </a:rPr>
              <a:t>BSD</a:t>
            </a:r>
            <a:r>
              <a:rPr lang="zh-CN" altLang="en-US" dirty="0">
                <a:solidFill>
                  <a:prstClr val="white"/>
                </a:solidFill>
                <a:latin typeface="微软雅黑" panose="020B0503020204020204" pitchFamily="34" charset="-122"/>
                <a:ea typeface="微软雅黑" panose="020B0503020204020204" pitchFamily="34" charset="-122"/>
              </a:rPr>
              <a:t>许可），内存存储的数据结构服务器，可用作数据库，高速缓存和消息队列代理。它支持字符串、哈希表、列表、集合、有序集合，位图，</a:t>
            </a:r>
            <a:r>
              <a:rPr lang="en-US" altLang="zh-CN" dirty="0" err="1">
                <a:solidFill>
                  <a:prstClr val="white"/>
                </a:solidFill>
                <a:latin typeface="微软雅黑" panose="020B0503020204020204" pitchFamily="34" charset="-122"/>
                <a:ea typeface="微软雅黑" panose="020B0503020204020204" pitchFamily="34" charset="-122"/>
              </a:rPr>
              <a:t>hyperloglogs</a:t>
            </a:r>
            <a:r>
              <a:rPr lang="zh-CN" altLang="en-US" dirty="0">
                <a:solidFill>
                  <a:prstClr val="white"/>
                </a:solidFill>
                <a:latin typeface="微软雅黑" panose="020B0503020204020204" pitchFamily="34" charset="-122"/>
                <a:ea typeface="微软雅黑" panose="020B0503020204020204" pitchFamily="34" charset="-122"/>
              </a:rPr>
              <a:t>等数据类型。内置复制、</a:t>
            </a:r>
            <a:r>
              <a:rPr lang="en-US" altLang="zh-CN" dirty="0" err="1">
                <a:solidFill>
                  <a:prstClr val="white"/>
                </a:solidFill>
                <a:latin typeface="微软雅黑" panose="020B0503020204020204" pitchFamily="34" charset="-122"/>
                <a:ea typeface="微软雅黑" panose="020B0503020204020204" pitchFamily="34" charset="-122"/>
              </a:rPr>
              <a:t>Lua</a:t>
            </a:r>
            <a:r>
              <a:rPr lang="zh-CN" altLang="en-US" dirty="0">
                <a:solidFill>
                  <a:prstClr val="white"/>
                </a:solidFill>
                <a:latin typeface="微软雅黑" panose="020B0503020204020204" pitchFamily="34" charset="-122"/>
                <a:ea typeface="微软雅黑" panose="020B0503020204020204" pitchFamily="34" charset="-122"/>
              </a:rPr>
              <a:t>脚本、</a:t>
            </a:r>
            <a:r>
              <a:rPr lang="en-US" altLang="zh-CN" dirty="0">
                <a:solidFill>
                  <a:prstClr val="white"/>
                </a:solidFill>
                <a:latin typeface="微软雅黑" panose="020B0503020204020204" pitchFamily="34" charset="-122"/>
                <a:ea typeface="微软雅黑" panose="020B0503020204020204" pitchFamily="34" charset="-122"/>
              </a:rPr>
              <a:t>LRU</a:t>
            </a:r>
            <a:r>
              <a:rPr lang="zh-CN" altLang="en-US" dirty="0">
                <a:solidFill>
                  <a:prstClr val="white"/>
                </a:solidFill>
                <a:latin typeface="微软雅黑" panose="020B0503020204020204" pitchFamily="34" charset="-122"/>
                <a:ea typeface="微软雅黑" panose="020B0503020204020204" pitchFamily="34" charset="-122"/>
              </a:rPr>
              <a:t>收回、事务以及不同级别磁盘持久化功能，同时通过</a:t>
            </a:r>
            <a:r>
              <a:rPr lang="en-US" altLang="zh-CN" dirty="0" err="1">
                <a:solidFill>
                  <a:prstClr val="white"/>
                </a:solidFill>
                <a:latin typeface="微软雅黑" panose="020B0503020204020204" pitchFamily="34" charset="-122"/>
                <a:ea typeface="微软雅黑" panose="020B0503020204020204" pitchFamily="34" charset="-122"/>
              </a:rPr>
              <a:t>Redis</a:t>
            </a:r>
            <a:r>
              <a:rPr lang="en-US" altLang="zh-CN" dirty="0">
                <a:solidFill>
                  <a:prstClr val="white"/>
                </a:solidFill>
                <a:latin typeface="微软雅黑" panose="020B0503020204020204" pitchFamily="34" charset="-122"/>
                <a:ea typeface="微软雅黑" panose="020B0503020204020204" pitchFamily="34" charset="-122"/>
              </a:rPr>
              <a:t> Sentinel</a:t>
            </a:r>
            <a:r>
              <a:rPr lang="zh-CN" altLang="en-US" dirty="0">
                <a:solidFill>
                  <a:prstClr val="white"/>
                </a:solidFill>
                <a:latin typeface="微软雅黑" panose="020B0503020204020204" pitchFamily="34" charset="-122"/>
                <a:ea typeface="微软雅黑" panose="020B0503020204020204" pitchFamily="34" charset="-122"/>
              </a:rPr>
              <a:t>提供高可用，通过</a:t>
            </a:r>
            <a:r>
              <a:rPr lang="en-US" altLang="zh-CN" dirty="0" err="1">
                <a:solidFill>
                  <a:prstClr val="white"/>
                </a:solidFill>
                <a:latin typeface="微软雅黑" panose="020B0503020204020204" pitchFamily="34" charset="-122"/>
                <a:ea typeface="微软雅黑" panose="020B0503020204020204" pitchFamily="34" charset="-122"/>
              </a:rPr>
              <a:t>Redis</a:t>
            </a:r>
            <a:r>
              <a:rPr lang="en-US" altLang="zh-CN" dirty="0">
                <a:solidFill>
                  <a:prstClr val="white"/>
                </a:solidFill>
                <a:latin typeface="微软雅黑" panose="020B0503020204020204" pitchFamily="34" charset="-122"/>
                <a:ea typeface="微软雅黑" panose="020B0503020204020204" pitchFamily="34" charset="-122"/>
              </a:rPr>
              <a:t> Cluster</a:t>
            </a:r>
            <a:r>
              <a:rPr lang="zh-CN" altLang="en-US" dirty="0">
                <a:solidFill>
                  <a:prstClr val="white"/>
                </a:solidFill>
                <a:latin typeface="微软雅黑" panose="020B0503020204020204" pitchFamily="34" charset="-122"/>
                <a:ea typeface="微软雅黑" panose="020B0503020204020204" pitchFamily="34" charset="-122"/>
              </a:rPr>
              <a:t>提供自动分区。</a:t>
            </a:r>
          </a:p>
        </p:txBody>
      </p:sp>
      <p:sp>
        <p:nvSpPr>
          <p:cNvPr id="10" name="TextBox 9"/>
          <p:cNvSpPr txBox="1"/>
          <p:nvPr/>
        </p:nvSpPr>
        <p:spPr>
          <a:xfrm>
            <a:off x="704850" y="605109"/>
            <a:ext cx="4038600" cy="584775"/>
          </a:xfrm>
          <a:prstGeom prst="rect">
            <a:avLst/>
          </a:prstGeom>
          <a:noFill/>
        </p:spPr>
        <p:txBody>
          <a:bodyPr wrap="square" rtlCol="0">
            <a:spAutoFit/>
          </a:bodyPr>
          <a:lstStyle/>
          <a:p>
            <a:pPr>
              <a:defRPr/>
            </a:pPr>
            <a:r>
              <a:rPr lang="en-US" altLang="zh-CN" sz="32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1.1</a:t>
            </a:r>
            <a:r>
              <a:rPr lang="zh-CN" altLang="en-US" sz="32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、什么是</a:t>
            </a:r>
            <a:r>
              <a:rPr lang="en-US" altLang="zh-CN" sz="3200" b="1" dirty="0" err="1">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redis</a:t>
            </a:r>
            <a:endParaRPr lang="zh-CN" altLang="en-US" sz="32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27021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0F23"/>
        </a:solidFill>
        <a:effectLst/>
      </p:bgPr>
    </p:bg>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xmlns="" id="{CBDC52CD-1D62-48AF-A9DF-9F18AEA2B1F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801385" y="-114300"/>
            <a:ext cx="1301859" cy="920356"/>
          </a:xfrm>
          <a:prstGeom prst="rect">
            <a:avLst/>
          </a:prstGeom>
        </p:spPr>
      </p:pic>
      <p:pic>
        <p:nvPicPr>
          <p:cNvPr id="14" name="图片 13">
            <a:extLst>
              <a:ext uri="{FF2B5EF4-FFF2-40B4-BE49-F238E27FC236}">
                <a16:creationId xmlns:a16="http://schemas.microsoft.com/office/drawing/2014/main" xmlns="" id="{F78DA958-9B1B-47DA-A870-8C0B3A7D8866}"/>
              </a:ext>
            </a:extLst>
          </p:cNvPr>
          <p:cNvPicPr>
            <a:picLocks noChangeAspect="1"/>
          </p:cNvPicPr>
          <p:nvPr/>
        </p:nvPicPr>
        <p:blipFill rotWithShape="1">
          <a:blip r:embed="rId4" cstate="print">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rcRect b="63537"/>
          <a:stretch/>
        </p:blipFill>
        <p:spPr>
          <a:xfrm>
            <a:off x="11184164" y="217733"/>
            <a:ext cx="572339" cy="337210"/>
          </a:xfrm>
          <a:prstGeom prst="rect">
            <a:avLst/>
          </a:prstGeom>
        </p:spPr>
      </p:pic>
      <p:cxnSp>
        <p:nvCxnSpPr>
          <p:cNvPr id="15" name="直接连接符 14">
            <a:extLst>
              <a:ext uri="{FF2B5EF4-FFF2-40B4-BE49-F238E27FC236}">
                <a16:creationId xmlns:a16="http://schemas.microsoft.com/office/drawing/2014/main" xmlns="" id="{93240A06-D526-4907-A163-94ABB41190CC}"/>
              </a:ext>
            </a:extLst>
          </p:cNvPr>
          <p:cNvCxnSpPr/>
          <p:nvPr/>
        </p:nvCxnSpPr>
        <p:spPr>
          <a:xfrm>
            <a:off x="11103244" y="225825"/>
            <a:ext cx="0" cy="2435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8" name="矩形 7">
            <a:extLst>
              <a:ext uri="{FF2B5EF4-FFF2-40B4-BE49-F238E27FC236}">
                <a16:creationId xmlns:a16="http://schemas.microsoft.com/office/drawing/2014/main" xmlns="" id="{74C59758-12AB-44A5-92FA-DB52904027AE}"/>
              </a:ext>
            </a:extLst>
          </p:cNvPr>
          <p:cNvSpPr/>
          <p:nvPr/>
        </p:nvSpPr>
        <p:spPr>
          <a:xfrm>
            <a:off x="704849" y="1406295"/>
            <a:ext cx="10765483" cy="2536400"/>
          </a:xfrm>
          <a:prstGeom prst="rect">
            <a:avLst/>
          </a:prstGeom>
        </p:spPr>
        <p:txBody>
          <a:bodyPr wrap="square">
            <a:spAutoFit/>
          </a:bodyPr>
          <a:lstStyle/>
          <a:p>
            <a:pPr marL="285750" indent="-285750">
              <a:lnSpc>
                <a:spcPct val="150000"/>
              </a:lnSpc>
              <a:buFont typeface="Arial" panose="020B0604020202020204" pitchFamily="34" charset="0"/>
              <a:buChar char="•"/>
            </a:pPr>
            <a:r>
              <a:rPr lang="en-US" altLang="zh-CN" dirty="0" smtClean="0">
                <a:solidFill>
                  <a:prstClr val="white"/>
                </a:solidFill>
                <a:latin typeface="微软雅黑" panose="020B0503020204020204" pitchFamily="34" charset="-122"/>
                <a:ea typeface="微软雅黑" panose="020B0503020204020204" pitchFamily="34" charset="-122"/>
              </a:rPr>
              <a:t>2.6</a:t>
            </a:r>
            <a:r>
              <a:rPr lang="zh-CN" altLang="en-US" dirty="0">
                <a:solidFill>
                  <a:prstClr val="white"/>
                </a:solidFill>
                <a:latin typeface="微软雅黑" panose="020B0503020204020204" pitchFamily="34" charset="-122"/>
                <a:ea typeface="微软雅黑" panose="020B0503020204020204" pitchFamily="34" charset="-122"/>
              </a:rPr>
              <a:t>版</a:t>
            </a:r>
            <a:r>
              <a:rPr lang="zh-CN" altLang="en-US" dirty="0" smtClean="0">
                <a:solidFill>
                  <a:prstClr val="white"/>
                </a:solidFill>
                <a:latin typeface="微软雅黑" panose="020B0503020204020204" pitchFamily="34" charset="-122"/>
                <a:ea typeface="微软雅黑" panose="020B0503020204020204" pitchFamily="34" charset="-122"/>
              </a:rPr>
              <a:t>本加</a:t>
            </a:r>
            <a:r>
              <a:rPr lang="zh-CN" altLang="en-US" dirty="0">
                <a:solidFill>
                  <a:prstClr val="white"/>
                </a:solidFill>
                <a:latin typeface="微软雅黑" panose="020B0503020204020204" pitchFamily="34" charset="-122"/>
                <a:ea typeface="微软雅黑" panose="020B0503020204020204" pitchFamily="34" charset="-122"/>
              </a:rPr>
              <a:t>入</a:t>
            </a:r>
            <a:r>
              <a:rPr lang="en-US" altLang="zh-CN" dirty="0" err="1">
                <a:solidFill>
                  <a:prstClr val="white"/>
                </a:solidFill>
                <a:latin typeface="微软雅黑" panose="020B0503020204020204" pitchFamily="34" charset="-122"/>
                <a:ea typeface="微软雅黑" panose="020B0503020204020204" pitchFamily="34" charset="-122"/>
              </a:rPr>
              <a:t>lua</a:t>
            </a:r>
            <a:r>
              <a:rPr lang="zh-CN" altLang="en-US" dirty="0">
                <a:solidFill>
                  <a:prstClr val="white"/>
                </a:solidFill>
                <a:latin typeface="微软雅黑" panose="020B0503020204020204" pitchFamily="34" charset="-122"/>
                <a:ea typeface="微软雅黑" panose="020B0503020204020204" pitchFamily="34" charset="-122"/>
              </a:rPr>
              <a:t>脚本支持</a:t>
            </a:r>
          </a:p>
          <a:p>
            <a:pPr marL="285750" indent="-285750">
              <a:lnSpc>
                <a:spcPct val="150000"/>
              </a:lnSpc>
              <a:buFont typeface="Arial" panose="020B0604020202020204" pitchFamily="34" charset="0"/>
              <a:buChar char="•"/>
            </a:pPr>
            <a:r>
              <a:rPr lang="en-US" altLang="zh-CN" dirty="0" smtClean="0">
                <a:solidFill>
                  <a:prstClr val="white"/>
                </a:solidFill>
                <a:latin typeface="微软雅黑" panose="020B0503020204020204" pitchFamily="34" charset="-122"/>
                <a:ea typeface="微软雅黑" panose="020B0503020204020204" pitchFamily="34" charset="-122"/>
              </a:rPr>
              <a:t>2.8</a:t>
            </a:r>
            <a:r>
              <a:rPr lang="zh-CN" altLang="en-US" dirty="0">
                <a:solidFill>
                  <a:prstClr val="white"/>
                </a:solidFill>
                <a:latin typeface="微软雅黑" panose="020B0503020204020204" pitchFamily="34" charset="-122"/>
                <a:ea typeface="微软雅黑" panose="020B0503020204020204" pitchFamily="34" charset="-122"/>
              </a:rPr>
              <a:t>版</a:t>
            </a:r>
            <a:r>
              <a:rPr lang="zh-CN" altLang="en-US" dirty="0" smtClean="0">
                <a:solidFill>
                  <a:prstClr val="white"/>
                </a:solidFill>
                <a:latin typeface="微软雅黑" panose="020B0503020204020204" pitchFamily="34" charset="-122"/>
                <a:ea typeface="微软雅黑" panose="020B0503020204020204" pitchFamily="34" charset="-122"/>
              </a:rPr>
              <a:t>本</a:t>
            </a:r>
            <a:r>
              <a:rPr lang="zh-CN" altLang="en-US" dirty="0">
                <a:solidFill>
                  <a:prstClr val="white"/>
                </a:solidFill>
                <a:latin typeface="微软雅黑" panose="020B0503020204020204" pitchFamily="34" charset="-122"/>
                <a:ea typeface="微软雅黑" panose="020B0503020204020204" pitchFamily="34" charset="-122"/>
              </a:rPr>
              <a:t>正</a:t>
            </a:r>
            <a:r>
              <a:rPr lang="zh-CN" altLang="en-US" dirty="0" smtClean="0">
                <a:solidFill>
                  <a:prstClr val="white"/>
                </a:solidFill>
                <a:latin typeface="微软雅黑" panose="020B0503020204020204" pitchFamily="34" charset="-122"/>
                <a:ea typeface="微软雅黑" panose="020B0503020204020204" pitchFamily="34" charset="-122"/>
              </a:rPr>
              <a:t>式推出生产环境可用的哨</a:t>
            </a:r>
            <a:r>
              <a:rPr lang="zh-CN" altLang="en-US" dirty="0">
                <a:solidFill>
                  <a:prstClr val="white"/>
                </a:solidFill>
                <a:latin typeface="微软雅黑" panose="020B0503020204020204" pitchFamily="34" charset="-122"/>
                <a:ea typeface="微软雅黑" panose="020B0503020204020204" pitchFamily="34" charset="-122"/>
              </a:rPr>
              <a:t>兵模式支</a:t>
            </a:r>
            <a:r>
              <a:rPr lang="zh-CN" altLang="en-US" dirty="0" smtClean="0">
                <a:solidFill>
                  <a:prstClr val="white"/>
                </a:solidFill>
                <a:latin typeface="微软雅黑" panose="020B0503020204020204" pitchFamily="34" charset="-122"/>
                <a:ea typeface="微软雅黑" panose="020B0503020204020204" pitchFamily="34" charset="-122"/>
              </a:rPr>
              <a:t>持</a:t>
            </a:r>
            <a:endParaRPr lang="en-US" altLang="zh-CN" dirty="0" smtClean="0">
              <a:solidFill>
                <a:prstClr val="white"/>
              </a:solidFill>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en-US" altLang="zh-CN" dirty="0" smtClean="0">
                <a:solidFill>
                  <a:prstClr val="white"/>
                </a:solidFill>
                <a:latin typeface="微软雅黑" panose="020B0503020204020204" pitchFamily="34" charset="-122"/>
                <a:ea typeface="微软雅黑" panose="020B0503020204020204" pitchFamily="34" charset="-122"/>
              </a:rPr>
              <a:t>3.0</a:t>
            </a:r>
            <a:r>
              <a:rPr lang="zh-CN" altLang="en-US" dirty="0">
                <a:solidFill>
                  <a:prstClr val="white"/>
                </a:solidFill>
                <a:latin typeface="微软雅黑" panose="020B0503020204020204" pitchFamily="34" charset="-122"/>
                <a:ea typeface="微软雅黑" panose="020B0503020204020204" pitchFamily="34" charset="-122"/>
              </a:rPr>
              <a:t>版本加入集群支持</a:t>
            </a:r>
          </a:p>
          <a:p>
            <a:pPr marL="285750" indent="-285750">
              <a:lnSpc>
                <a:spcPct val="150000"/>
              </a:lnSpc>
              <a:buFont typeface="Arial" panose="020B0604020202020204" pitchFamily="34" charset="0"/>
              <a:buChar char="•"/>
            </a:pPr>
            <a:r>
              <a:rPr lang="en-US" altLang="zh-CN" dirty="0" smtClean="0">
                <a:solidFill>
                  <a:prstClr val="white"/>
                </a:solidFill>
                <a:latin typeface="微软雅黑" panose="020B0503020204020204" pitchFamily="34" charset="-122"/>
                <a:ea typeface="微软雅黑" panose="020B0503020204020204" pitchFamily="34" charset="-122"/>
              </a:rPr>
              <a:t>3.2</a:t>
            </a:r>
            <a:r>
              <a:rPr lang="zh-CN" altLang="en-US" dirty="0">
                <a:solidFill>
                  <a:prstClr val="white"/>
                </a:solidFill>
                <a:latin typeface="微软雅黑" panose="020B0503020204020204" pitchFamily="34" charset="-122"/>
                <a:ea typeface="微软雅黑" panose="020B0503020204020204" pitchFamily="34" charset="-122"/>
              </a:rPr>
              <a:t>版本加</a:t>
            </a:r>
            <a:r>
              <a:rPr lang="zh-CN" altLang="en-US" dirty="0" smtClean="0">
                <a:solidFill>
                  <a:prstClr val="white"/>
                </a:solidFill>
                <a:latin typeface="微软雅黑" panose="020B0503020204020204" pitchFamily="34" charset="-122"/>
                <a:ea typeface="微软雅黑" panose="020B0503020204020204" pitchFamily="34" charset="-122"/>
              </a:rPr>
              <a:t>入</a:t>
            </a:r>
            <a:r>
              <a:rPr lang="en-US" altLang="zh-CN" dirty="0" smtClean="0">
                <a:solidFill>
                  <a:prstClr val="white"/>
                </a:solidFill>
                <a:latin typeface="微软雅黑" panose="020B0503020204020204" pitchFamily="34" charset="-122"/>
                <a:ea typeface="微软雅黑" panose="020B0503020204020204" pitchFamily="34" charset="-122"/>
              </a:rPr>
              <a:t>GEO</a:t>
            </a:r>
            <a:r>
              <a:rPr lang="zh-CN" altLang="en-US" dirty="0" smtClean="0">
                <a:solidFill>
                  <a:prstClr val="white"/>
                </a:solidFill>
                <a:latin typeface="微软雅黑" panose="020B0503020204020204" pitchFamily="34" charset="-122"/>
                <a:ea typeface="微软雅黑" panose="020B0503020204020204" pitchFamily="34" charset="-122"/>
              </a:rPr>
              <a:t>模块；增强</a:t>
            </a:r>
            <a:r>
              <a:rPr lang="en-US" altLang="zh-CN" dirty="0" err="1" smtClean="0">
                <a:solidFill>
                  <a:prstClr val="white"/>
                </a:solidFill>
                <a:latin typeface="微软雅黑" panose="020B0503020204020204" pitchFamily="34" charset="-122"/>
                <a:ea typeface="微软雅黑" panose="020B0503020204020204" pitchFamily="34" charset="-122"/>
              </a:rPr>
              <a:t>Lua</a:t>
            </a:r>
            <a:r>
              <a:rPr lang="zh-CN" altLang="en-US" dirty="0" smtClean="0">
                <a:solidFill>
                  <a:prstClr val="white"/>
                </a:solidFill>
                <a:latin typeface="微软雅黑" panose="020B0503020204020204" pitchFamily="34" charset="-122"/>
                <a:ea typeface="微软雅黑" panose="020B0503020204020204" pitchFamily="34" charset="-122"/>
              </a:rPr>
              <a:t>脚本功能；添加</a:t>
            </a:r>
            <a:r>
              <a:rPr lang="en-US" altLang="zh-CN" dirty="0" err="1" smtClean="0">
                <a:solidFill>
                  <a:prstClr val="white"/>
                </a:solidFill>
                <a:latin typeface="微软雅黑" panose="020B0503020204020204" pitchFamily="34" charset="-122"/>
                <a:ea typeface="微软雅黑" panose="020B0503020204020204" pitchFamily="34" charset="-122"/>
              </a:rPr>
              <a:t>Lua</a:t>
            </a:r>
            <a:r>
              <a:rPr lang="en-US" altLang="zh-CN" dirty="0" smtClean="0">
                <a:solidFill>
                  <a:prstClr val="white"/>
                </a:solidFill>
                <a:latin typeface="微软雅黑" panose="020B0503020204020204" pitchFamily="34" charset="-122"/>
                <a:ea typeface="微软雅黑" panose="020B0503020204020204" pitchFamily="34" charset="-122"/>
              </a:rPr>
              <a:t> Debugger</a:t>
            </a:r>
            <a:endParaRPr lang="zh-CN" altLang="en-US" dirty="0">
              <a:solidFill>
                <a:prstClr val="white"/>
              </a:solidFill>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en-US" altLang="zh-CN" dirty="0" smtClean="0">
                <a:solidFill>
                  <a:prstClr val="white"/>
                </a:solidFill>
                <a:latin typeface="微软雅黑" panose="020B0503020204020204" pitchFamily="34" charset="-122"/>
                <a:ea typeface="微软雅黑" panose="020B0503020204020204" pitchFamily="34" charset="-122"/>
              </a:rPr>
              <a:t>4.0</a:t>
            </a:r>
            <a:r>
              <a:rPr lang="zh-CN" altLang="en-US" dirty="0">
                <a:solidFill>
                  <a:prstClr val="white"/>
                </a:solidFill>
                <a:latin typeface="微软雅黑" panose="020B0503020204020204" pitchFamily="34" charset="-122"/>
                <a:ea typeface="微软雅黑" panose="020B0503020204020204" pitchFamily="34" charset="-122"/>
              </a:rPr>
              <a:t>版本加入</a:t>
            </a:r>
            <a:r>
              <a:rPr lang="en-US" altLang="zh-CN" dirty="0" err="1">
                <a:solidFill>
                  <a:prstClr val="white"/>
                </a:solidFill>
                <a:latin typeface="微软雅黑" panose="020B0503020204020204" pitchFamily="34" charset="-122"/>
                <a:ea typeface="微软雅黑" panose="020B0503020204020204" pitchFamily="34" charset="-122"/>
              </a:rPr>
              <a:t>redis</a:t>
            </a:r>
            <a:r>
              <a:rPr lang="en-US" altLang="zh-CN" dirty="0">
                <a:solidFill>
                  <a:prstClr val="white"/>
                </a:solidFill>
                <a:latin typeface="微软雅黑" panose="020B0503020204020204" pitchFamily="34" charset="-122"/>
                <a:ea typeface="微软雅黑" panose="020B0503020204020204" pitchFamily="34" charset="-122"/>
              </a:rPr>
              <a:t>-cell</a:t>
            </a:r>
            <a:r>
              <a:rPr lang="zh-CN" altLang="en-US" dirty="0">
                <a:solidFill>
                  <a:prstClr val="white"/>
                </a:solidFill>
                <a:latin typeface="微软雅黑" panose="020B0503020204020204" pitchFamily="34" charset="-122"/>
                <a:ea typeface="微软雅黑" panose="020B0503020204020204" pitchFamily="34" charset="-122"/>
              </a:rPr>
              <a:t>模块，加入布隆过滤器</a:t>
            </a:r>
          </a:p>
          <a:p>
            <a:pPr marL="285750" indent="-285750">
              <a:lnSpc>
                <a:spcPct val="150000"/>
              </a:lnSpc>
              <a:buFont typeface="Arial" panose="020B0604020202020204" pitchFamily="34" charset="0"/>
              <a:buChar char="•"/>
            </a:pPr>
            <a:r>
              <a:rPr lang="en-US" altLang="zh-CN" dirty="0" smtClean="0">
                <a:solidFill>
                  <a:prstClr val="white"/>
                </a:solidFill>
                <a:latin typeface="微软雅黑" panose="020B0503020204020204" pitchFamily="34" charset="-122"/>
                <a:ea typeface="微软雅黑" panose="020B0503020204020204" pitchFamily="34" charset="-122"/>
              </a:rPr>
              <a:t>5.0</a:t>
            </a:r>
            <a:r>
              <a:rPr lang="zh-CN" altLang="en-US" dirty="0">
                <a:solidFill>
                  <a:prstClr val="white"/>
                </a:solidFill>
                <a:latin typeface="微软雅黑" panose="020B0503020204020204" pitchFamily="34" charset="-122"/>
                <a:ea typeface="微软雅黑" panose="020B0503020204020204" pitchFamily="34" charset="-122"/>
              </a:rPr>
              <a:t>版本加入</a:t>
            </a:r>
            <a:r>
              <a:rPr lang="en-US" altLang="zh-CN" dirty="0">
                <a:solidFill>
                  <a:prstClr val="white"/>
                </a:solidFill>
                <a:latin typeface="微软雅黑" panose="020B0503020204020204" pitchFamily="34" charset="-122"/>
                <a:ea typeface="微软雅黑" panose="020B0503020204020204" pitchFamily="34" charset="-122"/>
              </a:rPr>
              <a:t>Stream</a:t>
            </a:r>
            <a:endParaRPr lang="zh-CN" altLang="en-US" dirty="0">
              <a:solidFill>
                <a:prstClr val="white"/>
              </a:solidFill>
              <a:latin typeface="微软雅黑" panose="020B0503020204020204" pitchFamily="34" charset="-122"/>
              <a:ea typeface="微软雅黑" panose="020B0503020204020204" pitchFamily="34" charset="-122"/>
            </a:endParaRPr>
          </a:p>
        </p:txBody>
      </p:sp>
      <p:sp>
        <p:nvSpPr>
          <p:cNvPr id="12" name="TextBox 9"/>
          <p:cNvSpPr txBox="1"/>
          <p:nvPr/>
        </p:nvSpPr>
        <p:spPr>
          <a:xfrm>
            <a:off x="704850" y="702339"/>
            <a:ext cx="8667750" cy="584775"/>
          </a:xfrm>
          <a:prstGeom prst="rect">
            <a:avLst/>
          </a:prstGeom>
          <a:noFill/>
        </p:spPr>
        <p:txBody>
          <a:bodyPr wrap="square" rtlCol="0">
            <a:spAutoFit/>
          </a:bodyPr>
          <a:lstStyle/>
          <a:p>
            <a:pPr>
              <a:defRPr/>
            </a:pPr>
            <a:r>
              <a:rPr lang="en-US" altLang="zh-CN" sz="32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1.2</a:t>
            </a:r>
            <a:r>
              <a:rPr lang="zh-CN" altLang="en-US" sz="32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a:t>
            </a:r>
            <a:r>
              <a:rPr lang="en-US" altLang="zh-CN" sz="3200" b="1" dirty="0" err="1">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redis</a:t>
            </a:r>
            <a:r>
              <a:rPr lang="en-US" altLang="zh-CN" sz="32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 </a:t>
            </a:r>
            <a:r>
              <a:rPr lang="zh-CN" altLang="en-US" sz="32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重要版本及重要新特性介绍</a:t>
            </a:r>
          </a:p>
        </p:txBody>
      </p:sp>
    </p:spTree>
    <p:extLst>
      <p:ext uri="{BB962C8B-B14F-4D97-AF65-F5344CB8AC3E}">
        <p14:creationId xmlns:p14="http://schemas.microsoft.com/office/powerpoint/2010/main" val="448860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0F23"/>
        </a:solidFill>
        <a:effectLst/>
      </p:bgPr>
    </p:bg>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xmlns="" id="{CBDC52CD-1D62-48AF-A9DF-9F18AEA2B1F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801385" y="-114300"/>
            <a:ext cx="1301859" cy="920356"/>
          </a:xfrm>
          <a:prstGeom prst="rect">
            <a:avLst/>
          </a:prstGeom>
        </p:spPr>
      </p:pic>
      <p:pic>
        <p:nvPicPr>
          <p:cNvPr id="14" name="图片 13">
            <a:extLst>
              <a:ext uri="{FF2B5EF4-FFF2-40B4-BE49-F238E27FC236}">
                <a16:creationId xmlns:a16="http://schemas.microsoft.com/office/drawing/2014/main" xmlns="" id="{F78DA958-9B1B-47DA-A870-8C0B3A7D8866}"/>
              </a:ext>
            </a:extLst>
          </p:cNvPr>
          <p:cNvPicPr>
            <a:picLocks noChangeAspect="1"/>
          </p:cNvPicPr>
          <p:nvPr/>
        </p:nvPicPr>
        <p:blipFill rotWithShape="1">
          <a:blip r:embed="rId4" cstate="print">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rcRect b="63537"/>
          <a:stretch/>
        </p:blipFill>
        <p:spPr>
          <a:xfrm>
            <a:off x="11184164" y="217733"/>
            <a:ext cx="572339" cy="337210"/>
          </a:xfrm>
          <a:prstGeom prst="rect">
            <a:avLst/>
          </a:prstGeom>
        </p:spPr>
      </p:pic>
      <p:cxnSp>
        <p:nvCxnSpPr>
          <p:cNvPr id="15" name="直接连接符 14">
            <a:extLst>
              <a:ext uri="{FF2B5EF4-FFF2-40B4-BE49-F238E27FC236}">
                <a16:creationId xmlns:a16="http://schemas.microsoft.com/office/drawing/2014/main" xmlns="" id="{93240A06-D526-4907-A163-94ABB41190CC}"/>
              </a:ext>
            </a:extLst>
          </p:cNvPr>
          <p:cNvCxnSpPr/>
          <p:nvPr/>
        </p:nvCxnSpPr>
        <p:spPr>
          <a:xfrm>
            <a:off x="11103244" y="225825"/>
            <a:ext cx="0" cy="2435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xmlns="" id="{74C59758-12AB-44A5-92FA-DB52904027AE}"/>
              </a:ext>
            </a:extLst>
          </p:cNvPr>
          <p:cNvSpPr/>
          <p:nvPr/>
        </p:nvSpPr>
        <p:spPr>
          <a:xfrm>
            <a:off x="802332" y="1287114"/>
            <a:ext cx="10765483" cy="2951898"/>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altLang="zh-CN" dirty="0" smtClean="0">
                <a:solidFill>
                  <a:prstClr val="white"/>
                </a:solidFill>
                <a:latin typeface="微软雅黑" panose="020B0503020204020204" pitchFamily="34" charset="-122"/>
                <a:ea typeface="微软雅黑" panose="020B0503020204020204" pitchFamily="34" charset="-122"/>
              </a:rPr>
              <a:t>PART 02 </a:t>
            </a:r>
            <a:r>
              <a:rPr lang="zh-CN" altLang="en-US" dirty="0" smtClean="0">
                <a:solidFill>
                  <a:prstClr val="white"/>
                </a:solidFill>
                <a:latin typeface="微软雅黑" panose="020B0503020204020204" pitchFamily="34" charset="-122"/>
                <a:ea typeface="微软雅黑" panose="020B0503020204020204" pitchFamily="34" charset="-122"/>
              </a:rPr>
              <a:t>介绍的</a:t>
            </a:r>
            <a:r>
              <a:rPr lang="en-US" altLang="zh-CN" dirty="0" smtClean="0">
                <a:solidFill>
                  <a:prstClr val="white"/>
                </a:solidFill>
                <a:latin typeface="微软雅黑" panose="020B0503020204020204" pitchFamily="34" charset="-122"/>
                <a:ea typeface="微软雅黑" panose="020B0503020204020204" pitchFamily="34" charset="-122"/>
              </a:rPr>
              <a:t>list</a:t>
            </a:r>
            <a:r>
              <a:rPr lang="zh-CN" altLang="en-US" dirty="0" smtClean="0">
                <a:solidFill>
                  <a:prstClr val="white"/>
                </a:solidFill>
                <a:latin typeface="微软雅黑" panose="020B0503020204020204" pitchFamily="34" charset="-122"/>
                <a:ea typeface="微软雅黑" panose="020B0503020204020204" pitchFamily="34" charset="-122"/>
              </a:rPr>
              <a:t>、</a:t>
            </a:r>
            <a:r>
              <a:rPr lang="en-US" altLang="zh-CN" dirty="0" smtClean="0">
                <a:solidFill>
                  <a:prstClr val="white"/>
                </a:solidFill>
                <a:latin typeface="微软雅黑" panose="020B0503020204020204" pitchFamily="34" charset="-122"/>
                <a:ea typeface="微软雅黑" panose="020B0503020204020204" pitchFamily="34" charset="-122"/>
              </a:rPr>
              <a:t>set</a:t>
            </a:r>
            <a:r>
              <a:rPr lang="zh-CN" altLang="en-US" dirty="0" smtClean="0">
                <a:solidFill>
                  <a:prstClr val="white"/>
                </a:solidFill>
                <a:latin typeface="微软雅黑" panose="020B0503020204020204" pitchFamily="34" charset="-122"/>
                <a:ea typeface="微软雅黑" panose="020B0503020204020204" pitchFamily="34" charset="-122"/>
              </a:rPr>
              <a:t>、</a:t>
            </a:r>
            <a:r>
              <a:rPr lang="en-US" altLang="zh-CN" dirty="0" smtClean="0">
                <a:solidFill>
                  <a:prstClr val="white"/>
                </a:solidFill>
                <a:latin typeface="微软雅黑" panose="020B0503020204020204" pitchFamily="34" charset="-122"/>
                <a:ea typeface="微软雅黑" panose="020B0503020204020204" pitchFamily="34" charset="-122"/>
              </a:rPr>
              <a:t>hash</a:t>
            </a:r>
            <a:r>
              <a:rPr lang="zh-CN" altLang="en-US" dirty="0" smtClean="0">
                <a:solidFill>
                  <a:prstClr val="white"/>
                </a:solidFill>
                <a:latin typeface="微软雅黑" panose="020B0503020204020204" pitchFamily="34" charset="-122"/>
                <a:ea typeface="微软雅黑" panose="020B0503020204020204" pitchFamily="34" charset="-122"/>
              </a:rPr>
              <a:t>、</a:t>
            </a:r>
            <a:r>
              <a:rPr lang="en-US" altLang="zh-CN" dirty="0" err="1" smtClean="0">
                <a:solidFill>
                  <a:prstClr val="white"/>
                </a:solidFill>
                <a:latin typeface="微软雅黑" panose="020B0503020204020204" pitchFamily="34" charset="-122"/>
                <a:ea typeface="微软雅黑" panose="020B0503020204020204" pitchFamily="34" charset="-122"/>
              </a:rPr>
              <a:t>zset</a:t>
            </a:r>
            <a:r>
              <a:rPr lang="zh-CN" altLang="en-US" dirty="0" smtClean="0">
                <a:solidFill>
                  <a:prstClr val="white"/>
                </a:solidFill>
                <a:latin typeface="微软雅黑" panose="020B0503020204020204" pitchFamily="34" charset="-122"/>
                <a:ea typeface="微软雅黑" panose="020B0503020204020204" pitchFamily="34" charset="-122"/>
              </a:rPr>
              <a:t>这四种数据结构，共享下面的通用规则</a:t>
            </a:r>
            <a:endParaRPr lang="en-US" altLang="zh-CN" dirty="0" smtClean="0">
              <a:solidFill>
                <a:prstClr val="white"/>
              </a:solidFill>
              <a:latin typeface="微软雅黑" panose="020B0503020204020204" pitchFamily="34" charset="-122"/>
              <a:ea typeface="微软雅黑" panose="020B0503020204020204" pitchFamily="34" charset="-122"/>
            </a:endParaRP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altLang="zh-CN"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rPr>
              <a:t>1</a:t>
            </a:r>
            <a:r>
              <a:rPr kumimoji="0" lang="zh-CN" altLang="en-US"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rPr>
              <a:t>、</a:t>
            </a:r>
            <a:r>
              <a:rPr kumimoji="0" lang="en-US" altLang="zh-CN"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rPr>
              <a:t>create if not exists</a:t>
            </a:r>
            <a:r>
              <a:rPr kumimoji="0" lang="en-US" altLang="zh-CN" b="0" i="0" u="none" strike="noStrike" kern="1200" cap="none" spc="0" normalizeH="0" noProof="0" dirty="0" smtClean="0">
                <a:ln>
                  <a:noFill/>
                </a:ln>
                <a:solidFill>
                  <a:prstClr val="white"/>
                </a:solidFill>
                <a:effectLst/>
                <a:uLnTx/>
                <a:uFillTx/>
                <a:latin typeface="微软雅黑" panose="020B0503020204020204" pitchFamily="34" charset="-122"/>
                <a:ea typeface="微软雅黑" panose="020B0503020204020204" pitchFamily="34" charset="-122"/>
              </a:rPr>
              <a:t> : </a:t>
            </a:r>
            <a:r>
              <a:rPr kumimoji="0" lang="zh-CN" altLang="en-US" b="0" i="0" u="none" strike="noStrike" kern="1200" cap="none" spc="0" normalizeH="0" noProof="0" dirty="0" smtClean="0">
                <a:ln>
                  <a:noFill/>
                </a:ln>
                <a:solidFill>
                  <a:prstClr val="white"/>
                </a:solidFill>
                <a:effectLst/>
                <a:uLnTx/>
                <a:uFillTx/>
                <a:latin typeface="微软雅黑" panose="020B0503020204020204" pitchFamily="34" charset="-122"/>
                <a:ea typeface="微软雅黑" panose="020B0503020204020204" pitchFamily="34" charset="-122"/>
              </a:rPr>
              <a:t>如果容器不存在，就创建一个，再进行操作，</a:t>
            </a:r>
            <a:r>
              <a:rPr lang="zh-CN" altLang="en-US" dirty="0">
                <a:solidFill>
                  <a:prstClr val="white"/>
                </a:solidFill>
                <a:latin typeface="微软雅黑" panose="020B0503020204020204" pitchFamily="34" charset="-122"/>
                <a:ea typeface="微软雅黑" panose="020B0503020204020204" pitchFamily="34" charset="-122"/>
              </a:rPr>
              <a:t>比</a:t>
            </a:r>
            <a:r>
              <a:rPr lang="zh-CN" altLang="en-US" dirty="0" smtClean="0">
                <a:solidFill>
                  <a:prstClr val="white"/>
                </a:solidFill>
                <a:latin typeface="微软雅黑" panose="020B0503020204020204" pitchFamily="34" charset="-122"/>
                <a:ea typeface="微软雅黑" panose="020B0503020204020204" pitchFamily="34" charset="-122"/>
              </a:rPr>
              <a:t>如</a:t>
            </a:r>
            <a:r>
              <a:rPr lang="en-US" altLang="zh-CN" dirty="0" err="1" smtClean="0">
                <a:solidFill>
                  <a:prstClr val="white"/>
                </a:solidFill>
                <a:latin typeface="微软雅黑" panose="020B0503020204020204" pitchFamily="34" charset="-122"/>
                <a:ea typeface="微软雅黑" panose="020B0503020204020204" pitchFamily="34" charset="-122"/>
              </a:rPr>
              <a:t>rpush</a:t>
            </a:r>
            <a:r>
              <a:rPr lang="zh-CN" altLang="en-US" dirty="0" smtClean="0">
                <a:solidFill>
                  <a:prstClr val="white"/>
                </a:solidFill>
                <a:latin typeface="微软雅黑" panose="020B0503020204020204" pitchFamily="34" charset="-122"/>
                <a:ea typeface="微软雅黑" panose="020B0503020204020204" pitchFamily="34" charset="-122"/>
              </a:rPr>
              <a:t>操作刚开始没有列表，</a:t>
            </a:r>
            <a:r>
              <a:rPr lang="en-US" altLang="zh-CN" dirty="0" err="1" smtClean="0">
                <a:solidFill>
                  <a:prstClr val="white"/>
                </a:solidFill>
                <a:latin typeface="微软雅黑" panose="020B0503020204020204" pitchFamily="34" charset="-122"/>
                <a:ea typeface="微软雅黑" panose="020B0503020204020204" pitchFamily="34" charset="-122"/>
              </a:rPr>
              <a:t>redis</a:t>
            </a:r>
            <a:r>
              <a:rPr lang="zh-CN" altLang="en-US" dirty="0" smtClean="0">
                <a:solidFill>
                  <a:prstClr val="white"/>
                </a:solidFill>
                <a:latin typeface="微软雅黑" panose="020B0503020204020204" pitchFamily="34" charset="-122"/>
                <a:ea typeface="微软雅黑" panose="020B0503020204020204" pitchFamily="34" charset="-122"/>
              </a:rPr>
              <a:t>会自动创建一个，然后再</a:t>
            </a:r>
            <a:r>
              <a:rPr lang="en-US" altLang="zh-CN" dirty="0" smtClean="0">
                <a:solidFill>
                  <a:prstClr val="white"/>
                </a:solidFill>
                <a:latin typeface="微软雅黑" panose="020B0503020204020204" pitchFamily="34" charset="-122"/>
                <a:ea typeface="微软雅黑" panose="020B0503020204020204" pitchFamily="34" charset="-122"/>
              </a:rPr>
              <a:t>push</a:t>
            </a:r>
            <a:r>
              <a:rPr lang="zh-CN" altLang="en-US" dirty="0" smtClean="0">
                <a:solidFill>
                  <a:prstClr val="white"/>
                </a:solidFill>
                <a:latin typeface="微软雅黑" panose="020B0503020204020204" pitchFamily="34" charset="-122"/>
                <a:ea typeface="微软雅黑" panose="020B0503020204020204" pitchFamily="34" charset="-122"/>
              </a:rPr>
              <a:t>进新元素</a:t>
            </a:r>
            <a:endParaRPr lang="en-US" altLang="zh-CN" dirty="0" smtClean="0">
              <a:solidFill>
                <a:prstClr val="white"/>
              </a:solidFill>
              <a:latin typeface="微软雅黑" panose="020B0503020204020204" pitchFamily="34" charset="-122"/>
              <a:ea typeface="微软雅黑" panose="020B0503020204020204" pitchFamily="34" charset="-122"/>
            </a:endParaRP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altLang="zh-CN"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rPr>
              <a:t>2</a:t>
            </a:r>
            <a:r>
              <a:rPr kumimoji="0" lang="zh-CN" altLang="en-US"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rPr>
              <a:t>、</a:t>
            </a:r>
            <a:r>
              <a:rPr kumimoji="0" lang="en-US" altLang="zh-CN"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rPr>
              <a:t>drop if no</a:t>
            </a:r>
            <a:r>
              <a:rPr kumimoji="0" lang="en-US" altLang="zh-CN" b="0" i="0" u="none" strike="noStrike" kern="1200" cap="none" spc="0" normalizeH="0" noProof="0" dirty="0" smtClean="0">
                <a:ln>
                  <a:noFill/>
                </a:ln>
                <a:solidFill>
                  <a:prstClr val="white"/>
                </a:solidFill>
                <a:effectLst/>
                <a:uLnTx/>
                <a:uFillTx/>
                <a:latin typeface="微软雅黑" panose="020B0503020204020204" pitchFamily="34" charset="-122"/>
                <a:ea typeface="微软雅黑" panose="020B0503020204020204" pitchFamily="34" charset="-122"/>
              </a:rPr>
              <a:t> elements : </a:t>
            </a:r>
            <a:r>
              <a:rPr kumimoji="0" lang="zh-CN" altLang="en-US" b="0" i="0" u="none" strike="noStrike" kern="1200" cap="none" spc="0" normalizeH="0" noProof="0" dirty="0" smtClean="0">
                <a:ln>
                  <a:noFill/>
                </a:ln>
                <a:solidFill>
                  <a:prstClr val="white"/>
                </a:solidFill>
                <a:effectLst/>
                <a:uLnTx/>
                <a:uFillTx/>
                <a:latin typeface="微软雅黑" panose="020B0503020204020204" pitchFamily="34" charset="-122"/>
                <a:ea typeface="微软雅黑" panose="020B0503020204020204" pitchFamily="34" charset="-122"/>
              </a:rPr>
              <a:t>如果容器里的元素没有了，那么改容器会删除，并释放内存。</a:t>
            </a:r>
            <a:endParaRPr kumimoji="0" lang="en-US" altLang="zh-CN" b="0" i="0" u="none" strike="noStrike" kern="1200" cap="none" spc="0" normalizeH="0" noProof="0" dirty="0" smtClean="0">
              <a:ln>
                <a:noFill/>
              </a:ln>
              <a:solidFill>
                <a:prstClr val="white"/>
              </a:solidFill>
              <a:effectLst/>
              <a:uLnTx/>
              <a:uFillTx/>
              <a:latin typeface="微软雅黑" panose="020B0503020204020204" pitchFamily="34" charset="-122"/>
              <a:ea typeface="微软雅黑" panose="020B0503020204020204" pitchFamily="34" charset="-122"/>
            </a:endParaRP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US" altLang="zh-CN" baseline="0" dirty="0" smtClean="0">
                <a:solidFill>
                  <a:prstClr val="white"/>
                </a:solidFill>
                <a:latin typeface="微软雅黑" panose="020B0503020204020204" pitchFamily="34" charset="-122"/>
                <a:ea typeface="微软雅黑" panose="020B0503020204020204" pitchFamily="34" charset="-122"/>
              </a:rPr>
              <a:t>3</a:t>
            </a:r>
            <a:r>
              <a:rPr lang="zh-CN" altLang="en-US" baseline="0" dirty="0" smtClean="0">
                <a:solidFill>
                  <a:prstClr val="white"/>
                </a:solidFill>
                <a:latin typeface="微软雅黑" panose="020B0503020204020204" pitchFamily="34" charset="-122"/>
                <a:ea typeface="微软雅黑" panose="020B0503020204020204" pitchFamily="34" charset="-122"/>
              </a:rPr>
              <a:t>、容器的元素如果可以用下标操作，下标都是从</a:t>
            </a:r>
            <a:r>
              <a:rPr lang="en-US" altLang="zh-CN" baseline="0" dirty="0" smtClean="0">
                <a:solidFill>
                  <a:prstClr val="white"/>
                </a:solidFill>
                <a:latin typeface="微软雅黑" panose="020B0503020204020204" pitchFamily="34" charset="-122"/>
                <a:ea typeface="微软雅黑" panose="020B0503020204020204" pitchFamily="34" charset="-122"/>
              </a:rPr>
              <a:t>0</a:t>
            </a:r>
            <a:r>
              <a:rPr lang="zh-CN" altLang="en-US" baseline="0" dirty="0" smtClean="0">
                <a:solidFill>
                  <a:prstClr val="white"/>
                </a:solidFill>
                <a:latin typeface="微软雅黑" panose="020B0503020204020204" pitchFamily="34" charset="-122"/>
                <a:ea typeface="微软雅黑" panose="020B0503020204020204" pitchFamily="34" charset="-122"/>
              </a:rPr>
              <a:t>开始，表示第一个元素。也可以从末尾开始，</a:t>
            </a:r>
            <a:r>
              <a:rPr lang="en-US" altLang="zh-CN" baseline="0" dirty="0" smtClean="0">
                <a:solidFill>
                  <a:prstClr val="white"/>
                </a:solidFill>
                <a:latin typeface="微软雅黑" panose="020B0503020204020204" pitchFamily="34" charset="-122"/>
                <a:ea typeface="微软雅黑" panose="020B0503020204020204" pitchFamily="34" charset="-122"/>
              </a:rPr>
              <a:t>-1</a:t>
            </a:r>
            <a:r>
              <a:rPr lang="zh-CN" altLang="en-US" baseline="0" dirty="0" smtClean="0">
                <a:solidFill>
                  <a:prstClr val="white"/>
                </a:solidFill>
                <a:latin typeface="微软雅黑" panose="020B0503020204020204" pitchFamily="34" charset="-122"/>
                <a:ea typeface="微软雅黑" panose="020B0503020204020204" pitchFamily="34" charset="-122"/>
              </a:rPr>
              <a:t>表示最后一个元素，</a:t>
            </a:r>
            <a:r>
              <a:rPr lang="en-US" altLang="zh-CN" baseline="0" dirty="0" smtClean="0">
                <a:solidFill>
                  <a:prstClr val="white"/>
                </a:solidFill>
                <a:latin typeface="微软雅黑" panose="020B0503020204020204" pitchFamily="34" charset="-122"/>
                <a:ea typeface="微软雅黑" panose="020B0503020204020204" pitchFamily="34" charset="-122"/>
              </a:rPr>
              <a:t>-2</a:t>
            </a:r>
            <a:r>
              <a:rPr lang="zh-CN" altLang="en-US" baseline="0" dirty="0" smtClean="0">
                <a:solidFill>
                  <a:prstClr val="white"/>
                </a:solidFill>
                <a:latin typeface="微软雅黑" panose="020B0503020204020204" pitchFamily="34" charset="-122"/>
                <a:ea typeface="微软雅黑" panose="020B0503020204020204" pitchFamily="34" charset="-122"/>
              </a:rPr>
              <a:t>表示倒数第二个元素。</a:t>
            </a:r>
            <a:endParaRPr lang="en-US" altLang="zh-CN" baseline="0" dirty="0" smtClean="0">
              <a:solidFill>
                <a:prstClr val="white"/>
              </a:solidFill>
              <a:latin typeface="微软雅黑" panose="020B0503020204020204" pitchFamily="34" charset="-122"/>
              <a:ea typeface="微软雅黑" panose="020B0503020204020204" pitchFamily="34" charset="-122"/>
            </a:endParaRP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altLang="zh-CN" b="0" i="0" u="none" strike="noStrike" kern="1200" cap="none" spc="0" normalizeH="0" noProof="0" dirty="0" smtClean="0">
                <a:ln>
                  <a:noFill/>
                </a:ln>
                <a:solidFill>
                  <a:prstClr val="white"/>
                </a:solidFill>
                <a:effectLst/>
                <a:uLnTx/>
                <a:uFillTx/>
                <a:latin typeface="微软雅黑" panose="020B0503020204020204" pitchFamily="34" charset="-122"/>
                <a:ea typeface="微软雅黑" panose="020B0503020204020204" pitchFamily="34" charset="-122"/>
              </a:rPr>
              <a:t>4</a:t>
            </a:r>
            <a:r>
              <a:rPr kumimoji="0" lang="zh-CN" altLang="en-US" b="0" i="0" u="none" strike="noStrike" kern="1200" cap="none" spc="0" normalizeH="0" noProof="0" dirty="0" smtClean="0">
                <a:ln>
                  <a:noFill/>
                </a:ln>
                <a:solidFill>
                  <a:prstClr val="white"/>
                </a:solidFill>
                <a:effectLst/>
                <a:uLnTx/>
                <a:uFillTx/>
                <a:latin typeface="微软雅黑" panose="020B0503020204020204" pitchFamily="34" charset="-122"/>
                <a:ea typeface="微软雅黑" panose="020B0503020204020204" pitchFamily="34" charset="-122"/>
              </a:rPr>
              <a:t>、如果需要运行教程中所有的命令，需要自行搭建</a:t>
            </a:r>
            <a:r>
              <a:rPr kumimoji="0" lang="en-US" altLang="zh-CN" b="0" i="0" u="none" strike="noStrike" kern="1200" cap="none" spc="0" normalizeH="0" noProof="0" dirty="0" smtClean="0">
                <a:ln>
                  <a:noFill/>
                </a:ln>
                <a:solidFill>
                  <a:prstClr val="white"/>
                </a:solidFill>
                <a:effectLst/>
                <a:uLnTx/>
                <a:uFillTx/>
                <a:latin typeface="微软雅黑" panose="020B0503020204020204" pitchFamily="34" charset="-122"/>
                <a:ea typeface="微软雅黑" panose="020B0503020204020204" pitchFamily="34" charset="-122"/>
              </a:rPr>
              <a:t>redis5.0</a:t>
            </a:r>
            <a:r>
              <a:rPr kumimoji="0" lang="zh-CN" altLang="en-US" b="0" i="0" u="none" strike="noStrike" kern="1200" cap="none" spc="0" normalizeH="0" noProof="0" dirty="0" smtClean="0">
                <a:ln>
                  <a:noFill/>
                </a:ln>
                <a:solidFill>
                  <a:prstClr val="white"/>
                </a:solidFill>
                <a:effectLst/>
                <a:uLnTx/>
                <a:uFillTx/>
                <a:latin typeface="微软雅黑" panose="020B0503020204020204" pitchFamily="34" charset="-122"/>
                <a:ea typeface="微软雅黑" panose="020B0503020204020204" pitchFamily="34" charset="-122"/>
              </a:rPr>
              <a:t>或更高版本</a:t>
            </a:r>
            <a:r>
              <a:rPr lang="zh-CN" altLang="en-US" dirty="0" smtClean="0">
                <a:solidFill>
                  <a:prstClr val="white"/>
                </a:solidFill>
                <a:latin typeface="微软雅黑" panose="020B0503020204020204" pitchFamily="34" charset="-122"/>
                <a:ea typeface="微软雅黑" panose="020B0503020204020204" pitchFamily="34" charset="-122"/>
              </a:rPr>
              <a:t>的环境。</a:t>
            </a:r>
            <a:endParaRPr kumimoji="0" lang="zh-CN" altLang="en-US"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10" name="TextBox 9"/>
          <p:cNvSpPr txBox="1"/>
          <p:nvPr/>
        </p:nvSpPr>
        <p:spPr>
          <a:xfrm>
            <a:off x="704850" y="605109"/>
            <a:ext cx="4038600" cy="584775"/>
          </a:xfrm>
          <a:prstGeom prst="rect">
            <a:avLst/>
          </a:prstGeom>
          <a:noFill/>
        </p:spPr>
        <p:txBody>
          <a:bodyPr wrap="square" rtlCol="0">
            <a:spAutoFit/>
          </a:bodyPr>
          <a:lstStyle/>
          <a:p>
            <a:pPr marR="0" lvl="0" indent="0" fontAlgn="auto">
              <a:lnSpc>
                <a:spcPct val="100000"/>
              </a:lnSpc>
              <a:spcBef>
                <a:spcPts val="0"/>
              </a:spcBef>
              <a:spcAft>
                <a:spcPts val="0"/>
              </a:spcAft>
              <a:buClrTx/>
              <a:buSzTx/>
              <a:buFontTx/>
              <a:buNone/>
              <a:tabLst/>
              <a:defRPr/>
            </a:pPr>
            <a:r>
              <a:rPr lang="en-US" altLang="zh-CN" sz="32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1.3</a:t>
            </a:r>
            <a:r>
              <a:rPr lang="zh-CN" altLang="en-US" sz="32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、本教程的说明</a:t>
            </a:r>
          </a:p>
        </p:txBody>
      </p:sp>
    </p:spTree>
    <p:extLst>
      <p:ext uri="{BB962C8B-B14F-4D97-AF65-F5344CB8AC3E}">
        <p14:creationId xmlns:p14="http://schemas.microsoft.com/office/powerpoint/2010/main" val="1880621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0F23"/>
        </a:solidFill>
        <a:effectLst/>
      </p:bgPr>
    </p:bg>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xmlns="" id="{62500BA0-5435-4394-A67D-935D06E8473D}"/>
              </a:ext>
            </a:extLst>
          </p:cNvPr>
          <p:cNvPicPr>
            <a:picLocks noChangeAspect="1"/>
          </p:cNvPicPr>
          <p:nvPr/>
        </p:nvPicPr>
        <p:blipFill rotWithShape="1">
          <a:blip r:embed="rId2"/>
          <a:srcRect l="60878"/>
          <a:stretch/>
        </p:blipFill>
        <p:spPr>
          <a:xfrm>
            <a:off x="6096000" y="652085"/>
            <a:ext cx="6269207" cy="5314808"/>
          </a:xfrm>
          <a:prstGeom prst="rect">
            <a:avLst/>
          </a:prstGeom>
          <a:solidFill>
            <a:srgbClr val="0A0F23"/>
          </a:solidFill>
          <a:effectLst>
            <a:softEdge rad="927100"/>
          </a:effectLst>
        </p:spPr>
      </p:pic>
      <p:sp>
        <p:nvSpPr>
          <p:cNvPr id="11" name="文本框 10">
            <a:extLst>
              <a:ext uri="{FF2B5EF4-FFF2-40B4-BE49-F238E27FC236}">
                <a16:creationId xmlns:a16="http://schemas.microsoft.com/office/drawing/2014/main" xmlns="" id="{070AA53B-EE7D-407A-93E5-ACCD74BA7C5C}"/>
              </a:ext>
            </a:extLst>
          </p:cNvPr>
          <p:cNvSpPr txBox="1"/>
          <p:nvPr/>
        </p:nvSpPr>
        <p:spPr>
          <a:xfrm>
            <a:off x="487679" y="2604821"/>
            <a:ext cx="3722371" cy="1200329"/>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72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pitchFamily="2" charset="-122"/>
                <a:cs typeface="+mn-cs"/>
              </a:rPr>
              <a:t>PART 02</a:t>
            </a:r>
            <a:endParaRPr kumimoji="0" lang="zh-CN" altLang="en-US" sz="72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pitchFamily="2" charset="-122"/>
              <a:cs typeface="+mn-cs"/>
            </a:endParaRPr>
          </a:p>
        </p:txBody>
      </p:sp>
      <p:sp>
        <p:nvSpPr>
          <p:cNvPr id="12" name="矩形 11">
            <a:extLst>
              <a:ext uri="{FF2B5EF4-FFF2-40B4-BE49-F238E27FC236}">
                <a16:creationId xmlns:a16="http://schemas.microsoft.com/office/drawing/2014/main" xmlns="" id="{1365D9B2-CE2D-4820-B0DA-C0FD3C575F5F}"/>
              </a:ext>
            </a:extLst>
          </p:cNvPr>
          <p:cNvSpPr/>
          <p:nvPr/>
        </p:nvSpPr>
        <p:spPr>
          <a:xfrm>
            <a:off x="487679" y="3837807"/>
            <a:ext cx="4232366" cy="6362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 </a:t>
            </a:r>
            <a:r>
              <a:rPr lang="en-US" altLang="zh-CN" sz="2000" b="1" dirty="0" err="1" smtClean="0">
                <a:solidFill>
                  <a:prstClr val="black">
                    <a:lumMod val="85000"/>
                    <a:lumOff val="15000"/>
                  </a:prstClr>
                </a:solidFill>
                <a:latin typeface="微软雅黑" panose="020B0503020204020204" pitchFamily="34" charset="-122"/>
                <a:ea typeface="微软雅黑" panose="020B0503020204020204" pitchFamily="34" charset="-122"/>
              </a:rPr>
              <a:t>redis</a:t>
            </a:r>
            <a:r>
              <a:rPr lang="zh-CN" altLang="en-US" sz="2000" b="1" dirty="0" smtClean="0">
                <a:solidFill>
                  <a:prstClr val="black">
                    <a:lumMod val="85000"/>
                    <a:lumOff val="15000"/>
                  </a:prstClr>
                </a:solidFill>
                <a:latin typeface="微软雅黑" panose="020B0503020204020204" pitchFamily="34" charset="-122"/>
                <a:ea typeface="微软雅黑" panose="020B0503020204020204" pitchFamily="34" charset="-122"/>
              </a:rPr>
              <a:t>基本数据类型</a:t>
            </a:r>
            <a:endParaRPr kumimoji="0" lang="zh-CN" altLang="en-US" sz="20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p:txBody>
      </p:sp>
      <p:pic>
        <p:nvPicPr>
          <p:cNvPr id="13" name="图片 12">
            <a:extLst>
              <a:ext uri="{FF2B5EF4-FFF2-40B4-BE49-F238E27FC236}">
                <a16:creationId xmlns:a16="http://schemas.microsoft.com/office/drawing/2014/main" xmlns="" id="{CBDC52CD-1D62-48AF-A9DF-9F18AEA2B1F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801385" y="-114300"/>
            <a:ext cx="1301859" cy="920356"/>
          </a:xfrm>
          <a:prstGeom prst="rect">
            <a:avLst/>
          </a:prstGeom>
        </p:spPr>
      </p:pic>
      <p:pic>
        <p:nvPicPr>
          <p:cNvPr id="14" name="图片 13">
            <a:extLst>
              <a:ext uri="{FF2B5EF4-FFF2-40B4-BE49-F238E27FC236}">
                <a16:creationId xmlns:a16="http://schemas.microsoft.com/office/drawing/2014/main" xmlns="" id="{F78DA958-9B1B-47DA-A870-8C0B3A7D8866}"/>
              </a:ext>
            </a:extLst>
          </p:cNvPr>
          <p:cNvPicPr>
            <a:picLocks noChangeAspect="1"/>
          </p:cNvPicPr>
          <p:nvPr/>
        </p:nvPicPr>
        <p:blipFill rotWithShape="1">
          <a:blip r:embed="rId4" cstate="print">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rcRect b="63537"/>
          <a:stretch/>
        </p:blipFill>
        <p:spPr>
          <a:xfrm>
            <a:off x="11184164" y="217733"/>
            <a:ext cx="572339" cy="337210"/>
          </a:xfrm>
          <a:prstGeom prst="rect">
            <a:avLst/>
          </a:prstGeom>
        </p:spPr>
      </p:pic>
      <p:cxnSp>
        <p:nvCxnSpPr>
          <p:cNvPr id="15" name="直接连接符 14">
            <a:extLst>
              <a:ext uri="{FF2B5EF4-FFF2-40B4-BE49-F238E27FC236}">
                <a16:creationId xmlns:a16="http://schemas.microsoft.com/office/drawing/2014/main" xmlns="" id="{93240A06-D526-4907-A163-94ABB41190CC}"/>
              </a:ext>
            </a:extLst>
          </p:cNvPr>
          <p:cNvCxnSpPr/>
          <p:nvPr/>
        </p:nvCxnSpPr>
        <p:spPr>
          <a:xfrm>
            <a:off x="11103244" y="225825"/>
            <a:ext cx="0" cy="2435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16" name="图片 15">
            <a:extLst>
              <a:ext uri="{FF2B5EF4-FFF2-40B4-BE49-F238E27FC236}">
                <a16:creationId xmlns:a16="http://schemas.microsoft.com/office/drawing/2014/main" xmlns="" id="{9D9CC490-11D4-4019-960D-2E0BA57F3E51}"/>
              </a:ext>
            </a:extLst>
          </p:cNvPr>
          <p:cNvPicPr>
            <a:picLocks noChangeAspect="1"/>
          </p:cNvPicPr>
          <p:nvPr/>
        </p:nvPicPr>
        <p:blipFill rotWithShape="1">
          <a:blip r:embed="rId2"/>
          <a:srcRect l="60878"/>
          <a:stretch/>
        </p:blipFill>
        <p:spPr>
          <a:xfrm>
            <a:off x="-5153300" y="547581"/>
            <a:ext cx="6269207" cy="5314808"/>
          </a:xfrm>
          <a:prstGeom prst="rect">
            <a:avLst/>
          </a:prstGeom>
          <a:solidFill>
            <a:srgbClr val="0A0F23"/>
          </a:solidFill>
          <a:effectLst>
            <a:softEdge rad="927100"/>
          </a:effectLst>
        </p:spPr>
      </p:pic>
      <p:sp>
        <p:nvSpPr>
          <p:cNvPr id="2" name="TextBox 1"/>
          <p:cNvSpPr txBox="1"/>
          <p:nvPr/>
        </p:nvSpPr>
        <p:spPr>
          <a:xfrm>
            <a:off x="1792940" y="5293667"/>
            <a:ext cx="5809131" cy="923330"/>
          </a:xfrm>
          <a:prstGeom prst="rect">
            <a:avLst/>
          </a:prstGeom>
          <a:noFill/>
        </p:spPr>
        <p:txBody>
          <a:bodyPr wrap="square" rtlCol="0">
            <a:spAutoFit/>
          </a:bodyPr>
          <a:lstStyle/>
          <a:p>
            <a:pPr indent="457200" algn="l">
              <a:lnSpc>
                <a:spcPct val="150000"/>
              </a:lnSpc>
            </a:pPr>
            <a:r>
              <a:rPr lang="zh-CN" altLang="en-US" dirty="0" smtClean="0">
                <a:solidFill>
                  <a:schemeClr val="bg1"/>
                </a:solidFill>
                <a:latin typeface="微软雅黑" panose="020B0503020204020204" pitchFamily="34" charset="-122"/>
                <a:ea typeface="微软雅黑" panose="020B0503020204020204" pitchFamily="34" charset="-122"/>
              </a:rPr>
              <a:t>说明：本节</a:t>
            </a:r>
            <a:r>
              <a:rPr lang="zh-CN" altLang="en-US" i="1" dirty="0" smtClean="0">
                <a:solidFill>
                  <a:schemeClr val="bg1"/>
                </a:solidFill>
                <a:latin typeface="微软雅黑" panose="020B0503020204020204" pitchFamily="34" charset="-122"/>
                <a:ea typeface="微软雅黑" panose="020B0503020204020204" pitchFamily="34" charset="-122"/>
              </a:rPr>
              <a:t>演示的</a:t>
            </a:r>
            <a:r>
              <a:rPr lang="en-US" altLang="zh-CN" i="1" dirty="0" err="1" smtClean="0">
                <a:solidFill>
                  <a:schemeClr val="bg1"/>
                </a:solidFill>
                <a:latin typeface="微软雅黑" panose="020B0503020204020204" pitchFamily="34" charset="-122"/>
                <a:ea typeface="微软雅黑" panose="020B0503020204020204" pitchFamily="34" charset="-122"/>
              </a:rPr>
              <a:t>redis</a:t>
            </a:r>
            <a:r>
              <a:rPr lang="zh-CN" altLang="en-US" i="1" dirty="0" smtClean="0">
                <a:solidFill>
                  <a:schemeClr val="bg1"/>
                </a:solidFill>
                <a:latin typeface="微软雅黑" panose="020B0503020204020204" pitchFamily="34" charset="-122"/>
                <a:ea typeface="微软雅黑" panose="020B0503020204020204" pitchFamily="34" charset="-122"/>
              </a:rPr>
              <a:t>命令，基本不会单独列出其语法，机智如你，看示例和注释就该明白了。</a:t>
            </a:r>
          </a:p>
        </p:txBody>
      </p:sp>
    </p:spTree>
    <p:extLst>
      <p:ext uri="{BB962C8B-B14F-4D97-AF65-F5344CB8AC3E}">
        <p14:creationId xmlns:p14="http://schemas.microsoft.com/office/powerpoint/2010/main" val="529984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0F23"/>
        </a:solidFill>
        <a:effectLst/>
      </p:bgPr>
    </p:bg>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xmlns="" id="{CBDC52CD-1D62-48AF-A9DF-9F18AEA2B1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01385" y="-114300"/>
            <a:ext cx="1301859" cy="920356"/>
          </a:xfrm>
          <a:prstGeom prst="rect">
            <a:avLst/>
          </a:prstGeom>
        </p:spPr>
      </p:pic>
      <p:pic>
        <p:nvPicPr>
          <p:cNvPr id="14" name="图片 13">
            <a:extLst>
              <a:ext uri="{FF2B5EF4-FFF2-40B4-BE49-F238E27FC236}">
                <a16:creationId xmlns:a16="http://schemas.microsoft.com/office/drawing/2014/main" xmlns="" id="{F78DA958-9B1B-47DA-A870-8C0B3A7D8866}"/>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b="63537"/>
          <a:stretch/>
        </p:blipFill>
        <p:spPr>
          <a:xfrm>
            <a:off x="11184164" y="217733"/>
            <a:ext cx="572339" cy="337210"/>
          </a:xfrm>
          <a:prstGeom prst="rect">
            <a:avLst/>
          </a:prstGeom>
        </p:spPr>
      </p:pic>
      <p:cxnSp>
        <p:nvCxnSpPr>
          <p:cNvPr id="15" name="直接连接符 14">
            <a:extLst>
              <a:ext uri="{FF2B5EF4-FFF2-40B4-BE49-F238E27FC236}">
                <a16:creationId xmlns:a16="http://schemas.microsoft.com/office/drawing/2014/main" xmlns="" id="{93240A06-D526-4907-A163-94ABB41190CC}"/>
              </a:ext>
            </a:extLst>
          </p:cNvPr>
          <p:cNvCxnSpPr/>
          <p:nvPr/>
        </p:nvCxnSpPr>
        <p:spPr>
          <a:xfrm>
            <a:off x="11103244" y="225825"/>
            <a:ext cx="0" cy="2435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xmlns="" id="{74C59758-12AB-44A5-92FA-DB52904027AE}"/>
              </a:ext>
            </a:extLst>
          </p:cNvPr>
          <p:cNvSpPr/>
          <p:nvPr/>
        </p:nvSpPr>
        <p:spPr>
          <a:xfrm>
            <a:off x="802332" y="2188814"/>
            <a:ext cx="10765483" cy="1338828"/>
          </a:xfrm>
          <a:prstGeom prst="rect">
            <a:avLst/>
          </a:prstGeom>
        </p:spPr>
        <p:txBody>
          <a:bodyPr wrap="square">
            <a:spAutoFit/>
          </a:bodyPr>
          <a:lstStyle/>
          <a:p>
            <a:pPr>
              <a:lnSpc>
                <a:spcPct val="150000"/>
              </a:lnSpc>
              <a:defRPr/>
            </a:pPr>
            <a:r>
              <a:rPr kumimoji="0" lang="zh-CN" altLang="en-US"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rPr>
              <a:t>      字符</a:t>
            </a:r>
            <a:r>
              <a:rPr kumimoji="0" lang="en-US" altLang="zh-CN"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rPr>
              <a:t>string</a:t>
            </a:r>
            <a:r>
              <a:rPr kumimoji="0" lang="zh-CN" altLang="en-US"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rPr>
              <a:t>是</a:t>
            </a:r>
            <a:r>
              <a:rPr kumimoji="0" lang="en-US" altLang="zh-CN" b="0" i="0" u="none" strike="noStrike" kern="1200" cap="none" spc="0" normalizeH="0" baseline="0" noProof="0" dirty="0" err="1" smtClean="0">
                <a:ln>
                  <a:noFill/>
                </a:ln>
                <a:solidFill>
                  <a:prstClr val="white"/>
                </a:solidFill>
                <a:effectLst/>
                <a:uLnTx/>
                <a:uFillTx/>
                <a:latin typeface="微软雅黑" panose="020B0503020204020204" pitchFamily="34" charset="-122"/>
                <a:ea typeface="微软雅黑" panose="020B0503020204020204" pitchFamily="34" charset="-122"/>
                <a:cs typeface="+mn-cs"/>
              </a:rPr>
              <a:t>redis</a:t>
            </a:r>
            <a:r>
              <a:rPr kumimoji="0" lang="zh-CN" altLang="en-US"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rPr>
              <a:t>最简单的数据结构，内部用一个字符数组存储。</a:t>
            </a:r>
            <a:r>
              <a:rPr kumimoji="0" lang="en-US" altLang="zh-CN" b="0" i="0" u="none" strike="noStrike" kern="1200" cap="none" spc="0" normalizeH="0" baseline="0" noProof="0" dirty="0" err="1" smtClean="0">
                <a:ln>
                  <a:noFill/>
                </a:ln>
                <a:solidFill>
                  <a:prstClr val="white"/>
                </a:solidFill>
                <a:effectLst/>
                <a:uLnTx/>
                <a:uFillTx/>
                <a:latin typeface="微软雅黑" panose="020B0503020204020204" pitchFamily="34" charset="-122"/>
                <a:ea typeface="微软雅黑" panose="020B0503020204020204" pitchFamily="34" charset="-122"/>
                <a:cs typeface="+mn-cs"/>
              </a:rPr>
              <a:t>Redis</a:t>
            </a:r>
            <a:r>
              <a:rPr kumimoji="0" lang="zh-CN" altLang="en-US"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rPr>
              <a:t>所有的数据结构都以唯一的字符串类型的</a:t>
            </a:r>
            <a:r>
              <a:rPr kumimoji="0" lang="en-US" altLang="zh-CN"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rPr>
              <a:t>key</a:t>
            </a:r>
            <a:r>
              <a:rPr kumimoji="0" lang="zh-CN" altLang="en-US"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rPr>
              <a:t>作为名称，通过唯一的</a:t>
            </a:r>
            <a:r>
              <a:rPr kumimoji="0" lang="en-US" altLang="zh-CN"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rPr>
              <a:t>key</a:t>
            </a:r>
            <a:r>
              <a:rPr kumimoji="0" lang="zh-CN" altLang="en-US"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rPr>
              <a:t>值来获取相应的</a:t>
            </a:r>
            <a:r>
              <a:rPr kumimoji="0" lang="en-US" altLang="zh-CN"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rPr>
              <a:t>value</a:t>
            </a:r>
            <a:r>
              <a:rPr kumimoji="0" lang="zh-CN" altLang="en-US"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rPr>
              <a:t>数据。不同类型的数据结构区别在于</a:t>
            </a:r>
            <a:r>
              <a:rPr kumimoji="0" lang="en-US" altLang="zh-CN"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rPr>
              <a:t>value</a:t>
            </a:r>
            <a:r>
              <a:rPr kumimoji="0" lang="zh-CN" altLang="en-US"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rPr>
              <a:t>的结构不一样。</a:t>
            </a:r>
            <a:endParaRPr lang="zh-CN" altLang="en-US" dirty="0">
              <a:solidFill>
                <a:srgbClr val="44546A">
                  <a:lumMod val="60000"/>
                  <a:lumOff val="40000"/>
                </a:srgbClr>
              </a:solidFill>
              <a:latin typeface="微软雅黑" panose="020B0503020204020204" pitchFamily="34" charset="-122"/>
              <a:ea typeface="微软雅黑" panose="020B0503020204020204" pitchFamily="34" charset="-122"/>
            </a:endParaRPr>
          </a:p>
        </p:txBody>
      </p:sp>
      <p:sp>
        <p:nvSpPr>
          <p:cNvPr id="10" name="TextBox 9"/>
          <p:cNvSpPr txBox="1"/>
          <p:nvPr/>
        </p:nvSpPr>
        <p:spPr>
          <a:xfrm>
            <a:off x="704850" y="605109"/>
            <a:ext cx="8832850" cy="584775"/>
          </a:xfrm>
          <a:prstGeom prst="rect">
            <a:avLst/>
          </a:prstGeom>
          <a:noFill/>
        </p:spPr>
        <p:txBody>
          <a:bodyPr wrap="square" rtlCol="0">
            <a:spAutoFit/>
          </a:bodyPr>
          <a:lstStyle/>
          <a:p>
            <a:pPr marR="0" lvl="0" indent="0" fontAlgn="auto">
              <a:lnSpc>
                <a:spcPct val="100000"/>
              </a:lnSpc>
              <a:spcBef>
                <a:spcPts val="0"/>
              </a:spcBef>
              <a:spcAft>
                <a:spcPts val="0"/>
              </a:spcAft>
              <a:buClrTx/>
              <a:buSzTx/>
              <a:buFontTx/>
              <a:buNone/>
              <a:tabLst/>
              <a:defRPr/>
            </a:pPr>
            <a:r>
              <a:rPr lang="en-US" altLang="zh-CN" sz="32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2.1</a:t>
            </a:r>
            <a:r>
              <a:rPr lang="zh-CN" altLang="en-US" sz="32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a:t>
            </a:r>
            <a:r>
              <a:rPr lang="en-US" altLang="zh-CN" sz="3200" b="1" dirty="0" err="1">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redis</a:t>
            </a:r>
            <a:r>
              <a:rPr lang="zh-CN" altLang="en-US" sz="32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基本数据结构之</a:t>
            </a:r>
            <a:r>
              <a:rPr lang="en-US" altLang="zh-CN" sz="32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string</a:t>
            </a:r>
            <a:endParaRPr lang="zh-CN" altLang="en-US" sz="32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endParaRPr>
          </a:p>
        </p:txBody>
      </p:sp>
      <p:sp>
        <p:nvSpPr>
          <p:cNvPr id="8" name="TextBox 9"/>
          <p:cNvSpPr txBox="1"/>
          <p:nvPr/>
        </p:nvSpPr>
        <p:spPr>
          <a:xfrm>
            <a:off x="704850" y="1354409"/>
            <a:ext cx="4038600"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2.1.1 </a:t>
            </a:r>
            <a:r>
              <a:rPr lang="zh-CN" altLang="en-US"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存储结构</a:t>
            </a:r>
          </a:p>
        </p:txBody>
      </p:sp>
      <p:grpSp>
        <p:nvGrpSpPr>
          <p:cNvPr id="31" name="组合 30"/>
          <p:cNvGrpSpPr/>
          <p:nvPr/>
        </p:nvGrpSpPr>
        <p:grpSpPr>
          <a:xfrm>
            <a:off x="2845276" y="3437763"/>
            <a:ext cx="6743700" cy="3116563"/>
            <a:chOff x="1600200" y="3048000"/>
            <a:chExt cx="6743700" cy="3116563"/>
          </a:xfrm>
        </p:grpSpPr>
        <p:grpSp>
          <p:nvGrpSpPr>
            <p:cNvPr id="29" name="组合 28"/>
            <p:cNvGrpSpPr/>
            <p:nvPr/>
          </p:nvGrpSpPr>
          <p:grpSpPr>
            <a:xfrm>
              <a:off x="1600200" y="3048000"/>
              <a:ext cx="6743700" cy="2608563"/>
              <a:chOff x="1600200" y="2959100"/>
              <a:chExt cx="6743700" cy="2608563"/>
            </a:xfrm>
          </p:grpSpPr>
          <p:grpSp>
            <p:nvGrpSpPr>
              <p:cNvPr id="25" name="组合 24"/>
              <p:cNvGrpSpPr/>
              <p:nvPr/>
            </p:nvGrpSpPr>
            <p:grpSpPr>
              <a:xfrm>
                <a:off x="1600200" y="3995199"/>
                <a:ext cx="6743700" cy="564101"/>
                <a:chOff x="1600200" y="3639599"/>
                <a:chExt cx="6743700" cy="564101"/>
              </a:xfrm>
            </p:grpSpPr>
            <p:sp>
              <p:nvSpPr>
                <p:cNvPr id="3" name="矩形 2"/>
                <p:cNvSpPr/>
                <p:nvPr/>
              </p:nvSpPr>
              <p:spPr>
                <a:xfrm>
                  <a:off x="1600200" y="3644900"/>
                  <a:ext cx="749300" cy="55880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smtClean="0">
                      <a:ln>
                        <a:noFill/>
                      </a:ln>
                      <a:solidFill>
                        <a:prstClr val="white"/>
                      </a:solidFill>
                      <a:effectLst/>
                      <a:uLnTx/>
                      <a:uFillTx/>
                      <a:latin typeface="等线"/>
                      <a:ea typeface="等线" panose="02010600030101010101" pitchFamily="2" charset="-122"/>
                      <a:cs typeface="+mn-cs"/>
                    </a:rPr>
                    <a:t>H</a:t>
                  </a:r>
                  <a:endParaRPr kumimoji="0" lang="zh-CN" altLang="en-US" sz="1800" b="0" i="0" u="none" strike="noStrike" kern="1200" cap="none" spc="0" normalizeH="0" baseline="0" noProof="0" dirty="0">
                    <a:ln>
                      <a:noFill/>
                    </a:ln>
                    <a:solidFill>
                      <a:prstClr val="white"/>
                    </a:solidFill>
                    <a:effectLst/>
                    <a:uLnTx/>
                    <a:uFillTx/>
                    <a:latin typeface="等线"/>
                    <a:ea typeface="等线" panose="02010600030101010101" pitchFamily="2" charset="-122"/>
                    <a:cs typeface="+mn-cs"/>
                  </a:endParaRPr>
                </a:p>
              </p:txBody>
            </p:sp>
            <p:sp>
              <p:nvSpPr>
                <p:cNvPr id="12" name="矩形 11"/>
                <p:cNvSpPr/>
                <p:nvPr/>
              </p:nvSpPr>
              <p:spPr>
                <a:xfrm>
                  <a:off x="2349500" y="3641409"/>
                  <a:ext cx="749300" cy="55880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smtClean="0">
                      <a:ln>
                        <a:noFill/>
                      </a:ln>
                      <a:solidFill>
                        <a:prstClr val="white"/>
                      </a:solidFill>
                      <a:effectLst/>
                      <a:uLnTx/>
                      <a:uFillTx/>
                      <a:latin typeface="等线"/>
                      <a:ea typeface="等线" panose="02010600030101010101" pitchFamily="2" charset="-122"/>
                      <a:cs typeface="+mn-cs"/>
                    </a:rPr>
                    <a:t>E</a:t>
                  </a:r>
                  <a:endParaRPr kumimoji="0" lang="zh-CN" altLang="en-US" sz="1800" b="0" i="0" u="none" strike="noStrike" kern="1200" cap="none" spc="0" normalizeH="0" baseline="0" noProof="0" dirty="0">
                    <a:ln>
                      <a:noFill/>
                    </a:ln>
                    <a:solidFill>
                      <a:prstClr val="white"/>
                    </a:solidFill>
                    <a:effectLst/>
                    <a:uLnTx/>
                    <a:uFillTx/>
                    <a:latin typeface="等线"/>
                    <a:ea typeface="等线" panose="02010600030101010101" pitchFamily="2" charset="-122"/>
                    <a:cs typeface="+mn-cs"/>
                  </a:endParaRPr>
                </a:p>
              </p:txBody>
            </p:sp>
            <p:sp>
              <p:nvSpPr>
                <p:cNvPr id="16" name="矩形 15"/>
                <p:cNvSpPr/>
                <p:nvPr/>
              </p:nvSpPr>
              <p:spPr>
                <a:xfrm>
                  <a:off x="3098800" y="3644900"/>
                  <a:ext cx="749300" cy="55880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smtClean="0">
                      <a:ln>
                        <a:noFill/>
                      </a:ln>
                      <a:solidFill>
                        <a:prstClr val="white"/>
                      </a:solidFill>
                      <a:effectLst/>
                      <a:uLnTx/>
                      <a:uFillTx/>
                      <a:latin typeface="等线"/>
                      <a:ea typeface="等线" panose="02010600030101010101" pitchFamily="2" charset="-122"/>
                      <a:cs typeface="+mn-cs"/>
                    </a:rPr>
                    <a:t>L</a:t>
                  </a:r>
                  <a:endParaRPr kumimoji="0" lang="zh-CN" altLang="en-US" sz="1800" b="0" i="0" u="none" strike="noStrike" kern="1200" cap="none" spc="0" normalizeH="0" baseline="0" noProof="0" dirty="0">
                    <a:ln>
                      <a:noFill/>
                    </a:ln>
                    <a:solidFill>
                      <a:prstClr val="white"/>
                    </a:solidFill>
                    <a:effectLst/>
                    <a:uLnTx/>
                    <a:uFillTx/>
                    <a:latin typeface="等线"/>
                    <a:ea typeface="等线" panose="02010600030101010101" pitchFamily="2" charset="-122"/>
                    <a:cs typeface="+mn-cs"/>
                  </a:endParaRPr>
                </a:p>
              </p:txBody>
            </p:sp>
            <p:sp>
              <p:nvSpPr>
                <p:cNvPr id="17" name="矩形 16"/>
                <p:cNvSpPr/>
                <p:nvPr/>
              </p:nvSpPr>
              <p:spPr>
                <a:xfrm>
                  <a:off x="3848100" y="3642669"/>
                  <a:ext cx="749300" cy="55880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smtClean="0">
                      <a:ln>
                        <a:noFill/>
                      </a:ln>
                      <a:solidFill>
                        <a:prstClr val="white"/>
                      </a:solidFill>
                      <a:effectLst/>
                      <a:uLnTx/>
                      <a:uFillTx/>
                      <a:latin typeface="等线"/>
                      <a:ea typeface="等线" panose="02010600030101010101" pitchFamily="2" charset="-122"/>
                      <a:cs typeface="+mn-cs"/>
                    </a:rPr>
                    <a:t>L</a:t>
                  </a:r>
                  <a:endParaRPr kumimoji="0" lang="zh-CN" altLang="en-US" sz="1800" b="0" i="0" u="none" strike="noStrike" kern="1200" cap="none" spc="0" normalizeH="0" baseline="0" noProof="0" dirty="0">
                    <a:ln>
                      <a:noFill/>
                    </a:ln>
                    <a:solidFill>
                      <a:prstClr val="white"/>
                    </a:solidFill>
                    <a:effectLst/>
                    <a:uLnTx/>
                    <a:uFillTx/>
                    <a:latin typeface="等线"/>
                    <a:ea typeface="等线" panose="02010600030101010101" pitchFamily="2" charset="-122"/>
                    <a:cs typeface="+mn-cs"/>
                  </a:endParaRPr>
                </a:p>
              </p:txBody>
            </p:sp>
            <p:sp>
              <p:nvSpPr>
                <p:cNvPr id="18" name="矩形 17"/>
                <p:cNvSpPr/>
                <p:nvPr/>
              </p:nvSpPr>
              <p:spPr>
                <a:xfrm>
                  <a:off x="4597400" y="3641409"/>
                  <a:ext cx="749300" cy="55880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等线"/>
                      <a:ea typeface="等线" panose="02010600030101010101" pitchFamily="2" charset="-122"/>
                      <a:cs typeface="+mn-cs"/>
                    </a:rPr>
                    <a:t>O</a:t>
                  </a:r>
                  <a:endParaRPr kumimoji="0" lang="zh-CN" altLang="en-US" sz="1800" b="0" i="0" u="none" strike="noStrike" kern="1200" cap="none" spc="0" normalizeH="0" baseline="0" noProof="0" dirty="0">
                    <a:ln>
                      <a:noFill/>
                    </a:ln>
                    <a:solidFill>
                      <a:prstClr val="white"/>
                    </a:solidFill>
                    <a:effectLst/>
                    <a:uLnTx/>
                    <a:uFillTx/>
                    <a:latin typeface="等线"/>
                    <a:ea typeface="等线" panose="02010600030101010101" pitchFamily="2" charset="-122"/>
                    <a:cs typeface="+mn-cs"/>
                  </a:endParaRPr>
                </a:p>
              </p:txBody>
            </p:sp>
            <p:sp>
              <p:nvSpPr>
                <p:cNvPr id="19" name="矩形 18"/>
                <p:cNvSpPr/>
                <p:nvPr/>
              </p:nvSpPr>
              <p:spPr>
                <a:xfrm>
                  <a:off x="5346700" y="3641409"/>
                  <a:ext cx="749300" cy="5588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a:ea typeface="等线" panose="02010600030101010101" pitchFamily="2" charset="-122"/>
                    <a:cs typeface="+mn-cs"/>
                  </a:endParaRPr>
                </a:p>
              </p:txBody>
            </p:sp>
            <p:sp>
              <p:nvSpPr>
                <p:cNvPr id="20" name="矩形 19"/>
                <p:cNvSpPr/>
                <p:nvPr/>
              </p:nvSpPr>
              <p:spPr>
                <a:xfrm>
                  <a:off x="6096000" y="3641398"/>
                  <a:ext cx="749300" cy="5588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a:ea typeface="等线" panose="02010600030101010101" pitchFamily="2" charset="-122"/>
                    <a:cs typeface="+mn-cs"/>
                  </a:endParaRPr>
                </a:p>
              </p:txBody>
            </p:sp>
            <p:sp>
              <p:nvSpPr>
                <p:cNvPr id="21" name="矩形 20"/>
                <p:cNvSpPr/>
                <p:nvPr/>
              </p:nvSpPr>
              <p:spPr>
                <a:xfrm>
                  <a:off x="6845300" y="3639599"/>
                  <a:ext cx="749300" cy="5588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a:ea typeface="等线" panose="02010600030101010101" pitchFamily="2" charset="-122"/>
                    <a:cs typeface="+mn-cs"/>
                  </a:endParaRPr>
                </a:p>
              </p:txBody>
            </p:sp>
            <p:sp>
              <p:nvSpPr>
                <p:cNvPr id="22" name="矩形 21"/>
                <p:cNvSpPr/>
                <p:nvPr/>
              </p:nvSpPr>
              <p:spPr>
                <a:xfrm>
                  <a:off x="7594600" y="3639599"/>
                  <a:ext cx="749300" cy="5588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a:ea typeface="等线" panose="02010600030101010101" pitchFamily="2" charset="-122"/>
                    <a:cs typeface="+mn-cs"/>
                  </a:endParaRPr>
                </a:p>
              </p:txBody>
            </p:sp>
          </p:grpSp>
          <p:sp>
            <p:nvSpPr>
              <p:cNvPr id="5" name="左大括号 4"/>
              <p:cNvSpPr/>
              <p:nvPr/>
            </p:nvSpPr>
            <p:spPr>
              <a:xfrm rot="5400000">
                <a:off x="4679950" y="283640"/>
                <a:ext cx="609600" cy="6718300"/>
              </a:xfrm>
              <a:prstGeom prst="leftBrace">
                <a:avLst/>
              </a:prstGeom>
              <a:ln w="12700" cmpd="sng">
                <a:solidFill>
                  <a:schemeClr val="bg1">
                    <a:lumMod val="95000"/>
                  </a:schemeClr>
                </a:solidFill>
                <a:prstDash val="solid"/>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26" name="左大括号 25"/>
              <p:cNvSpPr/>
              <p:nvPr/>
            </p:nvSpPr>
            <p:spPr>
              <a:xfrm rot="16200000">
                <a:off x="3194050" y="3067320"/>
                <a:ext cx="609600" cy="3746500"/>
              </a:xfrm>
              <a:prstGeom prst="leftBrace">
                <a:avLst/>
              </a:prstGeom>
              <a:ln w="12700" cmpd="sng">
                <a:solidFill>
                  <a:schemeClr val="bg1">
                    <a:lumMod val="95000"/>
                  </a:schemeClr>
                </a:solidFill>
                <a:prstDash val="solid"/>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
            <p:nvSpPr>
              <p:cNvPr id="27" name="文本框 26"/>
              <p:cNvSpPr txBox="1"/>
              <p:nvPr/>
            </p:nvSpPr>
            <p:spPr>
              <a:xfrm>
                <a:off x="4432300" y="2959100"/>
                <a:ext cx="114300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rPr>
                  <a:t>capacity</a:t>
                </a:r>
                <a:endParaRPr kumimoji="0" lang="zh-CN" altLang="en-US" sz="1800"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8" name="文本框 27"/>
              <p:cNvSpPr txBox="1"/>
              <p:nvPr/>
            </p:nvSpPr>
            <p:spPr>
              <a:xfrm>
                <a:off x="2927350" y="5198331"/>
                <a:ext cx="114300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err="1" smtClean="0">
                    <a:ln>
                      <a:noFill/>
                    </a:ln>
                    <a:solidFill>
                      <a:prstClr val="white"/>
                    </a:solidFill>
                    <a:effectLst/>
                    <a:uLnTx/>
                    <a:uFillTx/>
                    <a:latin typeface="微软雅黑" panose="020B0503020204020204" pitchFamily="34" charset="-122"/>
                    <a:ea typeface="微软雅黑" panose="020B0503020204020204" pitchFamily="34" charset="-122"/>
                    <a:cs typeface="+mn-cs"/>
                  </a:rPr>
                  <a:t>len</a:t>
                </a:r>
                <a:endParaRPr kumimoji="0" lang="zh-CN" altLang="en-US" sz="1800"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30" name="文本框 29"/>
            <p:cNvSpPr txBox="1"/>
            <p:nvPr/>
          </p:nvSpPr>
          <p:spPr>
            <a:xfrm>
              <a:off x="4216400" y="5795231"/>
              <a:ext cx="187325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smtClean="0">
                  <a:ln>
                    <a:noFill/>
                  </a:ln>
                  <a:solidFill>
                    <a:srgbClr val="44546A">
                      <a:lumMod val="60000"/>
                      <a:lumOff val="40000"/>
                    </a:srgbClr>
                  </a:solidFill>
                  <a:effectLst/>
                  <a:uLnTx/>
                  <a:uFillTx/>
                  <a:latin typeface="微软雅黑" panose="020B0503020204020204" pitchFamily="34" charset="-122"/>
                  <a:ea typeface="微软雅黑" panose="020B0503020204020204" pitchFamily="34" charset="-122"/>
                  <a:cs typeface="+mn-cs"/>
                </a:rPr>
                <a:t>图 </a:t>
              </a:r>
              <a:r>
                <a:rPr kumimoji="0" lang="en-US" altLang="zh-CN" sz="1800" b="0" i="0" u="none" strike="noStrike" kern="1200" cap="none" spc="0" normalizeH="0" baseline="0" noProof="0" dirty="0" smtClean="0">
                  <a:ln>
                    <a:noFill/>
                  </a:ln>
                  <a:solidFill>
                    <a:srgbClr val="44546A">
                      <a:lumMod val="60000"/>
                      <a:lumOff val="40000"/>
                    </a:srgbClr>
                  </a:solidFill>
                  <a:effectLst/>
                  <a:uLnTx/>
                  <a:uFillTx/>
                  <a:latin typeface="微软雅黑" panose="020B0503020204020204" pitchFamily="34" charset="-122"/>
                  <a:ea typeface="微软雅黑" panose="020B0503020204020204" pitchFamily="34" charset="-122"/>
                  <a:cs typeface="+mn-cs"/>
                </a:rPr>
                <a:t>2.1.1-1</a:t>
              </a:r>
              <a:endParaRPr kumimoji="0" lang="zh-CN" altLang="en-US" sz="1800" b="0" i="0" u="none" strike="noStrike" kern="1200" cap="none" spc="0" normalizeH="0" baseline="0" noProof="0" dirty="0" smtClean="0">
                <a:ln>
                  <a:noFill/>
                </a:ln>
                <a:solidFill>
                  <a:srgbClr val="44546A">
                    <a:lumMod val="60000"/>
                    <a:lumOff val="40000"/>
                  </a:srgbClr>
                </a:solidFill>
                <a:effectLst/>
                <a:uLnTx/>
                <a:uFillTx/>
                <a:latin typeface="微软雅黑" panose="020B0503020204020204" pitchFamily="34" charset="-122"/>
                <a:ea typeface="微软雅黑" panose="020B0503020204020204" pitchFamily="34" charset="-122"/>
                <a:cs typeface="+mn-cs"/>
              </a:endParaRPr>
            </a:p>
          </p:txBody>
        </p:sp>
      </p:grpSp>
    </p:spTree>
    <p:extLst>
      <p:ext uri="{BB962C8B-B14F-4D97-AF65-F5344CB8AC3E}">
        <p14:creationId xmlns:p14="http://schemas.microsoft.com/office/powerpoint/2010/main" val="1599366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31"/>
                                        </p:tgtEl>
                                        <p:attrNameLst>
                                          <p:attrName>style.visibility</p:attrName>
                                        </p:attrNameLst>
                                      </p:cBhvr>
                                      <p:to>
                                        <p:strVal val="visible"/>
                                      </p:to>
                                    </p:set>
                                    <p:animEffect transition="in" filter="barn(inVertical)">
                                      <p:cBhvr>
                                        <p:cTn id="14"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0F23"/>
        </a:solidFill>
        <a:effectLst/>
      </p:bgPr>
    </p:bg>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xmlns="" id="{CBDC52CD-1D62-48AF-A9DF-9F18AEA2B1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01385" y="-114300"/>
            <a:ext cx="1301859" cy="920356"/>
          </a:xfrm>
          <a:prstGeom prst="rect">
            <a:avLst/>
          </a:prstGeom>
        </p:spPr>
      </p:pic>
      <p:pic>
        <p:nvPicPr>
          <p:cNvPr id="14" name="图片 13">
            <a:extLst>
              <a:ext uri="{FF2B5EF4-FFF2-40B4-BE49-F238E27FC236}">
                <a16:creationId xmlns:a16="http://schemas.microsoft.com/office/drawing/2014/main" xmlns="" id="{F78DA958-9B1B-47DA-A870-8C0B3A7D8866}"/>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b="63537"/>
          <a:stretch/>
        </p:blipFill>
        <p:spPr>
          <a:xfrm>
            <a:off x="11184164" y="217733"/>
            <a:ext cx="572339" cy="337210"/>
          </a:xfrm>
          <a:prstGeom prst="rect">
            <a:avLst/>
          </a:prstGeom>
        </p:spPr>
      </p:pic>
      <p:cxnSp>
        <p:nvCxnSpPr>
          <p:cNvPr id="15" name="直接连接符 14">
            <a:extLst>
              <a:ext uri="{FF2B5EF4-FFF2-40B4-BE49-F238E27FC236}">
                <a16:creationId xmlns:a16="http://schemas.microsoft.com/office/drawing/2014/main" xmlns="" id="{93240A06-D526-4907-A163-94ABB41190CC}"/>
              </a:ext>
            </a:extLst>
          </p:cNvPr>
          <p:cNvCxnSpPr/>
          <p:nvPr/>
        </p:nvCxnSpPr>
        <p:spPr>
          <a:xfrm>
            <a:off x="11103244" y="225825"/>
            <a:ext cx="0" cy="2435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xmlns="" id="{74C59758-12AB-44A5-92FA-DB52904027AE}"/>
              </a:ext>
            </a:extLst>
          </p:cNvPr>
          <p:cNvSpPr/>
          <p:nvPr/>
        </p:nvSpPr>
        <p:spPr>
          <a:xfrm>
            <a:off x="802331" y="1462960"/>
            <a:ext cx="10765483" cy="1289905"/>
          </a:xfrm>
          <a:prstGeom prst="rect">
            <a:avLst/>
          </a:prstGeom>
        </p:spPr>
        <p:txBody>
          <a:bodyPr wrap="square">
            <a:spAutoFit/>
          </a:bodyPr>
          <a:lstStyle/>
          <a:p>
            <a:pPr>
              <a:lnSpc>
                <a:spcPct val="150000"/>
              </a:lnSpc>
            </a:pPr>
            <a:r>
              <a:rPr lang="en-US" altLang="zh-CN" sz="1600" dirty="0">
                <a:solidFill>
                  <a:prstClr val="white"/>
                </a:solidFill>
                <a:latin typeface="微软雅黑" panose="020B0503020204020204" pitchFamily="34" charset="-122"/>
                <a:ea typeface="微软雅黑" panose="020B0503020204020204" pitchFamily="34" charset="-122"/>
              </a:rPr>
              <a:t> </a:t>
            </a:r>
            <a:r>
              <a:rPr lang="en-US" altLang="zh-CN" sz="1600" dirty="0" smtClean="0">
                <a:solidFill>
                  <a:prstClr val="white"/>
                </a:solidFill>
                <a:latin typeface="微软雅黑" panose="020B0503020204020204" pitchFamily="34" charset="-122"/>
                <a:ea typeface="微软雅黑" panose="020B0503020204020204" pitchFamily="34" charset="-122"/>
              </a:rPr>
              <a:t>   </a:t>
            </a:r>
            <a:r>
              <a:rPr lang="en-US" altLang="zh-CN" dirty="0" err="1" smtClean="0">
                <a:solidFill>
                  <a:prstClr val="white"/>
                </a:solidFill>
                <a:latin typeface="微软雅黑" panose="020B0503020204020204" pitchFamily="34" charset="-122"/>
                <a:ea typeface="微软雅黑" panose="020B0503020204020204" pitchFamily="34" charset="-122"/>
              </a:rPr>
              <a:t>redis</a:t>
            </a:r>
            <a:r>
              <a:rPr lang="zh-CN" altLang="en-US" dirty="0" smtClean="0">
                <a:solidFill>
                  <a:prstClr val="white"/>
                </a:solidFill>
                <a:latin typeface="微软雅黑" panose="020B0503020204020204" pitchFamily="34" charset="-122"/>
                <a:ea typeface="微软雅黑" panose="020B0503020204020204" pitchFamily="34" charset="-122"/>
              </a:rPr>
              <a:t>的字符串是动态字符串，内部</a:t>
            </a:r>
            <a:r>
              <a:rPr lang="zh-CN" altLang="en-US" dirty="0">
                <a:solidFill>
                  <a:prstClr val="white"/>
                </a:solidFill>
                <a:latin typeface="微软雅黑" panose="020B0503020204020204" pitchFamily="34" charset="-122"/>
                <a:ea typeface="微软雅黑" panose="020B0503020204020204" pitchFamily="34" charset="-122"/>
              </a:rPr>
              <a:t>采</a:t>
            </a:r>
            <a:r>
              <a:rPr lang="zh-CN" altLang="en-US" dirty="0" smtClean="0">
                <a:solidFill>
                  <a:prstClr val="white"/>
                </a:solidFill>
                <a:latin typeface="微软雅黑" panose="020B0503020204020204" pitchFamily="34" charset="-122"/>
                <a:ea typeface="微软雅黑" panose="020B0503020204020204" pitchFamily="34" charset="-122"/>
              </a:rPr>
              <a:t>用预分配冗余空间的方式减少内存的频繁分配，如图</a:t>
            </a:r>
            <a:r>
              <a:rPr lang="en-US" altLang="zh-CN" dirty="0" smtClean="0">
                <a:solidFill>
                  <a:prstClr val="white"/>
                </a:solidFill>
                <a:latin typeface="微软雅黑" panose="020B0503020204020204" pitchFamily="34" charset="-122"/>
                <a:ea typeface="微软雅黑" panose="020B0503020204020204" pitchFamily="34" charset="-122"/>
              </a:rPr>
              <a:t>2.1.1-1</a:t>
            </a:r>
            <a:r>
              <a:rPr lang="zh-CN" altLang="en-US" dirty="0" smtClean="0">
                <a:solidFill>
                  <a:prstClr val="white"/>
                </a:solidFill>
                <a:latin typeface="微软雅黑" panose="020B0503020204020204" pitchFamily="34" charset="-122"/>
                <a:ea typeface="微软雅黑" panose="020B0503020204020204" pitchFamily="34" charset="-122"/>
              </a:rPr>
              <a:t>所示，内部为当前字符串分配的实际空间</a:t>
            </a:r>
            <a:r>
              <a:rPr lang="en-US" altLang="zh-CN" dirty="0" smtClean="0">
                <a:solidFill>
                  <a:prstClr val="white"/>
                </a:solidFill>
                <a:latin typeface="微软雅黑" panose="020B0503020204020204" pitchFamily="34" charset="-122"/>
                <a:ea typeface="微软雅黑" panose="020B0503020204020204" pitchFamily="34" charset="-122"/>
              </a:rPr>
              <a:t>capacity</a:t>
            </a:r>
            <a:r>
              <a:rPr lang="zh-CN" altLang="en-US" dirty="0" smtClean="0">
                <a:solidFill>
                  <a:prstClr val="white"/>
                </a:solidFill>
                <a:latin typeface="微软雅黑" panose="020B0503020204020204" pitchFamily="34" charset="-122"/>
                <a:ea typeface="微软雅黑" panose="020B0503020204020204" pitchFamily="34" charset="-122"/>
              </a:rPr>
              <a:t>一般高于实际字符串长度，当字符串长度小于</a:t>
            </a:r>
            <a:r>
              <a:rPr lang="en-US" altLang="zh-CN" dirty="0" smtClean="0">
                <a:solidFill>
                  <a:prstClr val="white"/>
                </a:solidFill>
                <a:latin typeface="微软雅黑" panose="020B0503020204020204" pitchFamily="34" charset="-122"/>
                <a:ea typeface="微软雅黑" panose="020B0503020204020204" pitchFamily="34" charset="-122"/>
              </a:rPr>
              <a:t>1MB</a:t>
            </a:r>
            <a:r>
              <a:rPr lang="zh-CN" altLang="en-US" dirty="0" smtClean="0">
                <a:solidFill>
                  <a:prstClr val="white"/>
                </a:solidFill>
                <a:latin typeface="微软雅黑" panose="020B0503020204020204" pitchFamily="34" charset="-122"/>
                <a:ea typeface="微软雅黑" panose="020B0503020204020204" pitchFamily="34" charset="-122"/>
              </a:rPr>
              <a:t>时，每次扩容现有空间的一倍。如果字符串长度超过</a:t>
            </a:r>
            <a:r>
              <a:rPr lang="en-US" altLang="zh-CN" dirty="0" smtClean="0">
                <a:solidFill>
                  <a:prstClr val="white"/>
                </a:solidFill>
                <a:latin typeface="微软雅黑" panose="020B0503020204020204" pitchFamily="34" charset="-122"/>
                <a:ea typeface="微软雅黑" panose="020B0503020204020204" pitchFamily="34" charset="-122"/>
              </a:rPr>
              <a:t>1MB</a:t>
            </a:r>
            <a:r>
              <a:rPr lang="zh-CN" altLang="en-US" dirty="0" smtClean="0">
                <a:solidFill>
                  <a:prstClr val="white"/>
                </a:solidFill>
                <a:latin typeface="微软雅黑" panose="020B0503020204020204" pitchFamily="34" charset="-122"/>
                <a:ea typeface="微软雅黑" panose="020B0503020204020204" pitchFamily="34" charset="-122"/>
              </a:rPr>
              <a:t>，扩容时，一次扩容</a:t>
            </a:r>
            <a:r>
              <a:rPr lang="en-US" altLang="zh-CN" dirty="0" smtClean="0">
                <a:solidFill>
                  <a:prstClr val="white"/>
                </a:solidFill>
                <a:latin typeface="微软雅黑" panose="020B0503020204020204" pitchFamily="34" charset="-122"/>
                <a:ea typeface="微软雅黑" panose="020B0503020204020204" pitchFamily="34" charset="-122"/>
              </a:rPr>
              <a:t>1MB</a:t>
            </a:r>
            <a:r>
              <a:rPr lang="zh-CN" altLang="en-US" dirty="0" smtClean="0">
                <a:solidFill>
                  <a:prstClr val="white"/>
                </a:solidFill>
                <a:latin typeface="微软雅黑" panose="020B0503020204020204" pitchFamily="34" charset="-122"/>
                <a:ea typeface="微软雅黑" panose="020B0503020204020204" pitchFamily="34" charset="-122"/>
              </a:rPr>
              <a:t>。字符串最大支持</a:t>
            </a:r>
            <a:r>
              <a:rPr lang="en-US" altLang="zh-CN" dirty="0" smtClean="0">
                <a:solidFill>
                  <a:prstClr val="white"/>
                </a:solidFill>
                <a:latin typeface="微软雅黑" panose="020B0503020204020204" pitchFamily="34" charset="-122"/>
                <a:ea typeface="微软雅黑" panose="020B0503020204020204" pitchFamily="34" charset="-122"/>
              </a:rPr>
              <a:t>512MB</a:t>
            </a:r>
            <a:r>
              <a:rPr lang="zh-CN" altLang="en-US" dirty="0" smtClean="0">
                <a:solidFill>
                  <a:prstClr val="white"/>
                </a:solidFill>
                <a:latin typeface="微软雅黑" panose="020B0503020204020204" pitchFamily="34" charset="-122"/>
                <a:ea typeface="微软雅黑" panose="020B0503020204020204" pitchFamily="34" charset="-122"/>
              </a:rPr>
              <a:t>。</a:t>
            </a:r>
            <a:endParaRPr lang="zh-CN" altLang="en-US" dirty="0">
              <a:solidFill>
                <a:prstClr val="white"/>
              </a:solidFill>
              <a:latin typeface="微软雅黑" panose="020B0503020204020204" pitchFamily="34" charset="-122"/>
              <a:ea typeface="微软雅黑" panose="020B0503020204020204" pitchFamily="34" charset="-122"/>
            </a:endParaRPr>
          </a:p>
        </p:txBody>
      </p:sp>
      <p:sp>
        <p:nvSpPr>
          <p:cNvPr id="10" name="TextBox 9"/>
          <p:cNvSpPr txBox="1"/>
          <p:nvPr/>
        </p:nvSpPr>
        <p:spPr>
          <a:xfrm>
            <a:off x="704850" y="719410"/>
            <a:ext cx="4038600" cy="523220"/>
          </a:xfrm>
          <a:prstGeom prst="rect">
            <a:avLst/>
          </a:prstGeom>
          <a:noFill/>
        </p:spPr>
        <p:txBody>
          <a:bodyPr wrap="square" rtlCol="0">
            <a:spAutoFit/>
          </a:bodyPr>
          <a:lstStyle/>
          <a:p>
            <a:pPr>
              <a:defRPr/>
            </a:pPr>
            <a:r>
              <a:rPr lang="en-US" altLang="zh-CN"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2.1.1 </a:t>
            </a:r>
            <a:r>
              <a:rPr lang="zh-CN" altLang="en-US"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存储结构</a:t>
            </a:r>
          </a:p>
        </p:txBody>
      </p:sp>
    </p:spTree>
    <p:extLst>
      <p:ext uri="{BB962C8B-B14F-4D97-AF65-F5344CB8AC3E}">
        <p14:creationId xmlns:p14="http://schemas.microsoft.com/office/powerpoint/2010/main" val="2690659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A0F23"/>
        </a:solidFill>
        <a:effectLst/>
      </p:bgPr>
    </p:bg>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xmlns="" id="{CBDC52CD-1D62-48AF-A9DF-9F18AEA2B1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01385" y="-114300"/>
            <a:ext cx="1301859" cy="920356"/>
          </a:xfrm>
          <a:prstGeom prst="rect">
            <a:avLst/>
          </a:prstGeom>
        </p:spPr>
      </p:pic>
      <p:pic>
        <p:nvPicPr>
          <p:cNvPr id="14" name="图片 13">
            <a:extLst>
              <a:ext uri="{FF2B5EF4-FFF2-40B4-BE49-F238E27FC236}">
                <a16:creationId xmlns:a16="http://schemas.microsoft.com/office/drawing/2014/main" xmlns="" id="{F78DA958-9B1B-47DA-A870-8C0B3A7D8866}"/>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b="63537"/>
          <a:stretch/>
        </p:blipFill>
        <p:spPr>
          <a:xfrm>
            <a:off x="11184164" y="217733"/>
            <a:ext cx="572339" cy="337210"/>
          </a:xfrm>
          <a:prstGeom prst="rect">
            <a:avLst/>
          </a:prstGeom>
        </p:spPr>
      </p:pic>
      <p:cxnSp>
        <p:nvCxnSpPr>
          <p:cNvPr id="15" name="直接连接符 14">
            <a:extLst>
              <a:ext uri="{FF2B5EF4-FFF2-40B4-BE49-F238E27FC236}">
                <a16:creationId xmlns:a16="http://schemas.microsoft.com/office/drawing/2014/main" xmlns="" id="{93240A06-D526-4907-A163-94ABB41190CC}"/>
              </a:ext>
            </a:extLst>
          </p:cNvPr>
          <p:cNvCxnSpPr/>
          <p:nvPr/>
        </p:nvCxnSpPr>
        <p:spPr>
          <a:xfrm>
            <a:off x="11103244" y="225825"/>
            <a:ext cx="0" cy="2435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extBox 9"/>
          <p:cNvSpPr txBox="1"/>
          <p:nvPr/>
        </p:nvSpPr>
        <p:spPr>
          <a:xfrm>
            <a:off x="704850" y="763894"/>
            <a:ext cx="8883650" cy="523220"/>
          </a:xfrm>
          <a:prstGeom prst="rect">
            <a:avLst/>
          </a:prstGeom>
          <a:noFill/>
        </p:spPr>
        <p:txBody>
          <a:bodyPr wrap="square" rtlCol="0">
            <a:spAutoFit/>
          </a:bodyPr>
          <a:lstStyle/>
          <a:p>
            <a:pPr>
              <a:defRPr/>
            </a:pPr>
            <a:r>
              <a:rPr lang="en-US" altLang="zh-CN"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2.1.2 </a:t>
            </a:r>
            <a:r>
              <a:rPr lang="zh-CN" altLang="en-US"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常用命令</a:t>
            </a:r>
          </a:p>
        </p:txBody>
      </p:sp>
      <p:sp>
        <p:nvSpPr>
          <p:cNvPr id="12" name="矩形 11">
            <a:extLst>
              <a:ext uri="{FF2B5EF4-FFF2-40B4-BE49-F238E27FC236}">
                <a16:creationId xmlns:a16="http://schemas.microsoft.com/office/drawing/2014/main" xmlns="" id="{74C59758-12AB-44A5-92FA-DB52904027AE}"/>
              </a:ext>
            </a:extLst>
          </p:cNvPr>
          <p:cNvSpPr/>
          <p:nvPr/>
        </p:nvSpPr>
        <p:spPr>
          <a:xfrm>
            <a:off x="704850" y="1376991"/>
            <a:ext cx="10765483" cy="2868478"/>
          </a:xfrm>
          <a:prstGeom prst="rect">
            <a:avLst/>
          </a:prstGeom>
        </p:spPr>
        <p:txBody>
          <a:bodyPr wrap="square">
            <a:spAutoFit/>
          </a:bodyPr>
          <a:lstStyle/>
          <a:p>
            <a:pPr>
              <a:lnSpc>
                <a:spcPct val="140000"/>
              </a:lnSpc>
            </a:pPr>
            <a:r>
              <a:rPr lang="zh-CN" altLang="en-US" dirty="0">
                <a:solidFill>
                  <a:prstClr val="white"/>
                </a:solidFill>
                <a:latin typeface="微软雅黑" panose="020B0503020204020204" pitchFamily="34" charset="-122"/>
                <a:ea typeface="微软雅黑" panose="020B0503020204020204" pitchFamily="34" charset="-122"/>
              </a:rPr>
              <a:t>着</a:t>
            </a:r>
            <a:r>
              <a:rPr lang="zh-CN" altLang="en-US" dirty="0" smtClean="0">
                <a:solidFill>
                  <a:prstClr val="white"/>
                </a:solidFill>
                <a:latin typeface="微软雅黑" panose="020B0503020204020204" pitchFamily="34" charset="-122"/>
                <a:ea typeface="微软雅黑" panose="020B0503020204020204" pitchFamily="34" charset="-122"/>
              </a:rPr>
              <a:t>重介绍</a:t>
            </a:r>
            <a:r>
              <a:rPr lang="en-US" altLang="zh-CN" dirty="0" smtClean="0">
                <a:solidFill>
                  <a:prstClr val="white"/>
                </a:solidFill>
                <a:latin typeface="微软雅黑" panose="020B0503020204020204" pitchFamily="34" charset="-122"/>
                <a:ea typeface="微软雅黑" panose="020B0503020204020204" pitchFamily="34" charset="-122"/>
              </a:rPr>
              <a:t>set</a:t>
            </a:r>
            <a:r>
              <a:rPr lang="zh-CN" altLang="en-US" dirty="0">
                <a:solidFill>
                  <a:prstClr val="white"/>
                </a:solidFill>
                <a:latin typeface="微软雅黑" panose="020B0503020204020204" pitchFamily="34" charset="-122"/>
                <a:ea typeface="微软雅黑" panose="020B0503020204020204" pitchFamily="34" charset="-122"/>
              </a:rPr>
              <a:t>命令，其基本语法： </a:t>
            </a:r>
            <a:r>
              <a:rPr lang="en-US" altLang="zh-CN" dirty="0">
                <a:solidFill>
                  <a:prstClr val="white"/>
                </a:solidFill>
                <a:latin typeface="微软雅黑" panose="020B0503020204020204" pitchFamily="34" charset="-122"/>
                <a:ea typeface="微软雅黑" panose="020B0503020204020204" pitchFamily="34" charset="-122"/>
              </a:rPr>
              <a:t>SET KEY_NAME  VALUE</a:t>
            </a:r>
          </a:p>
          <a:p>
            <a:pPr>
              <a:lnSpc>
                <a:spcPct val="140000"/>
              </a:lnSpc>
            </a:pPr>
            <a:r>
              <a:rPr lang="en-US" altLang="zh-CN" sz="1600" dirty="0">
                <a:solidFill>
                  <a:prstClr val="white"/>
                </a:solidFill>
                <a:latin typeface="微软雅黑" panose="020B0503020204020204" pitchFamily="34" charset="-122"/>
                <a:ea typeface="微软雅黑" panose="020B0503020204020204" pitchFamily="34" charset="-122"/>
              </a:rPr>
              <a:t>     set</a:t>
            </a:r>
            <a:r>
              <a:rPr lang="zh-CN" altLang="en-US" sz="1600" dirty="0">
                <a:solidFill>
                  <a:prstClr val="white"/>
                </a:solidFill>
                <a:latin typeface="微软雅黑" panose="020B0503020204020204" pitchFamily="34" charset="-122"/>
                <a:ea typeface="微软雅黑" panose="020B0503020204020204" pitchFamily="34" charset="-122"/>
              </a:rPr>
              <a:t>命令从</a:t>
            </a:r>
            <a:r>
              <a:rPr lang="en-US" altLang="zh-CN" sz="1600" dirty="0" err="1">
                <a:solidFill>
                  <a:prstClr val="white"/>
                </a:solidFill>
                <a:latin typeface="微软雅黑" panose="020B0503020204020204" pitchFamily="34" charset="-122"/>
                <a:ea typeface="微软雅黑" panose="020B0503020204020204" pitchFamily="34" charset="-122"/>
              </a:rPr>
              <a:t>Redis</a:t>
            </a:r>
            <a:r>
              <a:rPr lang="en-US" altLang="zh-CN" sz="1600" dirty="0">
                <a:solidFill>
                  <a:prstClr val="white"/>
                </a:solidFill>
                <a:latin typeface="微软雅黑" panose="020B0503020204020204" pitchFamily="34" charset="-122"/>
                <a:ea typeface="微软雅黑" panose="020B0503020204020204" pitchFamily="34" charset="-122"/>
              </a:rPr>
              <a:t> 2.6.12</a:t>
            </a:r>
            <a:r>
              <a:rPr lang="zh-CN" altLang="en-US" sz="1600" dirty="0">
                <a:solidFill>
                  <a:prstClr val="white"/>
                </a:solidFill>
                <a:latin typeface="微软雅黑" panose="020B0503020204020204" pitchFamily="34" charset="-122"/>
                <a:ea typeface="微软雅黑" panose="020B0503020204020204" pitchFamily="34" charset="-122"/>
              </a:rPr>
              <a:t>起支持以下可选的参数</a:t>
            </a:r>
            <a:endParaRPr lang="en-US" altLang="zh-CN" sz="1600" dirty="0">
              <a:solidFill>
                <a:prstClr val="white"/>
              </a:solidFill>
              <a:latin typeface="微软雅黑" panose="020B0503020204020204" pitchFamily="34" charset="-122"/>
              <a:ea typeface="微软雅黑" panose="020B0503020204020204" pitchFamily="34" charset="-122"/>
            </a:endParaRPr>
          </a:p>
          <a:p>
            <a:pPr lvl="2"/>
            <a:r>
              <a:rPr lang="en-US" altLang="zh-CN" sz="1500" i="1" dirty="0">
                <a:solidFill>
                  <a:prstClr val="white"/>
                </a:solidFill>
                <a:latin typeface="微软雅黑" panose="020B0503020204020204" pitchFamily="34" charset="-122"/>
                <a:ea typeface="微软雅黑" panose="020B0503020204020204" pitchFamily="34" charset="-122"/>
              </a:rPr>
              <a:t>EX seconds          # </a:t>
            </a:r>
            <a:r>
              <a:rPr lang="zh-CN" altLang="en-US" sz="1500" i="1" dirty="0">
                <a:solidFill>
                  <a:prstClr val="white"/>
                </a:solidFill>
                <a:latin typeface="微软雅黑" panose="020B0503020204020204" pitchFamily="34" charset="-122"/>
                <a:ea typeface="微软雅黑" panose="020B0503020204020204" pitchFamily="34" charset="-122"/>
              </a:rPr>
              <a:t>指定过期时间，单位是秒</a:t>
            </a:r>
            <a:r>
              <a:rPr lang="en-US" altLang="zh-CN" sz="1500" i="1" dirty="0">
                <a:solidFill>
                  <a:prstClr val="white"/>
                </a:solidFill>
                <a:latin typeface="微软雅黑" panose="020B0503020204020204" pitchFamily="34" charset="-122"/>
                <a:ea typeface="微软雅黑" panose="020B0503020204020204" pitchFamily="34" charset="-122"/>
              </a:rPr>
              <a:t>.</a:t>
            </a:r>
          </a:p>
          <a:p>
            <a:pPr lvl="2"/>
            <a:r>
              <a:rPr lang="en-US" altLang="zh-CN" sz="1500" i="1" dirty="0">
                <a:solidFill>
                  <a:prstClr val="white"/>
                </a:solidFill>
                <a:latin typeface="微软雅黑" panose="020B0503020204020204" pitchFamily="34" charset="-122"/>
                <a:ea typeface="微软雅黑" panose="020B0503020204020204" pitchFamily="34" charset="-122"/>
              </a:rPr>
              <a:t>PX milliseconds   # </a:t>
            </a:r>
            <a:r>
              <a:rPr lang="zh-CN" altLang="en-US" sz="1500" i="1" dirty="0">
                <a:solidFill>
                  <a:prstClr val="white"/>
                </a:solidFill>
                <a:latin typeface="微软雅黑" panose="020B0503020204020204" pitchFamily="34" charset="-122"/>
                <a:ea typeface="微软雅黑" panose="020B0503020204020204" pitchFamily="34" charset="-122"/>
              </a:rPr>
              <a:t>指定过期时间，单位是毫秒</a:t>
            </a:r>
            <a:endParaRPr lang="en-US" altLang="zh-CN" sz="1500" i="1" dirty="0">
              <a:solidFill>
                <a:prstClr val="white"/>
              </a:solidFill>
              <a:latin typeface="微软雅黑" panose="020B0503020204020204" pitchFamily="34" charset="-122"/>
              <a:ea typeface="微软雅黑" panose="020B0503020204020204" pitchFamily="34" charset="-122"/>
            </a:endParaRPr>
          </a:p>
          <a:p>
            <a:pPr lvl="2"/>
            <a:r>
              <a:rPr lang="en-US" altLang="zh-CN" sz="1500" i="1" dirty="0">
                <a:solidFill>
                  <a:prstClr val="white"/>
                </a:solidFill>
                <a:latin typeface="微软雅黑" panose="020B0503020204020204" pitchFamily="34" charset="-122"/>
                <a:ea typeface="微软雅黑" panose="020B0503020204020204" pitchFamily="34" charset="-122"/>
              </a:rPr>
              <a:t>NX                       # </a:t>
            </a:r>
            <a:r>
              <a:rPr lang="zh-CN" altLang="en-US" sz="1500" i="1" dirty="0">
                <a:solidFill>
                  <a:prstClr val="white"/>
                </a:solidFill>
                <a:latin typeface="微软雅黑" panose="020B0503020204020204" pitchFamily="34" charset="-122"/>
                <a:ea typeface="微软雅黑" panose="020B0503020204020204" pitchFamily="34" charset="-122"/>
              </a:rPr>
              <a:t>当</a:t>
            </a:r>
            <a:r>
              <a:rPr lang="en-US" altLang="zh-CN" sz="1500" i="1" dirty="0">
                <a:solidFill>
                  <a:prstClr val="white"/>
                </a:solidFill>
                <a:latin typeface="微软雅黑" panose="020B0503020204020204" pitchFamily="34" charset="-122"/>
                <a:ea typeface="微软雅黑" panose="020B0503020204020204" pitchFamily="34" charset="-122"/>
              </a:rPr>
              <a:t>key</a:t>
            </a:r>
            <a:r>
              <a:rPr lang="zh-CN" altLang="en-US" sz="1500" i="1" dirty="0">
                <a:solidFill>
                  <a:prstClr val="white"/>
                </a:solidFill>
                <a:latin typeface="微软雅黑" panose="020B0503020204020204" pitchFamily="34" charset="-122"/>
                <a:ea typeface="微软雅黑" panose="020B0503020204020204" pitchFamily="34" charset="-122"/>
              </a:rPr>
              <a:t>不存在时设置成功</a:t>
            </a:r>
            <a:r>
              <a:rPr lang="en-US" altLang="zh-CN" sz="1500" i="1" dirty="0">
                <a:solidFill>
                  <a:prstClr val="white"/>
                </a:solidFill>
                <a:latin typeface="微软雅黑" panose="020B0503020204020204" pitchFamily="34" charset="-122"/>
                <a:ea typeface="微软雅黑" panose="020B0503020204020204" pitchFamily="34" charset="-122"/>
              </a:rPr>
              <a:t>.</a:t>
            </a:r>
          </a:p>
          <a:p>
            <a:pPr lvl="2"/>
            <a:r>
              <a:rPr lang="en-US" altLang="zh-CN" sz="1500" i="1" dirty="0">
                <a:solidFill>
                  <a:prstClr val="white"/>
                </a:solidFill>
                <a:latin typeface="微软雅黑" panose="020B0503020204020204" pitchFamily="34" charset="-122"/>
                <a:ea typeface="微软雅黑" panose="020B0503020204020204" pitchFamily="34" charset="-122"/>
              </a:rPr>
              <a:t>XX                       # </a:t>
            </a:r>
            <a:r>
              <a:rPr lang="zh-CN" altLang="en-US" sz="1500" i="1" dirty="0">
                <a:solidFill>
                  <a:prstClr val="white"/>
                </a:solidFill>
                <a:latin typeface="微软雅黑" panose="020B0503020204020204" pitchFamily="34" charset="-122"/>
                <a:ea typeface="微软雅黑" panose="020B0503020204020204" pitchFamily="34" charset="-122"/>
              </a:rPr>
              <a:t>当</a:t>
            </a:r>
            <a:r>
              <a:rPr lang="en-US" altLang="zh-CN" sz="1500" i="1" dirty="0">
                <a:solidFill>
                  <a:prstClr val="white"/>
                </a:solidFill>
                <a:latin typeface="微软雅黑" panose="020B0503020204020204" pitchFamily="34" charset="-122"/>
                <a:ea typeface="微软雅黑" panose="020B0503020204020204" pitchFamily="34" charset="-122"/>
              </a:rPr>
              <a:t>key</a:t>
            </a:r>
            <a:r>
              <a:rPr lang="zh-CN" altLang="en-US" sz="1500" i="1" dirty="0">
                <a:solidFill>
                  <a:prstClr val="white"/>
                </a:solidFill>
                <a:latin typeface="微软雅黑" panose="020B0503020204020204" pitchFamily="34" charset="-122"/>
                <a:ea typeface="微软雅黑" panose="020B0503020204020204" pitchFamily="34" charset="-122"/>
              </a:rPr>
              <a:t>存在时覆盖，不存在是设置失败</a:t>
            </a:r>
            <a:r>
              <a:rPr lang="en-US" altLang="zh-CN" sz="1500" i="1" dirty="0">
                <a:solidFill>
                  <a:prstClr val="white"/>
                </a:solidFill>
                <a:latin typeface="微软雅黑" panose="020B0503020204020204" pitchFamily="34" charset="-122"/>
                <a:ea typeface="微软雅黑" panose="020B0503020204020204" pitchFamily="34" charset="-122"/>
              </a:rPr>
              <a:t>.</a:t>
            </a:r>
          </a:p>
          <a:p>
            <a:pPr>
              <a:lnSpc>
                <a:spcPct val="140000"/>
              </a:lnSpc>
            </a:pPr>
            <a:endParaRPr lang="en-US" altLang="zh-CN" sz="1600" dirty="0">
              <a:solidFill>
                <a:prstClr val="white"/>
              </a:solidFill>
              <a:latin typeface="微软雅黑" panose="020B0503020204020204" pitchFamily="34" charset="-122"/>
              <a:ea typeface="微软雅黑" panose="020B0503020204020204" pitchFamily="34" charset="-122"/>
            </a:endParaRPr>
          </a:p>
          <a:p>
            <a:pPr marL="285750" indent="-285750">
              <a:lnSpc>
                <a:spcPct val="140000"/>
              </a:lnSpc>
              <a:buFont typeface="Arial" panose="020B0604020202020204" pitchFamily="34" charset="0"/>
              <a:buChar char="•"/>
            </a:pPr>
            <a:r>
              <a:rPr lang="zh-CN" altLang="en-US" dirty="0">
                <a:solidFill>
                  <a:prstClr val="white"/>
                </a:solidFill>
                <a:latin typeface="微软雅黑" panose="020B0503020204020204" pitchFamily="34" charset="-122"/>
                <a:ea typeface="微软雅黑" panose="020B0503020204020204" pitchFamily="34" charset="-122"/>
              </a:rPr>
              <a:t>示例 </a:t>
            </a:r>
            <a:r>
              <a:rPr lang="en-US" altLang="zh-CN" dirty="0">
                <a:solidFill>
                  <a:prstClr val="white"/>
                </a:solidFill>
                <a:latin typeface="微软雅黑" panose="020B0503020204020204" pitchFamily="34" charset="-122"/>
                <a:ea typeface="微软雅黑" panose="020B0503020204020204" pitchFamily="34" charset="-122"/>
              </a:rPr>
              <a:t>2.1.1 -1</a:t>
            </a:r>
          </a:p>
          <a:p>
            <a:pPr>
              <a:lnSpc>
                <a:spcPct val="140000"/>
              </a:lnSpc>
            </a:pPr>
            <a:r>
              <a:rPr lang="en-US" altLang="zh-CN" sz="1600" dirty="0">
                <a:solidFill>
                  <a:prstClr val="white"/>
                </a:solidFill>
                <a:latin typeface="微软雅黑" panose="020B0503020204020204" pitchFamily="34" charset="-122"/>
                <a:ea typeface="微软雅黑" panose="020B0503020204020204" pitchFamily="34" charset="-122"/>
              </a:rPr>
              <a:t>    </a:t>
            </a:r>
            <a:r>
              <a:rPr lang="en-US" altLang="zh-CN" sz="1600" dirty="0">
                <a:solidFill>
                  <a:srgbClr val="70AD47"/>
                </a:solidFill>
                <a:latin typeface="微软雅黑" panose="020B0503020204020204" pitchFamily="34" charset="-122"/>
                <a:ea typeface="微软雅黑" panose="020B0503020204020204" pitchFamily="34" charset="-122"/>
              </a:rPr>
              <a:t>&gt; set </a:t>
            </a:r>
            <a:r>
              <a:rPr lang="en-US" altLang="zh-CN" sz="1600" dirty="0" err="1">
                <a:solidFill>
                  <a:srgbClr val="70AD47"/>
                </a:solidFill>
                <a:latin typeface="微软雅黑" panose="020B0503020204020204" pitchFamily="34" charset="-122"/>
                <a:ea typeface="微软雅黑" panose="020B0503020204020204" pitchFamily="34" charset="-122"/>
              </a:rPr>
              <a:t>mykey</a:t>
            </a:r>
            <a:r>
              <a:rPr lang="en-US" altLang="zh-CN" sz="1600" dirty="0">
                <a:solidFill>
                  <a:srgbClr val="70AD47"/>
                </a:solidFill>
                <a:latin typeface="微软雅黑" panose="020B0503020204020204" pitchFamily="34" charset="-122"/>
                <a:ea typeface="微软雅黑" panose="020B0503020204020204" pitchFamily="34" charset="-122"/>
              </a:rPr>
              <a:t> hello ex 10 </a:t>
            </a:r>
            <a:r>
              <a:rPr lang="en-US" altLang="zh-CN" sz="1600" dirty="0" err="1">
                <a:solidFill>
                  <a:srgbClr val="70AD47"/>
                </a:solidFill>
                <a:latin typeface="微软雅黑" panose="020B0503020204020204" pitchFamily="34" charset="-122"/>
                <a:ea typeface="微软雅黑" panose="020B0503020204020204" pitchFamily="34" charset="-122"/>
              </a:rPr>
              <a:t>nx</a:t>
            </a:r>
            <a:r>
              <a:rPr lang="en-US" altLang="zh-CN" sz="1600" dirty="0">
                <a:solidFill>
                  <a:srgbClr val="70AD47"/>
                </a:solidFill>
                <a:latin typeface="微软雅黑" panose="020B0503020204020204" pitchFamily="34" charset="-122"/>
                <a:ea typeface="微软雅黑" panose="020B0503020204020204" pitchFamily="34" charset="-122"/>
              </a:rPr>
              <a:t>    </a:t>
            </a:r>
            <a:r>
              <a:rPr lang="en-US" altLang="zh-CN" sz="1600" dirty="0">
                <a:solidFill>
                  <a:prstClr val="white"/>
                </a:solidFill>
                <a:latin typeface="微软雅黑" panose="020B0503020204020204" pitchFamily="34" charset="-122"/>
                <a:ea typeface="微软雅黑" panose="020B0503020204020204" pitchFamily="34" charset="-122"/>
              </a:rPr>
              <a:t># </a:t>
            </a:r>
            <a:r>
              <a:rPr lang="zh-CN" altLang="en-US" sz="1600" dirty="0">
                <a:solidFill>
                  <a:prstClr val="white"/>
                </a:solidFill>
                <a:latin typeface="微软雅黑" panose="020B0503020204020204" pitchFamily="34" charset="-122"/>
                <a:ea typeface="微软雅黑" panose="020B0503020204020204" pitchFamily="34" charset="-122"/>
              </a:rPr>
              <a:t>当</a:t>
            </a:r>
            <a:r>
              <a:rPr lang="en-US" altLang="zh-CN" sz="1600" dirty="0" err="1">
                <a:solidFill>
                  <a:prstClr val="white"/>
                </a:solidFill>
                <a:latin typeface="微软雅黑" panose="020B0503020204020204" pitchFamily="34" charset="-122"/>
                <a:ea typeface="微软雅黑" panose="020B0503020204020204" pitchFamily="34" charset="-122"/>
              </a:rPr>
              <a:t>mykey</a:t>
            </a:r>
            <a:r>
              <a:rPr lang="zh-CN" altLang="en-US" sz="1600" dirty="0">
                <a:solidFill>
                  <a:prstClr val="white"/>
                </a:solidFill>
                <a:latin typeface="微软雅黑" panose="020B0503020204020204" pitchFamily="34" charset="-122"/>
                <a:ea typeface="微软雅黑" panose="020B0503020204020204" pitchFamily="34" charset="-122"/>
              </a:rPr>
              <a:t>不存在时，设置</a:t>
            </a:r>
            <a:r>
              <a:rPr lang="en-US" altLang="zh-CN" sz="1600" dirty="0" err="1">
                <a:solidFill>
                  <a:prstClr val="white"/>
                </a:solidFill>
                <a:latin typeface="微软雅黑" panose="020B0503020204020204" pitchFamily="34" charset="-122"/>
                <a:ea typeface="微软雅黑" panose="020B0503020204020204" pitchFamily="34" charset="-122"/>
              </a:rPr>
              <a:t>mykey</a:t>
            </a:r>
            <a:r>
              <a:rPr lang="zh-CN" altLang="en-US" sz="1600" dirty="0">
                <a:solidFill>
                  <a:prstClr val="white"/>
                </a:solidFill>
                <a:latin typeface="微软雅黑" panose="020B0503020204020204" pitchFamily="34" charset="-122"/>
                <a:ea typeface="微软雅黑" panose="020B0503020204020204" pitchFamily="34" charset="-122"/>
              </a:rPr>
              <a:t>的值为</a:t>
            </a:r>
            <a:r>
              <a:rPr lang="en-US" altLang="zh-CN" sz="1600" dirty="0">
                <a:solidFill>
                  <a:prstClr val="white"/>
                </a:solidFill>
                <a:latin typeface="微软雅黑" panose="020B0503020204020204" pitchFamily="34" charset="-122"/>
                <a:ea typeface="微软雅黑" panose="020B0503020204020204" pitchFamily="34" charset="-122"/>
              </a:rPr>
              <a:t>hello</a:t>
            </a:r>
            <a:r>
              <a:rPr lang="zh-CN" altLang="en-US" sz="1600" dirty="0">
                <a:solidFill>
                  <a:prstClr val="white"/>
                </a:solidFill>
                <a:latin typeface="微软雅黑" panose="020B0503020204020204" pitchFamily="34" charset="-122"/>
                <a:ea typeface="微软雅黑" panose="020B0503020204020204" pitchFamily="34" charset="-122"/>
              </a:rPr>
              <a:t>，过期时间为</a:t>
            </a:r>
            <a:r>
              <a:rPr lang="en-US" altLang="zh-CN" sz="1600" dirty="0">
                <a:solidFill>
                  <a:prstClr val="white"/>
                </a:solidFill>
                <a:latin typeface="微软雅黑" panose="020B0503020204020204" pitchFamily="34" charset="-122"/>
                <a:ea typeface="微软雅黑" panose="020B0503020204020204" pitchFamily="34" charset="-122"/>
              </a:rPr>
              <a:t>10</a:t>
            </a:r>
            <a:r>
              <a:rPr lang="zh-CN" altLang="en-US" sz="1600" dirty="0">
                <a:solidFill>
                  <a:prstClr val="white"/>
                </a:solidFill>
                <a:latin typeface="微软雅黑" panose="020B0503020204020204" pitchFamily="34" charset="-122"/>
                <a:ea typeface="微软雅黑" panose="020B0503020204020204" pitchFamily="34" charset="-122"/>
              </a:rPr>
              <a:t>秒。</a:t>
            </a:r>
            <a:r>
              <a:rPr lang="zh-CN" altLang="en-US" dirty="0">
                <a:solidFill>
                  <a:prstClr val="white"/>
                </a:solidFill>
                <a:latin typeface="微软雅黑" panose="020B0503020204020204" pitchFamily="34" charset="-122"/>
                <a:ea typeface="微软雅黑" panose="020B0503020204020204" pitchFamily="34" charset="-122"/>
              </a:rPr>
              <a:t> </a:t>
            </a:r>
            <a:endParaRPr lang="en-US" altLang="zh-CN" dirty="0">
              <a:solidFill>
                <a:prstClr val="white"/>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231496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circle(in)">
                                      <p:cBhvr>
                                        <p:cTn id="7"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A0F23"/>
        </a:solidFill>
        <a:effectLst/>
      </p:bgPr>
    </p:bg>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xmlns="" id="{CBDC52CD-1D62-48AF-A9DF-9F18AEA2B1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01385" y="-114300"/>
            <a:ext cx="1301859" cy="920356"/>
          </a:xfrm>
          <a:prstGeom prst="rect">
            <a:avLst/>
          </a:prstGeom>
        </p:spPr>
      </p:pic>
      <p:pic>
        <p:nvPicPr>
          <p:cNvPr id="14" name="图片 13">
            <a:extLst>
              <a:ext uri="{FF2B5EF4-FFF2-40B4-BE49-F238E27FC236}">
                <a16:creationId xmlns:a16="http://schemas.microsoft.com/office/drawing/2014/main" xmlns="" id="{F78DA958-9B1B-47DA-A870-8C0B3A7D8866}"/>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b="63537"/>
          <a:stretch/>
        </p:blipFill>
        <p:spPr>
          <a:xfrm>
            <a:off x="11184164" y="217733"/>
            <a:ext cx="572339" cy="337210"/>
          </a:xfrm>
          <a:prstGeom prst="rect">
            <a:avLst/>
          </a:prstGeom>
        </p:spPr>
      </p:pic>
      <p:cxnSp>
        <p:nvCxnSpPr>
          <p:cNvPr id="15" name="直接连接符 14">
            <a:extLst>
              <a:ext uri="{FF2B5EF4-FFF2-40B4-BE49-F238E27FC236}">
                <a16:creationId xmlns:a16="http://schemas.microsoft.com/office/drawing/2014/main" xmlns="" id="{93240A06-D526-4907-A163-94ABB41190CC}"/>
              </a:ext>
            </a:extLst>
          </p:cNvPr>
          <p:cNvCxnSpPr/>
          <p:nvPr/>
        </p:nvCxnSpPr>
        <p:spPr>
          <a:xfrm>
            <a:off x="11103244" y="225825"/>
            <a:ext cx="0" cy="2435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704850" y="605109"/>
            <a:ext cx="8883650" cy="523220"/>
          </a:xfrm>
          <a:prstGeom prst="rect">
            <a:avLst/>
          </a:prstGeom>
          <a:noFill/>
        </p:spPr>
        <p:txBody>
          <a:bodyPr wrap="square" rtlCol="0">
            <a:spAutoFit/>
          </a:bodyPr>
          <a:lstStyle/>
          <a:p>
            <a:pPr>
              <a:defRPr/>
            </a:pPr>
            <a:r>
              <a:rPr lang="en-US" altLang="zh-CN"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2.1.2 </a:t>
            </a:r>
            <a:r>
              <a:rPr lang="zh-CN" altLang="en-US"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常用命令</a:t>
            </a:r>
          </a:p>
        </p:txBody>
      </p:sp>
      <p:sp>
        <p:nvSpPr>
          <p:cNvPr id="3" name="文本框 2"/>
          <p:cNvSpPr txBox="1"/>
          <p:nvPr/>
        </p:nvSpPr>
        <p:spPr>
          <a:xfrm>
            <a:off x="791934" y="1371600"/>
            <a:ext cx="5434693" cy="5016758"/>
          </a:xfrm>
          <a:prstGeom prst="rect">
            <a:avLst/>
          </a:prstGeom>
          <a:noFill/>
          <a:ln>
            <a:solidFill>
              <a:schemeClr val="bg1"/>
            </a:solidFill>
          </a:ln>
        </p:spPr>
        <p:txBody>
          <a:bodyPr wrap="square" rtlCol="0">
            <a:spAutoFit/>
          </a:bodyPr>
          <a:lstStyle/>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a:solidFill>
                  <a:srgbClr val="FFD343"/>
                </a:solidFill>
                <a:latin typeface="微软雅黑" panose="020B0503020204020204" pitchFamily="34" charset="-122"/>
                <a:ea typeface="微软雅黑" panose="020B0503020204020204" pitchFamily="34" charset="-122"/>
              </a:rPr>
              <a:t>set</a:t>
            </a:r>
            <a:r>
              <a:rPr lang="en-US" altLang="zh-CN" sz="1600" dirty="0">
                <a:solidFill>
                  <a:srgbClr val="C00000"/>
                </a:solidFill>
                <a:latin typeface="微软雅黑" panose="020B0503020204020204" pitchFamily="34" charset="-122"/>
                <a:ea typeface="微软雅黑" panose="020B0503020204020204" pitchFamily="34" charset="-122"/>
              </a:rPr>
              <a:t> </a:t>
            </a:r>
            <a:r>
              <a:rPr lang="en-US" altLang="zh-CN" sz="1600" dirty="0">
                <a:solidFill>
                  <a:schemeClr val="accent6"/>
                </a:solidFill>
                <a:latin typeface="微软雅黑" panose="020B0503020204020204" pitchFamily="34" charset="-122"/>
                <a:ea typeface="微软雅黑" panose="020B0503020204020204" pitchFamily="34" charset="-122"/>
              </a:rPr>
              <a:t>name jack </a:t>
            </a:r>
            <a:r>
              <a:rPr lang="en-US" altLang="zh-CN" sz="1600" dirty="0">
                <a:solidFill>
                  <a:schemeClr val="bg1"/>
                </a:solidFill>
                <a:latin typeface="微软雅黑" panose="020B0503020204020204" pitchFamily="34" charset="-122"/>
                <a:ea typeface="微软雅黑" panose="020B0503020204020204" pitchFamily="34" charset="-122"/>
              </a:rPr>
              <a:t>  </a:t>
            </a:r>
            <a:r>
              <a:rPr lang="en-US" altLang="zh-CN" sz="1600" dirty="0">
                <a:solidFill>
                  <a:schemeClr val="accent1"/>
                </a:solidFill>
                <a:latin typeface="微软雅黑" panose="020B0503020204020204" pitchFamily="34" charset="-122"/>
                <a:ea typeface="微软雅黑" panose="020B0503020204020204" pitchFamily="34" charset="-122"/>
              </a:rPr>
              <a:t># </a:t>
            </a:r>
            <a:r>
              <a:rPr lang="zh-CN" altLang="en-US" sz="1600" dirty="0">
                <a:solidFill>
                  <a:schemeClr val="accent1"/>
                </a:solidFill>
                <a:latin typeface="微软雅黑" panose="020B0503020204020204" pitchFamily="34" charset="-122"/>
                <a:ea typeface="微软雅黑" panose="020B0503020204020204" pitchFamily="34" charset="-122"/>
              </a:rPr>
              <a:t>设置</a:t>
            </a:r>
            <a:r>
              <a:rPr lang="en-US" altLang="zh-CN" sz="1600" dirty="0">
                <a:solidFill>
                  <a:schemeClr val="accent1"/>
                </a:solidFill>
                <a:latin typeface="微软雅黑" panose="020B0503020204020204" pitchFamily="34" charset="-122"/>
                <a:ea typeface="微软雅黑" panose="020B0503020204020204" pitchFamily="34" charset="-122"/>
              </a:rPr>
              <a:t>key</a:t>
            </a:r>
            <a:r>
              <a:rPr lang="zh-CN" altLang="en-US" sz="1600" dirty="0">
                <a:solidFill>
                  <a:schemeClr val="accent1"/>
                </a:solidFill>
                <a:latin typeface="微软雅黑" panose="020B0503020204020204" pitchFamily="34" charset="-122"/>
                <a:ea typeface="微软雅黑" panose="020B0503020204020204" pitchFamily="34" charset="-122"/>
              </a:rPr>
              <a:t>为</a:t>
            </a:r>
            <a:r>
              <a:rPr lang="en-US" altLang="zh-CN" sz="1600" dirty="0">
                <a:solidFill>
                  <a:schemeClr val="accent1"/>
                </a:solidFill>
                <a:latin typeface="微软雅黑" panose="020B0503020204020204" pitchFamily="34" charset="-122"/>
                <a:ea typeface="微软雅黑" panose="020B0503020204020204" pitchFamily="34" charset="-122"/>
              </a:rPr>
              <a:t>name value=jack</a:t>
            </a:r>
          </a:p>
          <a:p>
            <a:r>
              <a:rPr lang="en-US" altLang="zh-CN" sz="1600" dirty="0">
                <a:solidFill>
                  <a:schemeClr val="accent6"/>
                </a:solidFill>
                <a:latin typeface="微软雅黑" panose="020B0503020204020204" pitchFamily="34" charset="-122"/>
                <a:ea typeface="微软雅黑" panose="020B0503020204020204" pitchFamily="34" charset="-122"/>
              </a:rPr>
              <a:t>OK</a:t>
            </a:r>
          </a:p>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a:solidFill>
                  <a:srgbClr val="FFD343"/>
                </a:solidFill>
                <a:latin typeface="微软雅黑" panose="020B0503020204020204" pitchFamily="34" charset="-122"/>
                <a:ea typeface="微软雅黑" panose="020B0503020204020204" pitchFamily="34" charset="-122"/>
              </a:rPr>
              <a:t>get</a:t>
            </a:r>
            <a:r>
              <a:rPr lang="en-US" altLang="zh-CN" sz="1600" dirty="0">
                <a:solidFill>
                  <a:schemeClr val="accent6"/>
                </a:solidFill>
                <a:latin typeface="微软雅黑" panose="020B0503020204020204" pitchFamily="34" charset="-122"/>
                <a:ea typeface="微软雅黑" panose="020B0503020204020204" pitchFamily="34" charset="-122"/>
              </a:rPr>
              <a:t> name        </a:t>
            </a:r>
            <a:r>
              <a:rPr lang="en-US" altLang="zh-CN" sz="1600" dirty="0" smtClean="0">
                <a:solidFill>
                  <a:schemeClr val="accent6"/>
                </a:solidFill>
                <a:latin typeface="微软雅黑" panose="020B0503020204020204" pitchFamily="34" charset="-122"/>
                <a:ea typeface="微软雅黑" panose="020B0503020204020204" pitchFamily="34" charset="-122"/>
              </a:rPr>
              <a:t>  </a:t>
            </a:r>
            <a:r>
              <a:rPr lang="en-US" altLang="zh-CN" sz="1600" dirty="0" smtClean="0">
                <a:solidFill>
                  <a:schemeClr val="accent1"/>
                </a:solidFill>
                <a:latin typeface="微软雅黑" panose="020B0503020204020204" pitchFamily="34" charset="-122"/>
                <a:ea typeface="微软雅黑" panose="020B0503020204020204" pitchFamily="34" charset="-122"/>
              </a:rPr>
              <a:t># </a:t>
            </a:r>
            <a:r>
              <a:rPr lang="zh-CN" altLang="en-US" sz="1600" dirty="0">
                <a:solidFill>
                  <a:schemeClr val="accent1"/>
                </a:solidFill>
                <a:latin typeface="微软雅黑" panose="020B0503020204020204" pitchFamily="34" charset="-122"/>
                <a:ea typeface="微软雅黑" panose="020B0503020204020204" pitchFamily="34" charset="-122"/>
              </a:rPr>
              <a:t>获取</a:t>
            </a:r>
            <a:r>
              <a:rPr lang="en-US" altLang="zh-CN" sz="1600" dirty="0">
                <a:solidFill>
                  <a:schemeClr val="accent1"/>
                </a:solidFill>
                <a:latin typeface="微软雅黑" panose="020B0503020204020204" pitchFamily="34" charset="-122"/>
                <a:ea typeface="微软雅黑" panose="020B0503020204020204" pitchFamily="34" charset="-122"/>
              </a:rPr>
              <a:t>name</a:t>
            </a:r>
            <a:r>
              <a:rPr lang="zh-CN" altLang="en-US" sz="1600" dirty="0">
                <a:solidFill>
                  <a:schemeClr val="accent1"/>
                </a:solidFill>
                <a:latin typeface="微软雅黑" panose="020B0503020204020204" pitchFamily="34" charset="-122"/>
                <a:ea typeface="微软雅黑" panose="020B0503020204020204" pitchFamily="34" charset="-122"/>
              </a:rPr>
              <a:t>的值</a:t>
            </a:r>
          </a:p>
          <a:p>
            <a:r>
              <a:rPr lang="en-US" altLang="zh-CN" sz="1600" dirty="0">
                <a:solidFill>
                  <a:schemeClr val="accent6"/>
                </a:solidFill>
                <a:latin typeface="微软雅黑" panose="020B0503020204020204" pitchFamily="34" charset="-122"/>
                <a:ea typeface="微软雅黑" panose="020B0503020204020204" pitchFamily="34" charset="-122"/>
              </a:rPr>
              <a:t>"jack"</a:t>
            </a:r>
          </a:p>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getrange</a:t>
            </a:r>
            <a:r>
              <a:rPr lang="en-US" altLang="zh-CN" sz="1600" dirty="0">
                <a:solidFill>
                  <a:srgbClr val="C00000"/>
                </a:solidFill>
                <a:latin typeface="微软雅黑" panose="020B0503020204020204" pitchFamily="34" charset="-122"/>
                <a:ea typeface="微软雅黑" panose="020B0503020204020204" pitchFamily="34" charset="-122"/>
              </a:rPr>
              <a:t> </a:t>
            </a:r>
            <a:r>
              <a:rPr lang="en-US" altLang="zh-CN" sz="1600" dirty="0">
                <a:solidFill>
                  <a:schemeClr val="accent6"/>
                </a:solidFill>
                <a:latin typeface="微软雅黑" panose="020B0503020204020204" pitchFamily="34" charset="-122"/>
                <a:ea typeface="微软雅黑" panose="020B0503020204020204" pitchFamily="34" charset="-122"/>
              </a:rPr>
              <a:t>name 0 2  </a:t>
            </a:r>
            <a:r>
              <a:rPr lang="en-US" altLang="zh-CN" sz="1600" dirty="0" smtClean="0">
                <a:solidFill>
                  <a:schemeClr val="accent6"/>
                </a:solidFill>
                <a:latin typeface="微软雅黑" panose="020B0503020204020204" pitchFamily="34" charset="-122"/>
                <a:ea typeface="微软雅黑" panose="020B0503020204020204" pitchFamily="34" charset="-122"/>
              </a:rPr>
              <a:t> </a:t>
            </a:r>
            <a:r>
              <a:rPr lang="en-US" altLang="zh-CN" sz="1600" dirty="0" smtClean="0">
                <a:solidFill>
                  <a:schemeClr val="accent1"/>
                </a:solidFill>
                <a:latin typeface="微软雅黑" panose="020B0503020204020204" pitchFamily="34" charset="-122"/>
                <a:ea typeface="微软雅黑" panose="020B0503020204020204" pitchFamily="34" charset="-122"/>
              </a:rPr>
              <a:t>#</a:t>
            </a:r>
            <a:r>
              <a:rPr lang="zh-CN" altLang="en-US" sz="1600" dirty="0">
                <a:solidFill>
                  <a:schemeClr val="accent1"/>
                </a:solidFill>
                <a:latin typeface="微软雅黑" panose="020B0503020204020204" pitchFamily="34" charset="-122"/>
                <a:ea typeface="微软雅黑" panose="020B0503020204020204" pitchFamily="34" charset="-122"/>
              </a:rPr>
              <a:t>获取</a:t>
            </a:r>
            <a:r>
              <a:rPr lang="en-US" altLang="zh-CN" sz="1600" dirty="0">
                <a:solidFill>
                  <a:schemeClr val="accent1"/>
                </a:solidFill>
                <a:latin typeface="微软雅黑" panose="020B0503020204020204" pitchFamily="34" charset="-122"/>
                <a:ea typeface="微软雅黑" panose="020B0503020204020204" pitchFamily="34" charset="-122"/>
              </a:rPr>
              <a:t>name</a:t>
            </a:r>
            <a:r>
              <a:rPr lang="zh-CN" altLang="en-US" sz="1600" dirty="0">
                <a:solidFill>
                  <a:schemeClr val="accent1"/>
                </a:solidFill>
                <a:latin typeface="微软雅黑" panose="020B0503020204020204" pitchFamily="34" charset="-122"/>
                <a:ea typeface="微软雅黑" panose="020B0503020204020204" pitchFamily="34" charset="-122"/>
              </a:rPr>
              <a:t>值从</a:t>
            </a:r>
            <a:r>
              <a:rPr lang="en-US" altLang="zh-CN" sz="1600" dirty="0">
                <a:solidFill>
                  <a:schemeClr val="accent1"/>
                </a:solidFill>
                <a:latin typeface="微软雅黑" panose="020B0503020204020204" pitchFamily="34" charset="-122"/>
                <a:ea typeface="微软雅黑" panose="020B0503020204020204" pitchFamily="34" charset="-122"/>
              </a:rPr>
              <a:t>1</a:t>
            </a:r>
            <a:r>
              <a:rPr lang="zh-CN" altLang="en-US" sz="1600" dirty="0">
                <a:solidFill>
                  <a:schemeClr val="accent1"/>
                </a:solidFill>
                <a:latin typeface="微软雅黑" panose="020B0503020204020204" pitchFamily="34" charset="-122"/>
                <a:ea typeface="微软雅黑" panose="020B0503020204020204" pitchFamily="34" charset="-122"/>
              </a:rPr>
              <a:t>位到第</a:t>
            </a:r>
            <a:r>
              <a:rPr lang="en-US" altLang="zh-CN" sz="1600" dirty="0">
                <a:solidFill>
                  <a:schemeClr val="accent1"/>
                </a:solidFill>
                <a:latin typeface="微软雅黑" panose="020B0503020204020204" pitchFamily="34" charset="-122"/>
                <a:ea typeface="微软雅黑" panose="020B0503020204020204" pitchFamily="34" charset="-122"/>
              </a:rPr>
              <a:t>3</a:t>
            </a:r>
            <a:r>
              <a:rPr lang="zh-CN" altLang="en-US" sz="1600" dirty="0">
                <a:solidFill>
                  <a:schemeClr val="accent1"/>
                </a:solidFill>
                <a:latin typeface="微软雅黑" panose="020B0503020204020204" pitchFamily="34" charset="-122"/>
                <a:ea typeface="微软雅黑" panose="020B0503020204020204" pitchFamily="34" charset="-122"/>
              </a:rPr>
              <a:t>位的值</a:t>
            </a:r>
          </a:p>
          <a:p>
            <a:r>
              <a:rPr lang="en-US" altLang="zh-CN" sz="1600" dirty="0">
                <a:solidFill>
                  <a:schemeClr val="accent6"/>
                </a:solidFill>
                <a:latin typeface="微软雅黑" panose="020B0503020204020204" pitchFamily="34" charset="-122"/>
                <a:ea typeface="微软雅黑" panose="020B0503020204020204" pitchFamily="34" charset="-122"/>
              </a:rPr>
              <a:t>"</a:t>
            </a:r>
            <a:r>
              <a:rPr lang="en-US" altLang="zh-CN" sz="1600" dirty="0" err="1">
                <a:solidFill>
                  <a:schemeClr val="accent6"/>
                </a:solidFill>
                <a:latin typeface="微软雅黑" panose="020B0503020204020204" pitchFamily="34" charset="-122"/>
                <a:ea typeface="微软雅黑" panose="020B0503020204020204" pitchFamily="34" charset="-122"/>
              </a:rPr>
              <a:t>jac</a:t>
            </a:r>
            <a:r>
              <a:rPr lang="en-US" altLang="zh-CN" sz="1600" dirty="0">
                <a:solidFill>
                  <a:schemeClr val="accent6"/>
                </a:solidFill>
                <a:latin typeface="微软雅黑" panose="020B0503020204020204" pitchFamily="34" charset="-122"/>
                <a:ea typeface="微软雅黑" panose="020B0503020204020204" pitchFamily="34" charset="-122"/>
              </a:rPr>
              <a:t>"</a:t>
            </a:r>
          </a:p>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getrange</a:t>
            </a:r>
            <a:r>
              <a:rPr lang="en-US" altLang="zh-CN" sz="1600" dirty="0">
                <a:solidFill>
                  <a:srgbClr val="C00000"/>
                </a:solidFill>
                <a:latin typeface="微软雅黑" panose="020B0503020204020204" pitchFamily="34" charset="-122"/>
                <a:ea typeface="微软雅黑" panose="020B0503020204020204" pitchFamily="34" charset="-122"/>
              </a:rPr>
              <a:t> </a:t>
            </a:r>
            <a:r>
              <a:rPr lang="en-US" altLang="zh-CN" sz="1600" dirty="0">
                <a:solidFill>
                  <a:schemeClr val="accent6"/>
                </a:solidFill>
                <a:latin typeface="微软雅黑" panose="020B0503020204020204" pitchFamily="34" charset="-122"/>
                <a:ea typeface="微软雅黑" panose="020B0503020204020204" pitchFamily="34" charset="-122"/>
              </a:rPr>
              <a:t>name 0 -1 </a:t>
            </a:r>
            <a:r>
              <a:rPr lang="en-US" altLang="zh-CN" sz="1600" dirty="0">
                <a:solidFill>
                  <a:schemeClr val="accent1"/>
                </a:solidFill>
                <a:latin typeface="微软雅黑" panose="020B0503020204020204" pitchFamily="34" charset="-122"/>
                <a:ea typeface="微软雅黑" panose="020B0503020204020204" pitchFamily="34" charset="-122"/>
              </a:rPr>
              <a:t>#</a:t>
            </a:r>
            <a:r>
              <a:rPr lang="zh-CN" altLang="en-US" sz="1600" dirty="0">
                <a:solidFill>
                  <a:schemeClr val="accent1"/>
                </a:solidFill>
                <a:latin typeface="微软雅黑" panose="020B0503020204020204" pitchFamily="34" charset="-122"/>
                <a:ea typeface="微软雅黑" panose="020B0503020204020204" pitchFamily="34" charset="-122"/>
              </a:rPr>
              <a:t>获取</a:t>
            </a:r>
            <a:r>
              <a:rPr lang="en-US" altLang="zh-CN" sz="1600" dirty="0">
                <a:solidFill>
                  <a:schemeClr val="accent1"/>
                </a:solidFill>
                <a:latin typeface="微软雅黑" panose="020B0503020204020204" pitchFamily="34" charset="-122"/>
                <a:ea typeface="微软雅黑" panose="020B0503020204020204" pitchFamily="34" charset="-122"/>
              </a:rPr>
              <a:t>name</a:t>
            </a:r>
            <a:r>
              <a:rPr lang="zh-CN" altLang="en-US" sz="1600" dirty="0">
                <a:solidFill>
                  <a:schemeClr val="accent1"/>
                </a:solidFill>
                <a:latin typeface="微软雅黑" panose="020B0503020204020204" pitchFamily="34" charset="-122"/>
                <a:ea typeface="微软雅黑" panose="020B0503020204020204" pitchFamily="34" charset="-122"/>
              </a:rPr>
              <a:t>值</a:t>
            </a:r>
            <a:r>
              <a:rPr lang="zh-CN" altLang="en-US" sz="1600" dirty="0" smtClean="0">
                <a:solidFill>
                  <a:schemeClr val="accent1"/>
                </a:solidFill>
                <a:latin typeface="微软雅黑" panose="020B0503020204020204" pitchFamily="34" charset="-122"/>
                <a:ea typeface="微软雅黑" panose="020B0503020204020204" pitchFamily="34" charset="-122"/>
              </a:rPr>
              <a:t>从</a:t>
            </a:r>
            <a:r>
              <a:rPr lang="zh-CN" altLang="en-US" sz="1600" dirty="0">
                <a:solidFill>
                  <a:schemeClr val="accent1"/>
                </a:solidFill>
                <a:latin typeface="微软雅黑" panose="020B0503020204020204" pitchFamily="34" charset="-122"/>
                <a:ea typeface="微软雅黑" panose="020B0503020204020204" pitchFamily="34" charset="-122"/>
              </a:rPr>
              <a:t>首位</a:t>
            </a:r>
            <a:r>
              <a:rPr lang="zh-CN" altLang="en-US" sz="1600" dirty="0" smtClean="0">
                <a:solidFill>
                  <a:schemeClr val="accent1"/>
                </a:solidFill>
                <a:latin typeface="微软雅黑" panose="020B0503020204020204" pitchFamily="34" charset="-122"/>
                <a:ea typeface="微软雅黑" panose="020B0503020204020204" pitchFamily="34" charset="-122"/>
              </a:rPr>
              <a:t>到末位值</a:t>
            </a:r>
            <a:endParaRPr lang="zh-CN" altLang="en-US" sz="1600" dirty="0">
              <a:solidFill>
                <a:schemeClr val="accent1"/>
              </a:solidFill>
              <a:latin typeface="微软雅黑" panose="020B0503020204020204" pitchFamily="34" charset="-122"/>
              <a:ea typeface="微软雅黑" panose="020B0503020204020204" pitchFamily="34" charset="-122"/>
            </a:endParaRPr>
          </a:p>
          <a:p>
            <a:r>
              <a:rPr lang="en-US" altLang="zh-CN" sz="1600" dirty="0">
                <a:solidFill>
                  <a:schemeClr val="accent6"/>
                </a:solidFill>
                <a:latin typeface="微软雅黑" panose="020B0503020204020204" pitchFamily="34" charset="-122"/>
                <a:ea typeface="微软雅黑" panose="020B0503020204020204" pitchFamily="34" charset="-122"/>
              </a:rPr>
              <a:t>"jack"</a:t>
            </a:r>
          </a:p>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getset</a:t>
            </a:r>
            <a:r>
              <a:rPr lang="en-US" altLang="zh-CN" sz="1600" dirty="0">
                <a:solidFill>
                  <a:srgbClr val="C00000"/>
                </a:solidFill>
                <a:latin typeface="微软雅黑" panose="020B0503020204020204" pitchFamily="34" charset="-122"/>
                <a:ea typeface="微软雅黑" panose="020B0503020204020204" pitchFamily="34" charset="-122"/>
              </a:rPr>
              <a:t> </a:t>
            </a:r>
            <a:r>
              <a:rPr lang="en-US" altLang="zh-CN" sz="1600" dirty="0">
                <a:solidFill>
                  <a:schemeClr val="accent6"/>
                </a:solidFill>
                <a:latin typeface="微软雅黑" panose="020B0503020204020204" pitchFamily="34" charset="-122"/>
                <a:ea typeface="微软雅黑" panose="020B0503020204020204" pitchFamily="34" charset="-122"/>
              </a:rPr>
              <a:t>name </a:t>
            </a:r>
            <a:r>
              <a:rPr lang="en-US" altLang="zh-CN" sz="1600" dirty="0" err="1">
                <a:solidFill>
                  <a:schemeClr val="accent6"/>
                </a:solidFill>
                <a:latin typeface="微软雅黑" panose="020B0503020204020204" pitchFamily="34" charset="-122"/>
                <a:ea typeface="微软雅黑" panose="020B0503020204020204" pitchFamily="34" charset="-122"/>
              </a:rPr>
              <a:t>liping</a:t>
            </a:r>
            <a:r>
              <a:rPr lang="en-US" altLang="zh-CN" sz="1600" dirty="0">
                <a:solidFill>
                  <a:schemeClr val="accent6"/>
                </a:solidFill>
                <a:latin typeface="微软雅黑" panose="020B0503020204020204" pitchFamily="34" charset="-122"/>
                <a:ea typeface="微软雅黑" panose="020B0503020204020204" pitchFamily="34" charset="-122"/>
              </a:rPr>
              <a:t> </a:t>
            </a:r>
            <a:r>
              <a:rPr lang="en-US" altLang="zh-CN" sz="1600" dirty="0" smtClean="0">
                <a:solidFill>
                  <a:schemeClr val="accent6"/>
                </a:solidFill>
                <a:latin typeface="微软雅黑" panose="020B0503020204020204" pitchFamily="34" charset="-122"/>
                <a:ea typeface="微软雅黑" panose="020B0503020204020204" pitchFamily="34" charset="-122"/>
              </a:rPr>
              <a:t>  </a:t>
            </a:r>
            <a:r>
              <a:rPr lang="en-US" altLang="zh-CN" sz="1600" dirty="0" smtClean="0">
                <a:solidFill>
                  <a:schemeClr val="accent1"/>
                </a:solidFill>
                <a:latin typeface="微软雅黑" panose="020B0503020204020204" pitchFamily="34" charset="-122"/>
                <a:ea typeface="微软雅黑" panose="020B0503020204020204" pitchFamily="34" charset="-122"/>
              </a:rPr>
              <a:t>#</a:t>
            </a:r>
            <a:r>
              <a:rPr lang="zh-CN" altLang="en-US" sz="1600" dirty="0">
                <a:solidFill>
                  <a:schemeClr val="accent1"/>
                </a:solidFill>
                <a:latin typeface="微软雅黑" panose="020B0503020204020204" pitchFamily="34" charset="-122"/>
                <a:ea typeface="微软雅黑" panose="020B0503020204020204" pitchFamily="34" charset="-122"/>
              </a:rPr>
              <a:t>获取</a:t>
            </a:r>
            <a:r>
              <a:rPr lang="en-US" altLang="zh-CN" sz="1600" dirty="0">
                <a:solidFill>
                  <a:schemeClr val="accent1"/>
                </a:solidFill>
                <a:latin typeface="微软雅黑" panose="020B0503020204020204" pitchFamily="34" charset="-122"/>
                <a:ea typeface="微软雅黑" panose="020B0503020204020204" pitchFamily="34" charset="-122"/>
              </a:rPr>
              <a:t>name</a:t>
            </a:r>
            <a:r>
              <a:rPr lang="zh-CN" altLang="en-US" sz="1600" dirty="0">
                <a:solidFill>
                  <a:schemeClr val="accent1"/>
                </a:solidFill>
                <a:latin typeface="微软雅黑" panose="020B0503020204020204" pitchFamily="34" charset="-122"/>
                <a:ea typeface="微软雅黑" panose="020B0503020204020204" pitchFamily="34" charset="-122"/>
              </a:rPr>
              <a:t>的旧值并设置新值</a:t>
            </a:r>
          </a:p>
          <a:p>
            <a:r>
              <a:rPr lang="en-US" altLang="zh-CN" sz="1600" dirty="0">
                <a:solidFill>
                  <a:schemeClr val="accent6"/>
                </a:solidFill>
                <a:latin typeface="微软雅黑" panose="020B0503020204020204" pitchFamily="34" charset="-122"/>
                <a:ea typeface="微软雅黑" panose="020B0503020204020204" pitchFamily="34" charset="-122"/>
              </a:rPr>
              <a:t>"jack"</a:t>
            </a:r>
          </a:p>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a:solidFill>
                  <a:srgbClr val="FFD343"/>
                </a:solidFill>
                <a:latin typeface="微软雅黑" panose="020B0503020204020204" pitchFamily="34" charset="-122"/>
                <a:ea typeface="微软雅黑" panose="020B0503020204020204" pitchFamily="34" charset="-122"/>
              </a:rPr>
              <a:t>get</a:t>
            </a:r>
            <a:r>
              <a:rPr lang="en-US" altLang="zh-CN" sz="1600" dirty="0">
                <a:solidFill>
                  <a:schemeClr val="accent6"/>
                </a:solidFill>
                <a:latin typeface="微软雅黑" panose="020B0503020204020204" pitchFamily="34" charset="-122"/>
                <a:ea typeface="微软雅黑" panose="020B0503020204020204" pitchFamily="34" charset="-122"/>
              </a:rPr>
              <a:t> name</a:t>
            </a:r>
          </a:p>
          <a:p>
            <a:r>
              <a:rPr lang="en-US" altLang="zh-CN" sz="1600" dirty="0">
                <a:solidFill>
                  <a:schemeClr val="accent6"/>
                </a:solidFill>
                <a:latin typeface="微软雅黑" panose="020B0503020204020204" pitchFamily="34" charset="-122"/>
                <a:ea typeface="微软雅黑" panose="020B0503020204020204" pitchFamily="34" charset="-122"/>
              </a:rPr>
              <a:t>"</a:t>
            </a:r>
            <a:r>
              <a:rPr lang="en-US" altLang="zh-CN" sz="1600" dirty="0" err="1">
                <a:solidFill>
                  <a:schemeClr val="accent6"/>
                </a:solidFill>
                <a:latin typeface="微软雅黑" panose="020B0503020204020204" pitchFamily="34" charset="-122"/>
                <a:ea typeface="微软雅黑" panose="020B0503020204020204" pitchFamily="34" charset="-122"/>
              </a:rPr>
              <a:t>liping</a:t>
            </a:r>
            <a:r>
              <a:rPr lang="en-US" altLang="zh-CN" sz="1600" dirty="0">
                <a:solidFill>
                  <a:schemeClr val="accent6"/>
                </a:solidFill>
                <a:latin typeface="微软雅黑" panose="020B0503020204020204" pitchFamily="34" charset="-122"/>
                <a:ea typeface="微软雅黑" panose="020B0503020204020204" pitchFamily="34" charset="-122"/>
              </a:rPr>
              <a:t>"             </a:t>
            </a:r>
          </a:p>
          <a:p>
            <a:r>
              <a:rPr lang="en-US" altLang="zh-CN" sz="1600" dirty="0">
                <a:solidFill>
                  <a:schemeClr val="accent6"/>
                </a:solidFill>
                <a:latin typeface="微软雅黑" panose="020B0503020204020204" pitchFamily="34" charset="-122"/>
                <a:ea typeface="微软雅黑" panose="020B0503020204020204" pitchFamily="34" charset="-122"/>
              </a:rPr>
              <a:t>&gt; append name </a:t>
            </a:r>
            <a:r>
              <a:rPr lang="en-US" altLang="zh-CN" sz="1600" dirty="0" err="1">
                <a:solidFill>
                  <a:schemeClr val="accent6"/>
                </a:solidFill>
                <a:latin typeface="微软雅黑" panose="020B0503020204020204" pitchFamily="34" charset="-122"/>
                <a:ea typeface="微软雅黑" panose="020B0503020204020204" pitchFamily="34" charset="-122"/>
              </a:rPr>
              <a:t>es</a:t>
            </a:r>
            <a:r>
              <a:rPr lang="en-US" altLang="zh-CN" sz="1600" dirty="0">
                <a:solidFill>
                  <a:schemeClr val="accent6"/>
                </a:solidFill>
                <a:latin typeface="微软雅黑" panose="020B0503020204020204" pitchFamily="34" charset="-122"/>
                <a:ea typeface="微软雅黑" panose="020B0503020204020204" pitchFamily="34" charset="-122"/>
              </a:rPr>
              <a:t>   </a:t>
            </a:r>
            <a:r>
              <a:rPr lang="en-US" altLang="zh-CN" sz="1600" dirty="0">
                <a:solidFill>
                  <a:schemeClr val="accent1"/>
                </a:solidFill>
                <a:latin typeface="微软雅黑" panose="020B0503020204020204" pitchFamily="34" charset="-122"/>
                <a:ea typeface="微软雅黑" panose="020B0503020204020204" pitchFamily="34" charset="-122"/>
              </a:rPr>
              <a:t># </a:t>
            </a:r>
            <a:r>
              <a:rPr lang="zh-CN" altLang="en-US" sz="1600" dirty="0">
                <a:solidFill>
                  <a:schemeClr val="accent1"/>
                </a:solidFill>
                <a:latin typeface="微软雅黑" panose="020B0503020204020204" pitchFamily="34" charset="-122"/>
                <a:ea typeface="微软雅黑" panose="020B0503020204020204" pitchFamily="34" charset="-122"/>
              </a:rPr>
              <a:t>在</a:t>
            </a:r>
            <a:r>
              <a:rPr lang="en-US" altLang="zh-CN" sz="1600" dirty="0">
                <a:solidFill>
                  <a:schemeClr val="accent1"/>
                </a:solidFill>
                <a:latin typeface="微软雅黑" panose="020B0503020204020204" pitchFamily="34" charset="-122"/>
                <a:ea typeface="微软雅黑" panose="020B0503020204020204" pitchFamily="34" charset="-122"/>
              </a:rPr>
              <a:t>name</a:t>
            </a:r>
            <a:r>
              <a:rPr lang="zh-CN" altLang="en-US" sz="1600" dirty="0">
                <a:solidFill>
                  <a:schemeClr val="accent1"/>
                </a:solidFill>
                <a:latin typeface="微软雅黑" panose="020B0503020204020204" pitchFamily="34" charset="-122"/>
                <a:ea typeface="微软雅黑" panose="020B0503020204020204" pitchFamily="34" charset="-122"/>
              </a:rPr>
              <a:t>值末尾追加字符串</a:t>
            </a:r>
            <a:r>
              <a:rPr lang="en-US" altLang="zh-CN" sz="1600" dirty="0" err="1">
                <a:solidFill>
                  <a:schemeClr val="accent1"/>
                </a:solidFill>
                <a:latin typeface="微软雅黑" panose="020B0503020204020204" pitchFamily="34" charset="-122"/>
                <a:ea typeface="微软雅黑" panose="020B0503020204020204" pitchFamily="34" charset="-122"/>
              </a:rPr>
              <a:t>es</a:t>
            </a:r>
            <a:endParaRPr lang="en-US" altLang="zh-CN" sz="1600" dirty="0">
              <a:solidFill>
                <a:schemeClr val="accent1"/>
              </a:solidFill>
              <a:latin typeface="微软雅黑" panose="020B0503020204020204" pitchFamily="34" charset="-122"/>
              <a:ea typeface="微软雅黑" panose="020B0503020204020204" pitchFamily="34" charset="-122"/>
            </a:endParaRPr>
          </a:p>
          <a:p>
            <a:r>
              <a:rPr lang="en-US" altLang="zh-CN" sz="1600" dirty="0">
                <a:solidFill>
                  <a:schemeClr val="accent6"/>
                </a:solidFill>
                <a:latin typeface="微软雅黑" panose="020B0503020204020204" pitchFamily="34" charset="-122"/>
                <a:ea typeface="微软雅黑" panose="020B0503020204020204" pitchFamily="34" charset="-122"/>
              </a:rPr>
              <a:t>8</a:t>
            </a:r>
          </a:p>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a:solidFill>
                  <a:srgbClr val="FFD343"/>
                </a:solidFill>
                <a:latin typeface="微软雅黑" panose="020B0503020204020204" pitchFamily="34" charset="-122"/>
                <a:ea typeface="微软雅黑" panose="020B0503020204020204" pitchFamily="34" charset="-122"/>
              </a:rPr>
              <a:t>get</a:t>
            </a:r>
            <a:r>
              <a:rPr lang="en-US" altLang="zh-CN" sz="1600" dirty="0">
                <a:solidFill>
                  <a:schemeClr val="accent6"/>
                </a:solidFill>
                <a:latin typeface="微软雅黑" panose="020B0503020204020204" pitchFamily="34" charset="-122"/>
                <a:ea typeface="微软雅黑" panose="020B0503020204020204" pitchFamily="34" charset="-122"/>
              </a:rPr>
              <a:t> name</a:t>
            </a:r>
          </a:p>
          <a:p>
            <a:r>
              <a:rPr lang="en-US" altLang="zh-CN" sz="1600" dirty="0">
                <a:solidFill>
                  <a:schemeClr val="accent6"/>
                </a:solidFill>
                <a:latin typeface="微软雅黑" panose="020B0503020204020204" pitchFamily="34" charset="-122"/>
                <a:ea typeface="微软雅黑" panose="020B0503020204020204" pitchFamily="34" charset="-122"/>
              </a:rPr>
              <a:t>"</a:t>
            </a:r>
            <a:r>
              <a:rPr lang="en-US" altLang="zh-CN" sz="1600" dirty="0" err="1" smtClean="0">
                <a:solidFill>
                  <a:schemeClr val="accent6"/>
                </a:solidFill>
                <a:latin typeface="微软雅黑" panose="020B0503020204020204" pitchFamily="34" charset="-122"/>
                <a:ea typeface="微软雅黑" panose="020B0503020204020204" pitchFamily="34" charset="-122"/>
              </a:rPr>
              <a:t>lipinges</a:t>
            </a:r>
            <a:r>
              <a:rPr lang="en-US" altLang="zh-CN" sz="1600" dirty="0" smtClean="0">
                <a:solidFill>
                  <a:schemeClr val="accent6"/>
                </a:solidFill>
                <a:latin typeface="微软雅黑" panose="020B0503020204020204" pitchFamily="34" charset="-122"/>
                <a:ea typeface="微软雅黑" panose="020B0503020204020204" pitchFamily="34" charset="-122"/>
              </a:rPr>
              <a:t>“</a:t>
            </a:r>
          </a:p>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a:solidFill>
                  <a:srgbClr val="FFD343"/>
                </a:solidFill>
                <a:latin typeface="微软雅黑" panose="020B0503020204020204" pitchFamily="34" charset="-122"/>
                <a:ea typeface="微软雅黑" panose="020B0503020204020204" pitchFamily="34" charset="-122"/>
              </a:rPr>
              <a:t>expire</a:t>
            </a:r>
            <a:r>
              <a:rPr lang="en-US" altLang="zh-CN" sz="1600" dirty="0">
                <a:solidFill>
                  <a:schemeClr val="accent6"/>
                </a:solidFill>
                <a:latin typeface="微软雅黑" panose="020B0503020204020204" pitchFamily="34" charset="-122"/>
                <a:ea typeface="微软雅黑" panose="020B0503020204020204" pitchFamily="34" charset="-122"/>
              </a:rPr>
              <a:t> name </a:t>
            </a:r>
            <a:r>
              <a:rPr lang="en-US" altLang="zh-CN" sz="1600" dirty="0" smtClean="0">
                <a:solidFill>
                  <a:schemeClr val="accent6"/>
                </a:solidFill>
                <a:latin typeface="微软雅黑" panose="020B0503020204020204" pitchFamily="34" charset="-122"/>
                <a:ea typeface="微软雅黑" panose="020B0503020204020204" pitchFamily="34" charset="-122"/>
              </a:rPr>
              <a:t>30    </a:t>
            </a:r>
            <a:r>
              <a:rPr lang="en-US" altLang="zh-CN" sz="1600" dirty="0" smtClean="0">
                <a:solidFill>
                  <a:schemeClr val="accent1"/>
                </a:solidFill>
                <a:latin typeface="微软雅黑" panose="020B0503020204020204" pitchFamily="34" charset="-122"/>
                <a:ea typeface="微软雅黑" panose="020B0503020204020204" pitchFamily="34" charset="-122"/>
              </a:rPr>
              <a:t># </a:t>
            </a:r>
            <a:r>
              <a:rPr lang="zh-CN" altLang="en-US" sz="1600" dirty="0" smtClean="0">
                <a:solidFill>
                  <a:schemeClr val="accent1"/>
                </a:solidFill>
                <a:latin typeface="微软雅黑" panose="020B0503020204020204" pitchFamily="34" charset="-122"/>
                <a:ea typeface="微软雅黑" panose="020B0503020204020204" pitchFamily="34" charset="-122"/>
              </a:rPr>
              <a:t>设置过期时间</a:t>
            </a:r>
          </a:p>
          <a:p>
            <a:r>
              <a:rPr lang="en-US" altLang="zh-CN" sz="1600" dirty="0" smtClean="0">
                <a:solidFill>
                  <a:schemeClr val="accent6"/>
                </a:solidFill>
                <a:latin typeface="微软雅黑" panose="020B0503020204020204" pitchFamily="34" charset="-122"/>
                <a:ea typeface="微软雅黑" panose="020B0503020204020204" pitchFamily="34" charset="-122"/>
              </a:rPr>
              <a:t>(integer) 1</a:t>
            </a:r>
          </a:p>
          <a:p>
            <a:r>
              <a:rPr lang="en-US" altLang="zh-CN" sz="1600" dirty="0" smtClean="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ttl</a:t>
            </a:r>
            <a:r>
              <a:rPr lang="en-US" altLang="zh-CN" sz="1600" dirty="0">
                <a:solidFill>
                  <a:srgbClr val="C00000"/>
                </a:solidFill>
                <a:latin typeface="微软雅黑" panose="020B0503020204020204" pitchFamily="34" charset="-122"/>
                <a:ea typeface="微软雅黑" panose="020B0503020204020204" pitchFamily="34" charset="-122"/>
              </a:rPr>
              <a:t> </a:t>
            </a:r>
            <a:r>
              <a:rPr lang="en-US" altLang="zh-CN" sz="1600" dirty="0" smtClean="0">
                <a:solidFill>
                  <a:schemeClr val="accent6"/>
                </a:solidFill>
                <a:latin typeface="微软雅黑" panose="020B0503020204020204" pitchFamily="34" charset="-122"/>
                <a:ea typeface="微软雅黑" panose="020B0503020204020204" pitchFamily="34" charset="-122"/>
              </a:rPr>
              <a:t>name                </a:t>
            </a:r>
            <a:r>
              <a:rPr lang="en-US" altLang="zh-CN" sz="1600" dirty="0" smtClean="0">
                <a:solidFill>
                  <a:schemeClr val="accent1"/>
                </a:solidFill>
                <a:latin typeface="微软雅黑" panose="020B0503020204020204" pitchFamily="34" charset="-122"/>
                <a:ea typeface="微软雅黑" panose="020B0503020204020204" pitchFamily="34" charset="-122"/>
              </a:rPr>
              <a:t># </a:t>
            </a:r>
            <a:r>
              <a:rPr lang="zh-CN" altLang="en-US" sz="1600" dirty="0">
                <a:solidFill>
                  <a:schemeClr val="accent1"/>
                </a:solidFill>
                <a:latin typeface="微软雅黑" panose="020B0503020204020204" pitchFamily="34" charset="-122"/>
                <a:ea typeface="微软雅黑" panose="020B0503020204020204" pitchFamily="34" charset="-122"/>
              </a:rPr>
              <a:t>获取剩余有效时间</a:t>
            </a:r>
            <a:endParaRPr lang="en-US" altLang="zh-CN" sz="1600" dirty="0">
              <a:solidFill>
                <a:schemeClr val="accent1"/>
              </a:solidFill>
              <a:latin typeface="微软雅黑" panose="020B0503020204020204" pitchFamily="34" charset="-122"/>
              <a:ea typeface="微软雅黑" panose="020B0503020204020204" pitchFamily="34" charset="-122"/>
            </a:endParaRPr>
          </a:p>
          <a:p>
            <a:r>
              <a:rPr lang="en-US" altLang="zh-CN" sz="1600" dirty="0">
                <a:solidFill>
                  <a:schemeClr val="accent6"/>
                </a:solidFill>
                <a:latin typeface="微软雅黑" panose="020B0503020204020204" pitchFamily="34" charset="-122"/>
                <a:ea typeface="微软雅黑" panose="020B0503020204020204" pitchFamily="34" charset="-122"/>
              </a:rPr>
              <a:t>(integer) 27</a:t>
            </a:r>
          </a:p>
        </p:txBody>
      </p:sp>
      <p:sp>
        <p:nvSpPr>
          <p:cNvPr id="8" name="文本框 7"/>
          <p:cNvSpPr txBox="1"/>
          <p:nvPr/>
        </p:nvSpPr>
        <p:spPr>
          <a:xfrm>
            <a:off x="6389914" y="1371600"/>
            <a:ext cx="5366589" cy="3785652"/>
          </a:xfrm>
          <a:prstGeom prst="rect">
            <a:avLst/>
          </a:prstGeom>
          <a:noFill/>
          <a:ln>
            <a:solidFill>
              <a:schemeClr val="bg1"/>
            </a:solidFill>
          </a:ln>
        </p:spPr>
        <p:txBody>
          <a:bodyPr wrap="square" rtlCol="0">
            <a:spAutoFit/>
          </a:bodyPr>
          <a:lstStyle/>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getset</a:t>
            </a:r>
            <a:r>
              <a:rPr lang="en-US" altLang="zh-CN" sz="1600" dirty="0">
                <a:solidFill>
                  <a:srgbClr val="C00000"/>
                </a:solidFill>
                <a:latin typeface="微软雅黑" panose="020B0503020204020204" pitchFamily="34" charset="-122"/>
                <a:ea typeface="微软雅黑" panose="020B0503020204020204" pitchFamily="34" charset="-122"/>
              </a:rPr>
              <a:t> </a:t>
            </a:r>
            <a:r>
              <a:rPr lang="en-US" altLang="zh-CN" sz="1600" dirty="0">
                <a:solidFill>
                  <a:schemeClr val="accent6"/>
                </a:solidFill>
                <a:latin typeface="微软雅黑" panose="020B0503020204020204" pitchFamily="34" charset="-122"/>
                <a:ea typeface="微软雅黑" panose="020B0503020204020204" pitchFamily="34" charset="-122"/>
              </a:rPr>
              <a:t>name </a:t>
            </a:r>
            <a:r>
              <a:rPr lang="en-US" altLang="zh-CN" sz="1600" dirty="0" err="1">
                <a:solidFill>
                  <a:schemeClr val="accent6"/>
                </a:solidFill>
                <a:latin typeface="微软雅黑" panose="020B0503020204020204" pitchFamily="34" charset="-122"/>
                <a:ea typeface="微软雅黑" panose="020B0503020204020204" pitchFamily="34" charset="-122"/>
              </a:rPr>
              <a:t>xiaofang</a:t>
            </a:r>
            <a:r>
              <a:rPr lang="en-US" altLang="zh-CN" sz="1600" dirty="0">
                <a:solidFill>
                  <a:schemeClr val="accent6"/>
                </a:solidFill>
                <a:latin typeface="微软雅黑" panose="020B0503020204020204" pitchFamily="34" charset="-122"/>
                <a:ea typeface="微软雅黑" panose="020B0503020204020204" pitchFamily="34" charset="-122"/>
              </a:rPr>
              <a:t>  </a:t>
            </a:r>
            <a:r>
              <a:rPr lang="en-US" altLang="zh-CN" sz="1600" dirty="0">
                <a:solidFill>
                  <a:schemeClr val="accent1"/>
                </a:solidFill>
                <a:latin typeface="微软雅黑" panose="020B0503020204020204" pitchFamily="34" charset="-122"/>
                <a:ea typeface="微软雅黑" panose="020B0503020204020204" pitchFamily="34" charset="-122"/>
              </a:rPr>
              <a:t># </a:t>
            </a:r>
            <a:r>
              <a:rPr lang="zh-CN" altLang="en-US" sz="1600" dirty="0">
                <a:solidFill>
                  <a:schemeClr val="accent1"/>
                </a:solidFill>
                <a:latin typeface="微软雅黑" panose="020B0503020204020204" pitchFamily="34" charset="-122"/>
                <a:ea typeface="微软雅黑" panose="020B0503020204020204" pitchFamily="34" charset="-122"/>
              </a:rPr>
              <a:t>修改值</a:t>
            </a:r>
          </a:p>
          <a:p>
            <a:r>
              <a:rPr lang="en-US" altLang="zh-CN" sz="1600" dirty="0">
                <a:solidFill>
                  <a:schemeClr val="accent6"/>
                </a:solidFill>
                <a:latin typeface="微软雅黑" panose="020B0503020204020204" pitchFamily="34" charset="-122"/>
                <a:ea typeface="微软雅黑" panose="020B0503020204020204" pitchFamily="34" charset="-122"/>
              </a:rPr>
              <a:t>"liping1"</a:t>
            </a:r>
          </a:p>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ttl</a:t>
            </a:r>
            <a:r>
              <a:rPr lang="en-US" altLang="zh-CN" sz="1600" dirty="0">
                <a:solidFill>
                  <a:srgbClr val="C00000"/>
                </a:solidFill>
                <a:latin typeface="微软雅黑" panose="020B0503020204020204" pitchFamily="34" charset="-122"/>
                <a:ea typeface="微软雅黑" panose="020B0503020204020204" pitchFamily="34" charset="-122"/>
              </a:rPr>
              <a:t> </a:t>
            </a:r>
            <a:r>
              <a:rPr lang="en-US" altLang="zh-CN" sz="1600" dirty="0">
                <a:solidFill>
                  <a:schemeClr val="accent6"/>
                </a:solidFill>
                <a:latin typeface="微软雅黑" panose="020B0503020204020204" pitchFamily="34" charset="-122"/>
                <a:ea typeface="微软雅黑" panose="020B0503020204020204" pitchFamily="34" charset="-122"/>
              </a:rPr>
              <a:t>name       </a:t>
            </a:r>
            <a:r>
              <a:rPr lang="en-US" altLang="zh-CN" sz="1600" dirty="0">
                <a:solidFill>
                  <a:schemeClr val="accent1"/>
                </a:solidFill>
                <a:latin typeface="微软雅黑" panose="020B0503020204020204" pitchFamily="34" charset="-122"/>
                <a:ea typeface="微软雅黑" panose="020B0503020204020204" pitchFamily="34" charset="-122"/>
              </a:rPr>
              <a:t>#</a:t>
            </a:r>
            <a:r>
              <a:rPr lang="zh-CN" altLang="en-US" sz="1600" dirty="0">
                <a:solidFill>
                  <a:schemeClr val="accent1"/>
                </a:solidFill>
                <a:latin typeface="微软雅黑" panose="020B0503020204020204" pitchFamily="34" charset="-122"/>
                <a:ea typeface="微软雅黑" panose="020B0503020204020204" pitchFamily="34" charset="-122"/>
              </a:rPr>
              <a:t>值修改后，原来的过期</a:t>
            </a:r>
            <a:r>
              <a:rPr lang="zh-CN" altLang="en-US" sz="1600" dirty="0" smtClean="0">
                <a:solidFill>
                  <a:schemeClr val="accent1"/>
                </a:solidFill>
                <a:latin typeface="微软雅黑" panose="020B0503020204020204" pitchFamily="34" charset="-122"/>
                <a:ea typeface="微软雅黑" panose="020B0503020204020204" pitchFamily="34" charset="-122"/>
              </a:rPr>
              <a:t>时间失效</a:t>
            </a:r>
            <a:endParaRPr lang="zh-CN" altLang="en-US" sz="1600" dirty="0">
              <a:solidFill>
                <a:schemeClr val="accent1"/>
              </a:solidFill>
              <a:latin typeface="微软雅黑" panose="020B0503020204020204" pitchFamily="34" charset="-122"/>
              <a:ea typeface="微软雅黑" panose="020B0503020204020204" pitchFamily="34" charset="-122"/>
            </a:endParaRPr>
          </a:p>
          <a:p>
            <a:r>
              <a:rPr lang="en-US" altLang="zh-CN" sz="1600" dirty="0">
                <a:solidFill>
                  <a:schemeClr val="accent6"/>
                </a:solidFill>
                <a:latin typeface="微软雅黑" panose="020B0503020204020204" pitchFamily="34" charset="-122"/>
                <a:ea typeface="微软雅黑" panose="020B0503020204020204" pitchFamily="34" charset="-122"/>
              </a:rPr>
              <a:t>(integer) -1</a:t>
            </a:r>
          </a:p>
          <a:p>
            <a:endParaRPr lang="en-US" altLang="zh-CN" sz="1600" dirty="0">
              <a:solidFill>
                <a:schemeClr val="accent6"/>
              </a:solidFill>
              <a:latin typeface="微软雅黑" panose="020B0503020204020204" pitchFamily="34" charset="-122"/>
              <a:ea typeface="微软雅黑" panose="020B0503020204020204" pitchFamily="34" charset="-122"/>
            </a:endParaRPr>
          </a:p>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a:solidFill>
                  <a:srgbClr val="FFD343"/>
                </a:solidFill>
                <a:latin typeface="微软雅黑" panose="020B0503020204020204" pitchFamily="34" charset="-122"/>
                <a:ea typeface="微软雅黑" panose="020B0503020204020204" pitchFamily="34" charset="-122"/>
              </a:rPr>
              <a:t>set</a:t>
            </a:r>
            <a:r>
              <a:rPr lang="en-US" altLang="zh-CN" sz="1600" dirty="0">
                <a:solidFill>
                  <a:schemeClr val="accent6"/>
                </a:solidFill>
                <a:latin typeface="微软雅黑" panose="020B0503020204020204" pitchFamily="34" charset="-122"/>
                <a:ea typeface="微软雅黑" panose="020B0503020204020204" pitchFamily="34" charset="-122"/>
              </a:rPr>
              <a:t> age 10</a:t>
            </a:r>
          </a:p>
          <a:p>
            <a:r>
              <a:rPr lang="en-US" altLang="zh-CN" sz="1600" dirty="0">
                <a:solidFill>
                  <a:schemeClr val="accent6"/>
                </a:solidFill>
                <a:latin typeface="微软雅黑" panose="020B0503020204020204" pitchFamily="34" charset="-122"/>
                <a:ea typeface="微软雅黑" panose="020B0503020204020204" pitchFamily="34" charset="-122"/>
              </a:rPr>
              <a:t>OK</a:t>
            </a:r>
          </a:p>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incr</a:t>
            </a:r>
            <a:r>
              <a:rPr lang="en-US" altLang="zh-CN" sz="1600" dirty="0">
                <a:solidFill>
                  <a:srgbClr val="C00000"/>
                </a:solidFill>
                <a:latin typeface="微软雅黑" panose="020B0503020204020204" pitchFamily="34" charset="-122"/>
                <a:ea typeface="微软雅黑" panose="020B0503020204020204" pitchFamily="34" charset="-122"/>
              </a:rPr>
              <a:t> </a:t>
            </a:r>
            <a:r>
              <a:rPr lang="en-US" altLang="zh-CN" sz="1600" dirty="0" smtClean="0">
                <a:solidFill>
                  <a:schemeClr val="accent6"/>
                </a:solidFill>
                <a:latin typeface="微软雅黑" panose="020B0503020204020204" pitchFamily="34" charset="-122"/>
                <a:ea typeface="微软雅黑" panose="020B0503020204020204" pitchFamily="34" charset="-122"/>
              </a:rPr>
              <a:t>age            </a:t>
            </a:r>
            <a:r>
              <a:rPr lang="en-US" altLang="zh-CN" sz="1600" dirty="0" smtClean="0">
                <a:solidFill>
                  <a:schemeClr val="accent1"/>
                </a:solidFill>
                <a:latin typeface="微软雅黑" panose="020B0503020204020204" pitchFamily="34" charset="-122"/>
                <a:ea typeface="微软雅黑" panose="020B0503020204020204" pitchFamily="34" charset="-122"/>
              </a:rPr>
              <a:t># </a:t>
            </a:r>
            <a:r>
              <a:rPr lang="en-US" altLang="zh-CN" sz="1600" dirty="0">
                <a:solidFill>
                  <a:schemeClr val="accent1"/>
                </a:solidFill>
                <a:latin typeface="微软雅黑" panose="020B0503020204020204" pitchFamily="34" charset="-122"/>
                <a:ea typeface="微软雅黑" panose="020B0503020204020204" pitchFamily="34" charset="-122"/>
              </a:rPr>
              <a:t>age</a:t>
            </a:r>
            <a:r>
              <a:rPr lang="zh-CN" altLang="en-US" sz="1600" dirty="0" smtClean="0">
                <a:solidFill>
                  <a:schemeClr val="accent1"/>
                </a:solidFill>
                <a:latin typeface="微软雅黑" panose="020B0503020204020204" pitchFamily="34" charset="-122"/>
                <a:ea typeface="微软雅黑" panose="020B0503020204020204" pitchFamily="34" charset="-122"/>
              </a:rPr>
              <a:t>值</a:t>
            </a:r>
            <a:r>
              <a:rPr lang="en-US" altLang="zh-CN" sz="1600" dirty="0">
                <a:solidFill>
                  <a:schemeClr val="accent1"/>
                </a:solidFill>
                <a:latin typeface="微软雅黑" panose="020B0503020204020204" pitchFamily="34" charset="-122"/>
                <a:ea typeface="微软雅黑" panose="020B0503020204020204" pitchFamily="34" charset="-122"/>
              </a:rPr>
              <a:t>+</a:t>
            </a:r>
            <a:r>
              <a:rPr lang="en-US" altLang="zh-CN" sz="1600" dirty="0" smtClean="0">
                <a:solidFill>
                  <a:schemeClr val="accent1"/>
                </a:solidFill>
                <a:latin typeface="微软雅黑" panose="020B0503020204020204" pitchFamily="34" charset="-122"/>
                <a:ea typeface="微软雅黑" panose="020B0503020204020204" pitchFamily="34" charset="-122"/>
              </a:rPr>
              <a:t>1</a:t>
            </a:r>
            <a:r>
              <a:rPr lang="zh-CN" altLang="en-US" sz="1600" dirty="0">
                <a:solidFill>
                  <a:schemeClr val="accent1"/>
                </a:solidFill>
                <a:latin typeface="微软雅黑" panose="020B0503020204020204" pitchFamily="34" charset="-122"/>
                <a:ea typeface="微软雅黑" panose="020B0503020204020204" pitchFamily="34" charset="-122"/>
              </a:rPr>
              <a:t>，只能操作纯数字</a:t>
            </a:r>
            <a:endParaRPr lang="en-US" altLang="zh-CN" sz="1600" dirty="0">
              <a:solidFill>
                <a:schemeClr val="accent1"/>
              </a:solidFill>
              <a:latin typeface="微软雅黑" panose="020B0503020204020204" pitchFamily="34" charset="-122"/>
              <a:ea typeface="微软雅黑" panose="020B0503020204020204" pitchFamily="34" charset="-122"/>
            </a:endParaRPr>
          </a:p>
          <a:p>
            <a:r>
              <a:rPr lang="en-US" altLang="zh-CN" sz="1600" dirty="0">
                <a:solidFill>
                  <a:schemeClr val="accent6"/>
                </a:solidFill>
                <a:latin typeface="微软雅黑" panose="020B0503020204020204" pitchFamily="34" charset="-122"/>
                <a:ea typeface="微软雅黑" panose="020B0503020204020204" pitchFamily="34" charset="-122"/>
              </a:rPr>
              <a:t>(integer) 11</a:t>
            </a:r>
          </a:p>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incrby</a:t>
            </a:r>
            <a:r>
              <a:rPr lang="en-US" altLang="zh-CN" sz="1600" dirty="0">
                <a:solidFill>
                  <a:srgbClr val="C00000"/>
                </a:solidFill>
                <a:latin typeface="微软雅黑" panose="020B0503020204020204" pitchFamily="34" charset="-122"/>
                <a:ea typeface="微软雅黑" panose="020B0503020204020204" pitchFamily="34" charset="-122"/>
              </a:rPr>
              <a:t> </a:t>
            </a:r>
            <a:r>
              <a:rPr lang="en-US" altLang="zh-CN" sz="1600" dirty="0">
                <a:solidFill>
                  <a:schemeClr val="accent6"/>
                </a:solidFill>
                <a:latin typeface="微软雅黑" panose="020B0503020204020204" pitchFamily="34" charset="-122"/>
                <a:ea typeface="微软雅黑" panose="020B0503020204020204" pitchFamily="34" charset="-122"/>
              </a:rPr>
              <a:t>age -4  </a:t>
            </a:r>
            <a:r>
              <a:rPr lang="en-US" altLang="zh-CN" sz="1600" dirty="0" smtClean="0">
                <a:solidFill>
                  <a:schemeClr val="accent6"/>
                </a:solidFill>
                <a:latin typeface="微软雅黑" panose="020B0503020204020204" pitchFamily="34" charset="-122"/>
                <a:ea typeface="微软雅黑" panose="020B0503020204020204" pitchFamily="34" charset="-122"/>
              </a:rPr>
              <a:t> </a:t>
            </a:r>
            <a:r>
              <a:rPr lang="en-US" altLang="zh-CN" sz="1600" dirty="0" smtClean="0">
                <a:solidFill>
                  <a:schemeClr val="accent1"/>
                </a:solidFill>
                <a:latin typeface="微软雅黑" panose="020B0503020204020204" pitchFamily="34" charset="-122"/>
                <a:ea typeface="微软雅黑" panose="020B0503020204020204" pitchFamily="34" charset="-122"/>
              </a:rPr>
              <a:t># </a:t>
            </a:r>
            <a:r>
              <a:rPr lang="zh-CN" altLang="en-US" sz="1600" dirty="0">
                <a:solidFill>
                  <a:schemeClr val="accent1"/>
                </a:solidFill>
                <a:latin typeface="微软雅黑" panose="020B0503020204020204" pitchFamily="34" charset="-122"/>
                <a:ea typeface="微软雅黑" panose="020B0503020204020204" pitchFamily="34" charset="-122"/>
              </a:rPr>
              <a:t>值可以为正或者负</a:t>
            </a:r>
          </a:p>
          <a:p>
            <a:r>
              <a:rPr lang="en-US" altLang="zh-CN" sz="1600" dirty="0">
                <a:solidFill>
                  <a:schemeClr val="accent6"/>
                </a:solidFill>
                <a:latin typeface="微软雅黑" panose="020B0503020204020204" pitchFamily="34" charset="-122"/>
                <a:ea typeface="微软雅黑" panose="020B0503020204020204" pitchFamily="34" charset="-122"/>
              </a:rPr>
              <a:t>(integer) 7</a:t>
            </a:r>
          </a:p>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decrby</a:t>
            </a:r>
            <a:r>
              <a:rPr lang="en-US" altLang="zh-CN" sz="1600" dirty="0">
                <a:solidFill>
                  <a:srgbClr val="C00000"/>
                </a:solidFill>
                <a:latin typeface="微软雅黑" panose="020B0503020204020204" pitchFamily="34" charset="-122"/>
                <a:ea typeface="微软雅黑" panose="020B0503020204020204" pitchFamily="34" charset="-122"/>
              </a:rPr>
              <a:t> </a:t>
            </a:r>
            <a:r>
              <a:rPr lang="en-US" altLang="zh-CN" sz="1600" dirty="0">
                <a:solidFill>
                  <a:schemeClr val="accent6"/>
                </a:solidFill>
                <a:latin typeface="微软雅黑" panose="020B0503020204020204" pitchFamily="34" charset="-122"/>
                <a:ea typeface="微软雅黑" panose="020B0503020204020204" pitchFamily="34" charset="-122"/>
              </a:rPr>
              <a:t>age </a:t>
            </a:r>
            <a:r>
              <a:rPr lang="en-US" altLang="zh-CN" sz="1600" dirty="0" smtClean="0">
                <a:solidFill>
                  <a:schemeClr val="accent6"/>
                </a:solidFill>
                <a:latin typeface="微软雅黑" panose="020B0503020204020204" pitchFamily="34" charset="-122"/>
                <a:ea typeface="微软雅黑" panose="020B0503020204020204" pitchFamily="34" charset="-122"/>
              </a:rPr>
              <a:t>2   </a:t>
            </a:r>
            <a:r>
              <a:rPr lang="en-US" altLang="zh-CN" sz="1600" dirty="0" smtClean="0">
                <a:solidFill>
                  <a:schemeClr val="accent1"/>
                </a:solidFill>
                <a:latin typeface="微软雅黑" panose="020B0503020204020204" pitchFamily="34" charset="-122"/>
                <a:ea typeface="微软雅黑" panose="020B0503020204020204" pitchFamily="34" charset="-122"/>
              </a:rPr>
              <a:t>#</a:t>
            </a:r>
            <a:r>
              <a:rPr lang="en-US" altLang="zh-CN" sz="1600" dirty="0">
                <a:solidFill>
                  <a:schemeClr val="accent1"/>
                </a:solidFill>
                <a:latin typeface="微软雅黑" panose="020B0503020204020204" pitchFamily="34" charset="-122"/>
                <a:ea typeface="微软雅黑" panose="020B0503020204020204" pitchFamily="34" charset="-122"/>
              </a:rPr>
              <a:t>age</a:t>
            </a:r>
            <a:r>
              <a:rPr lang="zh-CN" altLang="en-US" sz="1600" dirty="0">
                <a:solidFill>
                  <a:schemeClr val="accent1"/>
                </a:solidFill>
                <a:latin typeface="微软雅黑" panose="020B0503020204020204" pitchFamily="34" charset="-122"/>
                <a:ea typeface="微软雅黑" panose="020B0503020204020204" pitchFamily="34" charset="-122"/>
              </a:rPr>
              <a:t>值</a:t>
            </a:r>
            <a:r>
              <a:rPr lang="en-US" altLang="zh-CN" sz="1600" dirty="0">
                <a:solidFill>
                  <a:schemeClr val="accent1"/>
                </a:solidFill>
                <a:latin typeface="微软雅黑" panose="020B0503020204020204" pitchFamily="34" charset="-122"/>
                <a:ea typeface="微软雅黑" panose="020B0503020204020204" pitchFamily="34" charset="-122"/>
              </a:rPr>
              <a:t>+2</a:t>
            </a:r>
          </a:p>
          <a:p>
            <a:r>
              <a:rPr lang="en-US" altLang="zh-CN" sz="1600" dirty="0">
                <a:solidFill>
                  <a:schemeClr val="accent6"/>
                </a:solidFill>
                <a:latin typeface="微软雅黑" panose="020B0503020204020204" pitchFamily="34" charset="-122"/>
                <a:ea typeface="微软雅黑" panose="020B0503020204020204" pitchFamily="34" charset="-122"/>
              </a:rPr>
              <a:t>(integer) 5</a:t>
            </a:r>
          </a:p>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decrby</a:t>
            </a:r>
            <a:r>
              <a:rPr lang="en-US" altLang="zh-CN" sz="1600" dirty="0">
                <a:solidFill>
                  <a:srgbClr val="C00000"/>
                </a:solidFill>
                <a:latin typeface="微软雅黑" panose="020B0503020204020204" pitchFamily="34" charset="-122"/>
                <a:ea typeface="微软雅黑" panose="020B0503020204020204" pitchFamily="34" charset="-122"/>
              </a:rPr>
              <a:t> </a:t>
            </a:r>
            <a:r>
              <a:rPr lang="en-US" altLang="zh-CN" sz="1600" dirty="0">
                <a:solidFill>
                  <a:schemeClr val="accent6"/>
                </a:solidFill>
                <a:latin typeface="微软雅黑" panose="020B0503020204020204" pitchFamily="34" charset="-122"/>
                <a:ea typeface="微软雅黑" panose="020B0503020204020204" pitchFamily="34" charset="-122"/>
              </a:rPr>
              <a:t>age -</a:t>
            </a:r>
            <a:r>
              <a:rPr lang="en-US" altLang="zh-CN" sz="1600" dirty="0" smtClean="0">
                <a:solidFill>
                  <a:schemeClr val="accent6"/>
                </a:solidFill>
                <a:latin typeface="微软雅黑" panose="020B0503020204020204" pitchFamily="34" charset="-122"/>
                <a:ea typeface="微软雅黑" panose="020B0503020204020204" pitchFamily="34" charset="-122"/>
              </a:rPr>
              <a:t>3  </a:t>
            </a:r>
            <a:r>
              <a:rPr lang="en-US" altLang="zh-CN" sz="1600" dirty="0">
                <a:solidFill>
                  <a:schemeClr val="accent1"/>
                </a:solidFill>
                <a:latin typeface="微软雅黑" panose="020B0503020204020204" pitchFamily="34" charset="-122"/>
                <a:ea typeface="微软雅黑" panose="020B0503020204020204" pitchFamily="34" charset="-122"/>
              </a:rPr>
              <a:t>#age</a:t>
            </a:r>
            <a:r>
              <a:rPr lang="zh-CN" altLang="en-US" sz="1600" dirty="0">
                <a:solidFill>
                  <a:schemeClr val="accent1"/>
                </a:solidFill>
                <a:latin typeface="微软雅黑" panose="020B0503020204020204" pitchFamily="34" charset="-122"/>
                <a:ea typeface="微软雅黑" panose="020B0503020204020204" pitchFamily="34" charset="-122"/>
              </a:rPr>
              <a:t>值</a:t>
            </a:r>
            <a:r>
              <a:rPr lang="en-US" altLang="zh-CN" sz="1600" dirty="0">
                <a:solidFill>
                  <a:schemeClr val="accent1"/>
                </a:solidFill>
                <a:latin typeface="微软雅黑" panose="020B0503020204020204" pitchFamily="34" charset="-122"/>
                <a:ea typeface="微软雅黑" panose="020B0503020204020204" pitchFamily="34" charset="-122"/>
              </a:rPr>
              <a:t>+</a:t>
            </a:r>
            <a:r>
              <a:rPr lang="zh-CN" altLang="en-US" sz="1600" dirty="0">
                <a:solidFill>
                  <a:schemeClr val="accent1"/>
                </a:solidFill>
                <a:latin typeface="微软雅黑" panose="020B0503020204020204" pitchFamily="34" charset="-122"/>
                <a:ea typeface="微软雅黑" panose="020B0503020204020204" pitchFamily="34" charset="-122"/>
              </a:rPr>
              <a:t>（</a:t>
            </a:r>
            <a:r>
              <a:rPr lang="en-US" altLang="zh-CN" sz="1600" dirty="0">
                <a:solidFill>
                  <a:schemeClr val="accent1"/>
                </a:solidFill>
                <a:latin typeface="微软雅黑" panose="020B0503020204020204" pitchFamily="34" charset="-122"/>
                <a:ea typeface="微软雅黑" panose="020B0503020204020204" pitchFamily="34" charset="-122"/>
              </a:rPr>
              <a:t>-3</a:t>
            </a:r>
            <a:r>
              <a:rPr lang="zh-CN" altLang="en-US" sz="1600" dirty="0">
                <a:solidFill>
                  <a:schemeClr val="accent1"/>
                </a:solidFill>
                <a:latin typeface="微软雅黑" panose="020B0503020204020204" pitchFamily="34" charset="-122"/>
                <a:ea typeface="微软雅黑" panose="020B0503020204020204" pitchFamily="34" charset="-122"/>
              </a:rPr>
              <a:t>）</a:t>
            </a:r>
            <a:endParaRPr lang="en-US" altLang="zh-CN" sz="1600" dirty="0">
              <a:solidFill>
                <a:schemeClr val="accent1"/>
              </a:solidFill>
              <a:latin typeface="微软雅黑" panose="020B0503020204020204" pitchFamily="34" charset="-122"/>
              <a:ea typeface="微软雅黑" panose="020B0503020204020204" pitchFamily="34" charset="-122"/>
            </a:endParaRPr>
          </a:p>
          <a:p>
            <a:r>
              <a:rPr lang="en-US" altLang="zh-CN" sz="1600" dirty="0">
                <a:solidFill>
                  <a:schemeClr val="accent6"/>
                </a:solidFill>
                <a:latin typeface="微软雅黑" panose="020B0503020204020204" pitchFamily="34" charset="-122"/>
                <a:ea typeface="微软雅黑" panose="020B0503020204020204" pitchFamily="34" charset="-122"/>
              </a:rPr>
              <a:t>(integer) 8</a:t>
            </a:r>
          </a:p>
        </p:txBody>
      </p:sp>
      <p:sp>
        <p:nvSpPr>
          <p:cNvPr id="2" name="文本框 1"/>
          <p:cNvSpPr txBox="1"/>
          <p:nvPr/>
        </p:nvSpPr>
        <p:spPr>
          <a:xfrm>
            <a:off x="6531429" y="5442857"/>
            <a:ext cx="4862285" cy="825932"/>
          </a:xfrm>
          <a:prstGeom prst="rect">
            <a:avLst/>
          </a:prstGeom>
          <a:noFill/>
        </p:spPr>
        <p:txBody>
          <a:bodyPr wrap="square" rtlCol="0">
            <a:spAutoFit/>
          </a:bodyPr>
          <a:lstStyle/>
          <a:p>
            <a:pPr algn="l">
              <a:lnSpc>
                <a:spcPct val="140000"/>
              </a:lnSpc>
            </a:pPr>
            <a:r>
              <a:rPr lang="zh-CN" altLang="en-US" dirty="0">
                <a:solidFill>
                  <a:schemeClr val="bg1"/>
                </a:solidFill>
                <a:latin typeface="微软雅黑" panose="020B0503020204020204" pitchFamily="34" charset="-122"/>
                <a:ea typeface="微软雅黑" panose="020B0503020204020204" pitchFamily="34" charset="-122"/>
              </a:rPr>
              <a:t>注</a:t>
            </a:r>
            <a:r>
              <a:rPr lang="zh-CN" altLang="en-US" dirty="0" smtClean="0">
                <a:solidFill>
                  <a:schemeClr val="bg1"/>
                </a:solidFill>
                <a:latin typeface="微软雅黑" panose="020B0503020204020204" pitchFamily="34" charset="-122"/>
                <a:ea typeface="微软雅黑" panose="020B0503020204020204" pitchFamily="34" charset="-122"/>
              </a:rPr>
              <a:t>意：在</a:t>
            </a:r>
            <a:r>
              <a:rPr lang="en-US" altLang="zh-CN" dirty="0" smtClean="0">
                <a:solidFill>
                  <a:schemeClr val="bg1"/>
                </a:solidFill>
                <a:latin typeface="微软雅黑" panose="020B0503020204020204" pitchFamily="34" charset="-122"/>
                <a:ea typeface="微软雅黑" panose="020B0503020204020204" pitchFamily="34" charset="-122"/>
              </a:rPr>
              <a:t>key</a:t>
            </a:r>
            <a:r>
              <a:rPr lang="zh-CN" altLang="en-US" dirty="0" smtClean="0">
                <a:solidFill>
                  <a:schemeClr val="bg1"/>
                </a:solidFill>
                <a:latin typeface="微软雅黑" panose="020B0503020204020204" pitchFamily="34" charset="-122"/>
                <a:ea typeface="微软雅黑" panose="020B0503020204020204" pitchFamily="34" charset="-122"/>
              </a:rPr>
              <a:t>上设置了有效时间后，如果修改了</a:t>
            </a:r>
            <a:r>
              <a:rPr lang="en-US" altLang="zh-CN" dirty="0" smtClean="0">
                <a:solidFill>
                  <a:schemeClr val="bg1"/>
                </a:solidFill>
                <a:latin typeface="微软雅黑" panose="020B0503020204020204" pitchFamily="34" charset="-122"/>
                <a:ea typeface="微软雅黑" panose="020B0503020204020204" pitchFamily="34" charset="-122"/>
              </a:rPr>
              <a:t>key</a:t>
            </a:r>
            <a:r>
              <a:rPr lang="zh-CN" altLang="en-US" dirty="0" smtClean="0">
                <a:solidFill>
                  <a:schemeClr val="bg1"/>
                </a:solidFill>
                <a:latin typeface="微软雅黑" panose="020B0503020204020204" pitchFamily="34" charset="-122"/>
                <a:ea typeface="微软雅黑" panose="020B0503020204020204" pitchFamily="34" charset="-122"/>
              </a:rPr>
              <a:t>的值，有效时间就会失效</a:t>
            </a:r>
          </a:p>
        </p:txBody>
      </p:sp>
    </p:spTree>
    <p:extLst>
      <p:ext uri="{BB962C8B-B14F-4D97-AF65-F5344CB8AC3E}">
        <p14:creationId xmlns:p14="http://schemas.microsoft.com/office/powerpoint/2010/main" val="1972741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additive="base">
                                        <p:cTn id="15" dur="500" fill="hold"/>
                                        <p:tgtEl>
                                          <p:spTgt spid="2"/>
                                        </p:tgtEl>
                                        <p:attrNameLst>
                                          <p:attrName>ppt_x</p:attrName>
                                        </p:attrNameLst>
                                      </p:cBhvr>
                                      <p:tavLst>
                                        <p:tav tm="0">
                                          <p:val>
                                            <p:strVal val="#ppt_x"/>
                                          </p:val>
                                        </p:tav>
                                        <p:tav tm="100000">
                                          <p:val>
                                            <p:strVal val="#ppt_x"/>
                                          </p:val>
                                        </p:tav>
                                      </p:tavLst>
                                    </p:anim>
                                    <p:anim calcmode="lin" valueType="num">
                                      <p:cBhvr additive="base">
                                        <p:cTn id="1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animBg="1"/>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A0F23"/>
        </a:solidFill>
        <a:effectLst/>
      </p:bgPr>
    </p:bg>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xmlns="" id="{CBDC52CD-1D62-48AF-A9DF-9F18AEA2B1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01385" y="-114300"/>
            <a:ext cx="1301859" cy="920356"/>
          </a:xfrm>
          <a:prstGeom prst="rect">
            <a:avLst/>
          </a:prstGeom>
        </p:spPr>
      </p:pic>
      <p:pic>
        <p:nvPicPr>
          <p:cNvPr id="14" name="图片 13">
            <a:extLst>
              <a:ext uri="{FF2B5EF4-FFF2-40B4-BE49-F238E27FC236}">
                <a16:creationId xmlns:a16="http://schemas.microsoft.com/office/drawing/2014/main" xmlns="" id="{F78DA958-9B1B-47DA-A870-8C0B3A7D8866}"/>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b="63537"/>
          <a:stretch/>
        </p:blipFill>
        <p:spPr>
          <a:xfrm>
            <a:off x="11184164" y="217733"/>
            <a:ext cx="572339" cy="337210"/>
          </a:xfrm>
          <a:prstGeom prst="rect">
            <a:avLst/>
          </a:prstGeom>
        </p:spPr>
      </p:pic>
      <p:cxnSp>
        <p:nvCxnSpPr>
          <p:cNvPr id="15" name="直接连接符 14">
            <a:extLst>
              <a:ext uri="{FF2B5EF4-FFF2-40B4-BE49-F238E27FC236}">
                <a16:creationId xmlns:a16="http://schemas.microsoft.com/office/drawing/2014/main" xmlns="" id="{93240A06-D526-4907-A163-94ABB41190CC}"/>
              </a:ext>
            </a:extLst>
          </p:cNvPr>
          <p:cNvCxnSpPr/>
          <p:nvPr/>
        </p:nvCxnSpPr>
        <p:spPr>
          <a:xfrm>
            <a:off x="11103244" y="225825"/>
            <a:ext cx="0" cy="2435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xmlns="" id="{74C59758-12AB-44A5-92FA-DB52904027AE}"/>
              </a:ext>
            </a:extLst>
          </p:cNvPr>
          <p:cNvSpPr/>
          <p:nvPr/>
        </p:nvSpPr>
        <p:spPr>
          <a:xfrm>
            <a:off x="802332" y="1098849"/>
            <a:ext cx="10765483" cy="5521512"/>
          </a:xfrm>
          <a:prstGeom prst="rect">
            <a:avLst/>
          </a:prstGeom>
        </p:spPr>
        <p:txBody>
          <a:bodyPr wrap="square">
            <a:spAutoFit/>
          </a:bodyPr>
          <a:lstStyle/>
          <a:p>
            <a:pPr>
              <a:lnSpc>
                <a:spcPct val="140000"/>
              </a:lnSpc>
            </a:pPr>
            <a:r>
              <a:rPr lang="zh-CN" altLang="en-US" dirty="0">
                <a:solidFill>
                  <a:prstClr val="white"/>
                </a:solidFill>
                <a:latin typeface="微软雅黑" panose="020B0503020204020204" pitchFamily="34" charset="-122"/>
                <a:ea typeface="微软雅黑" panose="020B0503020204020204" pitchFamily="34" charset="-122"/>
              </a:rPr>
              <a:t>热</a:t>
            </a:r>
            <a:r>
              <a:rPr lang="zh-CN" altLang="en-US" dirty="0" smtClean="0">
                <a:solidFill>
                  <a:prstClr val="white"/>
                </a:solidFill>
                <a:latin typeface="微软雅黑" panose="020B0503020204020204" pitchFamily="34" charset="-122"/>
                <a:ea typeface="微软雅黑" panose="020B0503020204020204" pitchFamily="34" charset="-122"/>
              </a:rPr>
              <a:t>点数据缓存是</a:t>
            </a:r>
            <a:r>
              <a:rPr lang="en-US" altLang="zh-CN" dirty="0" err="1" smtClean="0">
                <a:solidFill>
                  <a:prstClr val="white"/>
                </a:solidFill>
                <a:latin typeface="微软雅黑" panose="020B0503020204020204" pitchFamily="34" charset="-122"/>
                <a:ea typeface="微软雅黑" panose="020B0503020204020204" pitchFamily="34" charset="-122"/>
              </a:rPr>
              <a:t>redis</a:t>
            </a:r>
            <a:r>
              <a:rPr lang="zh-CN" altLang="en-US" dirty="0" smtClean="0">
                <a:solidFill>
                  <a:prstClr val="white"/>
                </a:solidFill>
                <a:latin typeface="微软雅黑" panose="020B0503020204020204" pitchFamily="34" charset="-122"/>
                <a:ea typeface="微软雅黑" panose="020B0503020204020204" pitchFamily="34" charset="-122"/>
              </a:rPr>
              <a:t>常用的应用场景，如果热点数据完全依赖于传统数据库，对系统稳定性和可用性来说，均不是一个好的选择，支持高并发并不是传统数据库的强项。下面是借助</a:t>
            </a:r>
            <a:r>
              <a:rPr lang="en-US" altLang="zh-CN" dirty="0" err="1" smtClean="0">
                <a:solidFill>
                  <a:prstClr val="white"/>
                </a:solidFill>
                <a:latin typeface="微软雅黑" panose="020B0503020204020204" pitchFamily="34" charset="-122"/>
                <a:ea typeface="微软雅黑" panose="020B0503020204020204" pitchFamily="34" charset="-122"/>
              </a:rPr>
              <a:t>redis</a:t>
            </a:r>
            <a:r>
              <a:rPr lang="zh-CN" altLang="en-US" dirty="0" smtClean="0">
                <a:solidFill>
                  <a:prstClr val="white"/>
                </a:solidFill>
                <a:latin typeface="微软雅黑" panose="020B0503020204020204" pitchFamily="34" charset="-122"/>
                <a:ea typeface="微软雅黑" panose="020B0503020204020204" pitchFamily="34" charset="-122"/>
              </a:rPr>
              <a:t>保存单个秒杀商品数量的例子。</a:t>
            </a:r>
            <a:endParaRPr lang="en-US" altLang="zh-CN" dirty="0" smtClean="0">
              <a:solidFill>
                <a:prstClr val="white"/>
              </a:solidFill>
              <a:latin typeface="微软雅黑" panose="020B0503020204020204" pitchFamily="34" charset="-122"/>
              <a:ea typeface="微软雅黑" panose="020B0503020204020204" pitchFamily="34" charset="-122"/>
            </a:endParaRPr>
          </a:p>
          <a:p>
            <a:pPr>
              <a:lnSpc>
                <a:spcPct val="140000"/>
              </a:lnSpc>
            </a:pPr>
            <a:endParaRPr lang="en-US" altLang="zh-CN" dirty="0">
              <a:solidFill>
                <a:prstClr val="white"/>
              </a:solidFill>
              <a:latin typeface="微软雅黑" panose="020B0503020204020204" pitchFamily="34" charset="-122"/>
              <a:ea typeface="微软雅黑" panose="020B0503020204020204" pitchFamily="34" charset="-122"/>
            </a:endParaRPr>
          </a:p>
          <a:p>
            <a:pPr>
              <a:lnSpc>
                <a:spcPct val="140000"/>
              </a:lnSpc>
            </a:pPr>
            <a:r>
              <a:rPr lang="en-US" altLang="zh-CN" dirty="0" smtClean="0">
                <a:solidFill>
                  <a:prstClr val="white"/>
                </a:solidFill>
                <a:latin typeface="微软雅黑" panose="020B0503020204020204" pitchFamily="34" charset="-122"/>
                <a:ea typeface="微软雅黑" panose="020B0503020204020204" pitchFamily="34" charset="-122"/>
              </a:rPr>
              <a:t>1</a:t>
            </a:r>
            <a:r>
              <a:rPr lang="zh-CN" altLang="en-US" dirty="0" smtClean="0">
                <a:solidFill>
                  <a:prstClr val="white"/>
                </a:solidFill>
                <a:latin typeface="微软雅黑" panose="020B0503020204020204" pitchFamily="34" charset="-122"/>
                <a:ea typeface="微软雅黑" panose="020B0503020204020204" pitchFamily="34" charset="-122"/>
              </a:rPr>
              <a:t>、初始化库存</a:t>
            </a:r>
            <a:endParaRPr lang="en-US" altLang="zh-CN" dirty="0" smtClean="0">
              <a:solidFill>
                <a:prstClr val="white"/>
              </a:solidFill>
              <a:latin typeface="微软雅黑" panose="020B0503020204020204" pitchFamily="34" charset="-122"/>
              <a:ea typeface="微软雅黑" panose="020B0503020204020204" pitchFamily="34" charset="-122"/>
            </a:endParaRPr>
          </a:p>
          <a:p>
            <a:pPr>
              <a:lnSpc>
                <a:spcPct val="140000"/>
              </a:lnSpc>
            </a:pPr>
            <a:r>
              <a:rPr lang="en-US" altLang="zh-CN" dirty="0">
                <a:solidFill>
                  <a:prstClr val="white"/>
                </a:solidFill>
                <a:latin typeface="微软雅黑" panose="020B0503020204020204" pitchFamily="34" charset="-122"/>
                <a:ea typeface="微软雅黑" panose="020B0503020204020204" pitchFamily="34" charset="-122"/>
              </a:rPr>
              <a:t> </a:t>
            </a:r>
            <a:r>
              <a:rPr lang="en-US" altLang="zh-CN" dirty="0" smtClean="0">
                <a:solidFill>
                  <a:prstClr val="white"/>
                </a:solidFill>
                <a:latin typeface="微软雅黑" panose="020B0503020204020204" pitchFamily="34" charset="-122"/>
                <a:ea typeface="微软雅黑" panose="020B0503020204020204" pitchFamily="34" charset="-122"/>
              </a:rPr>
              <a:t>    </a:t>
            </a:r>
            <a:r>
              <a:rPr lang="en-US" altLang="zh-CN" dirty="0" smtClean="0">
                <a:solidFill>
                  <a:schemeClr val="accent6"/>
                </a:solidFill>
                <a:latin typeface="微软雅黑" panose="020B0503020204020204" pitchFamily="34" charset="-122"/>
                <a:ea typeface="微软雅黑" panose="020B0503020204020204" pitchFamily="34" charset="-122"/>
              </a:rPr>
              <a:t>&gt;  </a:t>
            </a:r>
            <a:r>
              <a:rPr lang="en-US" altLang="zh-CN" sz="1600" b="1" dirty="0">
                <a:solidFill>
                  <a:srgbClr val="FFD343"/>
                </a:solidFill>
                <a:latin typeface="微软雅黑" panose="020B0503020204020204" pitchFamily="34" charset="-122"/>
                <a:ea typeface="微软雅黑" panose="020B0503020204020204" pitchFamily="34" charset="-122"/>
              </a:rPr>
              <a:t>set</a:t>
            </a:r>
            <a:r>
              <a:rPr lang="en-US" altLang="zh-CN" dirty="0" smtClean="0">
                <a:solidFill>
                  <a:schemeClr val="accent6"/>
                </a:solidFill>
                <a:latin typeface="微软雅黑" panose="020B0503020204020204" pitchFamily="34" charset="-122"/>
                <a:ea typeface="微软雅黑" panose="020B0503020204020204" pitchFamily="34" charset="-122"/>
              </a:rPr>
              <a:t> sku001_nun  20      </a:t>
            </a:r>
            <a:r>
              <a:rPr lang="en-US" altLang="zh-CN" dirty="0" smtClean="0">
                <a:solidFill>
                  <a:prstClr val="white"/>
                </a:solidFill>
                <a:latin typeface="微软雅黑" panose="020B0503020204020204" pitchFamily="34" charset="-122"/>
                <a:ea typeface="微软雅黑" panose="020B0503020204020204" pitchFamily="34" charset="-122"/>
              </a:rPr>
              <a:t># </a:t>
            </a:r>
            <a:r>
              <a:rPr lang="zh-CN" altLang="en-US" dirty="0">
                <a:solidFill>
                  <a:prstClr val="white"/>
                </a:solidFill>
                <a:latin typeface="微软雅黑" panose="020B0503020204020204" pitchFamily="34" charset="-122"/>
                <a:ea typeface="微软雅黑" panose="020B0503020204020204" pitchFamily="34" charset="-122"/>
              </a:rPr>
              <a:t>初始</a:t>
            </a:r>
            <a:r>
              <a:rPr lang="zh-CN" altLang="en-US" dirty="0" smtClean="0">
                <a:solidFill>
                  <a:prstClr val="white"/>
                </a:solidFill>
                <a:latin typeface="微软雅黑" panose="020B0503020204020204" pitchFamily="34" charset="-122"/>
                <a:ea typeface="微软雅黑" panose="020B0503020204020204" pitchFamily="34" charset="-122"/>
              </a:rPr>
              <a:t>化商品数量为</a:t>
            </a:r>
            <a:r>
              <a:rPr lang="en-US" altLang="zh-CN" dirty="0" smtClean="0">
                <a:solidFill>
                  <a:prstClr val="white"/>
                </a:solidFill>
                <a:latin typeface="微软雅黑" panose="020B0503020204020204" pitchFamily="34" charset="-122"/>
                <a:ea typeface="微软雅黑" panose="020B0503020204020204" pitchFamily="34" charset="-122"/>
              </a:rPr>
              <a:t>20</a:t>
            </a:r>
          </a:p>
          <a:p>
            <a:pPr>
              <a:lnSpc>
                <a:spcPct val="140000"/>
              </a:lnSpc>
            </a:pPr>
            <a:endParaRPr lang="en-US" altLang="zh-CN" dirty="0">
              <a:solidFill>
                <a:prstClr val="white"/>
              </a:solidFill>
              <a:latin typeface="微软雅黑" panose="020B0503020204020204" pitchFamily="34" charset="-122"/>
              <a:ea typeface="微软雅黑" panose="020B0503020204020204" pitchFamily="34" charset="-122"/>
            </a:endParaRPr>
          </a:p>
          <a:p>
            <a:pPr>
              <a:lnSpc>
                <a:spcPct val="140000"/>
              </a:lnSpc>
            </a:pPr>
            <a:r>
              <a:rPr lang="en-US" altLang="zh-CN" dirty="0" smtClean="0">
                <a:solidFill>
                  <a:prstClr val="white"/>
                </a:solidFill>
                <a:latin typeface="微软雅黑" panose="020B0503020204020204" pitchFamily="34" charset="-122"/>
                <a:ea typeface="微软雅黑" panose="020B0503020204020204" pitchFamily="34" charset="-122"/>
              </a:rPr>
              <a:t>2</a:t>
            </a:r>
            <a:r>
              <a:rPr lang="zh-CN" altLang="en-US" dirty="0" smtClean="0">
                <a:solidFill>
                  <a:prstClr val="white"/>
                </a:solidFill>
                <a:latin typeface="微软雅黑" panose="020B0503020204020204" pitchFamily="34" charset="-122"/>
                <a:ea typeface="微软雅黑" panose="020B0503020204020204" pitchFamily="34" charset="-122"/>
              </a:rPr>
              <a:t>、减少库存</a:t>
            </a:r>
            <a:endParaRPr lang="en-US" altLang="zh-CN" dirty="0" smtClean="0">
              <a:solidFill>
                <a:prstClr val="white"/>
              </a:solidFill>
              <a:latin typeface="微软雅黑" panose="020B0503020204020204" pitchFamily="34" charset="-122"/>
              <a:ea typeface="微软雅黑" panose="020B0503020204020204" pitchFamily="34" charset="-122"/>
            </a:endParaRPr>
          </a:p>
          <a:p>
            <a:pPr>
              <a:lnSpc>
                <a:spcPct val="140000"/>
              </a:lnSpc>
            </a:pPr>
            <a:r>
              <a:rPr lang="en-US" altLang="zh-CN" dirty="0">
                <a:solidFill>
                  <a:prstClr val="white"/>
                </a:solidFill>
                <a:latin typeface="微软雅黑" panose="020B0503020204020204" pitchFamily="34" charset="-122"/>
                <a:ea typeface="微软雅黑" panose="020B0503020204020204" pitchFamily="34" charset="-122"/>
              </a:rPr>
              <a:t> </a:t>
            </a:r>
            <a:r>
              <a:rPr lang="en-US" altLang="zh-CN" dirty="0" smtClean="0">
                <a:solidFill>
                  <a:prstClr val="white"/>
                </a:solidFill>
                <a:latin typeface="微软雅黑" panose="020B0503020204020204" pitchFamily="34" charset="-122"/>
                <a:ea typeface="微软雅黑" panose="020B0503020204020204" pitchFamily="34" charset="-122"/>
              </a:rPr>
              <a:t>    </a:t>
            </a:r>
            <a:r>
              <a:rPr lang="en-US" altLang="zh-CN" dirty="0" smtClean="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decr</a:t>
            </a:r>
            <a:r>
              <a:rPr lang="en-US" altLang="zh-CN" dirty="0" smtClean="0">
                <a:solidFill>
                  <a:srgbClr val="C00000"/>
                </a:solidFill>
                <a:latin typeface="微软雅黑" panose="020B0503020204020204" pitchFamily="34" charset="-122"/>
                <a:ea typeface="微软雅黑" panose="020B0503020204020204" pitchFamily="34" charset="-122"/>
              </a:rPr>
              <a:t> </a:t>
            </a:r>
            <a:r>
              <a:rPr lang="en-US" altLang="zh-CN" dirty="0" smtClean="0">
                <a:solidFill>
                  <a:schemeClr val="accent6"/>
                </a:solidFill>
                <a:latin typeface="微软雅黑" panose="020B0503020204020204" pitchFamily="34" charset="-122"/>
                <a:ea typeface="微软雅黑" panose="020B0503020204020204" pitchFamily="34" charset="-122"/>
              </a:rPr>
              <a:t>sku001_nun         </a:t>
            </a:r>
            <a:r>
              <a:rPr lang="en-US" altLang="zh-CN" dirty="0" smtClean="0">
                <a:solidFill>
                  <a:prstClr val="white"/>
                </a:solidFill>
                <a:latin typeface="微软雅黑" panose="020B0503020204020204" pitchFamily="34" charset="-122"/>
                <a:ea typeface="微软雅黑" panose="020B0503020204020204" pitchFamily="34" charset="-122"/>
              </a:rPr>
              <a:t># </a:t>
            </a:r>
            <a:r>
              <a:rPr lang="zh-CN" altLang="en-US" dirty="0" smtClean="0">
                <a:solidFill>
                  <a:prstClr val="white"/>
                </a:solidFill>
                <a:latin typeface="微软雅黑" panose="020B0503020204020204" pitchFamily="34" charset="-122"/>
                <a:ea typeface="微软雅黑" panose="020B0503020204020204" pitchFamily="34" charset="-122"/>
              </a:rPr>
              <a:t>每次商品数量减少</a:t>
            </a:r>
            <a:r>
              <a:rPr lang="en-US" altLang="zh-CN" dirty="0" smtClean="0">
                <a:solidFill>
                  <a:prstClr val="white"/>
                </a:solidFill>
                <a:latin typeface="微软雅黑" panose="020B0503020204020204" pitchFamily="34" charset="-122"/>
                <a:ea typeface="微软雅黑" panose="020B0503020204020204" pitchFamily="34" charset="-122"/>
              </a:rPr>
              <a:t>1</a:t>
            </a:r>
            <a:r>
              <a:rPr lang="zh-CN" altLang="en-US" dirty="0" smtClean="0">
                <a:solidFill>
                  <a:prstClr val="white"/>
                </a:solidFill>
                <a:latin typeface="微软雅黑" panose="020B0503020204020204" pitchFamily="34" charset="-122"/>
                <a:ea typeface="微软雅黑" panose="020B0503020204020204" pitchFamily="34" charset="-122"/>
              </a:rPr>
              <a:t>，</a:t>
            </a:r>
            <a:r>
              <a:rPr lang="en-US" altLang="zh-CN" dirty="0" err="1" smtClean="0">
                <a:solidFill>
                  <a:prstClr val="white"/>
                </a:solidFill>
                <a:latin typeface="微软雅黑" panose="020B0503020204020204" pitchFamily="34" charset="-122"/>
                <a:ea typeface="微软雅黑" panose="020B0503020204020204" pitchFamily="34" charset="-122"/>
              </a:rPr>
              <a:t>decr</a:t>
            </a:r>
            <a:r>
              <a:rPr lang="zh-CN" altLang="en-US" dirty="0" smtClean="0">
                <a:solidFill>
                  <a:prstClr val="white"/>
                </a:solidFill>
                <a:latin typeface="微软雅黑" panose="020B0503020204020204" pitchFamily="34" charset="-122"/>
                <a:ea typeface="微软雅黑" panose="020B0503020204020204" pitchFamily="34" charset="-122"/>
              </a:rPr>
              <a:t>返回减少后的数量，如果值大于</a:t>
            </a:r>
            <a:r>
              <a:rPr lang="en-US" altLang="zh-CN" dirty="0" smtClean="0">
                <a:solidFill>
                  <a:prstClr val="white"/>
                </a:solidFill>
                <a:latin typeface="微软雅黑" panose="020B0503020204020204" pitchFamily="34" charset="-122"/>
                <a:ea typeface="微软雅黑" panose="020B0503020204020204" pitchFamily="34" charset="-122"/>
              </a:rPr>
              <a:t>0</a:t>
            </a:r>
            <a:r>
              <a:rPr lang="zh-CN" altLang="en-US" dirty="0" smtClean="0">
                <a:solidFill>
                  <a:prstClr val="white"/>
                </a:solidFill>
                <a:latin typeface="微软雅黑" panose="020B0503020204020204" pitchFamily="34" charset="-122"/>
                <a:ea typeface="微软雅黑" panose="020B0503020204020204" pitchFamily="34" charset="-122"/>
              </a:rPr>
              <a:t>，表示秒杀到一个商品</a:t>
            </a:r>
            <a:endParaRPr lang="en-US" altLang="zh-CN" dirty="0" smtClean="0">
              <a:solidFill>
                <a:prstClr val="white"/>
              </a:solidFill>
              <a:latin typeface="微软雅黑" panose="020B0503020204020204" pitchFamily="34" charset="-122"/>
              <a:ea typeface="微软雅黑" panose="020B0503020204020204" pitchFamily="34" charset="-122"/>
            </a:endParaRPr>
          </a:p>
          <a:p>
            <a:pPr>
              <a:lnSpc>
                <a:spcPct val="140000"/>
              </a:lnSpc>
            </a:pPr>
            <a:endParaRPr lang="en-US" altLang="zh-CN" dirty="0" smtClean="0">
              <a:solidFill>
                <a:prstClr val="white"/>
              </a:solidFill>
              <a:latin typeface="微软雅黑" panose="020B0503020204020204" pitchFamily="34" charset="-122"/>
              <a:ea typeface="微软雅黑" panose="020B0503020204020204" pitchFamily="34" charset="-122"/>
            </a:endParaRPr>
          </a:p>
          <a:p>
            <a:pPr>
              <a:lnSpc>
                <a:spcPct val="140000"/>
              </a:lnSpc>
            </a:pPr>
            <a:r>
              <a:rPr lang="zh-CN" altLang="en-US" i="1" dirty="0">
                <a:solidFill>
                  <a:prstClr val="white"/>
                </a:solidFill>
                <a:latin typeface="微软雅黑" panose="020B0503020204020204" pitchFamily="34" charset="-122"/>
                <a:ea typeface="微软雅黑" panose="020B0503020204020204" pitchFamily="34" charset="-122"/>
              </a:rPr>
              <a:t>说</a:t>
            </a:r>
            <a:r>
              <a:rPr lang="zh-CN" altLang="en-US" i="1" dirty="0" smtClean="0">
                <a:solidFill>
                  <a:prstClr val="white"/>
                </a:solidFill>
                <a:latin typeface="微软雅黑" panose="020B0503020204020204" pitchFamily="34" charset="-122"/>
                <a:ea typeface="微软雅黑" panose="020B0503020204020204" pitchFamily="34" charset="-122"/>
              </a:rPr>
              <a:t>明：因为</a:t>
            </a:r>
            <a:r>
              <a:rPr lang="en-US" altLang="zh-CN" i="1" dirty="0" err="1" smtClean="0">
                <a:solidFill>
                  <a:prstClr val="white"/>
                </a:solidFill>
                <a:latin typeface="微软雅黑" panose="020B0503020204020204" pitchFamily="34" charset="-122"/>
                <a:ea typeface="微软雅黑" panose="020B0503020204020204" pitchFamily="34" charset="-122"/>
              </a:rPr>
              <a:t>redis</a:t>
            </a:r>
            <a:r>
              <a:rPr lang="zh-CN" altLang="en-US" i="1" dirty="0" smtClean="0">
                <a:solidFill>
                  <a:prstClr val="white"/>
                </a:solidFill>
                <a:latin typeface="微软雅黑" panose="020B0503020204020204" pitchFamily="34" charset="-122"/>
                <a:ea typeface="微软雅黑" panose="020B0503020204020204" pitchFamily="34" charset="-122"/>
              </a:rPr>
              <a:t>服务器单线程模型，单个命令的执行均可以保证原子性，业务系统多个客户端并发请求不影响数据的正确性</a:t>
            </a:r>
            <a:r>
              <a:rPr lang="zh-CN" altLang="en-US" dirty="0" smtClean="0">
                <a:solidFill>
                  <a:prstClr val="white"/>
                </a:solidFill>
                <a:latin typeface="微软雅黑" panose="020B0503020204020204" pitchFamily="34" charset="-122"/>
                <a:ea typeface="微软雅黑" panose="020B0503020204020204" pitchFamily="34" charset="-122"/>
              </a:rPr>
              <a:t>。实际实现秒杀并没有这么简单，需要客户端做更多处理，甚至借助</a:t>
            </a:r>
            <a:r>
              <a:rPr lang="en-US" altLang="zh-CN" dirty="0" err="1" smtClean="0">
                <a:solidFill>
                  <a:prstClr val="white"/>
                </a:solidFill>
                <a:latin typeface="微软雅黑" panose="020B0503020204020204" pitchFamily="34" charset="-122"/>
                <a:ea typeface="微软雅黑" panose="020B0503020204020204" pitchFamily="34" charset="-122"/>
              </a:rPr>
              <a:t>lua</a:t>
            </a:r>
            <a:r>
              <a:rPr lang="zh-CN" altLang="en-US" dirty="0" smtClean="0">
                <a:solidFill>
                  <a:prstClr val="white"/>
                </a:solidFill>
                <a:latin typeface="微软雅黑" panose="020B0503020204020204" pitchFamily="34" charset="-122"/>
                <a:ea typeface="微软雅黑" panose="020B0503020204020204" pitchFamily="34" charset="-122"/>
              </a:rPr>
              <a:t>脚本在减少库存时防止数量小于</a:t>
            </a:r>
            <a:r>
              <a:rPr lang="en-US" altLang="zh-CN" dirty="0" smtClean="0">
                <a:solidFill>
                  <a:prstClr val="white"/>
                </a:solidFill>
                <a:latin typeface="微软雅黑" panose="020B0503020204020204" pitchFamily="34" charset="-122"/>
                <a:ea typeface="微软雅黑" panose="020B0503020204020204" pitchFamily="34" charset="-122"/>
              </a:rPr>
              <a:t>0</a:t>
            </a:r>
            <a:r>
              <a:rPr lang="zh-CN" altLang="en-US" dirty="0" smtClean="0">
                <a:solidFill>
                  <a:prstClr val="white"/>
                </a:solidFill>
                <a:latin typeface="微软雅黑" panose="020B0503020204020204" pitchFamily="34" charset="-122"/>
                <a:ea typeface="微软雅黑" panose="020B0503020204020204" pitchFamily="34" charset="-122"/>
              </a:rPr>
              <a:t>。</a:t>
            </a:r>
            <a:endParaRPr lang="en-US" altLang="zh-CN" dirty="0">
              <a:solidFill>
                <a:prstClr val="white"/>
              </a:solidFill>
              <a:latin typeface="微软雅黑" panose="020B0503020204020204" pitchFamily="34" charset="-122"/>
              <a:ea typeface="微软雅黑" panose="020B0503020204020204" pitchFamily="34" charset="-122"/>
            </a:endParaRPr>
          </a:p>
        </p:txBody>
      </p:sp>
      <p:sp>
        <p:nvSpPr>
          <p:cNvPr id="10" name="TextBox 9"/>
          <p:cNvSpPr txBox="1"/>
          <p:nvPr/>
        </p:nvSpPr>
        <p:spPr>
          <a:xfrm>
            <a:off x="704849" y="605109"/>
            <a:ext cx="9096535" cy="523220"/>
          </a:xfrm>
          <a:prstGeom prst="rect">
            <a:avLst/>
          </a:prstGeom>
          <a:noFill/>
        </p:spPr>
        <p:txBody>
          <a:bodyPr wrap="square" rtlCol="0">
            <a:spAutoFit/>
          </a:bodyPr>
          <a:lstStyle/>
          <a:p>
            <a:pPr>
              <a:defRPr/>
            </a:pPr>
            <a:r>
              <a:rPr lang="en-US" altLang="zh-CN"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2.1.3 </a:t>
            </a:r>
            <a:r>
              <a:rPr lang="zh-CN" altLang="en-US"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热点数据缓存</a:t>
            </a:r>
          </a:p>
        </p:txBody>
      </p:sp>
    </p:spTree>
    <p:extLst>
      <p:ext uri="{BB962C8B-B14F-4D97-AF65-F5344CB8AC3E}">
        <p14:creationId xmlns:p14="http://schemas.microsoft.com/office/powerpoint/2010/main" val="446438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A0F23"/>
        </a:solidFill>
        <a:effectLst/>
      </p:bgPr>
    </p:bg>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xmlns="" id="{CBDC52CD-1D62-48AF-A9DF-9F18AEA2B1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01385" y="-114300"/>
            <a:ext cx="1301859" cy="920356"/>
          </a:xfrm>
          <a:prstGeom prst="rect">
            <a:avLst/>
          </a:prstGeom>
        </p:spPr>
      </p:pic>
      <p:pic>
        <p:nvPicPr>
          <p:cNvPr id="14" name="图片 13">
            <a:extLst>
              <a:ext uri="{FF2B5EF4-FFF2-40B4-BE49-F238E27FC236}">
                <a16:creationId xmlns:a16="http://schemas.microsoft.com/office/drawing/2014/main" xmlns="" id="{F78DA958-9B1B-47DA-A870-8C0B3A7D8866}"/>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b="63537"/>
          <a:stretch/>
        </p:blipFill>
        <p:spPr>
          <a:xfrm>
            <a:off x="11184164" y="217733"/>
            <a:ext cx="572339" cy="337210"/>
          </a:xfrm>
          <a:prstGeom prst="rect">
            <a:avLst/>
          </a:prstGeom>
        </p:spPr>
      </p:pic>
      <p:cxnSp>
        <p:nvCxnSpPr>
          <p:cNvPr id="15" name="直接连接符 14">
            <a:extLst>
              <a:ext uri="{FF2B5EF4-FFF2-40B4-BE49-F238E27FC236}">
                <a16:creationId xmlns:a16="http://schemas.microsoft.com/office/drawing/2014/main" xmlns="" id="{93240A06-D526-4907-A163-94ABB41190CC}"/>
              </a:ext>
            </a:extLst>
          </p:cNvPr>
          <p:cNvCxnSpPr/>
          <p:nvPr/>
        </p:nvCxnSpPr>
        <p:spPr>
          <a:xfrm>
            <a:off x="11103244" y="225825"/>
            <a:ext cx="0" cy="2435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xmlns="" id="{74C59758-12AB-44A5-92FA-DB52904027AE}"/>
              </a:ext>
            </a:extLst>
          </p:cNvPr>
          <p:cNvSpPr/>
          <p:nvPr/>
        </p:nvSpPr>
        <p:spPr>
          <a:xfrm>
            <a:off x="802332" y="2138014"/>
            <a:ext cx="10765483" cy="923330"/>
          </a:xfrm>
          <a:prstGeom prst="rect">
            <a:avLst/>
          </a:prstGeom>
        </p:spPr>
        <p:txBody>
          <a:bodyPr wrap="square">
            <a:spAutoFit/>
          </a:bodyPr>
          <a:lstStyle/>
          <a:p>
            <a:pPr>
              <a:lnSpc>
                <a:spcPct val="150000"/>
              </a:lnSpc>
            </a:pPr>
            <a:r>
              <a:rPr lang="en-US" altLang="zh-CN" dirty="0" smtClean="0">
                <a:solidFill>
                  <a:prstClr val="white"/>
                </a:solidFill>
                <a:latin typeface="微软雅黑" panose="020B0503020204020204" pitchFamily="34" charset="-122"/>
                <a:ea typeface="微软雅黑" panose="020B0503020204020204" pitchFamily="34" charset="-122"/>
              </a:rPr>
              <a:t>Hash</a:t>
            </a:r>
            <a:r>
              <a:rPr lang="zh-CN" altLang="en-US" dirty="0">
                <a:solidFill>
                  <a:prstClr val="white"/>
                </a:solidFill>
                <a:latin typeface="微软雅黑" panose="020B0503020204020204" pitchFamily="34" charset="-122"/>
                <a:ea typeface="微软雅黑" panose="020B0503020204020204" pitchFamily="34" charset="-122"/>
              </a:rPr>
              <a:t>结</a:t>
            </a:r>
            <a:r>
              <a:rPr lang="zh-CN" altLang="en-US" dirty="0" smtClean="0">
                <a:solidFill>
                  <a:prstClr val="white"/>
                </a:solidFill>
                <a:latin typeface="微软雅黑" panose="020B0503020204020204" pitchFamily="34" charset="-122"/>
                <a:ea typeface="微软雅黑" panose="020B0503020204020204" pitchFamily="34" charset="-122"/>
              </a:rPr>
              <a:t>构类似于</a:t>
            </a:r>
            <a:r>
              <a:rPr lang="en-US" altLang="zh-CN" dirty="0" smtClean="0">
                <a:solidFill>
                  <a:prstClr val="white"/>
                </a:solidFill>
                <a:latin typeface="微软雅黑" panose="020B0503020204020204" pitchFamily="34" charset="-122"/>
                <a:ea typeface="微软雅黑" panose="020B0503020204020204" pitchFamily="34" charset="-122"/>
              </a:rPr>
              <a:t>Java</a:t>
            </a:r>
            <a:r>
              <a:rPr lang="zh-CN" altLang="en-US" dirty="0" smtClean="0">
                <a:solidFill>
                  <a:prstClr val="white"/>
                </a:solidFill>
                <a:latin typeface="微软雅黑" panose="020B0503020204020204" pitchFamily="34" charset="-122"/>
                <a:ea typeface="微软雅黑" panose="020B0503020204020204" pitchFamily="34" charset="-122"/>
              </a:rPr>
              <a:t>语言中的</a:t>
            </a:r>
            <a:r>
              <a:rPr lang="en-US" altLang="zh-CN" dirty="0" err="1" smtClean="0">
                <a:solidFill>
                  <a:prstClr val="white"/>
                </a:solidFill>
                <a:latin typeface="微软雅黑" panose="020B0503020204020204" pitchFamily="34" charset="-122"/>
                <a:ea typeface="微软雅黑" panose="020B0503020204020204" pitchFamily="34" charset="-122"/>
              </a:rPr>
              <a:t>HashMap</a:t>
            </a:r>
            <a:r>
              <a:rPr lang="en-US" altLang="zh-CN" dirty="0" smtClean="0">
                <a:solidFill>
                  <a:prstClr val="white"/>
                </a:solidFill>
                <a:latin typeface="微软雅黑" panose="020B0503020204020204" pitchFamily="34" charset="-122"/>
                <a:ea typeface="微软雅黑" panose="020B0503020204020204" pitchFamily="34" charset="-122"/>
              </a:rPr>
              <a:t>, </a:t>
            </a:r>
            <a:r>
              <a:rPr lang="zh-CN" altLang="en-US" dirty="0" smtClean="0">
                <a:solidFill>
                  <a:prstClr val="white"/>
                </a:solidFill>
                <a:latin typeface="微软雅黑" panose="020B0503020204020204" pitchFamily="34" charset="-122"/>
                <a:ea typeface="微软雅黑" panose="020B0503020204020204" pitchFamily="34" charset="-122"/>
              </a:rPr>
              <a:t>是</a:t>
            </a:r>
            <a:r>
              <a:rPr lang="zh-CN" altLang="en-US" dirty="0">
                <a:solidFill>
                  <a:prstClr val="white"/>
                </a:solidFill>
                <a:latin typeface="微软雅黑" panose="020B0503020204020204" pitchFamily="34" charset="-122"/>
                <a:ea typeface="微软雅黑" panose="020B0503020204020204" pitchFamily="34" charset="-122"/>
              </a:rPr>
              <a:t>无序</a:t>
            </a:r>
            <a:r>
              <a:rPr lang="zh-CN" altLang="en-US" dirty="0" smtClean="0">
                <a:solidFill>
                  <a:prstClr val="white"/>
                </a:solidFill>
                <a:latin typeface="微软雅黑" panose="020B0503020204020204" pitchFamily="34" charset="-122"/>
                <a:ea typeface="微软雅黑" panose="020B0503020204020204" pitchFamily="34" charset="-122"/>
              </a:rPr>
              <a:t>的，内部存储了很多的键值对，实现使用“数据</a:t>
            </a:r>
            <a:r>
              <a:rPr lang="en-US" altLang="zh-CN" dirty="0" smtClean="0">
                <a:solidFill>
                  <a:prstClr val="white"/>
                </a:solidFill>
                <a:latin typeface="微软雅黑" panose="020B0503020204020204" pitchFamily="34" charset="-122"/>
                <a:ea typeface="微软雅黑" panose="020B0503020204020204" pitchFamily="34" charset="-122"/>
              </a:rPr>
              <a:t>+</a:t>
            </a:r>
            <a:r>
              <a:rPr lang="zh-CN" altLang="en-US" dirty="0" smtClean="0">
                <a:solidFill>
                  <a:prstClr val="white"/>
                </a:solidFill>
                <a:latin typeface="微软雅黑" panose="020B0503020204020204" pitchFamily="34" charset="-122"/>
                <a:ea typeface="微软雅黑" panose="020B0503020204020204" pitchFamily="34" charset="-122"/>
              </a:rPr>
              <a:t>链表”的二维结构，每个键值对都只能是</a:t>
            </a:r>
            <a:r>
              <a:rPr lang="en-US" altLang="zh-CN" dirty="0" smtClean="0">
                <a:solidFill>
                  <a:prstClr val="white"/>
                </a:solidFill>
                <a:latin typeface="微软雅黑" panose="020B0503020204020204" pitchFamily="34" charset="-122"/>
                <a:ea typeface="微软雅黑" panose="020B0503020204020204" pitchFamily="34" charset="-122"/>
              </a:rPr>
              <a:t>string</a:t>
            </a:r>
            <a:r>
              <a:rPr lang="zh-CN" altLang="en-US" dirty="0" smtClean="0">
                <a:solidFill>
                  <a:prstClr val="white"/>
                </a:solidFill>
                <a:latin typeface="微软雅黑" panose="020B0503020204020204" pitchFamily="34" charset="-122"/>
                <a:ea typeface="微软雅黑" panose="020B0503020204020204" pitchFamily="34" charset="-122"/>
              </a:rPr>
              <a:t>类型。</a:t>
            </a:r>
            <a:endParaRPr lang="zh-CN" altLang="en-US" dirty="0">
              <a:solidFill>
                <a:prstClr val="white"/>
              </a:solidFill>
              <a:latin typeface="微软雅黑" panose="020B0503020204020204" pitchFamily="34" charset="-122"/>
              <a:ea typeface="微软雅黑" panose="020B0503020204020204" pitchFamily="34" charset="-122"/>
            </a:endParaRPr>
          </a:p>
        </p:txBody>
      </p:sp>
      <p:sp>
        <p:nvSpPr>
          <p:cNvPr id="10" name="TextBox 9"/>
          <p:cNvSpPr txBox="1"/>
          <p:nvPr/>
        </p:nvSpPr>
        <p:spPr>
          <a:xfrm>
            <a:off x="704850" y="605109"/>
            <a:ext cx="9798050" cy="584775"/>
          </a:xfrm>
          <a:prstGeom prst="rect">
            <a:avLst/>
          </a:prstGeom>
          <a:noFill/>
        </p:spPr>
        <p:txBody>
          <a:bodyPr wrap="square" rtlCol="0">
            <a:spAutoFit/>
          </a:bodyPr>
          <a:lstStyle/>
          <a:p>
            <a:pPr>
              <a:defRPr/>
            </a:pPr>
            <a:r>
              <a:rPr lang="en-US" altLang="zh-CN" sz="32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2.2</a:t>
            </a:r>
            <a:r>
              <a:rPr lang="zh-CN" altLang="en-US" sz="32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a:t>
            </a:r>
            <a:r>
              <a:rPr lang="en-US" altLang="zh-CN" sz="3200" b="1" dirty="0" err="1">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redis</a:t>
            </a:r>
            <a:r>
              <a:rPr lang="zh-CN" altLang="en-US" sz="32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基本数据结构之</a:t>
            </a:r>
            <a:r>
              <a:rPr lang="en-US" altLang="zh-CN" sz="32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hash</a:t>
            </a:r>
            <a:endParaRPr lang="zh-CN" altLang="en-US" sz="32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endParaRPr>
          </a:p>
        </p:txBody>
      </p:sp>
      <p:sp>
        <p:nvSpPr>
          <p:cNvPr id="12" name="TextBox 9"/>
          <p:cNvSpPr txBox="1"/>
          <p:nvPr/>
        </p:nvSpPr>
        <p:spPr>
          <a:xfrm>
            <a:off x="704850" y="1456009"/>
            <a:ext cx="4038600" cy="523220"/>
          </a:xfrm>
          <a:prstGeom prst="rect">
            <a:avLst/>
          </a:prstGeom>
          <a:noFill/>
        </p:spPr>
        <p:txBody>
          <a:bodyPr wrap="square" rtlCol="0">
            <a:spAutoFit/>
          </a:bodyPr>
          <a:lstStyle/>
          <a:p>
            <a:pPr>
              <a:defRPr/>
            </a:pPr>
            <a:r>
              <a:rPr lang="en-US" altLang="zh-CN"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2.2.1 </a:t>
            </a:r>
            <a:r>
              <a:rPr lang="zh-CN" altLang="en-US"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存储结构</a:t>
            </a:r>
          </a:p>
        </p:txBody>
      </p:sp>
      <p:grpSp>
        <p:nvGrpSpPr>
          <p:cNvPr id="1024" name="组合 1023"/>
          <p:cNvGrpSpPr/>
          <p:nvPr/>
        </p:nvGrpSpPr>
        <p:grpSpPr>
          <a:xfrm>
            <a:off x="2724150" y="3145461"/>
            <a:ext cx="5855074" cy="3212481"/>
            <a:chOff x="1524000" y="2781919"/>
            <a:chExt cx="5855074" cy="3212481"/>
          </a:xfrm>
        </p:grpSpPr>
        <p:grpSp>
          <p:nvGrpSpPr>
            <p:cNvPr id="28" name="组合 27"/>
            <p:cNvGrpSpPr/>
            <p:nvPr/>
          </p:nvGrpSpPr>
          <p:grpSpPr>
            <a:xfrm>
              <a:off x="1524000" y="2781919"/>
              <a:ext cx="5855074" cy="2641600"/>
              <a:chOff x="1524000" y="2896219"/>
              <a:chExt cx="5855074" cy="2641600"/>
            </a:xfrm>
          </p:grpSpPr>
          <p:sp>
            <p:nvSpPr>
              <p:cNvPr id="2" name="椭圆 1"/>
              <p:cNvSpPr/>
              <p:nvPr/>
            </p:nvSpPr>
            <p:spPr>
              <a:xfrm>
                <a:off x="1524000" y="3835400"/>
                <a:ext cx="1574800" cy="800100"/>
              </a:xfrm>
              <a:prstGeom prst="ellipse">
                <a:avLst/>
              </a:prstGeom>
              <a:solidFill>
                <a:schemeClr val="accent5"/>
              </a:solidFill>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dirty="0" smtClean="0"/>
                  <a:t>hash-key</a:t>
                </a:r>
                <a:endParaRPr lang="zh-CN" altLang="en-US" dirty="0"/>
              </a:p>
            </p:txBody>
          </p:sp>
          <p:sp>
            <p:nvSpPr>
              <p:cNvPr id="16" name="椭圆 15"/>
              <p:cNvSpPr/>
              <p:nvPr/>
            </p:nvSpPr>
            <p:spPr>
              <a:xfrm>
                <a:off x="4279900" y="2896219"/>
                <a:ext cx="800100" cy="660400"/>
              </a:xfrm>
              <a:prstGeom prst="ellipse">
                <a:avLst/>
              </a:prstGeom>
              <a:solidFill>
                <a:schemeClr val="accent4">
                  <a:lumMod val="60000"/>
                  <a:lumOff val="40000"/>
                </a:schemeClr>
              </a:solidFill>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dirty="0" smtClean="0"/>
                  <a:t>key</a:t>
                </a:r>
                <a:endParaRPr lang="zh-CN" altLang="en-US" dirty="0"/>
              </a:p>
            </p:txBody>
          </p:sp>
          <p:sp>
            <p:nvSpPr>
              <p:cNvPr id="17" name="椭圆 16"/>
              <p:cNvSpPr/>
              <p:nvPr/>
            </p:nvSpPr>
            <p:spPr>
              <a:xfrm>
                <a:off x="6223000" y="2896219"/>
                <a:ext cx="1079500" cy="660400"/>
              </a:xfrm>
              <a:prstGeom prst="ellipse">
                <a:avLst/>
              </a:prstGeom>
              <a:solidFill>
                <a:schemeClr val="accent2">
                  <a:lumMod val="75000"/>
                </a:schemeClr>
              </a:solidFill>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dirty="0" smtClean="0"/>
                  <a:t>value</a:t>
                </a:r>
                <a:endParaRPr lang="zh-CN" altLang="en-US" dirty="0"/>
              </a:p>
            </p:txBody>
          </p:sp>
          <p:sp>
            <p:nvSpPr>
              <p:cNvPr id="18" name="椭圆 17"/>
              <p:cNvSpPr/>
              <p:nvPr/>
            </p:nvSpPr>
            <p:spPr>
              <a:xfrm>
                <a:off x="4279900" y="3912219"/>
                <a:ext cx="800100" cy="660400"/>
              </a:xfrm>
              <a:prstGeom prst="ellipse">
                <a:avLst/>
              </a:prstGeom>
              <a:solidFill>
                <a:schemeClr val="accent4">
                  <a:lumMod val="60000"/>
                  <a:lumOff val="40000"/>
                </a:schemeClr>
              </a:solidFill>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dirty="0" smtClean="0"/>
                  <a:t>key</a:t>
                </a:r>
                <a:endParaRPr lang="zh-CN" altLang="en-US" dirty="0"/>
              </a:p>
            </p:txBody>
          </p:sp>
          <p:sp>
            <p:nvSpPr>
              <p:cNvPr id="19" name="椭圆 18"/>
              <p:cNvSpPr/>
              <p:nvPr/>
            </p:nvSpPr>
            <p:spPr>
              <a:xfrm>
                <a:off x="6223000" y="3912219"/>
                <a:ext cx="1079500" cy="660400"/>
              </a:xfrm>
              <a:prstGeom prst="ellipse">
                <a:avLst/>
              </a:prstGeom>
              <a:solidFill>
                <a:schemeClr val="accent2">
                  <a:lumMod val="75000"/>
                </a:schemeClr>
              </a:solidFill>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dirty="0" smtClean="0"/>
                  <a:t>value</a:t>
                </a:r>
                <a:endParaRPr lang="zh-CN" altLang="en-US" dirty="0"/>
              </a:p>
            </p:txBody>
          </p:sp>
          <p:sp>
            <p:nvSpPr>
              <p:cNvPr id="20" name="椭圆 19"/>
              <p:cNvSpPr/>
              <p:nvPr/>
            </p:nvSpPr>
            <p:spPr>
              <a:xfrm>
                <a:off x="4292600" y="4877419"/>
                <a:ext cx="800100" cy="660400"/>
              </a:xfrm>
              <a:prstGeom prst="ellipse">
                <a:avLst/>
              </a:prstGeom>
              <a:solidFill>
                <a:schemeClr val="accent4">
                  <a:lumMod val="60000"/>
                  <a:lumOff val="40000"/>
                </a:schemeClr>
              </a:solidFill>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dirty="0" smtClean="0"/>
                  <a:t>key</a:t>
                </a:r>
                <a:endParaRPr lang="zh-CN" altLang="en-US" dirty="0"/>
              </a:p>
            </p:txBody>
          </p:sp>
          <p:sp>
            <p:nvSpPr>
              <p:cNvPr id="21" name="椭圆 20"/>
              <p:cNvSpPr/>
              <p:nvPr/>
            </p:nvSpPr>
            <p:spPr>
              <a:xfrm>
                <a:off x="6235699" y="4877419"/>
                <a:ext cx="1143375" cy="660400"/>
              </a:xfrm>
              <a:prstGeom prst="ellipse">
                <a:avLst/>
              </a:prstGeom>
              <a:solidFill>
                <a:schemeClr val="accent2">
                  <a:lumMod val="75000"/>
                </a:schemeClr>
              </a:solidFill>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dirty="0" smtClean="0"/>
                  <a:t>value</a:t>
                </a:r>
                <a:endParaRPr lang="zh-CN" altLang="en-US" dirty="0"/>
              </a:p>
            </p:txBody>
          </p:sp>
          <p:cxnSp>
            <p:nvCxnSpPr>
              <p:cNvPr id="4" name="直接箭头连接符 3"/>
              <p:cNvCxnSpPr>
                <a:endCxn id="16" idx="2"/>
              </p:cNvCxnSpPr>
              <p:nvPr/>
            </p:nvCxnSpPr>
            <p:spPr>
              <a:xfrm flipV="1">
                <a:off x="3098800" y="3226419"/>
                <a:ext cx="1181100" cy="888382"/>
              </a:xfrm>
              <a:prstGeom prst="straightConnector1">
                <a:avLst/>
              </a:prstGeom>
              <a:ln w="25400" cmpd="sng">
                <a:solidFill>
                  <a:schemeClr val="accent6">
                    <a:lumMod val="75000"/>
                  </a:schemeClr>
                </a:solidFill>
                <a:prstDash val="solid"/>
                <a:tailEnd type="arrow"/>
              </a:ln>
            </p:spPr>
            <p:style>
              <a:lnRef idx="1">
                <a:schemeClr val="accent1"/>
              </a:lnRef>
              <a:fillRef idx="0">
                <a:schemeClr val="accent1"/>
              </a:fillRef>
              <a:effectRef idx="0">
                <a:schemeClr val="accent1"/>
              </a:effectRef>
              <a:fontRef idx="minor">
                <a:schemeClr val="tx1"/>
              </a:fontRef>
            </p:style>
          </p:cxnSp>
          <p:cxnSp>
            <p:nvCxnSpPr>
              <p:cNvPr id="22" name="直接箭头连接符 3"/>
              <p:cNvCxnSpPr/>
              <p:nvPr/>
            </p:nvCxnSpPr>
            <p:spPr>
              <a:xfrm>
                <a:off x="3098800" y="4248159"/>
                <a:ext cx="1193800" cy="1086469"/>
              </a:xfrm>
              <a:prstGeom prst="straightConnector1">
                <a:avLst/>
              </a:prstGeom>
              <a:ln w="25400" cmpd="sng">
                <a:solidFill>
                  <a:schemeClr val="accent6">
                    <a:lumMod val="75000"/>
                  </a:schemeClr>
                </a:solidFill>
                <a:prstDash val="solid"/>
                <a:tailEnd type="arrow"/>
              </a:ln>
            </p:spPr>
            <p:style>
              <a:lnRef idx="1">
                <a:schemeClr val="accent1"/>
              </a:lnRef>
              <a:fillRef idx="0">
                <a:schemeClr val="accent1"/>
              </a:fillRef>
              <a:effectRef idx="0">
                <a:schemeClr val="accent1"/>
              </a:effectRef>
              <a:fontRef idx="minor">
                <a:schemeClr val="tx1"/>
              </a:fontRef>
            </p:style>
          </p:cxnSp>
          <p:cxnSp>
            <p:nvCxnSpPr>
              <p:cNvPr id="23" name="直接箭头连接符 3"/>
              <p:cNvCxnSpPr>
                <a:stCxn id="2" idx="6"/>
                <a:endCxn id="18" idx="2"/>
              </p:cNvCxnSpPr>
              <p:nvPr/>
            </p:nvCxnSpPr>
            <p:spPr>
              <a:xfrm>
                <a:off x="3098800" y="4235450"/>
                <a:ext cx="1181100" cy="6969"/>
              </a:xfrm>
              <a:prstGeom prst="straightConnector1">
                <a:avLst/>
              </a:prstGeom>
              <a:ln w="25400" cmpd="sng">
                <a:solidFill>
                  <a:schemeClr val="accent6">
                    <a:lumMod val="75000"/>
                  </a:schemeClr>
                </a:solidFill>
                <a:prstDash val="solid"/>
                <a:tailEnd type="arrow"/>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a:stCxn id="16" idx="6"/>
                <a:endCxn id="17" idx="2"/>
              </p:cNvCxnSpPr>
              <p:nvPr/>
            </p:nvCxnSpPr>
            <p:spPr>
              <a:xfrm>
                <a:off x="5080000" y="3226419"/>
                <a:ext cx="1143000" cy="0"/>
              </a:xfrm>
              <a:prstGeom prst="straightConnector1">
                <a:avLst/>
              </a:prstGeom>
              <a:ln w="25400" cmpd="sng">
                <a:solidFill>
                  <a:schemeClr val="accent6">
                    <a:lumMod val="75000"/>
                  </a:schemeClr>
                </a:solidFill>
                <a:prstDash val="solid"/>
                <a:tailEnd type="arrow"/>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p:nvPr/>
            </p:nvCxnSpPr>
            <p:spPr>
              <a:xfrm>
                <a:off x="5080000" y="4268438"/>
                <a:ext cx="1143000" cy="0"/>
              </a:xfrm>
              <a:prstGeom prst="straightConnector1">
                <a:avLst/>
              </a:prstGeom>
              <a:ln w="25400" cmpd="sng">
                <a:solidFill>
                  <a:schemeClr val="accent6">
                    <a:lumMod val="75000"/>
                  </a:schemeClr>
                </a:solidFill>
                <a:prstDash val="solid"/>
                <a:tailEnd type="arrow"/>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p:nvPr/>
            </p:nvCxnSpPr>
            <p:spPr>
              <a:xfrm>
                <a:off x="5092700" y="5221566"/>
                <a:ext cx="1143000" cy="0"/>
              </a:xfrm>
              <a:prstGeom prst="straightConnector1">
                <a:avLst/>
              </a:prstGeom>
              <a:ln w="25400" cmpd="sng">
                <a:solidFill>
                  <a:schemeClr val="accent6">
                    <a:lumMod val="75000"/>
                  </a:schemeClr>
                </a:solidFill>
                <a:prstDash val="solid"/>
                <a:tailEnd type="arrow"/>
              </a:ln>
            </p:spPr>
            <p:style>
              <a:lnRef idx="1">
                <a:schemeClr val="accent1"/>
              </a:lnRef>
              <a:fillRef idx="0">
                <a:schemeClr val="accent1"/>
              </a:fillRef>
              <a:effectRef idx="0">
                <a:schemeClr val="accent1"/>
              </a:effectRef>
              <a:fontRef idx="minor">
                <a:schemeClr val="tx1"/>
              </a:fontRef>
            </p:style>
          </p:cxnSp>
        </p:grpSp>
        <p:sp>
          <p:nvSpPr>
            <p:cNvPr id="31" name="文本框 30"/>
            <p:cNvSpPr txBox="1"/>
            <p:nvPr/>
          </p:nvSpPr>
          <p:spPr>
            <a:xfrm>
              <a:off x="3352800" y="5626100"/>
              <a:ext cx="1828800" cy="368300"/>
            </a:xfrm>
            <a:prstGeom prst="rect">
              <a:avLst/>
            </a:prstGeom>
            <a:noFill/>
          </p:spPr>
          <p:txBody>
            <a:bodyPr wrap="square" rtlCol="0">
              <a:spAutoFit/>
            </a:bodyPr>
            <a:lstStyle/>
            <a:p>
              <a:pPr algn="ctr"/>
              <a:r>
                <a:rPr lang="zh-CN" altLang="en-US" dirty="0" smtClean="0">
                  <a:solidFill>
                    <a:schemeClr val="bg1"/>
                  </a:solidFill>
                  <a:latin typeface="微软雅黑" panose="020B0503020204020204" pitchFamily="34" charset="-122"/>
                  <a:ea typeface="微软雅黑" panose="020B0503020204020204" pitchFamily="34" charset="-122"/>
                </a:rPr>
                <a:t>图</a:t>
              </a:r>
              <a:r>
                <a:rPr lang="en-US" altLang="zh-CN" dirty="0" smtClean="0">
                  <a:solidFill>
                    <a:schemeClr val="bg1"/>
                  </a:solidFill>
                  <a:latin typeface="微软雅黑" panose="020B0503020204020204" pitchFamily="34" charset="-122"/>
                  <a:ea typeface="微软雅黑" panose="020B0503020204020204" pitchFamily="34" charset="-122"/>
                </a:rPr>
                <a:t>2.2.1 - 1</a:t>
              </a:r>
              <a:endParaRPr lang="zh-CN" altLang="en-US" dirty="0" smtClean="0">
                <a:solidFill>
                  <a:schemeClr val="bg1"/>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899786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nodeType="clickEffect">
                                  <p:stCondLst>
                                    <p:cond delay="0"/>
                                  </p:stCondLst>
                                  <p:childTnLst>
                                    <p:set>
                                      <p:cBhvr>
                                        <p:cTn id="13" dur="1" fill="hold">
                                          <p:stCondLst>
                                            <p:cond delay="0"/>
                                          </p:stCondLst>
                                        </p:cTn>
                                        <p:tgtEl>
                                          <p:spTgt spid="1024"/>
                                        </p:tgtEl>
                                        <p:attrNameLst>
                                          <p:attrName>style.visibility</p:attrName>
                                        </p:attrNameLst>
                                      </p:cBhvr>
                                      <p:to>
                                        <p:strVal val="visible"/>
                                      </p:to>
                                    </p:set>
                                    <p:animEffect transition="in" filter="circle(in)">
                                      <p:cBhvr>
                                        <p:cTn id="14" dur="2000"/>
                                        <p:tgtEl>
                                          <p:spTgt spid="10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A0F23"/>
        </a:solidFill>
        <a:effectLst/>
      </p:bgPr>
    </p:bg>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xmlns="" id="{CBDC52CD-1D62-48AF-A9DF-9F18AEA2B1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01385" y="-114300"/>
            <a:ext cx="1301859" cy="920356"/>
          </a:xfrm>
          <a:prstGeom prst="rect">
            <a:avLst/>
          </a:prstGeom>
        </p:spPr>
      </p:pic>
      <p:pic>
        <p:nvPicPr>
          <p:cNvPr id="14" name="图片 13">
            <a:extLst>
              <a:ext uri="{FF2B5EF4-FFF2-40B4-BE49-F238E27FC236}">
                <a16:creationId xmlns:a16="http://schemas.microsoft.com/office/drawing/2014/main" xmlns="" id="{F78DA958-9B1B-47DA-A870-8C0B3A7D8866}"/>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b="63537"/>
          <a:stretch/>
        </p:blipFill>
        <p:spPr>
          <a:xfrm>
            <a:off x="11184164" y="217733"/>
            <a:ext cx="572339" cy="337210"/>
          </a:xfrm>
          <a:prstGeom prst="rect">
            <a:avLst/>
          </a:prstGeom>
        </p:spPr>
      </p:pic>
      <p:cxnSp>
        <p:nvCxnSpPr>
          <p:cNvPr id="15" name="直接连接符 14">
            <a:extLst>
              <a:ext uri="{FF2B5EF4-FFF2-40B4-BE49-F238E27FC236}">
                <a16:creationId xmlns:a16="http://schemas.microsoft.com/office/drawing/2014/main" xmlns="" id="{93240A06-D526-4907-A163-94ABB41190CC}"/>
              </a:ext>
            </a:extLst>
          </p:cNvPr>
          <p:cNvCxnSpPr/>
          <p:nvPr/>
        </p:nvCxnSpPr>
        <p:spPr>
          <a:xfrm>
            <a:off x="11103244" y="225825"/>
            <a:ext cx="0" cy="2435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xmlns="" id="{74C59758-12AB-44A5-92FA-DB52904027AE}"/>
              </a:ext>
            </a:extLst>
          </p:cNvPr>
          <p:cNvSpPr/>
          <p:nvPr/>
        </p:nvSpPr>
        <p:spPr>
          <a:xfrm>
            <a:off x="6393775" y="1330471"/>
            <a:ext cx="4709469" cy="3046988"/>
          </a:xfrm>
          <a:prstGeom prst="rect">
            <a:avLst/>
          </a:prstGeom>
          <a:ln>
            <a:solidFill>
              <a:schemeClr val="bg1"/>
            </a:solidFill>
          </a:ln>
        </p:spPr>
        <p:txBody>
          <a:bodyPr wrap="square">
            <a:spAutoFit/>
          </a:bodyPr>
          <a:lstStyle/>
          <a:p>
            <a:r>
              <a:rPr lang="en-US" altLang="zh-CN" sz="1600" dirty="0" smtClean="0">
                <a:solidFill>
                  <a:schemeClr val="accent6"/>
                </a:solidFill>
                <a:latin typeface="微软雅黑" panose="020B0503020204020204" pitchFamily="34" charset="-122"/>
                <a:ea typeface="微软雅黑" panose="020B0503020204020204" pitchFamily="34" charset="-122"/>
              </a:rPr>
              <a:t>&gt; </a:t>
            </a:r>
            <a:r>
              <a:rPr lang="en-US" altLang="zh-CN" sz="1600" b="1" dirty="0">
                <a:solidFill>
                  <a:srgbClr val="FFD343"/>
                </a:solidFill>
                <a:latin typeface="微软雅黑" panose="020B0503020204020204" pitchFamily="34" charset="-122"/>
                <a:ea typeface="微软雅黑" panose="020B0503020204020204" pitchFamily="34" charset="-122"/>
              </a:rPr>
              <a:t>expire</a:t>
            </a:r>
            <a:r>
              <a:rPr lang="en-US" altLang="zh-CN" sz="1600" dirty="0">
                <a:solidFill>
                  <a:schemeClr val="accent6"/>
                </a:solidFill>
                <a:latin typeface="微软雅黑" panose="020B0503020204020204" pitchFamily="34" charset="-122"/>
                <a:ea typeface="微软雅黑" panose="020B0503020204020204" pitchFamily="34" charset="-122"/>
              </a:rPr>
              <a:t> </a:t>
            </a:r>
            <a:r>
              <a:rPr lang="en-US" altLang="zh-CN" sz="1600" dirty="0" err="1">
                <a:solidFill>
                  <a:schemeClr val="accent6"/>
                </a:solidFill>
                <a:latin typeface="微软雅黑" panose="020B0503020204020204" pitchFamily="34" charset="-122"/>
                <a:ea typeface="微软雅黑" panose="020B0503020204020204" pitchFamily="34" charset="-122"/>
              </a:rPr>
              <a:t>citys</a:t>
            </a:r>
            <a:r>
              <a:rPr lang="en-US" altLang="zh-CN" sz="1600" dirty="0">
                <a:solidFill>
                  <a:schemeClr val="accent6"/>
                </a:solidFill>
                <a:latin typeface="微软雅黑" panose="020B0503020204020204" pitchFamily="34" charset="-122"/>
                <a:ea typeface="微软雅黑" panose="020B0503020204020204" pitchFamily="34" charset="-122"/>
              </a:rPr>
              <a:t> </a:t>
            </a:r>
            <a:r>
              <a:rPr lang="en-US" altLang="zh-CN" sz="1600" dirty="0" smtClean="0">
                <a:solidFill>
                  <a:schemeClr val="accent6"/>
                </a:solidFill>
                <a:latin typeface="微软雅黑" panose="020B0503020204020204" pitchFamily="34" charset="-122"/>
                <a:ea typeface="微软雅黑" panose="020B0503020204020204" pitchFamily="34" charset="-122"/>
              </a:rPr>
              <a:t>30 </a:t>
            </a:r>
            <a:r>
              <a:rPr lang="en-US" altLang="zh-CN" sz="1600" i="1" dirty="0">
                <a:solidFill>
                  <a:schemeClr val="accent1"/>
                </a:solidFill>
                <a:latin typeface="微软雅黑" panose="020B0503020204020204" pitchFamily="34" charset="-122"/>
                <a:ea typeface="微软雅黑" panose="020B0503020204020204" pitchFamily="34" charset="-122"/>
              </a:rPr>
              <a:t>#</a:t>
            </a:r>
            <a:r>
              <a:rPr lang="zh-CN" altLang="en-US" sz="1600" dirty="0">
                <a:solidFill>
                  <a:schemeClr val="accent1"/>
                </a:solidFill>
                <a:latin typeface="微软雅黑" panose="020B0503020204020204" pitchFamily="34" charset="-122"/>
                <a:ea typeface="微软雅黑" panose="020B0503020204020204" pitchFamily="34" charset="-122"/>
              </a:rPr>
              <a:t>为</a:t>
            </a:r>
            <a:r>
              <a:rPr lang="en-US" altLang="zh-CN" sz="1600" dirty="0">
                <a:solidFill>
                  <a:schemeClr val="accent1"/>
                </a:solidFill>
                <a:latin typeface="微软雅黑" panose="020B0503020204020204" pitchFamily="34" charset="-122"/>
                <a:ea typeface="微软雅黑" panose="020B0503020204020204" pitchFamily="34" charset="-122"/>
              </a:rPr>
              <a:t>hash</a:t>
            </a:r>
            <a:r>
              <a:rPr lang="zh-CN" altLang="en-US" sz="1600" dirty="0">
                <a:solidFill>
                  <a:schemeClr val="accent1"/>
                </a:solidFill>
                <a:latin typeface="微软雅黑" panose="020B0503020204020204" pitchFamily="34" charset="-122"/>
                <a:ea typeface="微软雅黑" panose="020B0503020204020204" pitchFamily="34" charset="-122"/>
              </a:rPr>
              <a:t>设置有效时间，单位秒</a:t>
            </a:r>
            <a:endParaRPr lang="en-US" altLang="zh-CN" sz="1600" dirty="0">
              <a:solidFill>
                <a:schemeClr val="accent1"/>
              </a:solidFill>
              <a:latin typeface="微软雅黑" panose="020B0503020204020204" pitchFamily="34" charset="-122"/>
              <a:ea typeface="微软雅黑" panose="020B0503020204020204" pitchFamily="34" charset="-122"/>
            </a:endParaRPr>
          </a:p>
          <a:p>
            <a:r>
              <a:rPr lang="en-US" altLang="zh-CN" sz="1600" dirty="0">
                <a:solidFill>
                  <a:schemeClr val="accent6"/>
                </a:solidFill>
                <a:latin typeface="微软雅黑" panose="020B0503020204020204" pitchFamily="34" charset="-122"/>
                <a:ea typeface="微软雅黑" panose="020B0503020204020204" pitchFamily="34" charset="-122"/>
              </a:rPr>
              <a:t>(integer) 1</a:t>
            </a:r>
          </a:p>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ttl</a:t>
            </a:r>
            <a:r>
              <a:rPr lang="en-US" altLang="zh-CN" sz="1600" dirty="0">
                <a:solidFill>
                  <a:srgbClr val="C00000"/>
                </a:solidFill>
                <a:latin typeface="微软雅黑" panose="020B0503020204020204" pitchFamily="34" charset="-122"/>
                <a:ea typeface="微软雅黑" panose="020B0503020204020204" pitchFamily="34" charset="-122"/>
              </a:rPr>
              <a:t> </a:t>
            </a:r>
            <a:r>
              <a:rPr lang="en-US" altLang="zh-CN" sz="1600" dirty="0" err="1" smtClean="0">
                <a:solidFill>
                  <a:schemeClr val="accent6"/>
                </a:solidFill>
                <a:latin typeface="微软雅黑" panose="020B0503020204020204" pitchFamily="34" charset="-122"/>
                <a:ea typeface="微软雅黑" panose="020B0503020204020204" pitchFamily="34" charset="-122"/>
              </a:rPr>
              <a:t>citys</a:t>
            </a:r>
            <a:r>
              <a:rPr lang="en-US" altLang="zh-CN" sz="1600" dirty="0" smtClean="0">
                <a:solidFill>
                  <a:schemeClr val="accent6"/>
                </a:solidFill>
                <a:latin typeface="微软雅黑" panose="020B0503020204020204" pitchFamily="34" charset="-122"/>
                <a:ea typeface="微软雅黑" panose="020B0503020204020204" pitchFamily="34" charset="-122"/>
              </a:rPr>
              <a:t>                  </a:t>
            </a:r>
            <a:r>
              <a:rPr lang="en-US" altLang="zh-CN" sz="1600" dirty="0">
                <a:solidFill>
                  <a:schemeClr val="accent1"/>
                </a:solidFill>
                <a:latin typeface="微软雅黑" panose="020B0503020204020204" pitchFamily="34" charset="-122"/>
                <a:ea typeface="微软雅黑" panose="020B0503020204020204" pitchFamily="34" charset="-122"/>
              </a:rPr>
              <a:t># </a:t>
            </a:r>
            <a:r>
              <a:rPr lang="zh-CN" altLang="en-US" sz="1600" dirty="0">
                <a:solidFill>
                  <a:schemeClr val="accent1"/>
                </a:solidFill>
                <a:latin typeface="微软雅黑" panose="020B0503020204020204" pitchFamily="34" charset="-122"/>
                <a:ea typeface="微软雅黑" panose="020B0503020204020204" pitchFamily="34" charset="-122"/>
              </a:rPr>
              <a:t>获取剩余有效时间</a:t>
            </a:r>
            <a:endParaRPr lang="en-US" altLang="zh-CN" sz="1600" dirty="0">
              <a:solidFill>
                <a:schemeClr val="accent1"/>
              </a:solidFill>
              <a:latin typeface="微软雅黑" panose="020B0503020204020204" pitchFamily="34" charset="-122"/>
              <a:ea typeface="微软雅黑" panose="020B0503020204020204" pitchFamily="34" charset="-122"/>
            </a:endParaRPr>
          </a:p>
          <a:p>
            <a:r>
              <a:rPr lang="en-US" altLang="zh-CN" sz="1600" dirty="0">
                <a:solidFill>
                  <a:schemeClr val="accent6"/>
                </a:solidFill>
                <a:latin typeface="微软雅黑" panose="020B0503020204020204" pitchFamily="34" charset="-122"/>
                <a:ea typeface="微软雅黑" panose="020B0503020204020204" pitchFamily="34" charset="-122"/>
              </a:rPr>
              <a:t>(integer) </a:t>
            </a:r>
            <a:r>
              <a:rPr lang="en-US" altLang="zh-CN" sz="1600" dirty="0" smtClean="0">
                <a:solidFill>
                  <a:schemeClr val="accent6"/>
                </a:solidFill>
                <a:latin typeface="微软雅黑" panose="020B0503020204020204" pitchFamily="34" charset="-122"/>
                <a:ea typeface="微软雅黑" panose="020B0503020204020204" pitchFamily="34" charset="-122"/>
              </a:rPr>
              <a:t>25</a:t>
            </a:r>
          </a:p>
          <a:p>
            <a:r>
              <a:rPr lang="en-US" altLang="zh-CN" sz="1600" dirty="0" smtClean="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hset</a:t>
            </a:r>
            <a:r>
              <a:rPr lang="en-US" altLang="zh-CN" sz="1600" dirty="0">
                <a:solidFill>
                  <a:srgbClr val="C00000"/>
                </a:solidFill>
                <a:latin typeface="微软雅黑" panose="020B0503020204020204" pitchFamily="34" charset="-122"/>
                <a:ea typeface="微软雅黑" panose="020B0503020204020204" pitchFamily="34" charset="-122"/>
              </a:rPr>
              <a:t> </a:t>
            </a:r>
            <a:r>
              <a:rPr lang="en-US" altLang="zh-CN" sz="1600" dirty="0" err="1">
                <a:solidFill>
                  <a:schemeClr val="accent6"/>
                </a:solidFill>
                <a:latin typeface="微软雅黑" panose="020B0503020204020204" pitchFamily="34" charset="-122"/>
                <a:ea typeface="微软雅黑" panose="020B0503020204020204" pitchFamily="34" charset="-122"/>
              </a:rPr>
              <a:t>citys</a:t>
            </a:r>
            <a:r>
              <a:rPr lang="en-US" altLang="zh-CN" sz="1600" dirty="0">
                <a:solidFill>
                  <a:schemeClr val="accent6"/>
                </a:solidFill>
                <a:latin typeface="微软雅黑" panose="020B0503020204020204" pitchFamily="34" charset="-122"/>
                <a:ea typeface="微软雅黑" panose="020B0503020204020204" pitchFamily="34" charset="-122"/>
              </a:rPr>
              <a:t> </a:t>
            </a:r>
            <a:r>
              <a:rPr lang="en-US" altLang="zh-CN" sz="1600" dirty="0" err="1">
                <a:solidFill>
                  <a:schemeClr val="accent6"/>
                </a:solidFill>
                <a:latin typeface="微软雅黑" panose="020B0503020204020204" pitchFamily="34" charset="-122"/>
                <a:ea typeface="微软雅黑" panose="020B0503020204020204" pitchFamily="34" charset="-122"/>
              </a:rPr>
              <a:t>citycnt</a:t>
            </a:r>
            <a:r>
              <a:rPr lang="en-US" altLang="zh-CN" sz="1600" dirty="0">
                <a:solidFill>
                  <a:schemeClr val="accent6"/>
                </a:solidFill>
                <a:latin typeface="微软雅黑" panose="020B0503020204020204" pitchFamily="34" charset="-122"/>
                <a:ea typeface="微软雅黑" panose="020B0503020204020204" pitchFamily="34" charset="-122"/>
              </a:rPr>
              <a:t> </a:t>
            </a:r>
            <a:r>
              <a:rPr lang="en-US" altLang="zh-CN" sz="1600" dirty="0" smtClean="0">
                <a:solidFill>
                  <a:schemeClr val="accent6"/>
                </a:solidFill>
                <a:latin typeface="微软雅黑" panose="020B0503020204020204" pitchFamily="34" charset="-122"/>
                <a:ea typeface="微软雅黑" panose="020B0503020204020204" pitchFamily="34" charset="-122"/>
              </a:rPr>
              <a:t>10  </a:t>
            </a:r>
            <a:r>
              <a:rPr lang="en-US" altLang="zh-CN" sz="1600" dirty="0">
                <a:solidFill>
                  <a:schemeClr val="accent1"/>
                </a:solidFill>
                <a:latin typeface="微软雅黑" panose="020B0503020204020204" pitchFamily="34" charset="-122"/>
                <a:ea typeface="微软雅黑" panose="020B0503020204020204" pitchFamily="34" charset="-122"/>
              </a:rPr>
              <a:t>#</a:t>
            </a:r>
            <a:r>
              <a:rPr lang="zh-CN" altLang="en-US" sz="1600" dirty="0">
                <a:solidFill>
                  <a:schemeClr val="accent1"/>
                </a:solidFill>
                <a:latin typeface="微软雅黑" panose="020B0503020204020204" pitchFamily="34" charset="-122"/>
                <a:ea typeface="微软雅黑" panose="020B0503020204020204" pitchFamily="34" charset="-122"/>
              </a:rPr>
              <a:t>设置</a:t>
            </a:r>
            <a:r>
              <a:rPr lang="en-US" altLang="zh-CN" sz="1600" dirty="0">
                <a:solidFill>
                  <a:schemeClr val="accent1"/>
                </a:solidFill>
                <a:latin typeface="微软雅黑" panose="020B0503020204020204" pitchFamily="34" charset="-122"/>
                <a:ea typeface="微软雅黑" panose="020B0503020204020204" pitchFamily="34" charset="-122"/>
              </a:rPr>
              <a:t>hash</a:t>
            </a:r>
            <a:r>
              <a:rPr lang="zh-CN" altLang="en-US" sz="1600" dirty="0">
                <a:solidFill>
                  <a:schemeClr val="accent1"/>
                </a:solidFill>
                <a:latin typeface="微软雅黑" panose="020B0503020204020204" pitchFamily="34" charset="-122"/>
                <a:ea typeface="微软雅黑" panose="020B0503020204020204" pitchFamily="34" charset="-122"/>
              </a:rPr>
              <a:t>的纯数字值</a:t>
            </a:r>
            <a:endParaRPr lang="en-US" altLang="zh-CN" sz="1600" dirty="0">
              <a:solidFill>
                <a:schemeClr val="accent1"/>
              </a:solidFill>
              <a:latin typeface="微软雅黑" panose="020B0503020204020204" pitchFamily="34" charset="-122"/>
              <a:ea typeface="微软雅黑" panose="020B0503020204020204" pitchFamily="34" charset="-122"/>
            </a:endParaRPr>
          </a:p>
          <a:p>
            <a:r>
              <a:rPr lang="en-US" altLang="zh-CN" sz="1600" dirty="0">
                <a:solidFill>
                  <a:schemeClr val="accent6"/>
                </a:solidFill>
                <a:latin typeface="微软雅黑" panose="020B0503020204020204" pitchFamily="34" charset="-122"/>
                <a:ea typeface="微软雅黑" panose="020B0503020204020204" pitchFamily="34" charset="-122"/>
              </a:rPr>
              <a:t>(integer) 1</a:t>
            </a:r>
          </a:p>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hget</a:t>
            </a:r>
            <a:r>
              <a:rPr lang="en-US" altLang="zh-CN" sz="1600" dirty="0">
                <a:solidFill>
                  <a:srgbClr val="C00000"/>
                </a:solidFill>
                <a:latin typeface="微软雅黑" panose="020B0503020204020204" pitchFamily="34" charset="-122"/>
                <a:ea typeface="微软雅黑" panose="020B0503020204020204" pitchFamily="34" charset="-122"/>
              </a:rPr>
              <a:t> </a:t>
            </a:r>
            <a:r>
              <a:rPr lang="en-US" altLang="zh-CN" sz="1600" dirty="0" err="1">
                <a:solidFill>
                  <a:schemeClr val="accent6"/>
                </a:solidFill>
                <a:latin typeface="微软雅黑" panose="020B0503020204020204" pitchFamily="34" charset="-122"/>
                <a:ea typeface="微软雅黑" panose="020B0503020204020204" pitchFamily="34" charset="-122"/>
              </a:rPr>
              <a:t>citys</a:t>
            </a:r>
            <a:r>
              <a:rPr lang="en-US" altLang="zh-CN" sz="1600" dirty="0">
                <a:solidFill>
                  <a:schemeClr val="accent6"/>
                </a:solidFill>
                <a:latin typeface="微软雅黑" panose="020B0503020204020204" pitchFamily="34" charset="-122"/>
                <a:ea typeface="微软雅黑" panose="020B0503020204020204" pitchFamily="34" charset="-122"/>
              </a:rPr>
              <a:t> </a:t>
            </a:r>
            <a:r>
              <a:rPr lang="en-US" altLang="zh-CN" sz="1600" dirty="0" err="1" smtClean="0">
                <a:solidFill>
                  <a:schemeClr val="accent6"/>
                </a:solidFill>
                <a:latin typeface="微软雅黑" panose="020B0503020204020204" pitchFamily="34" charset="-122"/>
                <a:ea typeface="微软雅黑" panose="020B0503020204020204" pitchFamily="34" charset="-122"/>
              </a:rPr>
              <a:t>citycnt</a:t>
            </a:r>
            <a:r>
              <a:rPr lang="en-US" altLang="zh-CN" sz="1600" dirty="0" smtClean="0">
                <a:solidFill>
                  <a:schemeClr val="accent6"/>
                </a:solidFill>
                <a:latin typeface="微软雅黑" panose="020B0503020204020204" pitchFamily="34" charset="-122"/>
                <a:ea typeface="微软雅黑" panose="020B0503020204020204" pitchFamily="34" charset="-122"/>
              </a:rPr>
              <a:t>   </a:t>
            </a:r>
            <a:endParaRPr lang="en-US" altLang="zh-CN" sz="1600" dirty="0">
              <a:solidFill>
                <a:schemeClr val="accent6"/>
              </a:solidFill>
              <a:latin typeface="微软雅黑" panose="020B0503020204020204" pitchFamily="34" charset="-122"/>
              <a:ea typeface="微软雅黑" panose="020B0503020204020204" pitchFamily="34" charset="-122"/>
            </a:endParaRPr>
          </a:p>
          <a:p>
            <a:r>
              <a:rPr lang="en-US" altLang="zh-CN" sz="1600" dirty="0">
                <a:solidFill>
                  <a:schemeClr val="accent6"/>
                </a:solidFill>
                <a:latin typeface="微软雅黑" panose="020B0503020204020204" pitchFamily="34" charset="-122"/>
                <a:ea typeface="微软雅黑" panose="020B0503020204020204" pitchFamily="34" charset="-122"/>
              </a:rPr>
              <a:t>"10"</a:t>
            </a:r>
          </a:p>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hincrby</a:t>
            </a:r>
            <a:r>
              <a:rPr lang="en-US" altLang="zh-CN" sz="1600" dirty="0">
                <a:solidFill>
                  <a:srgbClr val="C00000"/>
                </a:solidFill>
                <a:latin typeface="微软雅黑" panose="020B0503020204020204" pitchFamily="34" charset="-122"/>
                <a:ea typeface="微软雅黑" panose="020B0503020204020204" pitchFamily="34" charset="-122"/>
              </a:rPr>
              <a:t> </a:t>
            </a:r>
            <a:r>
              <a:rPr lang="en-US" altLang="zh-CN" sz="1600" dirty="0" err="1">
                <a:solidFill>
                  <a:schemeClr val="accent6"/>
                </a:solidFill>
                <a:latin typeface="微软雅黑" panose="020B0503020204020204" pitchFamily="34" charset="-122"/>
                <a:ea typeface="微软雅黑" panose="020B0503020204020204" pitchFamily="34" charset="-122"/>
              </a:rPr>
              <a:t>citys</a:t>
            </a:r>
            <a:r>
              <a:rPr lang="en-US" altLang="zh-CN" sz="1600" dirty="0">
                <a:solidFill>
                  <a:schemeClr val="accent6"/>
                </a:solidFill>
                <a:latin typeface="微软雅黑" panose="020B0503020204020204" pitchFamily="34" charset="-122"/>
                <a:ea typeface="微软雅黑" panose="020B0503020204020204" pitchFamily="34" charset="-122"/>
              </a:rPr>
              <a:t> </a:t>
            </a:r>
            <a:r>
              <a:rPr lang="en-US" altLang="zh-CN" sz="1600" dirty="0" err="1">
                <a:solidFill>
                  <a:schemeClr val="accent6"/>
                </a:solidFill>
                <a:latin typeface="微软雅黑" panose="020B0503020204020204" pitchFamily="34" charset="-122"/>
                <a:ea typeface="微软雅黑" panose="020B0503020204020204" pitchFamily="34" charset="-122"/>
              </a:rPr>
              <a:t>citycnt</a:t>
            </a:r>
            <a:r>
              <a:rPr lang="en-US" altLang="zh-CN" sz="1600" dirty="0">
                <a:solidFill>
                  <a:schemeClr val="accent6"/>
                </a:solidFill>
                <a:latin typeface="微软雅黑" panose="020B0503020204020204" pitchFamily="34" charset="-122"/>
                <a:ea typeface="微软雅黑" panose="020B0503020204020204" pitchFamily="34" charset="-122"/>
              </a:rPr>
              <a:t> </a:t>
            </a:r>
            <a:r>
              <a:rPr lang="en-US" altLang="zh-CN" sz="1600" dirty="0" smtClean="0">
                <a:solidFill>
                  <a:schemeClr val="accent6"/>
                </a:solidFill>
                <a:latin typeface="微软雅黑" panose="020B0503020204020204" pitchFamily="34" charset="-122"/>
                <a:ea typeface="微软雅黑" panose="020B0503020204020204" pitchFamily="34" charset="-122"/>
              </a:rPr>
              <a:t>-3  </a:t>
            </a:r>
            <a:r>
              <a:rPr lang="en-US" altLang="zh-CN" sz="1600" dirty="0">
                <a:solidFill>
                  <a:schemeClr val="accent1"/>
                </a:solidFill>
                <a:latin typeface="微软雅黑" panose="020B0503020204020204" pitchFamily="34" charset="-122"/>
                <a:ea typeface="微软雅黑" panose="020B0503020204020204" pitchFamily="34" charset="-122"/>
              </a:rPr>
              <a:t>#</a:t>
            </a:r>
            <a:r>
              <a:rPr lang="en-US" altLang="zh-CN" sz="1600" dirty="0" err="1">
                <a:solidFill>
                  <a:schemeClr val="accent1"/>
                </a:solidFill>
                <a:latin typeface="微软雅黑" panose="020B0503020204020204" pitchFamily="34" charset="-122"/>
                <a:ea typeface="微软雅黑" panose="020B0503020204020204" pitchFamily="34" charset="-122"/>
              </a:rPr>
              <a:t>citycnt</a:t>
            </a:r>
            <a:r>
              <a:rPr lang="en-US" altLang="zh-CN" sz="1600" dirty="0">
                <a:solidFill>
                  <a:schemeClr val="accent1"/>
                </a:solidFill>
                <a:latin typeface="微软雅黑" panose="020B0503020204020204" pitchFamily="34" charset="-122"/>
                <a:ea typeface="微软雅黑" panose="020B0503020204020204" pitchFamily="34" charset="-122"/>
              </a:rPr>
              <a:t> +</a:t>
            </a:r>
            <a:r>
              <a:rPr lang="zh-CN" altLang="en-US" sz="1600" dirty="0">
                <a:solidFill>
                  <a:schemeClr val="accent1"/>
                </a:solidFill>
                <a:latin typeface="微软雅黑" panose="020B0503020204020204" pitchFamily="34" charset="-122"/>
                <a:ea typeface="微软雅黑" panose="020B0503020204020204" pitchFamily="34" charset="-122"/>
              </a:rPr>
              <a:t>（</a:t>
            </a:r>
            <a:r>
              <a:rPr lang="en-US" altLang="zh-CN" sz="1600" dirty="0">
                <a:solidFill>
                  <a:schemeClr val="accent1"/>
                </a:solidFill>
                <a:latin typeface="微软雅黑" panose="020B0503020204020204" pitchFamily="34" charset="-122"/>
                <a:ea typeface="微软雅黑" panose="020B0503020204020204" pitchFamily="34" charset="-122"/>
              </a:rPr>
              <a:t>-3</a:t>
            </a:r>
            <a:r>
              <a:rPr lang="zh-CN" altLang="en-US" sz="1600" dirty="0">
                <a:solidFill>
                  <a:schemeClr val="accent1"/>
                </a:solidFill>
                <a:latin typeface="微软雅黑" panose="020B0503020204020204" pitchFamily="34" charset="-122"/>
                <a:ea typeface="微软雅黑" panose="020B0503020204020204" pitchFamily="34" charset="-122"/>
              </a:rPr>
              <a:t>）</a:t>
            </a:r>
            <a:endParaRPr lang="en-US" altLang="zh-CN" sz="1600" dirty="0">
              <a:solidFill>
                <a:schemeClr val="accent1"/>
              </a:solidFill>
              <a:latin typeface="微软雅黑" panose="020B0503020204020204" pitchFamily="34" charset="-122"/>
              <a:ea typeface="微软雅黑" panose="020B0503020204020204" pitchFamily="34" charset="-122"/>
            </a:endParaRPr>
          </a:p>
          <a:p>
            <a:r>
              <a:rPr lang="en-US" altLang="zh-CN" sz="1600" dirty="0">
                <a:solidFill>
                  <a:schemeClr val="accent6"/>
                </a:solidFill>
                <a:latin typeface="微软雅黑" panose="020B0503020204020204" pitchFamily="34" charset="-122"/>
                <a:ea typeface="微软雅黑" panose="020B0503020204020204" pitchFamily="34" charset="-122"/>
              </a:rPr>
              <a:t>(integer) 7</a:t>
            </a:r>
          </a:p>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hget</a:t>
            </a:r>
            <a:r>
              <a:rPr lang="en-US" altLang="zh-CN" sz="1600" dirty="0">
                <a:solidFill>
                  <a:srgbClr val="C00000"/>
                </a:solidFill>
                <a:latin typeface="微软雅黑" panose="020B0503020204020204" pitchFamily="34" charset="-122"/>
                <a:ea typeface="微软雅黑" panose="020B0503020204020204" pitchFamily="34" charset="-122"/>
              </a:rPr>
              <a:t> </a:t>
            </a:r>
            <a:r>
              <a:rPr lang="en-US" altLang="zh-CN" sz="1600" dirty="0" err="1">
                <a:solidFill>
                  <a:schemeClr val="accent6"/>
                </a:solidFill>
                <a:latin typeface="微软雅黑" panose="020B0503020204020204" pitchFamily="34" charset="-122"/>
                <a:ea typeface="微软雅黑" panose="020B0503020204020204" pitchFamily="34" charset="-122"/>
              </a:rPr>
              <a:t>citys</a:t>
            </a:r>
            <a:r>
              <a:rPr lang="en-US" altLang="zh-CN" sz="1600" dirty="0">
                <a:solidFill>
                  <a:schemeClr val="accent6"/>
                </a:solidFill>
                <a:latin typeface="微软雅黑" panose="020B0503020204020204" pitchFamily="34" charset="-122"/>
                <a:ea typeface="微软雅黑" panose="020B0503020204020204" pitchFamily="34" charset="-122"/>
              </a:rPr>
              <a:t> </a:t>
            </a:r>
            <a:r>
              <a:rPr lang="en-US" altLang="zh-CN" sz="1600" dirty="0" err="1">
                <a:solidFill>
                  <a:schemeClr val="accent6"/>
                </a:solidFill>
                <a:latin typeface="微软雅黑" panose="020B0503020204020204" pitchFamily="34" charset="-122"/>
                <a:ea typeface="微软雅黑" panose="020B0503020204020204" pitchFamily="34" charset="-122"/>
              </a:rPr>
              <a:t>citycnt</a:t>
            </a:r>
            <a:endParaRPr lang="en-US" altLang="zh-CN" sz="1600" dirty="0">
              <a:solidFill>
                <a:schemeClr val="accent6"/>
              </a:solidFill>
              <a:latin typeface="微软雅黑" panose="020B0503020204020204" pitchFamily="34" charset="-122"/>
              <a:ea typeface="微软雅黑" panose="020B0503020204020204" pitchFamily="34" charset="-122"/>
            </a:endParaRPr>
          </a:p>
          <a:p>
            <a:r>
              <a:rPr lang="en-US" altLang="zh-CN" sz="1600" dirty="0" smtClean="0">
                <a:solidFill>
                  <a:schemeClr val="accent6"/>
                </a:solidFill>
                <a:latin typeface="微软雅黑" panose="020B0503020204020204" pitchFamily="34" charset="-122"/>
                <a:ea typeface="微软雅黑" panose="020B0503020204020204" pitchFamily="34" charset="-122"/>
              </a:rPr>
              <a:t>“7"</a:t>
            </a:r>
            <a:endParaRPr lang="zh-CN" altLang="en-US" sz="1600" dirty="0">
              <a:solidFill>
                <a:schemeClr val="accent6"/>
              </a:solidFill>
              <a:latin typeface="微软雅黑" panose="020B0503020204020204" pitchFamily="34" charset="-122"/>
              <a:ea typeface="微软雅黑" panose="020B0503020204020204" pitchFamily="34" charset="-122"/>
            </a:endParaRPr>
          </a:p>
        </p:txBody>
      </p:sp>
      <p:sp>
        <p:nvSpPr>
          <p:cNvPr id="10" name="TextBox 9"/>
          <p:cNvSpPr txBox="1"/>
          <p:nvPr/>
        </p:nvSpPr>
        <p:spPr>
          <a:xfrm>
            <a:off x="704850" y="605109"/>
            <a:ext cx="8883650" cy="523220"/>
          </a:xfrm>
          <a:prstGeom prst="rect">
            <a:avLst/>
          </a:prstGeom>
          <a:noFill/>
        </p:spPr>
        <p:txBody>
          <a:bodyPr wrap="square" rtlCol="0">
            <a:spAutoFit/>
          </a:bodyPr>
          <a:lstStyle/>
          <a:p>
            <a:pPr>
              <a:defRPr/>
            </a:pPr>
            <a:r>
              <a:rPr lang="en-US" altLang="zh-CN"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2.2.2 </a:t>
            </a:r>
            <a:r>
              <a:rPr lang="zh-CN" altLang="en-US"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常用命令及用法</a:t>
            </a:r>
          </a:p>
        </p:txBody>
      </p:sp>
      <p:sp>
        <p:nvSpPr>
          <p:cNvPr id="12" name="矩形 11">
            <a:extLst>
              <a:ext uri="{FF2B5EF4-FFF2-40B4-BE49-F238E27FC236}">
                <a16:creationId xmlns:a16="http://schemas.microsoft.com/office/drawing/2014/main" xmlns="" id="{74C59758-12AB-44A5-92FA-DB52904027AE}"/>
              </a:ext>
            </a:extLst>
          </p:cNvPr>
          <p:cNvSpPr/>
          <p:nvPr/>
        </p:nvSpPr>
        <p:spPr>
          <a:xfrm>
            <a:off x="954732" y="1337914"/>
            <a:ext cx="5230168" cy="5016758"/>
          </a:xfrm>
          <a:prstGeom prst="rect">
            <a:avLst/>
          </a:prstGeom>
          <a:ln>
            <a:solidFill>
              <a:schemeClr val="bg1"/>
            </a:solidFill>
          </a:ln>
        </p:spPr>
        <p:txBody>
          <a:bodyPr wrap="square">
            <a:spAutoFit/>
          </a:bodyPr>
          <a:lstStyle/>
          <a:p>
            <a:r>
              <a:rPr lang="en-US" altLang="zh-CN" sz="1600" i="1" dirty="0" smtClean="0">
                <a:solidFill>
                  <a:schemeClr val="accent1"/>
                </a:solidFill>
                <a:latin typeface="微软雅黑" panose="020B0503020204020204" pitchFamily="34" charset="-122"/>
                <a:ea typeface="微软雅黑" panose="020B0503020204020204" pitchFamily="34" charset="-122"/>
              </a:rPr>
              <a:t># </a:t>
            </a:r>
            <a:r>
              <a:rPr lang="zh-CN" altLang="en-US" sz="1600" dirty="0">
                <a:solidFill>
                  <a:schemeClr val="accent1"/>
                </a:solidFill>
                <a:latin typeface="微软雅黑" panose="020B0503020204020204" pitchFamily="34" charset="-122"/>
                <a:ea typeface="微软雅黑" panose="020B0503020204020204" pitchFamily="34" charset="-122"/>
              </a:rPr>
              <a:t>用</a:t>
            </a:r>
            <a:r>
              <a:rPr lang="en-US" altLang="zh-CN" sz="1600" dirty="0" err="1" smtClean="0">
                <a:solidFill>
                  <a:schemeClr val="accent1"/>
                </a:solidFill>
                <a:latin typeface="微软雅黑" panose="020B0503020204020204" pitchFamily="34" charset="-122"/>
                <a:ea typeface="微软雅黑" panose="020B0503020204020204" pitchFamily="34" charset="-122"/>
              </a:rPr>
              <a:t>citys</a:t>
            </a:r>
            <a:r>
              <a:rPr lang="zh-CN" altLang="en-US" sz="1600" dirty="0">
                <a:solidFill>
                  <a:schemeClr val="accent1"/>
                </a:solidFill>
                <a:latin typeface="微软雅黑" panose="020B0503020204020204" pitchFamily="34" charset="-122"/>
                <a:ea typeface="微软雅黑" panose="020B0503020204020204" pitchFamily="34" charset="-122"/>
              </a:rPr>
              <a:t>保</a:t>
            </a:r>
            <a:r>
              <a:rPr lang="zh-CN" altLang="en-US" sz="1600" dirty="0" smtClean="0">
                <a:solidFill>
                  <a:schemeClr val="accent1"/>
                </a:solidFill>
                <a:latin typeface="微软雅黑" panose="020B0503020204020204" pitchFamily="34" charset="-122"/>
                <a:ea typeface="微软雅黑" panose="020B0503020204020204" pitchFamily="34" charset="-122"/>
              </a:rPr>
              <a:t>存省会城市名，</a:t>
            </a:r>
            <a:r>
              <a:rPr lang="en-US" altLang="zh-CN" sz="1600" dirty="0" err="1" smtClean="0">
                <a:solidFill>
                  <a:schemeClr val="accent1"/>
                </a:solidFill>
                <a:latin typeface="微软雅黑" panose="020B0503020204020204" pitchFamily="34" charset="-122"/>
                <a:ea typeface="微软雅黑" panose="020B0503020204020204" pitchFamily="34" charset="-122"/>
              </a:rPr>
              <a:t>hashkey</a:t>
            </a:r>
            <a:r>
              <a:rPr lang="zh-CN" altLang="en-US" sz="1600" dirty="0" smtClean="0">
                <a:solidFill>
                  <a:schemeClr val="accent1"/>
                </a:solidFill>
                <a:latin typeface="微软雅黑" panose="020B0503020204020204" pitchFamily="34" charset="-122"/>
                <a:ea typeface="微软雅黑" panose="020B0503020204020204" pitchFamily="34" charset="-122"/>
              </a:rPr>
              <a:t>为</a:t>
            </a:r>
            <a:r>
              <a:rPr lang="en-US" altLang="zh-CN" sz="1600" dirty="0" err="1" smtClean="0">
                <a:solidFill>
                  <a:schemeClr val="accent1"/>
                </a:solidFill>
                <a:latin typeface="微软雅黑" panose="020B0503020204020204" pitchFamily="34" charset="-122"/>
                <a:ea typeface="微软雅黑" panose="020B0503020204020204" pitchFamily="34" charset="-122"/>
              </a:rPr>
              <a:t>citys</a:t>
            </a:r>
            <a:r>
              <a:rPr lang="zh-CN" altLang="en-US" sz="1600" dirty="0">
                <a:solidFill>
                  <a:schemeClr val="accent1"/>
                </a:solidFill>
                <a:latin typeface="微软雅黑" panose="020B0503020204020204" pitchFamily="34" charset="-122"/>
                <a:ea typeface="微软雅黑" panose="020B0503020204020204" pitchFamily="34" charset="-122"/>
              </a:rPr>
              <a:t>；</a:t>
            </a:r>
            <a:r>
              <a:rPr lang="en-US" altLang="zh-CN" sz="1600" dirty="0" smtClean="0">
                <a:solidFill>
                  <a:schemeClr val="accent1"/>
                </a:solidFill>
                <a:latin typeface="微软雅黑" panose="020B0503020204020204" pitchFamily="34" charset="-122"/>
                <a:ea typeface="微软雅黑" panose="020B0503020204020204" pitchFamily="34" charset="-122"/>
              </a:rPr>
              <a:t>key</a:t>
            </a:r>
            <a:r>
              <a:rPr lang="zh-CN" altLang="en-US" sz="1600" dirty="0" smtClean="0">
                <a:solidFill>
                  <a:schemeClr val="accent1"/>
                </a:solidFill>
                <a:latin typeface="微软雅黑" panose="020B0503020204020204" pitchFamily="34" charset="-122"/>
                <a:ea typeface="微软雅黑" panose="020B0503020204020204" pitchFamily="34" charset="-122"/>
              </a:rPr>
              <a:t>为</a:t>
            </a:r>
            <a:r>
              <a:rPr lang="en-US" altLang="zh-CN" sz="1600" dirty="0" err="1" smtClean="0">
                <a:solidFill>
                  <a:schemeClr val="accent1"/>
                </a:solidFill>
                <a:latin typeface="微软雅黑" panose="020B0503020204020204" pitchFamily="34" charset="-122"/>
                <a:ea typeface="微软雅黑" panose="020B0503020204020204" pitchFamily="34" charset="-122"/>
              </a:rPr>
              <a:t>hunan</a:t>
            </a:r>
            <a:r>
              <a:rPr lang="zh-CN" altLang="en-US" sz="1600" dirty="0" smtClean="0">
                <a:solidFill>
                  <a:schemeClr val="accent1"/>
                </a:solidFill>
                <a:latin typeface="微软雅黑" panose="020B0503020204020204" pitchFamily="34" charset="-122"/>
                <a:ea typeface="微软雅黑" panose="020B0503020204020204" pitchFamily="34" charset="-122"/>
              </a:rPr>
              <a:t>和</a:t>
            </a:r>
            <a:r>
              <a:rPr lang="en-US" altLang="zh-CN" sz="1600" dirty="0" err="1" smtClean="0">
                <a:solidFill>
                  <a:schemeClr val="accent1"/>
                </a:solidFill>
                <a:latin typeface="微软雅黑" panose="020B0503020204020204" pitchFamily="34" charset="-122"/>
                <a:ea typeface="微软雅黑" panose="020B0503020204020204" pitchFamily="34" charset="-122"/>
              </a:rPr>
              <a:t>guangdong</a:t>
            </a:r>
            <a:r>
              <a:rPr lang="zh-CN" altLang="en-US" sz="1600" dirty="0" smtClean="0">
                <a:solidFill>
                  <a:schemeClr val="accent1"/>
                </a:solidFill>
                <a:latin typeface="微软雅黑" panose="020B0503020204020204" pitchFamily="34" charset="-122"/>
                <a:ea typeface="微软雅黑" panose="020B0503020204020204" pitchFamily="34" charset="-122"/>
              </a:rPr>
              <a:t>，值为长沙和广州</a:t>
            </a:r>
            <a:endParaRPr lang="en-US" altLang="zh-CN" sz="1600" dirty="0" smtClean="0">
              <a:solidFill>
                <a:schemeClr val="accent1"/>
              </a:solidFill>
              <a:latin typeface="微软雅黑" panose="020B0503020204020204" pitchFamily="34" charset="-122"/>
              <a:ea typeface="微软雅黑" panose="020B0503020204020204" pitchFamily="34" charset="-122"/>
            </a:endParaRPr>
          </a:p>
          <a:p>
            <a:r>
              <a:rPr lang="en-US" altLang="zh-CN" sz="1600" dirty="0" smtClean="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hset</a:t>
            </a:r>
            <a:r>
              <a:rPr lang="en-US" altLang="zh-CN" sz="1600" dirty="0" smtClean="0">
                <a:solidFill>
                  <a:srgbClr val="C00000"/>
                </a:solidFill>
                <a:latin typeface="微软雅黑" panose="020B0503020204020204" pitchFamily="34" charset="-122"/>
                <a:ea typeface="微软雅黑" panose="020B0503020204020204" pitchFamily="34" charset="-122"/>
              </a:rPr>
              <a:t> </a:t>
            </a:r>
            <a:r>
              <a:rPr lang="en-US" altLang="zh-CN" sz="1600" dirty="0" err="1">
                <a:solidFill>
                  <a:schemeClr val="accent6"/>
                </a:solidFill>
                <a:latin typeface="微软雅黑" panose="020B0503020204020204" pitchFamily="34" charset="-122"/>
                <a:ea typeface="微软雅黑" panose="020B0503020204020204" pitchFamily="34" charset="-122"/>
              </a:rPr>
              <a:t>citys</a:t>
            </a:r>
            <a:r>
              <a:rPr lang="en-US" altLang="zh-CN" sz="1600" dirty="0">
                <a:solidFill>
                  <a:schemeClr val="accent6"/>
                </a:solidFill>
                <a:latin typeface="微软雅黑" panose="020B0503020204020204" pitchFamily="34" charset="-122"/>
                <a:ea typeface="微软雅黑" panose="020B0503020204020204" pitchFamily="34" charset="-122"/>
              </a:rPr>
              <a:t> </a:t>
            </a:r>
            <a:r>
              <a:rPr lang="en-US" altLang="zh-CN" sz="1600" dirty="0" err="1">
                <a:solidFill>
                  <a:schemeClr val="accent6"/>
                </a:solidFill>
                <a:latin typeface="微软雅黑" panose="020B0503020204020204" pitchFamily="34" charset="-122"/>
                <a:ea typeface="微软雅黑" panose="020B0503020204020204" pitchFamily="34" charset="-122"/>
              </a:rPr>
              <a:t>hunan</a:t>
            </a:r>
            <a:r>
              <a:rPr lang="en-US" altLang="zh-CN" sz="1600" dirty="0">
                <a:solidFill>
                  <a:schemeClr val="accent6"/>
                </a:solidFill>
                <a:latin typeface="微软雅黑" panose="020B0503020204020204" pitchFamily="34" charset="-122"/>
                <a:ea typeface="微软雅黑" panose="020B0503020204020204" pitchFamily="34" charset="-122"/>
              </a:rPr>
              <a:t> </a:t>
            </a:r>
            <a:r>
              <a:rPr lang="zh-CN" altLang="en-US" sz="1600" dirty="0">
                <a:solidFill>
                  <a:schemeClr val="accent6"/>
                </a:solidFill>
                <a:latin typeface="微软雅黑" panose="020B0503020204020204" pitchFamily="34" charset="-122"/>
                <a:ea typeface="微软雅黑" panose="020B0503020204020204" pitchFamily="34" charset="-122"/>
              </a:rPr>
              <a:t>长沙</a:t>
            </a:r>
            <a:r>
              <a:rPr lang="en-US" altLang="zh-CN" sz="1600" dirty="0" smtClean="0">
                <a:solidFill>
                  <a:schemeClr val="accent6"/>
                </a:solidFill>
                <a:latin typeface="微软雅黑" panose="020B0503020204020204" pitchFamily="34" charset="-122"/>
                <a:ea typeface="微软雅黑" panose="020B0503020204020204" pitchFamily="34" charset="-122"/>
              </a:rPr>
              <a:t> </a:t>
            </a:r>
          </a:p>
          <a:p>
            <a:r>
              <a:rPr lang="en-US" altLang="zh-CN" sz="1600" dirty="0" smtClean="0">
                <a:solidFill>
                  <a:schemeClr val="accent6"/>
                </a:solidFill>
                <a:latin typeface="微软雅黑" panose="020B0503020204020204" pitchFamily="34" charset="-122"/>
                <a:ea typeface="微软雅黑" panose="020B0503020204020204" pitchFamily="34" charset="-122"/>
              </a:rPr>
              <a:t>(</a:t>
            </a:r>
            <a:r>
              <a:rPr lang="en-US" altLang="zh-CN" sz="1600" dirty="0">
                <a:solidFill>
                  <a:schemeClr val="accent6"/>
                </a:solidFill>
                <a:latin typeface="微软雅黑" panose="020B0503020204020204" pitchFamily="34" charset="-122"/>
                <a:ea typeface="微软雅黑" panose="020B0503020204020204" pitchFamily="34" charset="-122"/>
              </a:rPr>
              <a:t>integer) 1</a:t>
            </a:r>
          </a:p>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hset</a:t>
            </a:r>
            <a:r>
              <a:rPr lang="en-US" altLang="zh-CN" sz="1600" dirty="0">
                <a:solidFill>
                  <a:srgbClr val="C00000"/>
                </a:solidFill>
                <a:latin typeface="微软雅黑" panose="020B0503020204020204" pitchFamily="34" charset="-122"/>
                <a:ea typeface="微软雅黑" panose="020B0503020204020204" pitchFamily="34" charset="-122"/>
              </a:rPr>
              <a:t> </a:t>
            </a:r>
            <a:r>
              <a:rPr lang="en-US" altLang="zh-CN" sz="1600" dirty="0" err="1">
                <a:solidFill>
                  <a:schemeClr val="accent6"/>
                </a:solidFill>
                <a:latin typeface="微软雅黑" panose="020B0503020204020204" pitchFamily="34" charset="-122"/>
                <a:ea typeface="微软雅黑" panose="020B0503020204020204" pitchFamily="34" charset="-122"/>
              </a:rPr>
              <a:t>citys</a:t>
            </a:r>
            <a:r>
              <a:rPr lang="en-US" altLang="zh-CN" sz="1600" dirty="0">
                <a:solidFill>
                  <a:schemeClr val="accent6"/>
                </a:solidFill>
                <a:latin typeface="微软雅黑" panose="020B0503020204020204" pitchFamily="34" charset="-122"/>
                <a:ea typeface="微软雅黑" panose="020B0503020204020204" pitchFamily="34" charset="-122"/>
              </a:rPr>
              <a:t> </a:t>
            </a:r>
            <a:r>
              <a:rPr lang="en-US" altLang="zh-CN" sz="1600" dirty="0" err="1" smtClean="0">
                <a:solidFill>
                  <a:schemeClr val="accent6"/>
                </a:solidFill>
                <a:latin typeface="微软雅黑" panose="020B0503020204020204" pitchFamily="34" charset="-122"/>
                <a:ea typeface="微软雅黑" panose="020B0503020204020204" pitchFamily="34" charset="-122"/>
              </a:rPr>
              <a:t>guangdong</a:t>
            </a:r>
            <a:r>
              <a:rPr lang="en-US" altLang="zh-CN" sz="1600" dirty="0" smtClean="0">
                <a:solidFill>
                  <a:schemeClr val="accent6"/>
                </a:solidFill>
                <a:latin typeface="微软雅黑" panose="020B0503020204020204" pitchFamily="34" charset="-122"/>
                <a:ea typeface="微软雅黑" panose="020B0503020204020204" pitchFamily="34" charset="-122"/>
              </a:rPr>
              <a:t> </a:t>
            </a:r>
            <a:r>
              <a:rPr lang="zh-CN" altLang="en-US" sz="1600" dirty="0" smtClean="0">
                <a:solidFill>
                  <a:schemeClr val="accent6"/>
                </a:solidFill>
                <a:latin typeface="微软雅黑" panose="020B0503020204020204" pitchFamily="34" charset="-122"/>
                <a:ea typeface="微软雅黑" panose="020B0503020204020204" pitchFamily="34" charset="-122"/>
              </a:rPr>
              <a:t>广州</a:t>
            </a:r>
            <a:endParaRPr lang="en-US" altLang="zh-CN" sz="1600" dirty="0">
              <a:solidFill>
                <a:schemeClr val="accent6"/>
              </a:solidFill>
              <a:latin typeface="微软雅黑" panose="020B0503020204020204" pitchFamily="34" charset="-122"/>
              <a:ea typeface="微软雅黑" panose="020B0503020204020204" pitchFamily="34" charset="-122"/>
            </a:endParaRPr>
          </a:p>
          <a:p>
            <a:r>
              <a:rPr lang="en-US" altLang="zh-CN" sz="1600" dirty="0">
                <a:solidFill>
                  <a:schemeClr val="accent6"/>
                </a:solidFill>
                <a:latin typeface="微软雅黑" panose="020B0503020204020204" pitchFamily="34" charset="-122"/>
                <a:ea typeface="微软雅黑" panose="020B0503020204020204" pitchFamily="34" charset="-122"/>
              </a:rPr>
              <a:t>(integer) </a:t>
            </a:r>
            <a:r>
              <a:rPr lang="en-US" altLang="zh-CN" sz="1600" dirty="0" smtClean="0">
                <a:solidFill>
                  <a:schemeClr val="accent6"/>
                </a:solidFill>
                <a:latin typeface="微软雅黑" panose="020B0503020204020204" pitchFamily="34" charset="-122"/>
                <a:ea typeface="微软雅黑" panose="020B0503020204020204" pitchFamily="34" charset="-122"/>
              </a:rPr>
              <a:t>1</a:t>
            </a:r>
          </a:p>
          <a:p>
            <a:r>
              <a:rPr lang="en-US" altLang="zh-CN" sz="1600" dirty="0" smtClean="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hgetall</a:t>
            </a:r>
            <a:r>
              <a:rPr lang="en-US" altLang="zh-CN" sz="1600" dirty="0">
                <a:solidFill>
                  <a:srgbClr val="C00000"/>
                </a:solidFill>
                <a:latin typeface="微软雅黑" panose="020B0503020204020204" pitchFamily="34" charset="-122"/>
                <a:ea typeface="微软雅黑" panose="020B0503020204020204" pitchFamily="34" charset="-122"/>
              </a:rPr>
              <a:t> </a:t>
            </a:r>
            <a:r>
              <a:rPr lang="en-US" altLang="zh-CN" sz="1600" dirty="0" err="1" smtClean="0">
                <a:solidFill>
                  <a:schemeClr val="accent6"/>
                </a:solidFill>
                <a:latin typeface="微软雅黑" panose="020B0503020204020204" pitchFamily="34" charset="-122"/>
                <a:ea typeface="微软雅黑" panose="020B0503020204020204" pitchFamily="34" charset="-122"/>
              </a:rPr>
              <a:t>citys</a:t>
            </a:r>
            <a:r>
              <a:rPr lang="en-US" altLang="zh-CN" sz="1600" dirty="0" smtClean="0">
                <a:solidFill>
                  <a:schemeClr val="accent6"/>
                </a:solidFill>
                <a:latin typeface="微软雅黑" panose="020B0503020204020204" pitchFamily="34" charset="-122"/>
                <a:ea typeface="微软雅黑" panose="020B0503020204020204" pitchFamily="34" charset="-122"/>
              </a:rPr>
              <a:t>   </a:t>
            </a:r>
            <a:r>
              <a:rPr lang="en-US" altLang="zh-CN" sz="1600" dirty="0">
                <a:solidFill>
                  <a:schemeClr val="accent1"/>
                </a:solidFill>
                <a:latin typeface="微软雅黑" panose="020B0503020204020204" pitchFamily="34" charset="-122"/>
                <a:ea typeface="微软雅黑" panose="020B0503020204020204" pitchFamily="34" charset="-122"/>
              </a:rPr>
              <a:t># </a:t>
            </a:r>
            <a:r>
              <a:rPr lang="zh-CN" altLang="en-US" sz="1600" dirty="0">
                <a:solidFill>
                  <a:schemeClr val="accent1"/>
                </a:solidFill>
                <a:latin typeface="微软雅黑" panose="020B0503020204020204" pitchFamily="34" charset="-122"/>
                <a:ea typeface="微软雅黑" panose="020B0503020204020204" pitchFamily="34" charset="-122"/>
              </a:rPr>
              <a:t>获取</a:t>
            </a:r>
            <a:r>
              <a:rPr lang="en-US" altLang="zh-CN" sz="1600" dirty="0">
                <a:solidFill>
                  <a:schemeClr val="accent1"/>
                </a:solidFill>
                <a:latin typeface="微软雅黑" panose="020B0503020204020204" pitchFamily="34" charset="-122"/>
                <a:ea typeface="微软雅黑" panose="020B0503020204020204" pitchFamily="34" charset="-122"/>
              </a:rPr>
              <a:t>hash</a:t>
            </a:r>
            <a:r>
              <a:rPr lang="zh-CN" altLang="en-US" sz="1600" dirty="0">
                <a:solidFill>
                  <a:schemeClr val="accent1"/>
                </a:solidFill>
                <a:latin typeface="微软雅黑" panose="020B0503020204020204" pitchFamily="34" charset="-122"/>
                <a:ea typeface="微软雅黑" panose="020B0503020204020204" pitchFamily="34" charset="-122"/>
              </a:rPr>
              <a:t>结构</a:t>
            </a:r>
            <a:r>
              <a:rPr lang="en-US" altLang="zh-CN" sz="1600" dirty="0" err="1">
                <a:solidFill>
                  <a:schemeClr val="accent1"/>
                </a:solidFill>
                <a:latin typeface="微软雅黑" panose="020B0503020204020204" pitchFamily="34" charset="-122"/>
                <a:ea typeface="微软雅黑" panose="020B0503020204020204" pitchFamily="34" charset="-122"/>
              </a:rPr>
              <a:t>citys</a:t>
            </a:r>
            <a:r>
              <a:rPr lang="zh-CN" altLang="en-US" sz="1600" dirty="0">
                <a:solidFill>
                  <a:schemeClr val="accent1"/>
                </a:solidFill>
                <a:latin typeface="微软雅黑" panose="020B0503020204020204" pitchFamily="34" charset="-122"/>
                <a:ea typeface="微软雅黑" panose="020B0503020204020204" pitchFamily="34" charset="-122"/>
              </a:rPr>
              <a:t>的所有内容，键和值交替返回</a:t>
            </a:r>
            <a:endParaRPr lang="en-US" altLang="zh-CN" sz="1600" dirty="0">
              <a:solidFill>
                <a:schemeClr val="accent1"/>
              </a:solidFill>
              <a:latin typeface="微软雅黑" panose="020B0503020204020204" pitchFamily="34" charset="-122"/>
              <a:ea typeface="微软雅黑" panose="020B0503020204020204" pitchFamily="34" charset="-122"/>
            </a:endParaRPr>
          </a:p>
          <a:p>
            <a:r>
              <a:rPr lang="en-US" altLang="zh-CN" sz="1600" dirty="0">
                <a:solidFill>
                  <a:schemeClr val="accent6"/>
                </a:solidFill>
                <a:latin typeface="微软雅黑" panose="020B0503020204020204" pitchFamily="34" charset="-122"/>
                <a:ea typeface="微软雅黑" panose="020B0503020204020204" pitchFamily="34" charset="-122"/>
              </a:rPr>
              <a:t>1) "</a:t>
            </a:r>
            <a:r>
              <a:rPr lang="en-US" altLang="zh-CN" sz="1600" dirty="0" err="1">
                <a:solidFill>
                  <a:schemeClr val="accent6"/>
                </a:solidFill>
                <a:latin typeface="微软雅黑" panose="020B0503020204020204" pitchFamily="34" charset="-122"/>
                <a:ea typeface="微软雅黑" panose="020B0503020204020204" pitchFamily="34" charset="-122"/>
              </a:rPr>
              <a:t>hunan</a:t>
            </a:r>
            <a:r>
              <a:rPr lang="en-US" altLang="zh-CN" sz="1600" dirty="0">
                <a:solidFill>
                  <a:schemeClr val="accent6"/>
                </a:solidFill>
                <a:latin typeface="微软雅黑" panose="020B0503020204020204" pitchFamily="34" charset="-122"/>
                <a:ea typeface="微软雅黑" panose="020B0503020204020204" pitchFamily="34" charset="-122"/>
              </a:rPr>
              <a:t>"</a:t>
            </a:r>
          </a:p>
          <a:p>
            <a:r>
              <a:rPr lang="en-US" altLang="zh-CN" sz="1600" dirty="0">
                <a:solidFill>
                  <a:schemeClr val="accent6"/>
                </a:solidFill>
                <a:latin typeface="微软雅黑" panose="020B0503020204020204" pitchFamily="34" charset="-122"/>
                <a:ea typeface="微软雅黑" panose="020B0503020204020204" pitchFamily="34" charset="-122"/>
              </a:rPr>
              <a:t>2) </a:t>
            </a:r>
            <a:r>
              <a:rPr lang="en-US" altLang="zh-CN" sz="1600" dirty="0" smtClean="0">
                <a:solidFill>
                  <a:schemeClr val="accent6"/>
                </a:solidFill>
                <a:latin typeface="微软雅黑" panose="020B0503020204020204" pitchFamily="34" charset="-122"/>
                <a:ea typeface="微软雅黑" panose="020B0503020204020204" pitchFamily="34" charset="-122"/>
              </a:rPr>
              <a:t>"</a:t>
            </a:r>
            <a:r>
              <a:rPr lang="zh-CN" altLang="en-US" sz="1600" dirty="0">
                <a:solidFill>
                  <a:schemeClr val="accent6"/>
                </a:solidFill>
                <a:latin typeface="微软雅黑" panose="020B0503020204020204" pitchFamily="34" charset="-122"/>
                <a:ea typeface="微软雅黑" panose="020B0503020204020204" pitchFamily="34" charset="-122"/>
              </a:rPr>
              <a:t>长沙</a:t>
            </a:r>
            <a:r>
              <a:rPr lang="en-US" altLang="zh-CN" sz="1600" dirty="0" smtClean="0">
                <a:solidFill>
                  <a:schemeClr val="accent6"/>
                </a:solidFill>
                <a:latin typeface="微软雅黑" panose="020B0503020204020204" pitchFamily="34" charset="-122"/>
                <a:ea typeface="微软雅黑" panose="020B0503020204020204" pitchFamily="34" charset="-122"/>
              </a:rPr>
              <a:t>"</a:t>
            </a:r>
            <a:endParaRPr lang="en-US" altLang="zh-CN" sz="1600" dirty="0">
              <a:solidFill>
                <a:schemeClr val="accent6"/>
              </a:solidFill>
              <a:latin typeface="微软雅黑" panose="020B0503020204020204" pitchFamily="34" charset="-122"/>
              <a:ea typeface="微软雅黑" panose="020B0503020204020204" pitchFamily="34" charset="-122"/>
            </a:endParaRPr>
          </a:p>
          <a:p>
            <a:r>
              <a:rPr lang="en-US" altLang="zh-CN" sz="1600" dirty="0">
                <a:solidFill>
                  <a:schemeClr val="accent6"/>
                </a:solidFill>
                <a:latin typeface="微软雅黑" panose="020B0503020204020204" pitchFamily="34" charset="-122"/>
                <a:ea typeface="微软雅黑" panose="020B0503020204020204" pitchFamily="34" charset="-122"/>
              </a:rPr>
              <a:t>3) "</a:t>
            </a:r>
            <a:r>
              <a:rPr lang="en-US" altLang="zh-CN" sz="1600" dirty="0" err="1">
                <a:solidFill>
                  <a:schemeClr val="accent6"/>
                </a:solidFill>
                <a:latin typeface="微软雅黑" panose="020B0503020204020204" pitchFamily="34" charset="-122"/>
                <a:ea typeface="微软雅黑" panose="020B0503020204020204" pitchFamily="34" charset="-122"/>
              </a:rPr>
              <a:t>guangdong</a:t>
            </a:r>
            <a:r>
              <a:rPr lang="en-US" altLang="zh-CN" sz="1600" dirty="0">
                <a:solidFill>
                  <a:schemeClr val="accent6"/>
                </a:solidFill>
                <a:latin typeface="微软雅黑" panose="020B0503020204020204" pitchFamily="34" charset="-122"/>
                <a:ea typeface="微软雅黑" panose="020B0503020204020204" pitchFamily="34" charset="-122"/>
              </a:rPr>
              <a:t>"</a:t>
            </a:r>
          </a:p>
          <a:p>
            <a:r>
              <a:rPr lang="en-US" altLang="zh-CN" sz="1600" dirty="0">
                <a:solidFill>
                  <a:schemeClr val="accent6"/>
                </a:solidFill>
                <a:latin typeface="微软雅黑" panose="020B0503020204020204" pitchFamily="34" charset="-122"/>
                <a:ea typeface="微软雅黑" panose="020B0503020204020204" pitchFamily="34" charset="-122"/>
              </a:rPr>
              <a:t>4) </a:t>
            </a:r>
            <a:r>
              <a:rPr lang="en-US" altLang="zh-CN" sz="1600" dirty="0" smtClean="0">
                <a:solidFill>
                  <a:schemeClr val="accent6"/>
                </a:solidFill>
                <a:latin typeface="微软雅黑" panose="020B0503020204020204" pitchFamily="34" charset="-122"/>
                <a:ea typeface="微软雅黑" panose="020B0503020204020204" pitchFamily="34" charset="-122"/>
              </a:rPr>
              <a:t>"</a:t>
            </a:r>
            <a:r>
              <a:rPr lang="zh-CN" altLang="en-US" sz="1600" dirty="0">
                <a:solidFill>
                  <a:schemeClr val="accent6"/>
                </a:solidFill>
                <a:latin typeface="微软雅黑" panose="020B0503020204020204" pitchFamily="34" charset="-122"/>
                <a:ea typeface="微软雅黑" panose="020B0503020204020204" pitchFamily="34" charset="-122"/>
              </a:rPr>
              <a:t>广州</a:t>
            </a:r>
            <a:r>
              <a:rPr lang="en-US" altLang="zh-CN" sz="1600" dirty="0" smtClean="0">
                <a:solidFill>
                  <a:schemeClr val="accent6"/>
                </a:solidFill>
                <a:latin typeface="微软雅黑" panose="020B0503020204020204" pitchFamily="34" charset="-122"/>
                <a:ea typeface="微软雅黑" panose="020B0503020204020204" pitchFamily="34" charset="-122"/>
              </a:rPr>
              <a:t>"</a:t>
            </a:r>
            <a:endParaRPr lang="en-US" altLang="zh-CN" sz="1600" dirty="0">
              <a:solidFill>
                <a:schemeClr val="accent1"/>
              </a:solidFill>
              <a:latin typeface="微软雅黑" panose="020B0503020204020204" pitchFamily="34" charset="-122"/>
              <a:ea typeface="微软雅黑" panose="020B0503020204020204" pitchFamily="34" charset="-122"/>
            </a:endParaRPr>
          </a:p>
          <a:p>
            <a:r>
              <a:rPr lang="en-US" altLang="zh-CN" sz="1600" dirty="0">
                <a:solidFill>
                  <a:schemeClr val="accent6"/>
                </a:solidFill>
                <a:latin typeface="微软雅黑" panose="020B0503020204020204" pitchFamily="34" charset="-122"/>
                <a:ea typeface="微软雅黑" panose="020B0503020204020204" pitchFamily="34" charset="-122"/>
              </a:rPr>
              <a:t>&gt;</a:t>
            </a:r>
            <a:r>
              <a:rPr lang="en-US" altLang="zh-CN" sz="1600" dirty="0">
                <a:solidFill>
                  <a:schemeClr val="accent1"/>
                </a:solidFill>
                <a:latin typeface="微软雅黑" panose="020B0503020204020204" pitchFamily="34" charset="-122"/>
                <a:ea typeface="微软雅黑" panose="020B0503020204020204" pitchFamily="34" charset="-122"/>
              </a:rPr>
              <a:t> </a:t>
            </a:r>
            <a:r>
              <a:rPr lang="en-US" altLang="zh-CN" sz="1600" b="1" dirty="0" err="1">
                <a:solidFill>
                  <a:srgbClr val="FFD343"/>
                </a:solidFill>
                <a:latin typeface="微软雅黑" panose="020B0503020204020204" pitchFamily="34" charset="-122"/>
                <a:ea typeface="微软雅黑" panose="020B0503020204020204" pitchFamily="34" charset="-122"/>
              </a:rPr>
              <a:t>hlen</a:t>
            </a:r>
            <a:r>
              <a:rPr lang="en-US" altLang="zh-CN" sz="1600" dirty="0">
                <a:solidFill>
                  <a:schemeClr val="accent1"/>
                </a:solidFill>
                <a:latin typeface="微软雅黑" panose="020B0503020204020204" pitchFamily="34" charset="-122"/>
                <a:ea typeface="微软雅黑" panose="020B0503020204020204" pitchFamily="34" charset="-122"/>
              </a:rPr>
              <a:t> </a:t>
            </a:r>
            <a:r>
              <a:rPr lang="en-US" altLang="zh-CN" sz="1600" dirty="0" err="1">
                <a:solidFill>
                  <a:schemeClr val="accent6"/>
                </a:solidFill>
                <a:latin typeface="微软雅黑" panose="020B0503020204020204" pitchFamily="34" charset="-122"/>
                <a:ea typeface="微软雅黑" panose="020B0503020204020204" pitchFamily="34" charset="-122"/>
              </a:rPr>
              <a:t>citys</a:t>
            </a:r>
            <a:r>
              <a:rPr lang="en-US" altLang="zh-CN" sz="1600" dirty="0">
                <a:solidFill>
                  <a:schemeClr val="accent1"/>
                </a:solidFill>
                <a:latin typeface="微软雅黑" panose="020B0503020204020204" pitchFamily="34" charset="-122"/>
                <a:ea typeface="微软雅黑" panose="020B0503020204020204" pitchFamily="34" charset="-122"/>
              </a:rPr>
              <a:t>      # </a:t>
            </a:r>
            <a:r>
              <a:rPr lang="zh-CN" altLang="en-US" sz="1600" dirty="0">
                <a:solidFill>
                  <a:schemeClr val="accent1"/>
                </a:solidFill>
                <a:latin typeface="微软雅黑" panose="020B0503020204020204" pitchFamily="34" charset="-122"/>
                <a:ea typeface="微软雅黑" panose="020B0503020204020204" pitchFamily="34" charset="-122"/>
              </a:rPr>
              <a:t>获取</a:t>
            </a:r>
            <a:r>
              <a:rPr lang="en-US" altLang="zh-CN" sz="1600" dirty="0">
                <a:solidFill>
                  <a:schemeClr val="accent1"/>
                </a:solidFill>
                <a:latin typeface="微软雅黑" panose="020B0503020204020204" pitchFamily="34" charset="-122"/>
                <a:ea typeface="微软雅黑" panose="020B0503020204020204" pitchFamily="34" charset="-122"/>
              </a:rPr>
              <a:t>hash </a:t>
            </a:r>
            <a:r>
              <a:rPr lang="zh-CN" altLang="en-US" sz="1600" dirty="0">
                <a:solidFill>
                  <a:schemeClr val="accent1"/>
                </a:solidFill>
                <a:latin typeface="微软雅黑" panose="020B0503020204020204" pitchFamily="34" charset="-122"/>
                <a:ea typeface="微软雅黑" panose="020B0503020204020204" pitchFamily="34" charset="-122"/>
              </a:rPr>
              <a:t>结构</a:t>
            </a:r>
            <a:r>
              <a:rPr lang="en-US" altLang="zh-CN" sz="1600" dirty="0" err="1">
                <a:solidFill>
                  <a:schemeClr val="accent1"/>
                </a:solidFill>
                <a:latin typeface="微软雅黑" panose="020B0503020204020204" pitchFamily="34" charset="-122"/>
                <a:ea typeface="微软雅黑" panose="020B0503020204020204" pitchFamily="34" charset="-122"/>
              </a:rPr>
              <a:t>citys</a:t>
            </a:r>
            <a:r>
              <a:rPr lang="zh-CN" altLang="en-US" sz="1600" dirty="0">
                <a:solidFill>
                  <a:schemeClr val="accent1"/>
                </a:solidFill>
                <a:latin typeface="微软雅黑" panose="020B0503020204020204" pitchFamily="34" charset="-122"/>
                <a:ea typeface="微软雅黑" panose="020B0503020204020204" pitchFamily="34" charset="-122"/>
              </a:rPr>
              <a:t>的键值对个数</a:t>
            </a:r>
            <a:endParaRPr lang="en-US" altLang="zh-CN" sz="1600" dirty="0">
              <a:solidFill>
                <a:schemeClr val="accent1"/>
              </a:solidFill>
              <a:latin typeface="微软雅黑" panose="020B0503020204020204" pitchFamily="34" charset="-122"/>
              <a:ea typeface="微软雅黑" panose="020B0503020204020204" pitchFamily="34" charset="-122"/>
            </a:endParaRPr>
          </a:p>
          <a:p>
            <a:r>
              <a:rPr lang="en-US" altLang="zh-CN" sz="1600" dirty="0">
                <a:solidFill>
                  <a:schemeClr val="accent6"/>
                </a:solidFill>
                <a:latin typeface="微软雅黑" panose="020B0503020204020204" pitchFamily="34" charset="-122"/>
                <a:ea typeface="微软雅黑" panose="020B0503020204020204" pitchFamily="34" charset="-122"/>
              </a:rPr>
              <a:t>2</a:t>
            </a:r>
            <a:endParaRPr lang="en-US" altLang="zh-CN" sz="1600" b="1" dirty="0">
              <a:solidFill>
                <a:srgbClr val="FFD343"/>
              </a:solidFill>
              <a:latin typeface="微软雅黑" panose="020B0503020204020204" pitchFamily="34" charset="-122"/>
              <a:ea typeface="微软雅黑" panose="020B0503020204020204" pitchFamily="34" charset="-122"/>
            </a:endParaRPr>
          </a:p>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hget</a:t>
            </a:r>
            <a:r>
              <a:rPr lang="en-US" altLang="zh-CN" sz="1600" dirty="0">
                <a:solidFill>
                  <a:srgbClr val="C00000"/>
                </a:solidFill>
                <a:latin typeface="微软雅黑" panose="020B0503020204020204" pitchFamily="34" charset="-122"/>
                <a:ea typeface="微软雅黑" panose="020B0503020204020204" pitchFamily="34" charset="-122"/>
              </a:rPr>
              <a:t> </a:t>
            </a:r>
            <a:r>
              <a:rPr lang="en-US" altLang="zh-CN" sz="1600" dirty="0" err="1">
                <a:solidFill>
                  <a:schemeClr val="accent6"/>
                </a:solidFill>
                <a:latin typeface="微软雅黑" panose="020B0503020204020204" pitchFamily="34" charset="-122"/>
                <a:ea typeface="微软雅黑" panose="020B0503020204020204" pitchFamily="34" charset="-122"/>
              </a:rPr>
              <a:t>citys</a:t>
            </a:r>
            <a:r>
              <a:rPr lang="en-US" altLang="zh-CN" sz="1600" dirty="0">
                <a:solidFill>
                  <a:schemeClr val="accent6"/>
                </a:solidFill>
                <a:latin typeface="微软雅黑" panose="020B0503020204020204" pitchFamily="34" charset="-122"/>
                <a:ea typeface="微软雅黑" panose="020B0503020204020204" pitchFamily="34" charset="-122"/>
              </a:rPr>
              <a:t> </a:t>
            </a:r>
            <a:r>
              <a:rPr lang="en-US" altLang="zh-CN" sz="1600" dirty="0" err="1" smtClean="0">
                <a:solidFill>
                  <a:schemeClr val="accent6"/>
                </a:solidFill>
                <a:latin typeface="微软雅黑" panose="020B0503020204020204" pitchFamily="34" charset="-122"/>
                <a:ea typeface="微软雅黑" panose="020B0503020204020204" pitchFamily="34" charset="-122"/>
              </a:rPr>
              <a:t>hunan</a:t>
            </a:r>
            <a:r>
              <a:rPr lang="en-US" altLang="zh-CN" sz="1600" dirty="0" smtClean="0">
                <a:solidFill>
                  <a:schemeClr val="accent6"/>
                </a:solidFill>
                <a:latin typeface="微软雅黑" panose="020B0503020204020204" pitchFamily="34" charset="-122"/>
                <a:ea typeface="微软雅黑" panose="020B0503020204020204" pitchFamily="34" charset="-122"/>
              </a:rPr>
              <a:t>   </a:t>
            </a:r>
            <a:r>
              <a:rPr lang="en-US" altLang="zh-CN" sz="1600" dirty="0">
                <a:solidFill>
                  <a:schemeClr val="accent1"/>
                </a:solidFill>
                <a:latin typeface="微软雅黑" panose="020B0503020204020204" pitchFamily="34" charset="-122"/>
                <a:ea typeface="微软雅黑" panose="020B0503020204020204" pitchFamily="34" charset="-122"/>
              </a:rPr>
              <a:t>#</a:t>
            </a:r>
            <a:r>
              <a:rPr lang="zh-CN" altLang="en-US" sz="1600" dirty="0">
                <a:solidFill>
                  <a:schemeClr val="accent1"/>
                </a:solidFill>
                <a:latin typeface="微软雅黑" panose="020B0503020204020204" pitchFamily="34" charset="-122"/>
                <a:ea typeface="微软雅黑" panose="020B0503020204020204" pitchFamily="34" charset="-122"/>
              </a:rPr>
              <a:t>获取</a:t>
            </a:r>
            <a:r>
              <a:rPr lang="en-US" altLang="zh-CN" sz="1600" dirty="0">
                <a:solidFill>
                  <a:schemeClr val="accent1"/>
                </a:solidFill>
                <a:latin typeface="微软雅黑" panose="020B0503020204020204" pitchFamily="34" charset="-122"/>
                <a:ea typeface="微软雅黑" panose="020B0503020204020204" pitchFamily="34" charset="-122"/>
              </a:rPr>
              <a:t>hash</a:t>
            </a:r>
            <a:r>
              <a:rPr lang="zh-CN" altLang="en-US" sz="1600" dirty="0">
                <a:solidFill>
                  <a:schemeClr val="accent1"/>
                </a:solidFill>
                <a:latin typeface="微软雅黑" panose="020B0503020204020204" pitchFamily="34" charset="-122"/>
                <a:ea typeface="微软雅黑" panose="020B0503020204020204" pitchFamily="34" charset="-122"/>
              </a:rPr>
              <a:t>指定键</a:t>
            </a:r>
            <a:r>
              <a:rPr lang="en-US" altLang="zh-CN" sz="1600" dirty="0" err="1">
                <a:solidFill>
                  <a:schemeClr val="accent1"/>
                </a:solidFill>
                <a:latin typeface="微软雅黑" panose="020B0503020204020204" pitchFamily="34" charset="-122"/>
                <a:ea typeface="微软雅黑" panose="020B0503020204020204" pitchFamily="34" charset="-122"/>
              </a:rPr>
              <a:t>hunan</a:t>
            </a:r>
            <a:r>
              <a:rPr lang="zh-CN" altLang="en-US" sz="1600" dirty="0">
                <a:solidFill>
                  <a:schemeClr val="accent1"/>
                </a:solidFill>
                <a:latin typeface="微软雅黑" panose="020B0503020204020204" pitchFamily="34" charset="-122"/>
                <a:ea typeface="微软雅黑" panose="020B0503020204020204" pitchFamily="34" charset="-122"/>
              </a:rPr>
              <a:t>的值</a:t>
            </a:r>
            <a:endParaRPr lang="en-US" altLang="zh-CN" sz="1600" dirty="0">
              <a:solidFill>
                <a:schemeClr val="accent1"/>
              </a:solidFill>
              <a:latin typeface="微软雅黑" panose="020B0503020204020204" pitchFamily="34" charset="-122"/>
              <a:ea typeface="微软雅黑" panose="020B0503020204020204" pitchFamily="34" charset="-122"/>
            </a:endParaRPr>
          </a:p>
          <a:p>
            <a:r>
              <a:rPr lang="en-US" altLang="zh-CN" sz="1600" dirty="0" smtClean="0">
                <a:solidFill>
                  <a:schemeClr val="accent6"/>
                </a:solidFill>
                <a:latin typeface="微软雅黑" panose="020B0503020204020204" pitchFamily="34" charset="-122"/>
                <a:ea typeface="微软雅黑" panose="020B0503020204020204" pitchFamily="34" charset="-122"/>
              </a:rPr>
              <a:t>"</a:t>
            </a:r>
            <a:r>
              <a:rPr lang="zh-CN" altLang="en-US" sz="1600" dirty="0">
                <a:solidFill>
                  <a:schemeClr val="accent6"/>
                </a:solidFill>
                <a:latin typeface="微软雅黑" panose="020B0503020204020204" pitchFamily="34" charset="-122"/>
                <a:ea typeface="微软雅黑" panose="020B0503020204020204" pitchFamily="34" charset="-122"/>
              </a:rPr>
              <a:t>长沙</a:t>
            </a:r>
            <a:r>
              <a:rPr lang="en-US" altLang="zh-CN" sz="1600" dirty="0" smtClean="0">
                <a:solidFill>
                  <a:schemeClr val="accent6"/>
                </a:solidFill>
                <a:latin typeface="微软雅黑" panose="020B0503020204020204" pitchFamily="34" charset="-122"/>
                <a:ea typeface="微软雅黑" panose="020B0503020204020204" pitchFamily="34" charset="-122"/>
              </a:rPr>
              <a:t>“</a:t>
            </a:r>
          </a:p>
          <a:p>
            <a:r>
              <a:rPr lang="en-US" altLang="zh-CN" sz="1600" dirty="0" smtClean="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hset</a:t>
            </a:r>
            <a:r>
              <a:rPr lang="en-US" altLang="zh-CN" sz="1600" dirty="0">
                <a:solidFill>
                  <a:srgbClr val="C00000"/>
                </a:solidFill>
                <a:latin typeface="微软雅黑" panose="020B0503020204020204" pitchFamily="34" charset="-122"/>
                <a:ea typeface="微软雅黑" panose="020B0503020204020204" pitchFamily="34" charset="-122"/>
              </a:rPr>
              <a:t> </a:t>
            </a:r>
            <a:r>
              <a:rPr lang="en-US" altLang="zh-CN" sz="1600" dirty="0" err="1">
                <a:solidFill>
                  <a:schemeClr val="accent6"/>
                </a:solidFill>
                <a:latin typeface="微软雅黑" panose="020B0503020204020204" pitchFamily="34" charset="-122"/>
                <a:ea typeface="微软雅黑" panose="020B0503020204020204" pitchFamily="34" charset="-122"/>
              </a:rPr>
              <a:t>citys</a:t>
            </a:r>
            <a:r>
              <a:rPr lang="en-US" altLang="zh-CN" sz="1600" dirty="0">
                <a:solidFill>
                  <a:schemeClr val="accent6"/>
                </a:solidFill>
                <a:latin typeface="微软雅黑" panose="020B0503020204020204" pitchFamily="34" charset="-122"/>
                <a:ea typeface="微软雅黑" panose="020B0503020204020204" pitchFamily="34" charset="-122"/>
              </a:rPr>
              <a:t> </a:t>
            </a:r>
            <a:r>
              <a:rPr lang="en-US" altLang="zh-CN" sz="1600" dirty="0" err="1">
                <a:solidFill>
                  <a:schemeClr val="accent6"/>
                </a:solidFill>
                <a:latin typeface="微软雅黑" panose="020B0503020204020204" pitchFamily="34" charset="-122"/>
                <a:ea typeface="微软雅黑" panose="020B0503020204020204" pitchFamily="34" charset="-122"/>
              </a:rPr>
              <a:t>hunan</a:t>
            </a:r>
            <a:r>
              <a:rPr lang="en-US" altLang="zh-CN" sz="1600" dirty="0">
                <a:solidFill>
                  <a:schemeClr val="accent6"/>
                </a:solidFill>
                <a:latin typeface="微软雅黑" panose="020B0503020204020204" pitchFamily="34" charset="-122"/>
                <a:ea typeface="微软雅黑" panose="020B0503020204020204" pitchFamily="34" charset="-122"/>
              </a:rPr>
              <a:t> </a:t>
            </a:r>
            <a:r>
              <a:rPr lang="zh-CN" altLang="en-US" sz="1600" dirty="0" smtClean="0">
                <a:solidFill>
                  <a:schemeClr val="accent6"/>
                </a:solidFill>
                <a:latin typeface="微软雅黑" panose="020B0503020204020204" pitchFamily="34" charset="-122"/>
                <a:ea typeface="微软雅黑" panose="020B0503020204020204" pitchFamily="34" charset="-122"/>
              </a:rPr>
              <a:t>株洲</a:t>
            </a:r>
            <a:r>
              <a:rPr lang="en-US" altLang="zh-CN" sz="1600" dirty="0" smtClean="0">
                <a:solidFill>
                  <a:schemeClr val="accent6"/>
                </a:solidFill>
                <a:latin typeface="微软雅黑" panose="020B0503020204020204" pitchFamily="34" charset="-122"/>
                <a:ea typeface="微软雅黑" panose="020B0503020204020204" pitchFamily="34" charset="-122"/>
              </a:rPr>
              <a:t>  </a:t>
            </a:r>
            <a:r>
              <a:rPr lang="en-US" altLang="zh-CN" sz="1600" dirty="0">
                <a:solidFill>
                  <a:schemeClr val="accent1"/>
                </a:solidFill>
                <a:latin typeface="微软雅黑" panose="020B0503020204020204" pitchFamily="34" charset="-122"/>
                <a:ea typeface="微软雅黑" panose="020B0503020204020204" pitchFamily="34" charset="-122"/>
              </a:rPr>
              <a:t>#</a:t>
            </a:r>
            <a:r>
              <a:rPr lang="zh-CN" altLang="en-US" sz="1600" dirty="0">
                <a:solidFill>
                  <a:schemeClr val="accent1"/>
                </a:solidFill>
                <a:latin typeface="微软雅黑" panose="020B0503020204020204" pitchFamily="34" charset="-122"/>
                <a:ea typeface="微软雅黑" panose="020B0503020204020204" pitchFamily="34" charset="-122"/>
              </a:rPr>
              <a:t>修改</a:t>
            </a:r>
            <a:r>
              <a:rPr lang="en-US" altLang="zh-CN" sz="1600" dirty="0">
                <a:solidFill>
                  <a:schemeClr val="accent1"/>
                </a:solidFill>
                <a:latin typeface="微软雅黑" panose="020B0503020204020204" pitchFamily="34" charset="-122"/>
                <a:ea typeface="微软雅黑" panose="020B0503020204020204" pitchFamily="34" charset="-122"/>
              </a:rPr>
              <a:t>hash</a:t>
            </a:r>
            <a:r>
              <a:rPr lang="zh-CN" altLang="en-US" sz="1600" dirty="0">
                <a:solidFill>
                  <a:schemeClr val="accent1"/>
                </a:solidFill>
                <a:latin typeface="微软雅黑" panose="020B0503020204020204" pitchFamily="34" charset="-122"/>
                <a:ea typeface="微软雅黑" panose="020B0503020204020204" pitchFamily="34" charset="-122"/>
              </a:rPr>
              <a:t>指定键</a:t>
            </a:r>
            <a:r>
              <a:rPr lang="en-US" altLang="zh-CN" sz="1600" dirty="0" err="1">
                <a:solidFill>
                  <a:schemeClr val="accent1"/>
                </a:solidFill>
                <a:latin typeface="微软雅黑" panose="020B0503020204020204" pitchFamily="34" charset="-122"/>
                <a:ea typeface="微软雅黑" panose="020B0503020204020204" pitchFamily="34" charset="-122"/>
              </a:rPr>
              <a:t>hunan</a:t>
            </a:r>
            <a:r>
              <a:rPr lang="zh-CN" altLang="en-US" sz="1600" i="1" dirty="0">
                <a:solidFill>
                  <a:schemeClr val="accent1"/>
                </a:solidFill>
                <a:latin typeface="微软雅黑" panose="020B0503020204020204" pitchFamily="34" charset="-122"/>
                <a:ea typeface="微软雅黑" panose="020B0503020204020204" pitchFamily="34" charset="-122"/>
              </a:rPr>
              <a:t>的</a:t>
            </a:r>
            <a:r>
              <a:rPr lang="zh-CN" altLang="en-US" sz="1600" i="1" dirty="0" smtClean="0">
                <a:solidFill>
                  <a:schemeClr val="accent1"/>
                </a:solidFill>
                <a:latin typeface="微软雅黑" panose="020B0503020204020204" pitchFamily="34" charset="-122"/>
                <a:ea typeface="微软雅黑" panose="020B0503020204020204" pitchFamily="34" charset="-122"/>
              </a:rPr>
              <a:t>值</a:t>
            </a:r>
            <a:endParaRPr lang="en-US" altLang="zh-CN" sz="1600" dirty="0">
              <a:solidFill>
                <a:schemeClr val="accent6"/>
              </a:solidFill>
              <a:latin typeface="微软雅黑" panose="020B0503020204020204" pitchFamily="34" charset="-122"/>
              <a:ea typeface="微软雅黑" panose="020B0503020204020204" pitchFamily="34" charset="-122"/>
            </a:endParaRPr>
          </a:p>
          <a:p>
            <a:r>
              <a:rPr lang="en-US" altLang="zh-CN" sz="1600" dirty="0">
                <a:solidFill>
                  <a:schemeClr val="accent6"/>
                </a:solidFill>
                <a:latin typeface="微软雅黑" panose="020B0503020204020204" pitchFamily="34" charset="-122"/>
                <a:ea typeface="微软雅黑" panose="020B0503020204020204" pitchFamily="34" charset="-122"/>
              </a:rPr>
              <a:t>(integer) 0</a:t>
            </a:r>
          </a:p>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hget</a:t>
            </a:r>
            <a:r>
              <a:rPr lang="en-US" altLang="zh-CN" sz="1600" dirty="0">
                <a:solidFill>
                  <a:srgbClr val="C00000"/>
                </a:solidFill>
                <a:latin typeface="微软雅黑" panose="020B0503020204020204" pitchFamily="34" charset="-122"/>
                <a:ea typeface="微软雅黑" panose="020B0503020204020204" pitchFamily="34" charset="-122"/>
              </a:rPr>
              <a:t> </a:t>
            </a:r>
            <a:r>
              <a:rPr lang="en-US" altLang="zh-CN" sz="1600" dirty="0" err="1">
                <a:solidFill>
                  <a:schemeClr val="accent6"/>
                </a:solidFill>
                <a:latin typeface="微软雅黑" panose="020B0503020204020204" pitchFamily="34" charset="-122"/>
                <a:ea typeface="微软雅黑" panose="020B0503020204020204" pitchFamily="34" charset="-122"/>
              </a:rPr>
              <a:t>citys</a:t>
            </a:r>
            <a:r>
              <a:rPr lang="en-US" altLang="zh-CN" sz="1600" dirty="0">
                <a:solidFill>
                  <a:schemeClr val="accent6"/>
                </a:solidFill>
                <a:latin typeface="微软雅黑" panose="020B0503020204020204" pitchFamily="34" charset="-122"/>
                <a:ea typeface="微软雅黑" panose="020B0503020204020204" pitchFamily="34" charset="-122"/>
              </a:rPr>
              <a:t> </a:t>
            </a:r>
            <a:r>
              <a:rPr lang="en-US" altLang="zh-CN" sz="1600" dirty="0" err="1">
                <a:solidFill>
                  <a:schemeClr val="accent6"/>
                </a:solidFill>
                <a:latin typeface="微软雅黑" panose="020B0503020204020204" pitchFamily="34" charset="-122"/>
                <a:ea typeface="微软雅黑" panose="020B0503020204020204" pitchFamily="34" charset="-122"/>
              </a:rPr>
              <a:t>hunan</a:t>
            </a:r>
            <a:r>
              <a:rPr lang="en-US" altLang="zh-CN" sz="1600" dirty="0">
                <a:solidFill>
                  <a:schemeClr val="accent6"/>
                </a:solidFill>
                <a:latin typeface="微软雅黑" panose="020B0503020204020204" pitchFamily="34" charset="-122"/>
                <a:ea typeface="微软雅黑" panose="020B0503020204020204" pitchFamily="34" charset="-122"/>
              </a:rPr>
              <a:t>   </a:t>
            </a:r>
            <a:r>
              <a:rPr lang="en-US" altLang="zh-CN" sz="1600" dirty="0">
                <a:solidFill>
                  <a:schemeClr val="accent1"/>
                </a:solidFill>
                <a:latin typeface="微软雅黑" panose="020B0503020204020204" pitchFamily="34" charset="-122"/>
                <a:ea typeface="微软雅黑" panose="020B0503020204020204" pitchFamily="34" charset="-122"/>
              </a:rPr>
              <a:t>#</a:t>
            </a:r>
            <a:r>
              <a:rPr lang="zh-CN" altLang="en-US" sz="1600" dirty="0">
                <a:solidFill>
                  <a:schemeClr val="accent1"/>
                </a:solidFill>
                <a:latin typeface="微软雅黑" panose="020B0503020204020204" pitchFamily="34" charset="-122"/>
                <a:ea typeface="微软雅黑" panose="020B0503020204020204" pitchFamily="34" charset="-122"/>
              </a:rPr>
              <a:t>结果显示修改成功</a:t>
            </a:r>
            <a:endParaRPr lang="en-US" altLang="zh-CN" sz="1600" dirty="0">
              <a:solidFill>
                <a:schemeClr val="accent1"/>
              </a:solidFill>
              <a:latin typeface="微软雅黑" panose="020B0503020204020204" pitchFamily="34" charset="-122"/>
              <a:ea typeface="微软雅黑" panose="020B0503020204020204" pitchFamily="34" charset="-122"/>
            </a:endParaRPr>
          </a:p>
          <a:p>
            <a:r>
              <a:rPr lang="en-US" altLang="zh-CN" sz="1600" dirty="0" smtClean="0">
                <a:solidFill>
                  <a:schemeClr val="accent6"/>
                </a:solidFill>
                <a:latin typeface="微软雅黑" panose="020B0503020204020204" pitchFamily="34" charset="-122"/>
                <a:ea typeface="微软雅黑" panose="020B0503020204020204" pitchFamily="34" charset="-122"/>
              </a:rPr>
              <a:t>"</a:t>
            </a:r>
            <a:r>
              <a:rPr lang="zh-CN" altLang="en-US" sz="1600" dirty="0">
                <a:solidFill>
                  <a:schemeClr val="accent6"/>
                </a:solidFill>
                <a:latin typeface="微软雅黑" panose="020B0503020204020204" pitchFamily="34" charset="-122"/>
                <a:ea typeface="微软雅黑" panose="020B0503020204020204" pitchFamily="34" charset="-122"/>
              </a:rPr>
              <a:t>株洲</a:t>
            </a:r>
            <a:r>
              <a:rPr lang="en-US" altLang="zh-CN" sz="1600" dirty="0" smtClean="0">
                <a:solidFill>
                  <a:schemeClr val="accent6"/>
                </a:solidFill>
                <a:latin typeface="微软雅黑" panose="020B0503020204020204" pitchFamily="34" charset="-122"/>
                <a:ea typeface="微软雅黑" panose="020B0503020204020204" pitchFamily="34" charset="-122"/>
              </a:rPr>
              <a:t>“</a:t>
            </a:r>
            <a:endParaRPr lang="en-US" altLang="zh-CN" sz="1600" dirty="0">
              <a:solidFill>
                <a:schemeClr val="accent6"/>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6489700" y="5009687"/>
            <a:ext cx="4613544" cy="1338828"/>
          </a:xfrm>
          <a:prstGeom prst="rect">
            <a:avLst/>
          </a:prstGeom>
          <a:noFill/>
        </p:spPr>
        <p:txBody>
          <a:bodyPr wrap="square" rtlCol="0">
            <a:spAutoFit/>
          </a:bodyPr>
          <a:lstStyle/>
          <a:p>
            <a:pPr algn="l">
              <a:lnSpc>
                <a:spcPct val="150000"/>
              </a:lnSpc>
            </a:pPr>
            <a:r>
              <a:rPr lang="zh-CN" altLang="en-US" i="1" dirty="0">
                <a:solidFill>
                  <a:schemeClr val="bg1"/>
                </a:solidFill>
                <a:latin typeface="微软雅黑" panose="020B0503020204020204" pitchFamily="34" charset="-122"/>
                <a:ea typeface="微软雅黑" panose="020B0503020204020204" pitchFamily="34" charset="-122"/>
              </a:rPr>
              <a:t>注</a:t>
            </a:r>
            <a:r>
              <a:rPr lang="zh-CN" altLang="en-US" i="1" dirty="0" smtClean="0">
                <a:solidFill>
                  <a:schemeClr val="bg1"/>
                </a:solidFill>
                <a:latin typeface="微软雅黑" panose="020B0503020204020204" pitchFamily="34" charset="-122"/>
                <a:ea typeface="微软雅黑" panose="020B0503020204020204" pitchFamily="34" charset="-122"/>
              </a:rPr>
              <a:t>意：</a:t>
            </a:r>
            <a:r>
              <a:rPr lang="en-US" altLang="zh-CN" b="1" dirty="0" err="1">
                <a:solidFill>
                  <a:srgbClr val="FFD343"/>
                </a:solidFill>
                <a:latin typeface="微软雅黑" panose="020B0503020204020204" pitchFamily="34" charset="-122"/>
                <a:ea typeface="微软雅黑" panose="020B0503020204020204" pitchFamily="34" charset="-122"/>
              </a:rPr>
              <a:t>redis</a:t>
            </a:r>
            <a:r>
              <a:rPr lang="zh-CN" altLang="en-US" b="1" dirty="0">
                <a:solidFill>
                  <a:srgbClr val="FFD343"/>
                </a:solidFill>
                <a:latin typeface="微软雅黑" panose="020B0503020204020204" pitchFamily="34" charset="-122"/>
                <a:ea typeface="微软雅黑" panose="020B0503020204020204" pitchFamily="34" charset="-122"/>
              </a:rPr>
              <a:t>只能在</a:t>
            </a:r>
            <a:r>
              <a:rPr lang="en-US" altLang="zh-CN" b="1" dirty="0">
                <a:solidFill>
                  <a:srgbClr val="FFD343"/>
                </a:solidFill>
                <a:latin typeface="微软雅黑" panose="020B0503020204020204" pitchFamily="34" charset="-122"/>
                <a:ea typeface="微软雅黑" panose="020B0503020204020204" pitchFamily="34" charset="-122"/>
              </a:rPr>
              <a:t>key</a:t>
            </a:r>
            <a:r>
              <a:rPr lang="zh-CN" altLang="en-US" b="1" dirty="0">
                <a:solidFill>
                  <a:srgbClr val="FFD343"/>
                </a:solidFill>
                <a:latin typeface="微软雅黑" panose="020B0503020204020204" pitchFamily="34" charset="-122"/>
                <a:ea typeface="微软雅黑" panose="020B0503020204020204" pitchFamily="34" charset="-122"/>
              </a:rPr>
              <a:t>上设置有效期。而不能对</a:t>
            </a:r>
            <a:r>
              <a:rPr lang="en-US" altLang="zh-CN" b="1" dirty="0">
                <a:solidFill>
                  <a:srgbClr val="FFD343"/>
                </a:solidFill>
                <a:latin typeface="微软雅黑" panose="020B0503020204020204" pitchFamily="34" charset="-122"/>
                <a:ea typeface="微软雅黑" panose="020B0503020204020204" pitchFamily="34" charset="-122"/>
              </a:rPr>
              <a:t>hash</a:t>
            </a:r>
            <a:r>
              <a:rPr lang="zh-CN" altLang="en-US" b="1" dirty="0">
                <a:solidFill>
                  <a:srgbClr val="FFD343"/>
                </a:solidFill>
                <a:latin typeface="微软雅黑" panose="020B0503020204020204" pitchFamily="34" charset="-122"/>
                <a:ea typeface="微软雅黑" panose="020B0503020204020204" pitchFamily="34" charset="-122"/>
              </a:rPr>
              <a:t>，</a:t>
            </a:r>
            <a:r>
              <a:rPr lang="en-US" altLang="zh-CN" b="1" dirty="0">
                <a:solidFill>
                  <a:srgbClr val="FFD343"/>
                </a:solidFill>
                <a:latin typeface="微软雅黑" panose="020B0503020204020204" pitchFamily="34" charset="-122"/>
                <a:ea typeface="微软雅黑" panose="020B0503020204020204" pitchFamily="34" charset="-122"/>
              </a:rPr>
              <a:t>list</a:t>
            </a:r>
            <a:r>
              <a:rPr lang="zh-CN" altLang="en-US" b="1" dirty="0">
                <a:solidFill>
                  <a:srgbClr val="FFD343"/>
                </a:solidFill>
                <a:latin typeface="微软雅黑" panose="020B0503020204020204" pitchFamily="34" charset="-122"/>
                <a:ea typeface="微软雅黑" panose="020B0503020204020204" pitchFamily="34" charset="-122"/>
              </a:rPr>
              <a:t>，</a:t>
            </a:r>
            <a:r>
              <a:rPr lang="en-US" altLang="zh-CN" b="1" dirty="0">
                <a:solidFill>
                  <a:srgbClr val="FFD343"/>
                </a:solidFill>
                <a:latin typeface="微软雅黑" panose="020B0503020204020204" pitchFamily="34" charset="-122"/>
                <a:ea typeface="微软雅黑" panose="020B0503020204020204" pitchFamily="34" charset="-122"/>
              </a:rPr>
              <a:t>set</a:t>
            </a:r>
            <a:r>
              <a:rPr lang="zh-CN" altLang="en-US" b="1" dirty="0">
                <a:solidFill>
                  <a:srgbClr val="FFD343"/>
                </a:solidFill>
                <a:latin typeface="微软雅黑" panose="020B0503020204020204" pitchFamily="34" charset="-122"/>
                <a:ea typeface="微软雅黑" panose="020B0503020204020204" pitchFamily="34" charset="-122"/>
              </a:rPr>
              <a:t>，</a:t>
            </a:r>
            <a:r>
              <a:rPr lang="en-US" altLang="zh-CN" b="1" dirty="0" err="1">
                <a:solidFill>
                  <a:srgbClr val="FFD343"/>
                </a:solidFill>
                <a:latin typeface="微软雅黑" panose="020B0503020204020204" pitchFamily="34" charset="-122"/>
                <a:ea typeface="微软雅黑" panose="020B0503020204020204" pitchFamily="34" charset="-122"/>
              </a:rPr>
              <a:t>zset</a:t>
            </a:r>
            <a:r>
              <a:rPr lang="zh-CN" altLang="en-US" b="1" dirty="0">
                <a:solidFill>
                  <a:srgbClr val="FFD343"/>
                </a:solidFill>
                <a:latin typeface="微软雅黑" panose="020B0503020204020204" pitchFamily="34" charset="-122"/>
                <a:ea typeface="微软雅黑" panose="020B0503020204020204" pitchFamily="34" charset="-122"/>
              </a:rPr>
              <a:t>内部的具体的某个元素设置有效期</a:t>
            </a:r>
            <a:r>
              <a:rPr lang="zh-CN" altLang="en-US" i="1" dirty="0" smtClean="0">
                <a:solidFill>
                  <a:schemeClr val="bg1"/>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2959689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anim calcmode="lin" valueType="num">
                                      <p:cBhvr>
                                        <p:cTn id="20" dur="1000" fill="hold"/>
                                        <p:tgtEl>
                                          <p:spTgt spid="5"/>
                                        </p:tgtEl>
                                        <p:attrNameLst>
                                          <p:attrName>ppt_x</p:attrName>
                                        </p:attrNameLst>
                                      </p:cBhvr>
                                      <p:tavLst>
                                        <p:tav tm="0">
                                          <p:val>
                                            <p:strVal val="#ppt_x"/>
                                          </p:val>
                                        </p:tav>
                                        <p:tav tm="100000">
                                          <p:val>
                                            <p:strVal val="#ppt_x"/>
                                          </p:val>
                                        </p:tav>
                                      </p:tavLst>
                                    </p:anim>
                                    <p:anim calcmode="lin" valueType="num">
                                      <p:cBhvr>
                                        <p:cTn id="21"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animBg="1"/>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A0F23"/>
        </a:solidFill>
        <a:effectLst/>
      </p:bgPr>
    </p:bg>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xmlns="" id="{CBDC52CD-1D62-48AF-A9DF-9F18AEA2B1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01385" y="-114300"/>
            <a:ext cx="1301859" cy="920356"/>
          </a:xfrm>
          <a:prstGeom prst="rect">
            <a:avLst/>
          </a:prstGeom>
        </p:spPr>
      </p:pic>
      <p:pic>
        <p:nvPicPr>
          <p:cNvPr id="14" name="图片 13">
            <a:extLst>
              <a:ext uri="{FF2B5EF4-FFF2-40B4-BE49-F238E27FC236}">
                <a16:creationId xmlns:a16="http://schemas.microsoft.com/office/drawing/2014/main" xmlns="" id="{F78DA958-9B1B-47DA-A870-8C0B3A7D8866}"/>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b="63537"/>
          <a:stretch/>
        </p:blipFill>
        <p:spPr>
          <a:xfrm>
            <a:off x="11184164" y="217733"/>
            <a:ext cx="572339" cy="337210"/>
          </a:xfrm>
          <a:prstGeom prst="rect">
            <a:avLst/>
          </a:prstGeom>
        </p:spPr>
      </p:pic>
      <p:cxnSp>
        <p:nvCxnSpPr>
          <p:cNvPr id="15" name="直接连接符 14">
            <a:extLst>
              <a:ext uri="{FF2B5EF4-FFF2-40B4-BE49-F238E27FC236}">
                <a16:creationId xmlns:a16="http://schemas.microsoft.com/office/drawing/2014/main" xmlns="" id="{93240A06-D526-4907-A163-94ABB41190CC}"/>
              </a:ext>
            </a:extLst>
          </p:cNvPr>
          <p:cNvCxnSpPr/>
          <p:nvPr/>
        </p:nvCxnSpPr>
        <p:spPr>
          <a:xfrm>
            <a:off x="11103244" y="225825"/>
            <a:ext cx="0" cy="2435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xmlns="" id="{74C59758-12AB-44A5-92FA-DB52904027AE}"/>
              </a:ext>
            </a:extLst>
          </p:cNvPr>
          <p:cNvSpPr/>
          <p:nvPr/>
        </p:nvSpPr>
        <p:spPr>
          <a:xfrm>
            <a:off x="802332" y="1287114"/>
            <a:ext cx="10765483" cy="923330"/>
          </a:xfrm>
          <a:prstGeom prst="rect">
            <a:avLst/>
          </a:prstGeom>
        </p:spPr>
        <p:txBody>
          <a:bodyPr wrap="square">
            <a:spAutoFit/>
          </a:bodyPr>
          <a:lstStyle/>
          <a:p>
            <a:pPr indent="457200">
              <a:lnSpc>
                <a:spcPct val="150000"/>
              </a:lnSpc>
            </a:pPr>
            <a:r>
              <a:rPr lang="zh-CN" altLang="en-US" dirty="0" smtClean="0">
                <a:solidFill>
                  <a:prstClr val="white"/>
                </a:solidFill>
                <a:latin typeface="微软雅黑" panose="020B0503020204020204" pitchFamily="34" charset="-122"/>
                <a:ea typeface="微软雅黑" panose="020B0503020204020204" pitchFamily="34" charset="-122"/>
              </a:rPr>
              <a:t>统计货主每天的实时订单量，当一个系统每天单量很大时，实时从数据库获取无疑会增加数据库的负担，甚至让数据库成为系统瓶颈。可以借助分布式的</a:t>
            </a:r>
            <a:r>
              <a:rPr lang="en-US" altLang="zh-CN" dirty="0" err="1" smtClean="0">
                <a:solidFill>
                  <a:prstClr val="white"/>
                </a:solidFill>
                <a:latin typeface="微软雅黑" panose="020B0503020204020204" pitchFamily="34" charset="-122"/>
                <a:ea typeface="微软雅黑" panose="020B0503020204020204" pitchFamily="34" charset="-122"/>
              </a:rPr>
              <a:t>redis</a:t>
            </a:r>
            <a:r>
              <a:rPr lang="zh-CN" altLang="en-US" dirty="0" smtClean="0">
                <a:solidFill>
                  <a:prstClr val="white"/>
                </a:solidFill>
                <a:latin typeface="微软雅黑" panose="020B0503020204020204" pitchFamily="34" charset="-122"/>
                <a:ea typeface="微软雅黑" panose="020B0503020204020204" pitchFamily="34" charset="-122"/>
              </a:rPr>
              <a:t>保存和维护这种数据。</a:t>
            </a:r>
            <a:endParaRPr lang="zh-CN" altLang="en-US" dirty="0">
              <a:solidFill>
                <a:prstClr val="white"/>
              </a:solidFill>
              <a:latin typeface="微软雅黑" panose="020B0503020204020204" pitchFamily="34" charset="-122"/>
              <a:ea typeface="微软雅黑" panose="020B0503020204020204" pitchFamily="34" charset="-122"/>
            </a:endParaRPr>
          </a:p>
        </p:txBody>
      </p:sp>
      <p:sp>
        <p:nvSpPr>
          <p:cNvPr id="10" name="TextBox 9"/>
          <p:cNvSpPr txBox="1"/>
          <p:nvPr/>
        </p:nvSpPr>
        <p:spPr>
          <a:xfrm>
            <a:off x="704849" y="605109"/>
            <a:ext cx="9096535" cy="523220"/>
          </a:xfrm>
          <a:prstGeom prst="rect">
            <a:avLst/>
          </a:prstGeom>
          <a:noFill/>
        </p:spPr>
        <p:txBody>
          <a:bodyPr wrap="square" rtlCol="0">
            <a:spAutoFit/>
          </a:bodyPr>
          <a:lstStyle/>
          <a:p>
            <a:pPr>
              <a:defRPr/>
            </a:pPr>
            <a:r>
              <a:rPr lang="en-US" altLang="zh-CN"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2.2.3 </a:t>
            </a:r>
            <a:r>
              <a:rPr lang="zh-CN" altLang="en-US" sz="2800" b="1" dirty="0" smtClean="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货主</a:t>
            </a:r>
            <a:r>
              <a:rPr lang="zh-CN" altLang="en-US"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每天的实时订单</a:t>
            </a:r>
            <a:r>
              <a:rPr lang="zh-CN" altLang="en-US" sz="2800" b="1" dirty="0" smtClean="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量</a:t>
            </a:r>
            <a:r>
              <a:rPr lang="zh-CN" altLang="en-US"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统计</a:t>
            </a:r>
            <a:endParaRPr lang="zh-CN" altLang="en-US"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endParaRPr>
          </a:p>
        </p:txBody>
      </p:sp>
      <p:sp>
        <p:nvSpPr>
          <p:cNvPr id="2" name="文本框 1"/>
          <p:cNvSpPr txBox="1"/>
          <p:nvPr/>
        </p:nvSpPr>
        <p:spPr>
          <a:xfrm>
            <a:off x="927100" y="2224745"/>
            <a:ext cx="4267200" cy="4278094"/>
          </a:xfrm>
          <a:prstGeom prst="rect">
            <a:avLst/>
          </a:prstGeom>
          <a:noFill/>
          <a:ln>
            <a:solidFill>
              <a:schemeClr val="bg1"/>
            </a:solidFill>
          </a:ln>
        </p:spPr>
        <p:txBody>
          <a:bodyPr wrap="square" rtlCol="0">
            <a:spAutoFit/>
          </a:bodyPr>
          <a:lstStyle/>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hset</a:t>
            </a:r>
            <a:r>
              <a:rPr lang="en-US" altLang="zh-CN" sz="1600" dirty="0">
                <a:solidFill>
                  <a:srgbClr val="C00000"/>
                </a:solidFill>
                <a:latin typeface="微软雅黑" panose="020B0503020204020204" pitchFamily="34" charset="-122"/>
                <a:ea typeface="微软雅黑" panose="020B0503020204020204" pitchFamily="34" charset="-122"/>
              </a:rPr>
              <a:t> </a:t>
            </a:r>
            <a:r>
              <a:rPr lang="en-US" altLang="zh-CN" sz="1600" dirty="0" err="1">
                <a:solidFill>
                  <a:schemeClr val="accent6"/>
                </a:solidFill>
                <a:latin typeface="微软雅黑" panose="020B0503020204020204" pitchFamily="34" charset="-122"/>
                <a:ea typeface="微软雅黑" panose="020B0503020204020204" pitchFamily="34" charset="-122"/>
              </a:rPr>
              <a:t>order_cnt</a:t>
            </a:r>
            <a:r>
              <a:rPr lang="en-US" altLang="zh-CN" sz="1600" dirty="0">
                <a:solidFill>
                  <a:schemeClr val="accent6"/>
                </a:solidFill>
                <a:latin typeface="微软雅黑" panose="020B0503020204020204" pitchFamily="34" charset="-122"/>
                <a:ea typeface="微软雅黑" panose="020B0503020204020204" pitchFamily="34" charset="-122"/>
              </a:rPr>
              <a:t> customer01 1</a:t>
            </a:r>
          </a:p>
          <a:p>
            <a:r>
              <a:rPr lang="en-US" altLang="zh-CN" sz="1600" dirty="0">
                <a:solidFill>
                  <a:schemeClr val="accent6"/>
                </a:solidFill>
                <a:latin typeface="微软雅黑" panose="020B0503020204020204" pitchFamily="34" charset="-122"/>
                <a:ea typeface="微软雅黑" panose="020B0503020204020204" pitchFamily="34" charset="-122"/>
              </a:rPr>
              <a:t>(integer) 1</a:t>
            </a:r>
          </a:p>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hset</a:t>
            </a:r>
            <a:r>
              <a:rPr lang="en-US" altLang="zh-CN" sz="1600" dirty="0">
                <a:solidFill>
                  <a:srgbClr val="C00000"/>
                </a:solidFill>
                <a:latin typeface="微软雅黑" panose="020B0503020204020204" pitchFamily="34" charset="-122"/>
                <a:ea typeface="微软雅黑" panose="020B0503020204020204" pitchFamily="34" charset="-122"/>
              </a:rPr>
              <a:t> </a:t>
            </a:r>
            <a:r>
              <a:rPr lang="en-US" altLang="zh-CN" sz="1600" dirty="0" err="1">
                <a:solidFill>
                  <a:schemeClr val="accent6"/>
                </a:solidFill>
                <a:latin typeface="微软雅黑" panose="020B0503020204020204" pitchFamily="34" charset="-122"/>
                <a:ea typeface="微软雅黑" panose="020B0503020204020204" pitchFamily="34" charset="-122"/>
              </a:rPr>
              <a:t>order_cnt</a:t>
            </a:r>
            <a:r>
              <a:rPr lang="en-US" altLang="zh-CN" sz="1600" dirty="0">
                <a:solidFill>
                  <a:schemeClr val="accent6"/>
                </a:solidFill>
                <a:latin typeface="微软雅黑" panose="020B0503020204020204" pitchFamily="34" charset="-122"/>
                <a:ea typeface="微软雅黑" panose="020B0503020204020204" pitchFamily="34" charset="-122"/>
              </a:rPr>
              <a:t> customer02 8</a:t>
            </a:r>
          </a:p>
          <a:p>
            <a:r>
              <a:rPr lang="en-US" altLang="zh-CN" sz="1600" dirty="0">
                <a:solidFill>
                  <a:schemeClr val="accent6"/>
                </a:solidFill>
                <a:latin typeface="微软雅黑" panose="020B0503020204020204" pitchFamily="34" charset="-122"/>
                <a:ea typeface="微软雅黑" panose="020B0503020204020204" pitchFamily="34" charset="-122"/>
              </a:rPr>
              <a:t>(integer) 1</a:t>
            </a:r>
          </a:p>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hset</a:t>
            </a:r>
            <a:r>
              <a:rPr lang="en-US" altLang="zh-CN" sz="1600" dirty="0">
                <a:solidFill>
                  <a:srgbClr val="C00000"/>
                </a:solidFill>
                <a:latin typeface="微软雅黑" panose="020B0503020204020204" pitchFamily="34" charset="-122"/>
                <a:ea typeface="微软雅黑" panose="020B0503020204020204" pitchFamily="34" charset="-122"/>
              </a:rPr>
              <a:t> </a:t>
            </a:r>
            <a:r>
              <a:rPr lang="en-US" altLang="zh-CN" sz="1600" dirty="0" err="1">
                <a:solidFill>
                  <a:schemeClr val="accent6"/>
                </a:solidFill>
                <a:latin typeface="微软雅黑" panose="020B0503020204020204" pitchFamily="34" charset="-122"/>
                <a:ea typeface="微软雅黑" panose="020B0503020204020204" pitchFamily="34" charset="-122"/>
              </a:rPr>
              <a:t>order_cnt</a:t>
            </a:r>
            <a:r>
              <a:rPr lang="en-US" altLang="zh-CN" sz="1600" dirty="0">
                <a:solidFill>
                  <a:schemeClr val="accent6"/>
                </a:solidFill>
                <a:latin typeface="微软雅黑" panose="020B0503020204020204" pitchFamily="34" charset="-122"/>
                <a:ea typeface="微软雅黑" panose="020B0503020204020204" pitchFamily="34" charset="-122"/>
              </a:rPr>
              <a:t> customer03 99</a:t>
            </a:r>
          </a:p>
          <a:p>
            <a:r>
              <a:rPr lang="en-US" altLang="zh-CN" sz="1600" dirty="0">
                <a:solidFill>
                  <a:schemeClr val="accent6"/>
                </a:solidFill>
                <a:latin typeface="微软雅黑" panose="020B0503020204020204" pitchFamily="34" charset="-122"/>
                <a:ea typeface="微软雅黑" panose="020B0503020204020204" pitchFamily="34" charset="-122"/>
              </a:rPr>
              <a:t>(integer) 1</a:t>
            </a:r>
          </a:p>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hset</a:t>
            </a:r>
            <a:r>
              <a:rPr lang="en-US" altLang="zh-CN" sz="1600" dirty="0">
                <a:solidFill>
                  <a:srgbClr val="C00000"/>
                </a:solidFill>
                <a:latin typeface="微软雅黑" panose="020B0503020204020204" pitchFamily="34" charset="-122"/>
                <a:ea typeface="微软雅黑" panose="020B0503020204020204" pitchFamily="34" charset="-122"/>
              </a:rPr>
              <a:t> </a:t>
            </a:r>
            <a:r>
              <a:rPr lang="en-US" altLang="zh-CN" sz="1600" dirty="0" err="1">
                <a:solidFill>
                  <a:schemeClr val="accent6"/>
                </a:solidFill>
                <a:latin typeface="微软雅黑" panose="020B0503020204020204" pitchFamily="34" charset="-122"/>
                <a:ea typeface="微软雅黑" panose="020B0503020204020204" pitchFamily="34" charset="-122"/>
              </a:rPr>
              <a:t>order_cnt</a:t>
            </a:r>
            <a:r>
              <a:rPr lang="en-US" altLang="zh-CN" sz="1600" dirty="0">
                <a:solidFill>
                  <a:schemeClr val="accent6"/>
                </a:solidFill>
                <a:latin typeface="微软雅黑" panose="020B0503020204020204" pitchFamily="34" charset="-122"/>
                <a:ea typeface="微软雅黑" panose="020B0503020204020204" pitchFamily="34" charset="-122"/>
              </a:rPr>
              <a:t> </a:t>
            </a:r>
            <a:r>
              <a:rPr lang="en-US" altLang="zh-CN" sz="1600" dirty="0" smtClean="0">
                <a:solidFill>
                  <a:schemeClr val="accent6"/>
                </a:solidFill>
                <a:latin typeface="微软雅黑" panose="020B0503020204020204" pitchFamily="34" charset="-122"/>
                <a:ea typeface="微软雅黑" panose="020B0503020204020204" pitchFamily="34" charset="-122"/>
              </a:rPr>
              <a:t>customer04 </a:t>
            </a:r>
            <a:r>
              <a:rPr lang="en-US" altLang="zh-CN" sz="1600" dirty="0">
                <a:solidFill>
                  <a:schemeClr val="accent6"/>
                </a:solidFill>
                <a:latin typeface="微软雅黑" panose="020B0503020204020204" pitchFamily="34" charset="-122"/>
                <a:ea typeface="微软雅黑" panose="020B0503020204020204" pitchFamily="34" charset="-122"/>
              </a:rPr>
              <a:t>30</a:t>
            </a:r>
          </a:p>
          <a:p>
            <a:r>
              <a:rPr lang="en-US" altLang="zh-CN" sz="1600" dirty="0">
                <a:solidFill>
                  <a:schemeClr val="accent6"/>
                </a:solidFill>
                <a:latin typeface="微软雅黑" panose="020B0503020204020204" pitchFamily="34" charset="-122"/>
                <a:ea typeface="微软雅黑" panose="020B0503020204020204" pitchFamily="34" charset="-122"/>
              </a:rPr>
              <a:t>(integer) 1</a:t>
            </a:r>
          </a:p>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hgetall</a:t>
            </a:r>
            <a:r>
              <a:rPr lang="en-US" altLang="zh-CN" sz="1600" dirty="0">
                <a:solidFill>
                  <a:srgbClr val="C00000"/>
                </a:solidFill>
                <a:latin typeface="微软雅黑" panose="020B0503020204020204" pitchFamily="34" charset="-122"/>
                <a:ea typeface="微软雅黑" panose="020B0503020204020204" pitchFamily="34" charset="-122"/>
              </a:rPr>
              <a:t> </a:t>
            </a:r>
            <a:r>
              <a:rPr lang="en-US" altLang="zh-CN" sz="1600" dirty="0" err="1">
                <a:solidFill>
                  <a:schemeClr val="accent6"/>
                </a:solidFill>
                <a:latin typeface="微软雅黑" panose="020B0503020204020204" pitchFamily="34" charset="-122"/>
                <a:ea typeface="微软雅黑" panose="020B0503020204020204" pitchFamily="34" charset="-122"/>
              </a:rPr>
              <a:t>order_cnt</a:t>
            </a:r>
            <a:endParaRPr lang="en-US" altLang="zh-CN" sz="1600" dirty="0">
              <a:solidFill>
                <a:schemeClr val="accent6"/>
              </a:solidFill>
              <a:latin typeface="微软雅黑" panose="020B0503020204020204" pitchFamily="34" charset="-122"/>
              <a:ea typeface="微软雅黑" panose="020B0503020204020204" pitchFamily="34" charset="-122"/>
            </a:endParaRPr>
          </a:p>
          <a:p>
            <a:r>
              <a:rPr lang="en-US" altLang="zh-CN" sz="1600" dirty="0">
                <a:solidFill>
                  <a:schemeClr val="accent6"/>
                </a:solidFill>
                <a:latin typeface="微软雅黑" panose="020B0503020204020204" pitchFamily="34" charset="-122"/>
                <a:ea typeface="微软雅黑" panose="020B0503020204020204" pitchFamily="34" charset="-122"/>
              </a:rPr>
              <a:t>1) "customer01"</a:t>
            </a:r>
          </a:p>
          <a:p>
            <a:r>
              <a:rPr lang="en-US" altLang="zh-CN" sz="1600" dirty="0">
                <a:solidFill>
                  <a:schemeClr val="accent6"/>
                </a:solidFill>
                <a:latin typeface="微软雅黑" panose="020B0503020204020204" pitchFamily="34" charset="-122"/>
                <a:ea typeface="微软雅黑" panose="020B0503020204020204" pitchFamily="34" charset="-122"/>
              </a:rPr>
              <a:t>2) "1"</a:t>
            </a:r>
          </a:p>
          <a:p>
            <a:r>
              <a:rPr lang="en-US" altLang="zh-CN" sz="1600" dirty="0">
                <a:solidFill>
                  <a:schemeClr val="accent6"/>
                </a:solidFill>
                <a:latin typeface="微软雅黑" panose="020B0503020204020204" pitchFamily="34" charset="-122"/>
                <a:ea typeface="微软雅黑" panose="020B0503020204020204" pitchFamily="34" charset="-122"/>
              </a:rPr>
              <a:t>3) "customer02"</a:t>
            </a:r>
          </a:p>
          <a:p>
            <a:r>
              <a:rPr lang="en-US" altLang="zh-CN" sz="1600" dirty="0">
                <a:solidFill>
                  <a:schemeClr val="accent6"/>
                </a:solidFill>
                <a:latin typeface="微软雅黑" panose="020B0503020204020204" pitchFamily="34" charset="-122"/>
                <a:ea typeface="微软雅黑" panose="020B0503020204020204" pitchFamily="34" charset="-122"/>
              </a:rPr>
              <a:t>4) "8"</a:t>
            </a:r>
          </a:p>
          <a:p>
            <a:r>
              <a:rPr lang="en-US" altLang="zh-CN" sz="1600" dirty="0">
                <a:solidFill>
                  <a:schemeClr val="accent6"/>
                </a:solidFill>
                <a:latin typeface="微软雅黑" panose="020B0503020204020204" pitchFamily="34" charset="-122"/>
                <a:ea typeface="微软雅黑" panose="020B0503020204020204" pitchFamily="34" charset="-122"/>
              </a:rPr>
              <a:t>5) "customer03"</a:t>
            </a:r>
          </a:p>
          <a:p>
            <a:r>
              <a:rPr lang="en-US" altLang="zh-CN" sz="1600" dirty="0">
                <a:solidFill>
                  <a:schemeClr val="accent6"/>
                </a:solidFill>
                <a:latin typeface="微软雅黑" panose="020B0503020204020204" pitchFamily="34" charset="-122"/>
                <a:ea typeface="微软雅黑" panose="020B0503020204020204" pitchFamily="34" charset="-122"/>
              </a:rPr>
              <a:t>6) "99"</a:t>
            </a:r>
          </a:p>
          <a:p>
            <a:r>
              <a:rPr lang="en-US" altLang="zh-CN" sz="1600" dirty="0">
                <a:solidFill>
                  <a:schemeClr val="accent6"/>
                </a:solidFill>
                <a:latin typeface="微软雅黑" panose="020B0503020204020204" pitchFamily="34" charset="-122"/>
                <a:ea typeface="微软雅黑" panose="020B0503020204020204" pitchFamily="34" charset="-122"/>
              </a:rPr>
              <a:t>7) "</a:t>
            </a:r>
            <a:r>
              <a:rPr lang="en-US" altLang="zh-CN" sz="1600" dirty="0" smtClean="0">
                <a:solidFill>
                  <a:schemeClr val="accent6"/>
                </a:solidFill>
                <a:latin typeface="微软雅黑" panose="020B0503020204020204" pitchFamily="34" charset="-122"/>
                <a:ea typeface="微软雅黑" panose="020B0503020204020204" pitchFamily="34" charset="-122"/>
              </a:rPr>
              <a:t>customer04"</a:t>
            </a:r>
            <a:endParaRPr lang="en-US" altLang="zh-CN" sz="1600" dirty="0">
              <a:solidFill>
                <a:schemeClr val="accent6"/>
              </a:solidFill>
              <a:latin typeface="微软雅黑" panose="020B0503020204020204" pitchFamily="34" charset="-122"/>
              <a:ea typeface="微软雅黑" panose="020B0503020204020204" pitchFamily="34" charset="-122"/>
            </a:endParaRPr>
          </a:p>
          <a:p>
            <a:r>
              <a:rPr lang="en-US" altLang="zh-CN" sz="1600" dirty="0">
                <a:solidFill>
                  <a:schemeClr val="accent6"/>
                </a:solidFill>
                <a:latin typeface="微软雅黑" panose="020B0503020204020204" pitchFamily="34" charset="-122"/>
                <a:ea typeface="微软雅黑" panose="020B0503020204020204" pitchFamily="34" charset="-122"/>
              </a:rPr>
              <a:t>8) "30"</a:t>
            </a:r>
            <a:endParaRPr lang="zh-CN" altLang="en-US" sz="1600" dirty="0" smtClean="0">
              <a:solidFill>
                <a:schemeClr val="accent6"/>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5658952" y="2173204"/>
            <a:ext cx="5615748" cy="2751522"/>
          </a:xfrm>
          <a:prstGeom prst="rect">
            <a:avLst/>
          </a:prstGeom>
          <a:noFill/>
          <a:ln>
            <a:noFill/>
          </a:ln>
        </p:spPr>
        <p:txBody>
          <a:bodyPr wrap="square" rtlCol="0">
            <a:spAutoFit/>
          </a:bodyPr>
          <a:lstStyle/>
          <a:p>
            <a:pPr marL="285750" indent="-285750">
              <a:lnSpc>
                <a:spcPct val="140000"/>
              </a:lnSpc>
              <a:buFont typeface="Arial" panose="020B0604020202020204" pitchFamily="34" charset="0"/>
              <a:buChar char="•"/>
            </a:pPr>
            <a:r>
              <a:rPr lang="zh-CN" altLang="en-US" sz="1600" dirty="0" smtClean="0">
                <a:solidFill>
                  <a:schemeClr val="bg1"/>
                </a:solidFill>
                <a:latin typeface="微软雅黑" panose="020B0503020204020204" pitchFamily="34" charset="-122"/>
                <a:ea typeface="微软雅黑" panose="020B0503020204020204" pitchFamily="34" charset="-122"/>
              </a:rPr>
              <a:t>其中</a:t>
            </a:r>
            <a:r>
              <a:rPr lang="en-US" altLang="zh-CN" sz="1600" dirty="0" err="1" smtClean="0">
                <a:solidFill>
                  <a:schemeClr val="bg1"/>
                </a:solidFill>
                <a:latin typeface="微软雅黑" panose="020B0503020204020204" pitchFamily="34" charset="-122"/>
                <a:ea typeface="微软雅黑" panose="020B0503020204020204" pitchFamily="34" charset="-122"/>
              </a:rPr>
              <a:t>hashkey</a:t>
            </a:r>
            <a:r>
              <a:rPr lang="zh-CN" altLang="en-US" sz="1600" dirty="0" smtClean="0">
                <a:solidFill>
                  <a:schemeClr val="bg1"/>
                </a:solidFill>
                <a:latin typeface="微软雅黑" panose="020B0503020204020204" pitchFamily="34" charset="-122"/>
                <a:ea typeface="微软雅黑" panose="020B0503020204020204" pitchFamily="34" charset="-122"/>
              </a:rPr>
              <a:t>为</a:t>
            </a:r>
            <a:r>
              <a:rPr lang="en-US" altLang="zh-CN" sz="1600" dirty="0" err="1" smtClean="0">
                <a:solidFill>
                  <a:schemeClr val="bg1"/>
                </a:solidFill>
                <a:latin typeface="微软雅黑" panose="020B0503020204020204" pitchFamily="34" charset="-122"/>
                <a:ea typeface="微软雅黑" panose="020B0503020204020204" pitchFamily="34" charset="-122"/>
              </a:rPr>
              <a:t>order_cnt</a:t>
            </a:r>
            <a:r>
              <a:rPr lang="en-US" altLang="zh-CN" sz="1600" dirty="0" smtClean="0">
                <a:solidFill>
                  <a:schemeClr val="bg1"/>
                </a:solidFill>
                <a:latin typeface="微软雅黑" panose="020B0503020204020204" pitchFamily="34" charset="-122"/>
                <a:ea typeface="微软雅黑" panose="020B0503020204020204" pitchFamily="34" charset="-122"/>
              </a:rPr>
              <a:t>, customer01-customer04</a:t>
            </a:r>
            <a:r>
              <a:rPr lang="zh-CN" altLang="en-US" sz="1600" dirty="0" smtClean="0">
                <a:solidFill>
                  <a:schemeClr val="bg1"/>
                </a:solidFill>
                <a:latin typeface="微软雅黑" panose="020B0503020204020204" pitchFamily="34" charset="-122"/>
                <a:ea typeface="微软雅黑" panose="020B0503020204020204" pitchFamily="34" charset="-122"/>
              </a:rPr>
              <a:t>分别为货主代码，作为值的</a:t>
            </a:r>
            <a:r>
              <a:rPr lang="en-US" altLang="zh-CN" sz="1600" dirty="0" smtClean="0">
                <a:solidFill>
                  <a:schemeClr val="bg1"/>
                </a:solidFill>
                <a:latin typeface="微软雅黑" panose="020B0503020204020204" pitchFamily="34" charset="-122"/>
                <a:ea typeface="微软雅黑" panose="020B0503020204020204" pitchFamily="34" charset="-122"/>
              </a:rPr>
              <a:t>key</a:t>
            </a:r>
            <a:r>
              <a:rPr lang="zh-CN" altLang="en-US" sz="1600" dirty="0" smtClean="0">
                <a:solidFill>
                  <a:schemeClr val="bg1"/>
                </a:solidFill>
                <a:latin typeface="微软雅黑" panose="020B0503020204020204" pitchFamily="34" charset="-122"/>
                <a:ea typeface="微软雅黑" panose="020B0503020204020204" pitchFamily="34" charset="-122"/>
              </a:rPr>
              <a:t>，数字为当前实时的订单数据</a:t>
            </a:r>
            <a:endParaRPr lang="en-US" altLang="zh-CN" sz="1600" dirty="0" smtClean="0">
              <a:solidFill>
                <a:schemeClr val="bg1"/>
              </a:solidFill>
              <a:latin typeface="微软雅黑" panose="020B0503020204020204" pitchFamily="34" charset="-122"/>
              <a:ea typeface="微软雅黑" panose="020B0503020204020204" pitchFamily="34" charset="-122"/>
            </a:endParaRPr>
          </a:p>
          <a:p>
            <a:pPr marL="285750" indent="-285750">
              <a:lnSpc>
                <a:spcPct val="140000"/>
              </a:lnSpc>
              <a:buFont typeface="Arial" panose="020B0604020202020204" pitchFamily="34" charset="0"/>
              <a:buChar char="•"/>
            </a:pPr>
            <a:r>
              <a:rPr lang="zh-CN" altLang="en-US" sz="1600" dirty="0" smtClean="0">
                <a:solidFill>
                  <a:schemeClr val="bg1"/>
                </a:solidFill>
                <a:latin typeface="微软雅黑" panose="020B0503020204020204" pitchFamily="34" charset="-122"/>
                <a:ea typeface="微软雅黑" panose="020B0503020204020204" pitchFamily="34" charset="-122"/>
              </a:rPr>
              <a:t>当货主收到订单时，执行：</a:t>
            </a:r>
            <a:r>
              <a:rPr lang="en-US" altLang="zh-CN" sz="1600" b="1" dirty="0" err="1">
                <a:solidFill>
                  <a:srgbClr val="FFD343"/>
                </a:solidFill>
                <a:latin typeface="微软雅黑" panose="020B0503020204020204" pitchFamily="34" charset="-122"/>
                <a:ea typeface="微软雅黑" panose="020B0503020204020204" pitchFamily="34" charset="-122"/>
              </a:rPr>
              <a:t>hincrby</a:t>
            </a:r>
            <a:r>
              <a:rPr lang="en-US" altLang="zh-CN" sz="1600" i="1" dirty="0" smtClean="0">
                <a:solidFill>
                  <a:schemeClr val="accent6"/>
                </a:solidFill>
                <a:latin typeface="微软雅黑" panose="020B0503020204020204" pitchFamily="34" charset="-122"/>
                <a:ea typeface="微软雅黑" panose="020B0503020204020204" pitchFamily="34" charset="-122"/>
              </a:rPr>
              <a:t>  </a:t>
            </a:r>
            <a:r>
              <a:rPr lang="en-US" altLang="zh-CN" sz="1600" i="1" dirty="0" err="1" smtClean="0">
                <a:solidFill>
                  <a:schemeClr val="accent6"/>
                </a:solidFill>
                <a:latin typeface="微软雅黑" panose="020B0503020204020204" pitchFamily="34" charset="-122"/>
                <a:ea typeface="微软雅黑" panose="020B0503020204020204" pitchFamily="34" charset="-122"/>
              </a:rPr>
              <a:t>order_cnt</a:t>
            </a:r>
            <a:r>
              <a:rPr lang="en-US" altLang="zh-CN" sz="1600" i="1" dirty="0" smtClean="0">
                <a:solidFill>
                  <a:schemeClr val="accent6"/>
                </a:solidFill>
                <a:latin typeface="微软雅黑" panose="020B0503020204020204" pitchFamily="34" charset="-122"/>
                <a:ea typeface="微软雅黑" panose="020B0503020204020204" pitchFamily="34" charset="-122"/>
              </a:rPr>
              <a:t>  </a:t>
            </a:r>
            <a:r>
              <a:rPr lang="zh-CN" altLang="en-US" sz="1600" i="1" dirty="0">
                <a:solidFill>
                  <a:schemeClr val="accent6"/>
                </a:solidFill>
                <a:latin typeface="微软雅黑" panose="020B0503020204020204" pitchFamily="34" charset="-122"/>
                <a:ea typeface="微软雅黑" panose="020B0503020204020204" pitchFamily="34" charset="-122"/>
              </a:rPr>
              <a:t>货</a:t>
            </a:r>
            <a:r>
              <a:rPr lang="zh-CN" altLang="en-US" sz="1600" i="1" dirty="0" smtClean="0">
                <a:solidFill>
                  <a:schemeClr val="accent6"/>
                </a:solidFill>
                <a:latin typeface="微软雅黑" panose="020B0503020204020204" pitchFamily="34" charset="-122"/>
                <a:ea typeface="微软雅黑" panose="020B0503020204020204" pitchFamily="34" charset="-122"/>
              </a:rPr>
              <a:t>主代码</a:t>
            </a:r>
            <a:r>
              <a:rPr lang="en-US" altLang="zh-CN" sz="1600" i="1" dirty="0" smtClean="0">
                <a:solidFill>
                  <a:schemeClr val="accent6"/>
                </a:solidFill>
                <a:latin typeface="微软雅黑" panose="020B0503020204020204" pitchFamily="34" charset="-122"/>
                <a:ea typeface="微软雅黑" panose="020B0503020204020204" pitchFamily="34" charset="-122"/>
              </a:rPr>
              <a:t> </a:t>
            </a:r>
            <a:r>
              <a:rPr lang="zh-CN" altLang="en-US" sz="1600" i="1" dirty="0" smtClean="0">
                <a:solidFill>
                  <a:schemeClr val="accent6"/>
                </a:solidFill>
                <a:latin typeface="微软雅黑" panose="020B0503020204020204" pitchFamily="34" charset="-122"/>
                <a:ea typeface="微软雅黑" panose="020B0503020204020204" pitchFamily="34" charset="-122"/>
              </a:rPr>
              <a:t>新增数量</a:t>
            </a:r>
            <a:endParaRPr lang="en-US" altLang="zh-CN" sz="1600" i="1" dirty="0" smtClean="0">
              <a:solidFill>
                <a:schemeClr val="accent6"/>
              </a:solidFill>
              <a:latin typeface="微软雅黑" panose="020B0503020204020204" pitchFamily="34" charset="-122"/>
              <a:ea typeface="微软雅黑" panose="020B0503020204020204" pitchFamily="34" charset="-122"/>
            </a:endParaRPr>
          </a:p>
          <a:p>
            <a:pPr marL="285750" indent="-285750">
              <a:lnSpc>
                <a:spcPct val="140000"/>
              </a:lnSpc>
              <a:buFont typeface="Arial" panose="020B0604020202020204" pitchFamily="34" charset="0"/>
              <a:buChar char="•"/>
            </a:pPr>
            <a:r>
              <a:rPr lang="zh-CN" altLang="en-US" sz="1600" dirty="0" smtClean="0">
                <a:solidFill>
                  <a:schemeClr val="bg1"/>
                </a:solidFill>
                <a:latin typeface="微软雅黑" panose="020B0503020204020204" pitchFamily="34" charset="-122"/>
                <a:ea typeface="微软雅黑" panose="020B0503020204020204" pitchFamily="34" charset="-122"/>
              </a:rPr>
              <a:t>获取某货主的实时订单量，执行</a:t>
            </a:r>
            <a:r>
              <a:rPr lang="en-US" altLang="zh-CN" sz="1600" dirty="0" smtClean="0">
                <a:solidFill>
                  <a:schemeClr val="bg1"/>
                </a:solidFill>
                <a:latin typeface="微软雅黑" panose="020B0503020204020204" pitchFamily="34" charset="-122"/>
                <a:ea typeface="微软雅黑" panose="020B0503020204020204" pitchFamily="34" charset="-122"/>
              </a:rPr>
              <a:t>:</a:t>
            </a:r>
            <a:r>
              <a:rPr lang="en-US" altLang="zh-CN" sz="1600" b="1" dirty="0" err="1">
                <a:solidFill>
                  <a:srgbClr val="FFD343"/>
                </a:solidFill>
                <a:latin typeface="微软雅黑" panose="020B0503020204020204" pitchFamily="34" charset="-122"/>
                <a:ea typeface="微软雅黑" panose="020B0503020204020204" pitchFamily="34" charset="-122"/>
              </a:rPr>
              <a:t>hget</a:t>
            </a:r>
            <a:r>
              <a:rPr lang="en-US" altLang="zh-CN" sz="1600" i="1" dirty="0" smtClean="0">
                <a:solidFill>
                  <a:schemeClr val="accent6"/>
                </a:solidFill>
                <a:latin typeface="微软雅黑" panose="020B0503020204020204" pitchFamily="34" charset="-122"/>
                <a:ea typeface="微软雅黑" panose="020B0503020204020204" pitchFamily="34" charset="-122"/>
              </a:rPr>
              <a:t>  </a:t>
            </a:r>
            <a:r>
              <a:rPr lang="en-US" altLang="zh-CN" sz="1600" i="1" dirty="0" err="1" smtClean="0">
                <a:solidFill>
                  <a:schemeClr val="accent6"/>
                </a:solidFill>
                <a:latin typeface="微软雅黑" panose="020B0503020204020204" pitchFamily="34" charset="-122"/>
                <a:ea typeface="微软雅黑" panose="020B0503020204020204" pitchFamily="34" charset="-122"/>
              </a:rPr>
              <a:t>order_cnt</a:t>
            </a:r>
            <a:r>
              <a:rPr lang="en-US" altLang="zh-CN" sz="1600" i="1" dirty="0" smtClean="0">
                <a:solidFill>
                  <a:schemeClr val="accent6"/>
                </a:solidFill>
                <a:latin typeface="微软雅黑" panose="020B0503020204020204" pitchFamily="34" charset="-122"/>
                <a:ea typeface="微软雅黑" panose="020B0503020204020204" pitchFamily="34" charset="-122"/>
              </a:rPr>
              <a:t>  </a:t>
            </a:r>
            <a:r>
              <a:rPr lang="zh-CN" altLang="en-US" sz="1600" i="1" dirty="0" smtClean="0">
                <a:solidFill>
                  <a:schemeClr val="accent6"/>
                </a:solidFill>
                <a:latin typeface="微软雅黑" panose="020B0503020204020204" pitchFamily="34" charset="-122"/>
                <a:ea typeface="微软雅黑" panose="020B0503020204020204" pitchFamily="34" charset="-122"/>
              </a:rPr>
              <a:t>货主代码</a:t>
            </a:r>
            <a:endParaRPr lang="en-US" altLang="zh-CN" sz="1600" i="1" dirty="0" smtClean="0">
              <a:solidFill>
                <a:schemeClr val="accent6"/>
              </a:solidFill>
              <a:latin typeface="微软雅黑" panose="020B0503020204020204" pitchFamily="34" charset="-122"/>
              <a:ea typeface="微软雅黑" panose="020B0503020204020204" pitchFamily="34" charset="-122"/>
            </a:endParaRPr>
          </a:p>
          <a:p>
            <a:endParaRPr lang="en-US" altLang="zh-CN" sz="1600"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875580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1000"/>
                                        <p:tgtEl>
                                          <p:spTgt spid="12"/>
                                        </p:tgtEl>
                                      </p:cBhvr>
                                    </p:animEffect>
                                    <p:anim calcmode="lin" valueType="num">
                                      <p:cBhvr>
                                        <p:cTn id="20" dur="1000" fill="hold"/>
                                        <p:tgtEl>
                                          <p:spTgt spid="12"/>
                                        </p:tgtEl>
                                        <p:attrNameLst>
                                          <p:attrName>ppt_x</p:attrName>
                                        </p:attrNameLst>
                                      </p:cBhvr>
                                      <p:tavLst>
                                        <p:tav tm="0">
                                          <p:val>
                                            <p:strVal val="#ppt_x"/>
                                          </p:val>
                                        </p:tav>
                                        <p:tav tm="100000">
                                          <p:val>
                                            <p:strVal val="#ppt_x"/>
                                          </p:val>
                                        </p:tav>
                                      </p:tavLst>
                                    </p:anim>
                                    <p:anim calcmode="lin" valueType="num">
                                      <p:cBhvr>
                                        <p:cTn id="21"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animBg="1"/>
      <p:bldP spid="12"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A0F23"/>
        </a:solidFill>
        <a:effectLst/>
      </p:bgPr>
    </p:bg>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xmlns="" id="{CBDC52CD-1D62-48AF-A9DF-9F18AEA2B1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01385" y="-114300"/>
            <a:ext cx="1301859" cy="920356"/>
          </a:xfrm>
          <a:prstGeom prst="rect">
            <a:avLst/>
          </a:prstGeom>
        </p:spPr>
      </p:pic>
      <p:pic>
        <p:nvPicPr>
          <p:cNvPr id="14" name="图片 13">
            <a:extLst>
              <a:ext uri="{FF2B5EF4-FFF2-40B4-BE49-F238E27FC236}">
                <a16:creationId xmlns:a16="http://schemas.microsoft.com/office/drawing/2014/main" xmlns="" id="{F78DA958-9B1B-47DA-A870-8C0B3A7D8866}"/>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b="63537"/>
          <a:stretch/>
        </p:blipFill>
        <p:spPr>
          <a:xfrm>
            <a:off x="11184164" y="217733"/>
            <a:ext cx="572339" cy="337210"/>
          </a:xfrm>
          <a:prstGeom prst="rect">
            <a:avLst/>
          </a:prstGeom>
        </p:spPr>
      </p:pic>
      <p:cxnSp>
        <p:nvCxnSpPr>
          <p:cNvPr id="15" name="直接连接符 14">
            <a:extLst>
              <a:ext uri="{FF2B5EF4-FFF2-40B4-BE49-F238E27FC236}">
                <a16:creationId xmlns:a16="http://schemas.microsoft.com/office/drawing/2014/main" xmlns="" id="{93240A06-D526-4907-A163-94ABB41190CC}"/>
              </a:ext>
            </a:extLst>
          </p:cNvPr>
          <p:cNvCxnSpPr/>
          <p:nvPr/>
        </p:nvCxnSpPr>
        <p:spPr>
          <a:xfrm>
            <a:off x="11103244" y="225825"/>
            <a:ext cx="0" cy="2435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xmlns="" id="{74C59758-12AB-44A5-92FA-DB52904027AE}"/>
              </a:ext>
            </a:extLst>
          </p:cNvPr>
          <p:cNvSpPr/>
          <p:nvPr/>
        </p:nvSpPr>
        <p:spPr>
          <a:xfrm>
            <a:off x="802331" y="1984637"/>
            <a:ext cx="10765483" cy="874407"/>
          </a:xfrm>
          <a:prstGeom prst="rect">
            <a:avLst/>
          </a:prstGeom>
        </p:spPr>
        <p:txBody>
          <a:bodyPr wrap="square">
            <a:spAutoFit/>
          </a:bodyPr>
          <a:lstStyle/>
          <a:p>
            <a:pPr indent="457200">
              <a:lnSpc>
                <a:spcPct val="150000"/>
              </a:lnSpc>
            </a:pPr>
            <a:r>
              <a:rPr lang="en-US" altLang="zh-CN" dirty="0" err="1">
                <a:solidFill>
                  <a:prstClr val="white"/>
                </a:solidFill>
                <a:latin typeface="微软雅黑" panose="020B0503020204020204" pitchFamily="34" charset="-122"/>
                <a:ea typeface="微软雅黑" panose="020B0503020204020204" pitchFamily="34" charset="-122"/>
              </a:rPr>
              <a:t>Redis</a:t>
            </a:r>
            <a:r>
              <a:rPr lang="en-US" altLang="zh-CN" dirty="0">
                <a:solidFill>
                  <a:prstClr val="white"/>
                </a:solidFill>
                <a:latin typeface="微软雅黑" panose="020B0503020204020204" pitchFamily="34" charset="-122"/>
                <a:ea typeface="微软雅黑" panose="020B0503020204020204" pitchFamily="34" charset="-122"/>
              </a:rPr>
              <a:t> </a:t>
            </a:r>
            <a:r>
              <a:rPr lang="zh-CN" altLang="en-US" dirty="0">
                <a:solidFill>
                  <a:prstClr val="white"/>
                </a:solidFill>
                <a:latin typeface="微软雅黑" panose="020B0503020204020204" pitchFamily="34" charset="-122"/>
                <a:ea typeface="微软雅黑" panose="020B0503020204020204" pitchFamily="34" charset="-122"/>
              </a:rPr>
              <a:t>的 </a:t>
            </a:r>
            <a:r>
              <a:rPr lang="en-US" altLang="zh-CN" dirty="0">
                <a:solidFill>
                  <a:prstClr val="white"/>
                </a:solidFill>
                <a:latin typeface="微软雅黑" panose="020B0503020204020204" pitchFamily="34" charset="-122"/>
                <a:ea typeface="微软雅黑" panose="020B0503020204020204" pitchFamily="34" charset="-122"/>
              </a:rPr>
              <a:t>Set </a:t>
            </a:r>
            <a:r>
              <a:rPr lang="zh-CN" altLang="en-US" dirty="0">
                <a:solidFill>
                  <a:prstClr val="white"/>
                </a:solidFill>
                <a:latin typeface="微软雅黑" panose="020B0503020204020204" pitchFamily="34" charset="-122"/>
                <a:ea typeface="微软雅黑" panose="020B0503020204020204" pitchFamily="34" charset="-122"/>
              </a:rPr>
              <a:t>是 </a:t>
            </a:r>
            <a:r>
              <a:rPr lang="en-US" altLang="zh-CN" dirty="0">
                <a:solidFill>
                  <a:prstClr val="white"/>
                </a:solidFill>
                <a:latin typeface="微软雅黑" panose="020B0503020204020204" pitchFamily="34" charset="-122"/>
                <a:ea typeface="微软雅黑" panose="020B0503020204020204" pitchFamily="34" charset="-122"/>
              </a:rPr>
              <a:t>String </a:t>
            </a:r>
            <a:r>
              <a:rPr lang="zh-CN" altLang="en-US" dirty="0">
                <a:solidFill>
                  <a:prstClr val="white"/>
                </a:solidFill>
                <a:latin typeface="微软雅黑" panose="020B0503020204020204" pitchFamily="34" charset="-122"/>
                <a:ea typeface="微软雅黑" panose="020B0503020204020204" pitchFamily="34" charset="-122"/>
              </a:rPr>
              <a:t>类型的无序集合。集合成员是唯一的，这就意味着集合中不能出现重复的数据</a:t>
            </a:r>
            <a:r>
              <a:rPr lang="zh-CN" altLang="en-US" dirty="0" smtClean="0">
                <a:solidFill>
                  <a:prstClr val="white"/>
                </a:solidFill>
                <a:latin typeface="微软雅黑" panose="020B0503020204020204" pitchFamily="34" charset="-122"/>
                <a:ea typeface="微软雅黑" panose="020B0503020204020204" pitchFamily="34" charset="-122"/>
              </a:rPr>
              <a:t>。</a:t>
            </a:r>
            <a:r>
              <a:rPr lang="en-US" altLang="zh-CN" dirty="0" err="1" smtClean="0">
                <a:solidFill>
                  <a:prstClr val="white"/>
                </a:solidFill>
                <a:latin typeface="微软雅黑" panose="020B0503020204020204" pitchFamily="34" charset="-122"/>
                <a:ea typeface="微软雅黑" panose="020B0503020204020204" pitchFamily="34" charset="-122"/>
              </a:rPr>
              <a:t>Redis</a:t>
            </a:r>
            <a:r>
              <a:rPr lang="en-US" altLang="zh-CN" dirty="0" smtClean="0">
                <a:solidFill>
                  <a:prstClr val="white"/>
                </a:solidFill>
                <a:latin typeface="微软雅黑" panose="020B0503020204020204" pitchFamily="34" charset="-122"/>
                <a:ea typeface="微软雅黑" panose="020B0503020204020204" pitchFamily="34" charset="-122"/>
              </a:rPr>
              <a:t> </a:t>
            </a:r>
            <a:r>
              <a:rPr lang="zh-CN" altLang="en-US" dirty="0" smtClean="0">
                <a:solidFill>
                  <a:prstClr val="white"/>
                </a:solidFill>
                <a:latin typeface="微软雅黑" panose="020B0503020204020204" pitchFamily="34" charset="-122"/>
                <a:ea typeface="微软雅黑" panose="020B0503020204020204" pitchFamily="34" charset="-122"/>
              </a:rPr>
              <a:t>中</a:t>
            </a:r>
            <a:r>
              <a:rPr lang="en-US" altLang="zh-CN" dirty="0" smtClean="0">
                <a:solidFill>
                  <a:prstClr val="white"/>
                </a:solidFill>
                <a:latin typeface="微软雅黑" panose="020B0503020204020204" pitchFamily="34" charset="-122"/>
                <a:ea typeface="微软雅黑" panose="020B0503020204020204" pitchFamily="34" charset="-122"/>
              </a:rPr>
              <a:t>Set</a:t>
            </a:r>
            <a:r>
              <a:rPr lang="zh-CN" altLang="en-US" dirty="0">
                <a:solidFill>
                  <a:prstClr val="white"/>
                </a:solidFill>
                <a:latin typeface="微软雅黑" panose="020B0503020204020204" pitchFamily="34" charset="-122"/>
                <a:ea typeface="微软雅黑" panose="020B0503020204020204" pitchFamily="34" charset="-122"/>
              </a:rPr>
              <a:t>内</a:t>
            </a:r>
            <a:r>
              <a:rPr lang="zh-CN" altLang="en-US" dirty="0" smtClean="0">
                <a:solidFill>
                  <a:prstClr val="white"/>
                </a:solidFill>
                <a:latin typeface="微软雅黑" panose="020B0503020204020204" pitchFamily="34" charset="-122"/>
                <a:ea typeface="微软雅黑" panose="020B0503020204020204" pitchFamily="34" charset="-122"/>
              </a:rPr>
              <a:t>部相当于一个特殊的</a:t>
            </a:r>
            <a:r>
              <a:rPr lang="en-US" altLang="zh-CN" dirty="0" smtClean="0">
                <a:solidFill>
                  <a:prstClr val="white"/>
                </a:solidFill>
                <a:latin typeface="微软雅黑" panose="020B0503020204020204" pitchFamily="34" charset="-122"/>
                <a:ea typeface="微软雅黑" panose="020B0503020204020204" pitchFamily="34" charset="-122"/>
              </a:rPr>
              <a:t>hash</a:t>
            </a:r>
            <a:r>
              <a:rPr lang="zh-CN" altLang="en-US" dirty="0" smtClean="0">
                <a:solidFill>
                  <a:prstClr val="white"/>
                </a:solidFill>
                <a:latin typeface="微软雅黑" panose="020B0503020204020204" pitchFamily="34" charset="-122"/>
                <a:ea typeface="微软雅黑" panose="020B0503020204020204" pitchFamily="34" charset="-122"/>
              </a:rPr>
              <a:t>，因此添</a:t>
            </a:r>
            <a:r>
              <a:rPr lang="zh-CN" altLang="en-US" dirty="0">
                <a:solidFill>
                  <a:prstClr val="white"/>
                </a:solidFill>
                <a:latin typeface="微软雅黑" panose="020B0503020204020204" pitchFamily="34" charset="-122"/>
                <a:ea typeface="微软雅黑" panose="020B0503020204020204" pitchFamily="34" charset="-122"/>
              </a:rPr>
              <a:t>加，删除，查找的复杂度都是 </a:t>
            </a:r>
            <a:r>
              <a:rPr lang="en-US" altLang="zh-CN" dirty="0">
                <a:solidFill>
                  <a:prstClr val="white"/>
                </a:solidFill>
                <a:latin typeface="微软雅黑" panose="020B0503020204020204" pitchFamily="34" charset="-122"/>
                <a:ea typeface="微软雅黑" panose="020B0503020204020204" pitchFamily="34" charset="-122"/>
              </a:rPr>
              <a:t>O(1)</a:t>
            </a:r>
            <a:r>
              <a:rPr lang="zh-CN" altLang="en-US" dirty="0">
                <a:solidFill>
                  <a:prstClr val="white"/>
                </a:solidFill>
                <a:latin typeface="微软雅黑" panose="020B0503020204020204" pitchFamily="34" charset="-122"/>
                <a:ea typeface="微软雅黑" panose="020B0503020204020204" pitchFamily="34" charset="-122"/>
              </a:rPr>
              <a:t>。</a:t>
            </a:r>
          </a:p>
        </p:txBody>
      </p:sp>
      <p:sp>
        <p:nvSpPr>
          <p:cNvPr id="10" name="TextBox 9"/>
          <p:cNvSpPr txBox="1"/>
          <p:nvPr/>
        </p:nvSpPr>
        <p:spPr>
          <a:xfrm>
            <a:off x="704850" y="605109"/>
            <a:ext cx="8883650" cy="584775"/>
          </a:xfrm>
          <a:prstGeom prst="rect">
            <a:avLst/>
          </a:prstGeom>
          <a:noFill/>
        </p:spPr>
        <p:txBody>
          <a:bodyPr wrap="square" rtlCol="0">
            <a:spAutoFit/>
          </a:bodyPr>
          <a:lstStyle/>
          <a:p>
            <a:pPr>
              <a:defRPr/>
            </a:pPr>
            <a:r>
              <a:rPr lang="en-US" altLang="zh-CN" sz="32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2.3</a:t>
            </a:r>
            <a:r>
              <a:rPr lang="zh-CN" altLang="en-US" sz="32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a:t>
            </a:r>
            <a:r>
              <a:rPr lang="en-US" altLang="zh-CN" sz="3200" b="1" dirty="0" err="1">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redis</a:t>
            </a:r>
            <a:r>
              <a:rPr lang="zh-CN" altLang="en-US" sz="32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基本数据结构之</a:t>
            </a:r>
            <a:r>
              <a:rPr lang="en-US" altLang="zh-CN" sz="32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set</a:t>
            </a:r>
            <a:endParaRPr lang="zh-CN" altLang="en-US" sz="32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endParaRPr>
          </a:p>
        </p:txBody>
      </p:sp>
      <p:sp>
        <p:nvSpPr>
          <p:cNvPr id="8" name="TextBox 9"/>
          <p:cNvSpPr txBox="1"/>
          <p:nvPr/>
        </p:nvSpPr>
        <p:spPr>
          <a:xfrm>
            <a:off x="704850" y="1367109"/>
            <a:ext cx="4038600" cy="523220"/>
          </a:xfrm>
          <a:prstGeom prst="rect">
            <a:avLst/>
          </a:prstGeom>
          <a:noFill/>
        </p:spPr>
        <p:txBody>
          <a:bodyPr wrap="square" rtlCol="0">
            <a:spAutoFit/>
          </a:bodyPr>
          <a:lstStyle/>
          <a:p>
            <a:pPr>
              <a:defRPr/>
            </a:pPr>
            <a:r>
              <a:rPr lang="en-US" altLang="zh-CN"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2.3.1 </a:t>
            </a:r>
            <a:r>
              <a:rPr lang="zh-CN" altLang="en-US"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存储结构</a:t>
            </a:r>
          </a:p>
        </p:txBody>
      </p:sp>
    </p:spTree>
    <p:extLst>
      <p:ext uri="{BB962C8B-B14F-4D97-AF65-F5344CB8AC3E}">
        <p14:creationId xmlns:p14="http://schemas.microsoft.com/office/powerpoint/2010/main" val="398470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horizont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A0F23"/>
        </a:solidFill>
        <a:effectLst/>
      </p:bgPr>
    </p:bg>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xmlns="" id="{CBDC52CD-1D62-48AF-A9DF-9F18AEA2B1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01385" y="-114300"/>
            <a:ext cx="1301859" cy="920356"/>
          </a:xfrm>
          <a:prstGeom prst="rect">
            <a:avLst/>
          </a:prstGeom>
        </p:spPr>
      </p:pic>
      <p:pic>
        <p:nvPicPr>
          <p:cNvPr id="14" name="图片 13">
            <a:extLst>
              <a:ext uri="{FF2B5EF4-FFF2-40B4-BE49-F238E27FC236}">
                <a16:creationId xmlns:a16="http://schemas.microsoft.com/office/drawing/2014/main" xmlns="" id="{F78DA958-9B1B-47DA-A870-8C0B3A7D8866}"/>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b="63537"/>
          <a:stretch/>
        </p:blipFill>
        <p:spPr>
          <a:xfrm>
            <a:off x="11184164" y="217733"/>
            <a:ext cx="572339" cy="337210"/>
          </a:xfrm>
          <a:prstGeom prst="rect">
            <a:avLst/>
          </a:prstGeom>
        </p:spPr>
      </p:pic>
      <p:cxnSp>
        <p:nvCxnSpPr>
          <p:cNvPr id="15" name="直接连接符 14">
            <a:extLst>
              <a:ext uri="{FF2B5EF4-FFF2-40B4-BE49-F238E27FC236}">
                <a16:creationId xmlns:a16="http://schemas.microsoft.com/office/drawing/2014/main" xmlns="" id="{93240A06-D526-4907-A163-94ABB41190CC}"/>
              </a:ext>
            </a:extLst>
          </p:cNvPr>
          <p:cNvCxnSpPr/>
          <p:nvPr/>
        </p:nvCxnSpPr>
        <p:spPr>
          <a:xfrm>
            <a:off x="11103244" y="225825"/>
            <a:ext cx="0" cy="2435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TextBox 9"/>
          <p:cNvSpPr txBox="1"/>
          <p:nvPr/>
        </p:nvSpPr>
        <p:spPr>
          <a:xfrm>
            <a:off x="634512" y="938197"/>
            <a:ext cx="8883650" cy="523220"/>
          </a:xfrm>
          <a:prstGeom prst="rect">
            <a:avLst/>
          </a:prstGeom>
          <a:noFill/>
        </p:spPr>
        <p:txBody>
          <a:bodyPr wrap="square" rtlCol="0">
            <a:spAutoFit/>
          </a:bodyPr>
          <a:lstStyle/>
          <a:p>
            <a:pPr>
              <a:defRPr/>
            </a:pPr>
            <a:r>
              <a:rPr lang="en-US" altLang="zh-CN"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2.3.2 </a:t>
            </a:r>
            <a:r>
              <a:rPr lang="zh-CN" altLang="en-US"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常用命令及使用</a:t>
            </a:r>
          </a:p>
        </p:txBody>
      </p:sp>
      <p:sp>
        <p:nvSpPr>
          <p:cNvPr id="3" name="文本框 2"/>
          <p:cNvSpPr txBox="1"/>
          <p:nvPr/>
        </p:nvSpPr>
        <p:spPr>
          <a:xfrm>
            <a:off x="853133" y="1612900"/>
            <a:ext cx="5210042" cy="5016758"/>
          </a:xfrm>
          <a:prstGeom prst="rect">
            <a:avLst/>
          </a:prstGeom>
          <a:noFill/>
          <a:ln>
            <a:solidFill>
              <a:schemeClr val="bg1"/>
            </a:solidFill>
          </a:ln>
        </p:spPr>
        <p:txBody>
          <a:bodyPr wrap="square" rtlCol="0">
            <a:spAutoFit/>
          </a:bodyPr>
          <a:lstStyle/>
          <a:p>
            <a:r>
              <a:rPr lang="en-US" altLang="zh-CN" sz="1600" dirty="0" smtClean="0">
                <a:solidFill>
                  <a:srgbClr val="4472C4"/>
                </a:solidFill>
                <a:latin typeface="微软雅黑" panose="020B0503020204020204" pitchFamily="34" charset="-122"/>
                <a:ea typeface="微软雅黑" panose="020B0503020204020204" pitchFamily="34" charset="-122"/>
              </a:rPr>
              <a:t># </a:t>
            </a:r>
            <a:r>
              <a:rPr lang="zh-CN" altLang="en-US" sz="1600" dirty="0" smtClean="0">
                <a:solidFill>
                  <a:srgbClr val="4472C4"/>
                </a:solidFill>
                <a:latin typeface="微软雅黑" panose="020B0503020204020204" pitchFamily="34" charset="-122"/>
                <a:ea typeface="微软雅黑" panose="020B0503020204020204" pitchFamily="34" charset="-122"/>
              </a:rPr>
              <a:t>向集合</a:t>
            </a:r>
            <a:r>
              <a:rPr lang="en-US" altLang="zh-CN" sz="1600" dirty="0" smtClean="0">
                <a:solidFill>
                  <a:srgbClr val="4472C4"/>
                </a:solidFill>
                <a:latin typeface="微软雅黑" panose="020B0503020204020204" pitchFamily="34" charset="-122"/>
                <a:ea typeface="微软雅黑" panose="020B0503020204020204" pitchFamily="34" charset="-122"/>
              </a:rPr>
              <a:t>names</a:t>
            </a:r>
            <a:r>
              <a:rPr lang="zh-CN" altLang="en-US" sz="1600" dirty="0" smtClean="0">
                <a:solidFill>
                  <a:srgbClr val="4472C4"/>
                </a:solidFill>
                <a:latin typeface="微软雅黑" panose="020B0503020204020204" pitchFamily="34" charset="-122"/>
                <a:ea typeface="微软雅黑" panose="020B0503020204020204" pitchFamily="34" charset="-122"/>
              </a:rPr>
              <a:t>中添加三个元素</a:t>
            </a:r>
            <a:r>
              <a:rPr lang="en-US" altLang="zh-CN" sz="1600" dirty="0" smtClean="0">
                <a:solidFill>
                  <a:srgbClr val="4472C4"/>
                </a:solidFill>
                <a:latin typeface="微软雅黑" panose="020B0503020204020204" pitchFamily="34" charset="-122"/>
                <a:ea typeface="微软雅黑" panose="020B0503020204020204" pitchFamily="34" charset="-122"/>
              </a:rPr>
              <a:t>,</a:t>
            </a:r>
            <a:r>
              <a:rPr lang="zh-CN" altLang="en-US" sz="1600" dirty="0" smtClean="0">
                <a:solidFill>
                  <a:srgbClr val="4472C4"/>
                </a:solidFill>
                <a:latin typeface="微软雅黑" panose="020B0503020204020204" pitchFamily="34" charset="-122"/>
                <a:ea typeface="微软雅黑" panose="020B0503020204020204" pitchFamily="34" charset="-122"/>
              </a:rPr>
              <a:t>执行第一条命令时，集合不存在会自动创建</a:t>
            </a:r>
            <a:r>
              <a:rPr lang="en-US" altLang="zh-CN" sz="1600" dirty="0" smtClean="0">
                <a:solidFill>
                  <a:srgbClr val="4472C4"/>
                </a:solidFill>
                <a:latin typeface="微软雅黑" panose="020B0503020204020204" pitchFamily="34" charset="-122"/>
                <a:ea typeface="微软雅黑" panose="020B0503020204020204" pitchFamily="34" charset="-122"/>
              </a:rPr>
              <a:t>names</a:t>
            </a:r>
            <a:r>
              <a:rPr lang="zh-CN" altLang="en-US" sz="1600" dirty="0" smtClean="0">
                <a:solidFill>
                  <a:srgbClr val="4472C4"/>
                </a:solidFill>
                <a:latin typeface="微软雅黑" panose="020B0503020204020204" pitchFamily="34" charset="-122"/>
                <a:ea typeface="微软雅黑" panose="020B0503020204020204" pitchFamily="34" charset="-122"/>
              </a:rPr>
              <a:t>集合。</a:t>
            </a:r>
            <a:endParaRPr lang="en-US" altLang="zh-CN" sz="1600" dirty="0" smtClean="0">
              <a:solidFill>
                <a:srgbClr val="4472C4"/>
              </a:solidFill>
              <a:latin typeface="微软雅黑" panose="020B0503020204020204" pitchFamily="34" charset="-122"/>
              <a:ea typeface="微软雅黑" panose="020B0503020204020204" pitchFamily="34" charset="-122"/>
            </a:endParaRPr>
          </a:p>
          <a:p>
            <a:r>
              <a:rPr lang="en-US" altLang="zh-CN" sz="1600" dirty="0" smtClean="0">
                <a:solidFill>
                  <a:srgbClr val="70AD47"/>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sadd</a:t>
            </a:r>
            <a:r>
              <a:rPr lang="en-US" altLang="zh-CN" sz="1600" dirty="0">
                <a:solidFill>
                  <a:srgbClr val="C00000"/>
                </a:solidFill>
                <a:latin typeface="微软雅黑" panose="020B0503020204020204" pitchFamily="34" charset="-122"/>
                <a:ea typeface="微软雅黑" panose="020B0503020204020204" pitchFamily="34" charset="-122"/>
              </a:rPr>
              <a:t> </a:t>
            </a:r>
            <a:r>
              <a:rPr lang="en-US" altLang="zh-CN" sz="1600" dirty="0">
                <a:solidFill>
                  <a:srgbClr val="70AD47"/>
                </a:solidFill>
                <a:latin typeface="微软雅黑" panose="020B0503020204020204" pitchFamily="34" charset="-122"/>
                <a:ea typeface="微软雅黑" panose="020B0503020204020204" pitchFamily="34" charset="-122"/>
              </a:rPr>
              <a:t>names </a:t>
            </a:r>
            <a:r>
              <a:rPr lang="en-US" altLang="zh-CN" sz="1600" dirty="0" err="1">
                <a:solidFill>
                  <a:srgbClr val="70AD47"/>
                </a:solidFill>
                <a:latin typeface="微软雅黑" panose="020B0503020204020204" pitchFamily="34" charset="-122"/>
                <a:ea typeface="微软雅黑" panose="020B0503020204020204" pitchFamily="34" charset="-122"/>
              </a:rPr>
              <a:t>xiaoming</a:t>
            </a:r>
            <a:endParaRPr lang="en-US" altLang="zh-CN" sz="1600" dirty="0">
              <a:solidFill>
                <a:srgbClr val="70AD47"/>
              </a:solidFill>
              <a:latin typeface="微软雅黑" panose="020B0503020204020204" pitchFamily="34" charset="-122"/>
              <a:ea typeface="微软雅黑" panose="020B0503020204020204" pitchFamily="34" charset="-122"/>
            </a:endParaRPr>
          </a:p>
          <a:p>
            <a:r>
              <a:rPr lang="en-US" altLang="zh-CN" sz="1600" dirty="0">
                <a:solidFill>
                  <a:srgbClr val="70AD47"/>
                </a:solidFill>
                <a:latin typeface="微软雅黑" panose="020B0503020204020204" pitchFamily="34" charset="-122"/>
                <a:ea typeface="微软雅黑" panose="020B0503020204020204" pitchFamily="34" charset="-122"/>
              </a:rPr>
              <a:t>(integer) 1</a:t>
            </a:r>
          </a:p>
          <a:p>
            <a:r>
              <a:rPr lang="en-US" altLang="zh-CN" sz="1600" dirty="0">
                <a:solidFill>
                  <a:srgbClr val="70AD47"/>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sadd</a:t>
            </a:r>
            <a:r>
              <a:rPr lang="en-US" altLang="zh-CN" sz="1600" dirty="0">
                <a:solidFill>
                  <a:srgbClr val="C00000"/>
                </a:solidFill>
                <a:latin typeface="微软雅黑" panose="020B0503020204020204" pitchFamily="34" charset="-122"/>
                <a:ea typeface="微软雅黑" panose="020B0503020204020204" pitchFamily="34" charset="-122"/>
              </a:rPr>
              <a:t> </a:t>
            </a:r>
            <a:r>
              <a:rPr lang="en-US" altLang="zh-CN" sz="1600" dirty="0">
                <a:solidFill>
                  <a:srgbClr val="70AD47"/>
                </a:solidFill>
                <a:latin typeface="微软雅黑" panose="020B0503020204020204" pitchFamily="34" charset="-122"/>
                <a:ea typeface="微软雅黑" panose="020B0503020204020204" pitchFamily="34" charset="-122"/>
              </a:rPr>
              <a:t>names </a:t>
            </a:r>
            <a:r>
              <a:rPr lang="en-US" altLang="zh-CN" sz="1600" dirty="0" err="1">
                <a:solidFill>
                  <a:srgbClr val="70AD47"/>
                </a:solidFill>
                <a:latin typeface="微软雅黑" panose="020B0503020204020204" pitchFamily="34" charset="-122"/>
                <a:ea typeface="微软雅黑" panose="020B0503020204020204" pitchFamily="34" charset="-122"/>
              </a:rPr>
              <a:t>amao</a:t>
            </a:r>
            <a:endParaRPr lang="en-US" altLang="zh-CN" sz="1600" dirty="0">
              <a:solidFill>
                <a:srgbClr val="70AD47"/>
              </a:solidFill>
              <a:latin typeface="微软雅黑" panose="020B0503020204020204" pitchFamily="34" charset="-122"/>
              <a:ea typeface="微软雅黑" panose="020B0503020204020204" pitchFamily="34" charset="-122"/>
            </a:endParaRPr>
          </a:p>
          <a:p>
            <a:r>
              <a:rPr lang="en-US" altLang="zh-CN" sz="1600" dirty="0">
                <a:solidFill>
                  <a:srgbClr val="70AD47"/>
                </a:solidFill>
                <a:latin typeface="微软雅黑" panose="020B0503020204020204" pitchFamily="34" charset="-122"/>
                <a:ea typeface="微软雅黑" panose="020B0503020204020204" pitchFamily="34" charset="-122"/>
              </a:rPr>
              <a:t>(integer) 1</a:t>
            </a:r>
          </a:p>
          <a:p>
            <a:r>
              <a:rPr lang="en-US" altLang="zh-CN" sz="1600" dirty="0">
                <a:solidFill>
                  <a:srgbClr val="70AD47"/>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sadd</a:t>
            </a:r>
            <a:r>
              <a:rPr lang="en-US" altLang="zh-CN" sz="1600" dirty="0">
                <a:solidFill>
                  <a:srgbClr val="C00000"/>
                </a:solidFill>
                <a:latin typeface="微软雅黑" panose="020B0503020204020204" pitchFamily="34" charset="-122"/>
                <a:ea typeface="微软雅黑" panose="020B0503020204020204" pitchFamily="34" charset="-122"/>
              </a:rPr>
              <a:t> </a:t>
            </a:r>
            <a:r>
              <a:rPr lang="en-US" altLang="zh-CN" sz="1600" dirty="0">
                <a:solidFill>
                  <a:srgbClr val="70AD47"/>
                </a:solidFill>
                <a:latin typeface="微软雅黑" panose="020B0503020204020204" pitchFamily="34" charset="-122"/>
                <a:ea typeface="微软雅黑" panose="020B0503020204020204" pitchFamily="34" charset="-122"/>
              </a:rPr>
              <a:t>names </a:t>
            </a:r>
            <a:r>
              <a:rPr lang="en-US" altLang="zh-CN" sz="1600" dirty="0" err="1">
                <a:solidFill>
                  <a:srgbClr val="70AD47"/>
                </a:solidFill>
                <a:latin typeface="微软雅黑" panose="020B0503020204020204" pitchFamily="34" charset="-122"/>
                <a:ea typeface="微软雅黑" panose="020B0503020204020204" pitchFamily="34" charset="-122"/>
              </a:rPr>
              <a:t>agou</a:t>
            </a:r>
            <a:endParaRPr lang="en-US" altLang="zh-CN" sz="1600" dirty="0">
              <a:solidFill>
                <a:srgbClr val="70AD47"/>
              </a:solidFill>
              <a:latin typeface="微软雅黑" panose="020B0503020204020204" pitchFamily="34" charset="-122"/>
              <a:ea typeface="微软雅黑" panose="020B0503020204020204" pitchFamily="34" charset="-122"/>
            </a:endParaRPr>
          </a:p>
          <a:p>
            <a:r>
              <a:rPr lang="en-US" altLang="zh-CN" sz="1600" dirty="0">
                <a:solidFill>
                  <a:srgbClr val="70AD47"/>
                </a:solidFill>
                <a:latin typeface="微软雅黑" panose="020B0503020204020204" pitchFamily="34" charset="-122"/>
                <a:ea typeface="微软雅黑" panose="020B0503020204020204" pitchFamily="34" charset="-122"/>
              </a:rPr>
              <a:t>(integer) </a:t>
            </a:r>
            <a:r>
              <a:rPr lang="en-US" altLang="zh-CN" sz="1600" dirty="0" smtClean="0">
                <a:solidFill>
                  <a:srgbClr val="70AD47"/>
                </a:solidFill>
                <a:latin typeface="微软雅黑" panose="020B0503020204020204" pitchFamily="34" charset="-122"/>
                <a:ea typeface="微软雅黑" panose="020B0503020204020204" pitchFamily="34" charset="-122"/>
              </a:rPr>
              <a:t>1</a:t>
            </a:r>
          </a:p>
          <a:p>
            <a:r>
              <a:rPr lang="en-US" altLang="zh-CN" sz="1600" dirty="0" smtClean="0">
                <a:solidFill>
                  <a:srgbClr val="70AD47"/>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smembers</a:t>
            </a:r>
            <a:r>
              <a:rPr lang="en-US" altLang="zh-CN" sz="1600" dirty="0">
                <a:solidFill>
                  <a:srgbClr val="C00000"/>
                </a:solidFill>
                <a:latin typeface="微软雅黑" panose="020B0503020204020204" pitchFamily="34" charset="-122"/>
                <a:ea typeface="微软雅黑" panose="020B0503020204020204" pitchFamily="34" charset="-122"/>
              </a:rPr>
              <a:t> </a:t>
            </a:r>
            <a:r>
              <a:rPr lang="en-US" altLang="zh-CN" sz="1600" dirty="0" smtClean="0">
                <a:solidFill>
                  <a:srgbClr val="70AD47"/>
                </a:solidFill>
                <a:latin typeface="微软雅黑" panose="020B0503020204020204" pitchFamily="34" charset="-122"/>
                <a:ea typeface="微软雅黑" panose="020B0503020204020204" pitchFamily="34" charset="-122"/>
              </a:rPr>
              <a:t>names      </a:t>
            </a:r>
            <a:r>
              <a:rPr lang="en-US" altLang="zh-CN" sz="1600" dirty="0">
                <a:solidFill>
                  <a:srgbClr val="4472C4"/>
                </a:solidFill>
                <a:latin typeface="微软雅黑" panose="020B0503020204020204" pitchFamily="34" charset="-122"/>
                <a:ea typeface="微软雅黑" panose="020B0503020204020204" pitchFamily="34" charset="-122"/>
              </a:rPr>
              <a:t># </a:t>
            </a:r>
            <a:r>
              <a:rPr lang="zh-CN" altLang="en-US" sz="1600" dirty="0">
                <a:solidFill>
                  <a:srgbClr val="4472C4"/>
                </a:solidFill>
                <a:latin typeface="微软雅黑" panose="020B0503020204020204" pitchFamily="34" charset="-122"/>
                <a:ea typeface="微软雅黑" panose="020B0503020204020204" pitchFamily="34" charset="-122"/>
              </a:rPr>
              <a:t>查看集合</a:t>
            </a:r>
            <a:r>
              <a:rPr lang="zh-CN" altLang="en-US" sz="1600" dirty="0" smtClean="0">
                <a:solidFill>
                  <a:srgbClr val="4472C4"/>
                </a:solidFill>
                <a:latin typeface="微软雅黑" panose="020B0503020204020204" pitchFamily="34" charset="-122"/>
                <a:ea typeface="微软雅黑" panose="020B0503020204020204" pitchFamily="34" charset="-122"/>
              </a:rPr>
              <a:t>的所有元素</a:t>
            </a:r>
            <a:endParaRPr lang="en-US" altLang="zh-CN" sz="1600" dirty="0">
              <a:solidFill>
                <a:srgbClr val="4472C4"/>
              </a:solidFill>
              <a:latin typeface="微软雅黑" panose="020B0503020204020204" pitchFamily="34" charset="-122"/>
              <a:ea typeface="微软雅黑" panose="020B0503020204020204" pitchFamily="34" charset="-122"/>
            </a:endParaRPr>
          </a:p>
          <a:p>
            <a:r>
              <a:rPr lang="en-US" altLang="zh-CN" sz="1600" dirty="0">
                <a:solidFill>
                  <a:srgbClr val="70AD47"/>
                </a:solidFill>
                <a:latin typeface="微软雅黑" panose="020B0503020204020204" pitchFamily="34" charset="-122"/>
                <a:ea typeface="微软雅黑" panose="020B0503020204020204" pitchFamily="34" charset="-122"/>
              </a:rPr>
              <a:t>1) "</a:t>
            </a:r>
            <a:r>
              <a:rPr lang="en-US" altLang="zh-CN" sz="1600" dirty="0" err="1">
                <a:solidFill>
                  <a:srgbClr val="70AD47"/>
                </a:solidFill>
                <a:latin typeface="微软雅黑" panose="020B0503020204020204" pitchFamily="34" charset="-122"/>
                <a:ea typeface="微软雅黑" panose="020B0503020204020204" pitchFamily="34" charset="-122"/>
              </a:rPr>
              <a:t>agou</a:t>
            </a:r>
            <a:r>
              <a:rPr lang="en-US" altLang="zh-CN" sz="1600" dirty="0">
                <a:solidFill>
                  <a:srgbClr val="70AD47"/>
                </a:solidFill>
                <a:latin typeface="微软雅黑" panose="020B0503020204020204" pitchFamily="34" charset="-122"/>
                <a:ea typeface="微软雅黑" panose="020B0503020204020204" pitchFamily="34" charset="-122"/>
              </a:rPr>
              <a:t>"</a:t>
            </a:r>
          </a:p>
          <a:p>
            <a:r>
              <a:rPr lang="en-US" altLang="zh-CN" sz="1600" dirty="0">
                <a:solidFill>
                  <a:srgbClr val="70AD47"/>
                </a:solidFill>
                <a:latin typeface="微软雅黑" panose="020B0503020204020204" pitchFamily="34" charset="-122"/>
                <a:ea typeface="微软雅黑" panose="020B0503020204020204" pitchFamily="34" charset="-122"/>
              </a:rPr>
              <a:t>2) "</a:t>
            </a:r>
            <a:r>
              <a:rPr lang="en-US" altLang="zh-CN" sz="1600" dirty="0" err="1">
                <a:solidFill>
                  <a:srgbClr val="70AD47"/>
                </a:solidFill>
                <a:latin typeface="微软雅黑" panose="020B0503020204020204" pitchFamily="34" charset="-122"/>
                <a:ea typeface="微软雅黑" panose="020B0503020204020204" pitchFamily="34" charset="-122"/>
              </a:rPr>
              <a:t>amao</a:t>
            </a:r>
            <a:r>
              <a:rPr lang="en-US" altLang="zh-CN" sz="1600" dirty="0">
                <a:solidFill>
                  <a:srgbClr val="70AD47"/>
                </a:solidFill>
                <a:latin typeface="微软雅黑" panose="020B0503020204020204" pitchFamily="34" charset="-122"/>
                <a:ea typeface="微软雅黑" panose="020B0503020204020204" pitchFamily="34" charset="-122"/>
              </a:rPr>
              <a:t>"</a:t>
            </a:r>
          </a:p>
          <a:p>
            <a:r>
              <a:rPr lang="en-US" altLang="zh-CN" sz="1600" dirty="0">
                <a:solidFill>
                  <a:srgbClr val="70AD47"/>
                </a:solidFill>
                <a:latin typeface="微软雅黑" panose="020B0503020204020204" pitchFamily="34" charset="-122"/>
                <a:ea typeface="微软雅黑" panose="020B0503020204020204" pitchFamily="34" charset="-122"/>
              </a:rPr>
              <a:t>3) "</a:t>
            </a:r>
            <a:r>
              <a:rPr lang="en-US" altLang="zh-CN" sz="1600" dirty="0" err="1" smtClean="0">
                <a:solidFill>
                  <a:srgbClr val="70AD47"/>
                </a:solidFill>
                <a:latin typeface="微软雅黑" panose="020B0503020204020204" pitchFamily="34" charset="-122"/>
                <a:ea typeface="微软雅黑" panose="020B0503020204020204" pitchFamily="34" charset="-122"/>
              </a:rPr>
              <a:t>xiaoming</a:t>
            </a:r>
            <a:r>
              <a:rPr lang="en-US" altLang="zh-CN" sz="1600" dirty="0" smtClean="0">
                <a:solidFill>
                  <a:srgbClr val="70AD47"/>
                </a:solidFill>
                <a:latin typeface="微软雅黑" panose="020B0503020204020204" pitchFamily="34" charset="-122"/>
                <a:ea typeface="微软雅黑" panose="020B0503020204020204" pitchFamily="34" charset="-122"/>
              </a:rPr>
              <a:t>“</a:t>
            </a:r>
          </a:p>
          <a:p>
            <a:r>
              <a:rPr lang="en-US" altLang="zh-CN" sz="1600" dirty="0">
                <a:solidFill>
                  <a:srgbClr val="70AD47"/>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sismember</a:t>
            </a:r>
            <a:r>
              <a:rPr lang="en-US" altLang="zh-CN" sz="1600" dirty="0">
                <a:solidFill>
                  <a:srgbClr val="C00000"/>
                </a:solidFill>
                <a:latin typeface="微软雅黑" panose="020B0503020204020204" pitchFamily="34" charset="-122"/>
                <a:ea typeface="微软雅黑" panose="020B0503020204020204" pitchFamily="34" charset="-122"/>
              </a:rPr>
              <a:t> </a:t>
            </a:r>
            <a:r>
              <a:rPr lang="en-US" altLang="zh-CN" sz="1600" dirty="0">
                <a:solidFill>
                  <a:srgbClr val="70AD47"/>
                </a:solidFill>
                <a:latin typeface="微软雅黑" panose="020B0503020204020204" pitchFamily="34" charset="-122"/>
                <a:ea typeface="微软雅黑" panose="020B0503020204020204" pitchFamily="34" charset="-122"/>
              </a:rPr>
              <a:t>names </a:t>
            </a:r>
            <a:r>
              <a:rPr lang="en-US" altLang="zh-CN" sz="1600" dirty="0" err="1">
                <a:solidFill>
                  <a:srgbClr val="70AD47"/>
                </a:solidFill>
                <a:latin typeface="微软雅黑" panose="020B0503020204020204" pitchFamily="34" charset="-122"/>
                <a:ea typeface="微软雅黑" panose="020B0503020204020204" pitchFamily="34" charset="-122"/>
              </a:rPr>
              <a:t>xiaohua</a:t>
            </a:r>
            <a:r>
              <a:rPr lang="en-US" altLang="zh-CN" sz="1600" dirty="0">
                <a:solidFill>
                  <a:srgbClr val="70AD47"/>
                </a:solidFill>
                <a:latin typeface="微软雅黑" panose="020B0503020204020204" pitchFamily="34" charset="-122"/>
                <a:ea typeface="微软雅黑" panose="020B0503020204020204" pitchFamily="34" charset="-122"/>
              </a:rPr>
              <a:t>  </a:t>
            </a:r>
            <a:r>
              <a:rPr lang="en-US" altLang="zh-CN" sz="1600" dirty="0">
                <a:solidFill>
                  <a:srgbClr val="4472C4"/>
                </a:solidFill>
                <a:latin typeface="微软雅黑" panose="020B0503020204020204" pitchFamily="34" charset="-122"/>
                <a:ea typeface="微软雅黑" panose="020B0503020204020204" pitchFamily="34" charset="-122"/>
              </a:rPr>
              <a:t>#</a:t>
            </a:r>
            <a:r>
              <a:rPr lang="zh-CN" altLang="en-US" sz="1600" dirty="0">
                <a:solidFill>
                  <a:srgbClr val="4472C4"/>
                </a:solidFill>
                <a:latin typeface="微软雅黑" panose="020B0503020204020204" pitchFamily="34" charset="-122"/>
                <a:ea typeface="微软雅黑" panose="020B0503020204020204" pitchFamily="34" charset="-122"/>
              </a:rPr>
              <a:t>判断是否集合的成员</a:t>
            </a:r>
            <a:endParaRPr lang="en-US" altLang="zh-CN" sz="1600" dirty="0">
              <a:solidFill>
                <a:srgbClr val="4472C4"/>
              </a:solidFill>
              <a:latin typeface="微软雅黑" panose="020B0503020204020204" pitchFamily="34" charset="-122"/>
              <a:ea typeface="微软雅黑" panose="020B0503020204020204" pitchFamily="34" charset="-122"/>
            </a:endParaRPr>
          </a:p>
          <a:p>
            <a:r>
              <a:rPr lang="en-US" altLang="zh-CN" sz="1600" dirty="0">
                <a:solidFill>
                  <a:srgbClr val="70AD47"/>
                </a:solidFill>
                <a:latin typeface="微软雅黑" panose="020B0503020204020204" pitchFamily="34" charset="-122"/>
                <a:ea typeface="微软雅黑" panose="020B0503020204020204" pitchFamily="34" charset="-122"/>
              </a:rPr>
              <a:t>(integer) 0                                </a:t>
            </a:r>
            <a:r>
              <a:rPr lang="en-US" altLang="zh-CN" sz="1600" dirty="0">
                <a:solidFill>
                  <a:srgbClr val="4472C4"/>
                </a:solidFill>
                <a:latin typeface="微软雅黑" panose="020B0503020204020204" pitchFamily="34" charset="-122"/>
                <a:ea typeface="微软雅黑" panose="020B0503020204020204" pitchFamily="34" charset="-122"/>
              </a:rPr>
              <a:t># 0 </a:t>
            </a:r>
            <a:r>
              <a:rPr lang="zh-CN" altLang="en-US" sz="1600" dirty="0">
                <a:solidFill>
                  <a:srgbClr val="4472C4"/>
                </a:solidFill>
                <a:latin typeface="微软雅黑" panose="020B0503020204020204" pitchFamily="34" charset="-122"/>
                <a:ea typeface="微软雅黑" panose="020B0503020204020204" pitchFamily="34" charset="-122"/>
              </a:rPr>
              <a:t>表示否</a:t>
            </a:r>
            <a:endParaRPr lang="en-US" altLang="zh-CN" sz="1600" dirty="0">
              <a:solidFill>
                <a:srgbClr val="4472C4"/>
              </a:solidFill>
              <a:latin typeface="微软雅黑" panose="020B0503020204020204" pitchFamily="34" charset="-122"/>
              <a:ea typeface="微软雅黑" panose="020B0503020204020204" pitchFamily="34" charset="-122"/>
            </a:endParaRPr>
          </a:p>
          <a:p>
            <a:r>
              <a:rPr lang="en-US" altLang="zh-CN" sz="1600" dirty="0">
                <a:solidFill>
                  <a:srgbClr val="70AD47"/>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sismember</a:t>
            </a:r>
            <a:r>
              <a:rPr lang="en-US" altLang="zh-CN" sz="1600" dirty="0">
                <a:solidFill>
                  <a:srgbClr val="C00000"/>
                </a:solidFill>
                <a:latin typeface="微软雅黑" panose="020B0503020204020204" pitchFamily="34" charset="-122"/>
                <a:ea typeface="微软雅黑" panose="020B0503020204020204" pitchFamily="34" charset="-122"/>
              </a:rPr>
              <a:t> </a:t>
            </a:r>
            <a:r>
              <a:rPr lang="en-US" altLang="zh-CN" sz="1600" dirty="0">
                <a:solidFill>
                  <a:srgbClr val="70AD47"/>
                </a:solidFill>
                <a:latin typeface="微软雅黑" panose="020B0503020204020204" pitchFamily="34" charset="-122"/>
                <a:ea typeface="微软雅黑" panose="020B0503020204020204" pitchFamily="34" charset="-122"/>
              </a:rPr>
              <a:t>names </a:t>
            </a:r>
            <a:r>
              <a:rPr lang="en-US" altLang="zh-CN" sz="1600" dirty="0" err="1">
                <a:solidFill>
                  <a:srgbClr val="70AD47"/>
                </a:solidFill>
                <a:latin typeface="微软雅黑" panose="020B0503020204020204" pitchFamily="34" charset="-122"/>
                <a:ea typeface="微软雅黑" panose="020B0503020204020204" pitchFamily="34" charset="-122"/>
              </a:rPr>
              <a:t>agou</a:t>
            </a:r>
            <a:endParaRPr lang="en-US" altLang="zh-CN" sz="1600" dirty="0">
              <a:solidFill>
                <a:srgbClr val="70AD47"/>
              </a:solidFill>
              <a:latin typeface="微软雅黑" panose="020B0503020204020204" pitchFamily="34" charset="-122"/>
              <a:ea typeface="微软雅黑" panose="020B0503020204020204" pitchFamily="34" charset="-122"/>
            </a:endParaRPr>
          </a:p>
          <a:p>
            <a:r>
              <a:rPr lang="en-US" altLang="zh-CN" sz="1600" dirty="0">
                <a:solidFill>
                  <a:srgbClr val="70AD47"/>
                </a:solidFill>
                <a:latin typeface="微软雅黑" panose="020B0503020204020204" pitchFamily="34" charset="-122"/>
                <a:ea typeface="微软雅黑" panose="020B0503020204020204" pitchFamily="34" charset="-122"/>
              </a:rPr>
              <a:t>(integer) 1</a:t>
            </a:r>
          </a:p>
          <a:p>
            <a:r>
              <a:rPr lang="en-US" altLang="zh-CN" sz="1600" dirty="0">
                <a:solidFill>
                  <a:srgbClr val="70AD47"/>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scard</a:t>
            </a:r>
            <a:r>
              <a:rPr lang="en-US" altLang="zh-CN" sz="1600" dirty="0">
                <a:solidFill>
                  <a:srgbClr val="C00000"/>
                </a:solidFill>
                <a:latin typeface="微软雅黑" panose="020B0503020204020204" pitchFamily="34" charset="-122"/>
                <a:ea typeface="微软雅黑" panose="020B0503020204020204" pitchFamily="34" charset="-122"/>
              </a:rPr>
              <a:t> </a:t>
            </a:r>
            <a:r>
              <a:rPr lang="en-US" altLang="zh-CN" sz="1600" dirty="0">
                <a:solidFill>
                  <a:srgbClr val="70AD47"/>
                </a:solidFill>
                <a:latin typeface="微软雅黑" panose="020B0503020204020204" pitchFamily="34" charset="-122"/>
                <a:ea typeface="微软雅黑" panose="020B0503020204020204" pitchFamily="34" charset="-122"/>
              </a:rPr>
              <a:t>names       	    </a:t>
            </a:r>
            <a:r>
              <a:rPr lang="en-US" altLang="zh-CN" sz="1600" dirty="0">
                <a:solidFill>
                  <a:srgbClr val="4472C4"/>
                </a:solidFill>
                <a:latin typeface="微软雅黑" panose="020B0503020204020204" pitchFamily="34" charset="-122"/>
                <a:ea typeface="微软雅黑" panose="020B0503020204020204" pitchFamily="34" charset="-122"/>
              </a:rPr>
              <a:t>#</a:t>
            </a:r>
            <a:r>
              <a:rPr lang="zh-CN" altLang="en-US" sz="1600" dirty="0">
                <a:solidFill>
                  <a:srgbClr val="4472C4"/>
                </a:solidFill>
                <a:latin typeface="微软雅黑" panose="020B0503020204020204" pitchFamily="34" charset="-122"/>
                <a:ea typeface="微软雅黑" panose="020B0503020204020204" pitchFamily="34" charset="-122"/>
              </a:rPr>
              <a:t>获取</a:t>
            </a:r>
            <a:r>
              <a:rPr lang="en-US" altLang="zh-CN" sz="1600" dirty="0">
                <a:solidFill>
                  <a:srgbClr val="4472C4"/>
                </a:solidFill>
                <a:latin typeface="微软雅黑" panose="020B0503020204020204" pitchFamily="34" charset="-122"/>
                <a:ea typeface="微软雅黑" panose="020B0503020204020204" pitchFamily="34" charset="-122"/>
              </a:rPr>
              <a:t>set</a:t>
            </a:r>
            <a:r>
              <a:rPr lang="zh-CN" altLang="en-US" sz="1600" dirty="0">
                <a:solidFill>
                  <a:srgbClr val="4472C4"/>
                </a:solidFill>
                <a:latin typeface="微软雅黑" panose="020B0503020204020204" pitchFamily="34" charset="-122"/>
                <a:ea typeface="微软雅黑" panose="020B0503020204020204" pitchFamily="34" charset="-122"/>
              </a:rPr>
              <a:t>成员个数</a:t>
            </a:r>
            <a:endParaRPr lang="en-US" altLang="zh-CN" sz="1600" dirty="0">
              <a:solidFill>
                <a:srgbClr val="4472C4"/>
              </a:solidFill>
              <a:latin typeface="微软雅黑" panose="020B0503020204020204" pitchFamily="34" charset="-122"/>
              <a:ea typeface="微软雅黑" panose="020B0503020204020204" pitchFamily="34" charset="-122"/>
            </a:endParaRPr>
          </a:p>
          <a:p>
            <a:r>
              <a:rPr lang="en-US" altLang="zh-CN" sz="1600" dirty="0" smtClean="0">
                <a:solidFill>
                  <a:srgbClr val="70AD47"/>
                </a:solidFill>
                <a:latin typeface="微软雅黑" panose="020B0503020204020204" pitchFamily="34" charset="-122"/>
                <a:ea typeface="微软雅黑" panose="020B0503020204020204" pitchFamily="34" charset="-122"/>
              </a:rPr>
              <a:t>3</a:t>
            </a:r>
          </a:p>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sadd</a:t>
            </a:r>
            <a:r>
              <a:rPr lang="en-US" altLang="zh-CN" sz="1600" dirty="0">
                <a:solidFill>
                  <a:srgbClr val="C00000"/>
                </a:solidFill>
                <a:latin typeface="微软雅黑" panose="020B0503020204020204" pitchFamily="34" charset="-122"/>
                <a:ea typeface="微软雅黑" panose="020B0503020204020204" pitchFamily="34" charset="-122"/>
              </a:rPr>
              <a:t> </a:t>
            </a:r>
            <a:r>
              <a:rPr lang="en-US" altLang="zh-CN" sz="1600" dirty="0">
                <a:solidFill>
                  <a:schemeClr val="accent6"/>
                </a:solidFill>
                <a:latin typeface="微软雅黑" panose="020B0503020204020204" pitchFamily="34" charset="-122"/>
                <a:ea typeface="微软雅黑" panose="020B0503020204020204" pitchFamily="34" charset="-122"/>
              </a:rPr>
              <a:t>names2 </a:t>
            </a:r>
            <a:r>
              <a:rPr lang="en-US" altLang="zh-CN" sz="1600" dirty="0" err="1">
                <a:solidFill>
                  <a:schemeClr val="accent6"/>
                </a:solidFill>
                <a:latin typeface="微软雅黑" panose="020B0503020204020204" pitchFamily="34" charset="-122"/>
                <a:ea typeface="微软雅黑" panose="020B0503020204020204" pitchFamily="34" charset="-122"/>
              </a:rPr>
              <a:t>xiaoming</a:t>
            </a:r>
            <a:r>
              <a:rPr lang="en-US" altLang="zh-CN" sz="1600" dirty="0">
                <a:solidFill>
                  <a:schemeClr val="accent6"/>
                </a:solidFill>
                <a:latin typeface="微软雅黑" panose="020B0503020204020204" pitchFamily="34" charset="-122"/>
                <a:ea typeface="微软雅黑" panose="020B0503020204020204" pitchFamily="34" charset="-122"/>
              </a:rPr>
              <a:t> </a:t>
            </a:r>
            <a:r>
              <a:rPr lang="en-US" altLang="zh-CN" sz="1600" dirty="0" err="1">
                <a:solidFill>
                  <a:schemeClr val="accent6"/>
                </a:solidFill>
                <a:latin typeface="微软雅黑" panose="020B0503020204020204" pitchFamily="34" charset="-122"/>
                <a:ea typeface="微软雅黑" panose="020B0503020204020204" pitchFamily="34" charset="-122"/>
              </a:rPr>
              <a:t>xiaofang</a:t>
            </a:r>
            <a:r>
              <a:rPr lang="en-US" altLang="zh-CN" sz="1600" dirty="0">
                <a:solidFill>
                  <a:schemeClr val="accent6"/>
                </a:solidFill>
                <a:latin typeface="微软雅黑" panose="020B0503020204020204" pitchFamily="34" charset="-122"/>
                <a:ea typeface="微软雅黑" panose="020B0503020204020204" pitchFamily="34" charset="-122"/>
              </a:rPr>
              <a:t> </a:t>
            </a:r>
            <a:r>
              <a:rPr lang="en-US" altLang="zh-CN" sz="1600" dirty="0" err="1">
                <a:solidFill>
                  <a:schemeClr val="accent6"/>
                </a:solidFill>
                <a:latin typeface="微软雅黑" panose="020B0503020204020204" pitchFamily="34" charset="-122"/>
                <a:ea typeface="微软雅黑" panose="020B0503020204020204" pitchFamily="34" charset="-122"/>
              </a:rPr>
              <a:t>xiaozhu</a:t>
            </a:r>
            <a:r>
              <a:rPr lang="en-US" altLang="zh-CN" sz="1600" dirty="0">
                <a:solidFill>
                  <a:schemeClr val="accent6"/>
                </a:solidFill>
                <a:latin typeface="微软雅黑" panose="020B0503020204020204" pitchFamily="34" charset="-122"/>
                <a:ea typeface="微软雅黑" panose="020B0503020204020204" pitchFamily="34" charset="-122"/>
              </a:rPr>
              <a:t> </a:t>
            </a:r>
            <a:r>
              <a:rPr lang="en-US" altLang="zh-CN" sz="1600" dirty="0" err="1">
                <a:solidFill>
                  <a:schemeClr val="accent6"/>
                </a:solidFill>
                <a:latin typeface="微软雅黑" panose="020B0503020204020204" pitchFamily="34" charset="-122"/>
                <a:ea typeface="微软雅黑" panose="020B0503020204020204" pitchFamily="34" charset="-122"/>
              </a:rPr>
              <a:t>dali</a:t>
            </a:r>
            <a:r>
              <a:rPr lang="en-US" altLang="zh-CN" sz="1600" dirty="0">
                <a:solidFill>
                  <a:schemeClr val="accent6"/>
                </a:solidFill>
                <a:latin typeface="微软雅黑" panose="020B0503020204020204" pitchFamily="34" charset="-122"/>
                <a:ea typeface="微软雅黑" panose="020B0503020204020204" pitchFamily="34" charset="-122"/>
              </a:rPr>
              <a:t>    </a:t>
            </a:r>
            <a:r>
              <a:rPr lang="en-US" altLang="zh-CN" sz="1600" dirty="0">
                <a:solidFill>
                  <a:schemeClr val="accent1"/>
                </a:solidFill>
                <a:latin typeface="微软雅黑" panose="020B0503020204020204" pitchFamily="34" charset="-122"/>
                <a:ea typeface="微软雅黑" panose="020B0503020204020204" pitchFamily="34" charset="-122"/>
              </a:rPr>
              <a:t>#</a:t>
            </a:r>
            <a:r>
              <a:rPr lang="zh-CN" altLang="en-US" sz="1600" dirty="0">
                <a:solidFill>
                  <a:schemeClr val="accent1"/>
                </a:solidFill>
                <a:latin typeface="微软雅黑" panose="020B0503020204020204" pitchFamily="34" charset="-122"/>
                <a:ea typeface="微软雅黑" panose="020B0503020204020204" pitchFamily="34" charset="-122"/>
              </a:rPr>
              <a:t>集合</a:t>
            </a:r>
            <a:r>
              <a:rPr lang="en-US" altLang="zh-CN" sz="1600" dirty="0">
                <a:solidFill>
                  <a:schemeClr val="accent1"/>
                </a:solidFill>
                <a:latin typeface="微软雅黑" panose="020B0503020204020204" pitchFamily="34" charset="-122"/>
                <a:ea typeface="微软雅黑" panose="020B0503020204020204" pitchFamily="34" charset="-122"/>
              </a:rPr>
              <a:t>names2</a:t>
            </a:r>
            <a:r>
              <a:rPr lang="zh-CN" altLang="en-US" sz="1600" dirty="0">
                <a:solidFill>
                  <a:schemeClr val="accent1"/>
                </a:solidFill>
                <a:latin typeface="微软雅黑" panose="020B0503020204020204" pitchFamily="34" charset="-122"/>
                <a:ea typeface="微软雅黑" panose="020B0503020204020204" pitchFamily="34" charset="-122"/>
              </a:rPr>
              <a:t>中加入多个</a:t>
            </a:r>
            <a:r>
              <a:rPr lang="zh-CN" altLang="en-US" sz="1600" dirty="0" smtClean="0">
                <a:solidFill>
                  <a:schemeClr val="accent1"/>
                </a:solidFill>
                <a:latin typeface="微软雅黑" panose="020B0503020204020204" pitchFamily="34" charset="-122"/>
                <a:ea typeface="微软雅黑" panose="020B0503020204020204" pitchFamily="34" charset="-122"/>
              </a:rPr>
              <a:t>成员</a:t>
            </a:r>
            <a:endParaRPr lang="en-US" altLang="zh-CN" sz="1600" dirty="0">
              <a:solidFill>
                <a:schemeClr val="accent1"/>
              </a:solidFill>
              <a:latin typeface="微软雅黑" panose="020B0503020204020204" pitchFamily="34" charset="-122"/>
              <a:ea typeface="微软雅黑" panose="020B0503020204020204" pitchFamily="34" charset="-122"/>
            </a:endParaRPr>
          </a:p>
        </p:txBody>
      </p:sp>
      <p:sp>
        <p:nvSpPr>
          <p:cNvPr id="16" name="文本框 15"/>
          <p:cNvSpPr txBox="1"/>
          <p:nvPr/>
        </p:nvSpPr>
        <p:spPr>
          <a:xfrm>
            <a:off x="6127608" y="1612900"/>
            <a:ext cx="5193953" cy="4770537"/>
          </a:xfrm>
          <a:prstGeom prst="rect">
            <a:avLst/>
          </a:prstGeom>
          <a:noFill/>
          <a:ln>
            <a:solidFill>
              <a:schemeClr val="bg1"/>
            </a:solidFill>
          </a:ln>
        </p:spPr>
        <p:txBody>
          <a:bodyPr wrap="square" rtlCol="0">
            <a:spAutoFit/>
          </a:bodyPr>
          <a:lstStyle/>
          <a:p>
            <a:r>
              <a:rPr lang="en-US" altLang="zh-CN" sz="1600" dirty="0">
                <a:solidFill>
                  <a:schemeClr val="accent6"/>
                </a:solidFill>
                <a:latin typeface="微软雅黑" panose="020B0503020204020204" pitchFamily="34" charset="-122"/>
                <a:ea typeface="微软雅黑" panose="020B0503020204020204" pitchFamily="34" charset="-122"/>
              </a:rPr>
              <a:t>(integer) </a:t>
            </a:r>
            <a:r>
              <a:rPr lang="en-US" altLang="zh-CN" sz="1600" dirty="0" smtClean="0">
                <a:solidFill>
                  <a:schemeClr val="accent6"/>
                </a:solidFill>
                <a:latin typeface="微软雅黑" panose="020B0503020204020204" pitchFamily="34" charset="-122"/>
                <a:ea typeface="微软雅黑" panose="020B0503020204020204" pitchFamily="34" charset="-122"/>
              </a:rPr>
              <a:t>4</a:t>
            </a:r>
          </a:p>
          <a:p>
            <a:r>
              <a:rPr lang="en-US" altLang="zh-CN" sz="1600" dirty="0" smtClean="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sdiff</a:t>
            </a:r>
            <a:r>
              <a:rPr lang="en-US" altLang="zh-CN" sz="1600" dirty="0">
                <a:solidFill>
                  <a:srgbClr val="C00000"/>
                </a:solidFill>
                <a:latin typeface="微软雅黑" panose="020B0503020204020204" pitchFamily="34" charset="-122"/>
                <a:ea typeface="微软雅黑" panose="020B0503020204020204" pitchFamily="34" charset="-122"/>
              </a:rPr>
              <a:t> </a:t>
            </a:r>
            <a:r>
              <a:rPr lang="en-US" altLang="zh-CN" sz="1600" dirty="0">
                <a:solidFill>
                  <a:schemeClr val="accent6"/>
                </a:solidFill>
                <a:latin typeface="微软雅黑" panose="020B0503020204020204" pitchFamily="34" charset="-122"/>
                <a:ea typeface="微软雅黑" panose="020B0503020204020204" pitchFamily="34" charset="-122"/>
              </a:rPr>
              <a:t>names names2          </a:t>
            </a:r>
            <a:r>
              <a:rPr lang="en-US" altLang="zh-CN" sz="1600" dirty="0" smtClean="0">
                <a:solidFill>
                  <a:schemeClr val="accent1"/>
                </a:solidFill>
                <a:latin typeface="微软雅黑" panose="020B0503020204020204" pitchFamily="34" charset="-122"/>
                <a:ea typeface="微软雅黑" panose="020B0503020204020204" pitchFamily="34" charset="-122"/>
              </a:rPr>
              <a:t># </a:t>
            </a:r>
            <a:r>
              <a:rPr lang="zh-CN" altLang="en-US" sz="1600" dirty="0">
                <a:solidFill>
                  <a:schemeClr val="accent1"/>
                </a:solidFill>
                <a:latin typeface="微软雅黑" panose="020B0503020204020204" pitchFamily="34" charset="-122"/>
                <a:ea typeface="微软雅黑" panose="020B0503020204020204" pitchFamily="34" charset="-122"/>
              </a:rPr>
              <a:t>求集合</a:t>
            </a:r>
            <a:r>
              <a:rPr lang="en-US" altLang="zh-CN" sz="1600" dirty="0">
                <a:solidFill>
                  <a:schemeClr val="accent1"/>
                </a:solidFill>
                <a:latin typeface="微软雅黑" panose="020B0503020204020204" pitchFamily="34" charset="-122"/>
                <a:ea typeface="微软雅黑" panose="020B0503020204020204" pitchFamily="34" charset="-122"/>
              </a:rPr>
              <a:t>names </a:t>
            </a:r>
            <a:r>
              <a:rPr lang="zh-CN" altLang="en-US" sz="1600" dirty="0">
                <a:solidFill>
                  <a:schemeClr val="accent1"/>
                </a:solidFill>
                <a:latin typeface="微软雅黑" panose="020B0503020204020204" pitchFamily="34" charset="-122"/>
                <a:ea typeface="微软雅黑" panose="020B0503020204020204" pitchFamily="34" charset="-122"/>
              </a:rPr>
              <a:t>和</a:t>
            </a:r>
            <a:r>
              <a:rPr lang="en-US" altLang="zh-CN" sz="1600" dirty="0">
                <a:solidFill>
                  <a:schemeClr val="accent1"/>
                </a:solidFill>
                <a:latin typeface="微软雅黑" panose="020B0503020204020204" pitchFamily="34" charset="-122"/>
                <a:ea typeface="微软雅黑" panose="020B0503020204020204" pitchFamily="34" charset="-122"/>
              </a:rPr>
              <a:t>names2</a:t>
            </a:r>
            <a:r>
              <a:rPr lang="zh-CN" altLang="en-US" sz="1600" dirty="0">
                <a:solidFill>
                  <a:schemeClr val="accent1"/>
                </a:solidFill>
                <a:latin typeface="微软雅黑" panose="020B0503020204020204" pitchFamily="34" charset="-122"/>
                <a:ea typeface="微软雅黑" panose="020B0503020204020204" pitchFamily="34" charset="-122"/>
              </a:rPr>
              <a:t>的差集</a:t>
            </a:r>
            <a:endParaRPr lang="en-US" altLang="zh-CN" sz="1600" dirty="0">
              <a:solidFill>
                <a:schemeClr val="accent1"/>
              </a:solidFill>
              <a:latin typeface="微软雅黑" panose="020B0503020204020204" pitchFamily="34" charset="-122"/>
              <a:ea typeface="微软雅黑" panose="020B0503020204020204" pitchFamily="34" charset="-122"/>
            </a:endParaRPr>
          </a:p>
          <a:p>
            <a:r>
              <a:rPr lang="en-US" altLang="zh-CN" sz="1600" dirty="0">
                <a:solidFill>
                  <a:schemeClr val="accent6"/>
                </a:solidFill>
                <a:latin typeface="微软雅黑" panose="020B0503020204020204" pitchFamily="34" charset="-122"/>
                <a:ea typeface="微软雅黑" panose="020B0503020204020204" pitchFamily="34" charset="-122"/>
              </a:rPr>
              <a:t>1) "</a:t>
            </a:r>
            <a:r>
              <a:rPr lang="en-US" altLang="zh-CN" sz="1600" dirty="0" err="1">
                <a:solidFill>
                  <a:schemeClr val="accent6"/>
                </a:solidFill>
                <a:latin typeface="微软雅黑" panose="020B0503020204020204" pitchFamily="34" charset="-122"/>
                <a:ea typeface="微软雅黑" panose="020B0503020204020204" pitchFamily="34" charset="-122"/>
              </a:rPr>
              <a:t>agou</a:t>
            </a:r>
            <a:r>
              <a:rPr lang="en-US" altLang="zh-CN" sz="1600" dirty="0">
                <a:solidFill>
                  <a:schemeClr val="accent6"/>
                </a:solidFill>
                <a:latin typeface="微软雅黑" panose="020B0503020204020204" pitchFamily="34" charset="-122"/>
                <a:ea typeface="微软雅黑" panose="020B0503020204020204" pitchFamily="34" charset="-122"/>
              </a:rPr>
              <a:t>"</a:t>
            </a:r>
          </a:p>
          <a:p>
            <a:r>
              <a:rPr lang="en-US" altLang="zh-CN" sz="1600" dirty="0">
                <a:solidFill>
                  <a:schemeClr val="accent6"/>
                </a:solidFill>
                <a:latin typeface="微软雅黑" panose="020B0503020204020204" pitchFamily="34" charset="-122"/>
                <a:ea typeface="微软雅黑" panose="020B0503020204020204" pitchFamily="34" charset="-122"/>
              </a:rPr>
              <a:t>2) "</a:t>
            </a:r>
            <a:r>
              <a:rPr lang="en-US" altLang="zh-CN" sz="1600" dirty="0" err="1">
                <a:solidFill>
                  <a:schemeClr val="accent6"/>
                </a:solidFill>
                <a:latin typeface="微软雅黑" panose="020B0503020204020204" pitchFamily="34" charset="-122"/>
                <a:ea typeface="微软雅黑" panose="020B0503020204020204" pitchFamily="34" charset="-122"/>
              </a:rPr>
              <a:t>amao</a:t>
            </a:r>
            <a:r>
              <a:rPr lang="en-US" altLang="zh-CN" sz="1600" dirty="0">
                <a:solidFill>
                  <a:schemeClr val="accent6"/>
                </a:solidFill>
                <a:latin typeface="微软雅黑" panose="020B0503020204020204" pitchFamily="34" charset="-122"/>
                <a:ea typeface="微软雅黑" panose="020B0503020204020204" pitchFamily="34" charset="-122"/>
              </a:rPr>
              <a:t>"</a:t>
            </a:r>
          </a:p>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a:solidFill>
                  <a:srgbClr val="FFD343"/>
                </a:solidFill>
                <a:latin typeface="微软雅黑" panose="020B0503020204020204" pitchFamily="34" charset="-122"/>
                <a:ea typeface="微软雅黑" panose="020B0503020204020204" pitchFamily="34" charset="-122"/>
              </a:rPr>
              <a:t>sinter</a:t>
            </a:r>
            <a:r>
              <a:rPr lang="en-US" altLang="zh-CN" sz="1600" dirty="0">
                <a:solidFill>
                  <a:srgbClr val="C00000"/>
                </a:solidFill>
                <a:latin typeface="微软雅黑" panose="020B0503020204020204" pitchFamily="34" charset="-122"/>
                <a:ea typeface="微软雅黑" panose="020B0503020204020204" pitchFamily="34" charset="-122"/>
              </a:rPr>
              <a:t> </a:t>
            </a:r>
            <a:r>
              <a:rPr lang="en-US" altLang="zh-CN" sz="1600" dirty="0">
                <a:solidFill>
                  <a:schemeClr val="accent6"/>
                </a:solidFill>
                <a:latin typeface="微软雅黑" panose="020B0503020204020204" pitchFamily="34" charset="-122"/>
                <a:ea typeface="微软雅黑" panose="020B0503020204020204" pitchFamily="34" charset="-122"/>
              </a:rPr>
              <a:t>names names2       </a:t>
            </a:r>
            <a:r>
              <a:rPr lang="en-US" altLang="zh-CN" sz="1600" dirty="0" smtClean="0">
                <a:solidFill>
                  <a:schemeClr val="accent1"/>
                </a:solidFill>
                <a:latin typeface="微软雅黑" panose="020B0503020204020204" pitchFamily="34" charset="-122"/>
                <a:ea typeface="微软雅黑" panose="020B0503020204020204" pitchFamily="34" charset="-122"/>
              </a:rPr>
              <a:t># </a:t>
            </a:r>
            <a:r>
              <a:rPr lang="zh-CN" altLang="en-US" sz="1600" dirty="0">
                <a:solidFill>
                  <a:schemeClr val="accent1"/>
                </a:solidFill>
                <a:latin typeface="微软雅黑" panose="020B0503020204020204" pitchFamily="34" charset="-122"/>
                <a:ea typeface="微软雅黑" panose="020B0503020204020204" pitchFamily="34" charset="-122"/>
              </a:rPr>
              <a:t>求集合</a:t>
            </a:r>
            <a:r>
              <a:rPr lang="en-US" altLang="zh-CN" sz="1600" dirty="0">
                <a:solidFill>
                  <a:schemeClr val="accent1"/>
                </a:solidFill>
                <a:latin typeface="微软雅黑" panose="020B0503020204020204" pitchFamily="34" charset="-122"/>
                <a:ea typeface="微软雅黑" panose="020B0503020204020204" pitchFamily="34" charset="-122"/>
              </a:rPr>
              <a:t>names </a:t>
            </a:r>
            <a:r>
              <a:rPr lang="zh-CN" altLang="en-US" sz="1600" dirty="0">
                <a:solidFill>
                  <a:schemeClr val="accent1"/>
                </a:solidFill>
                <a:latin typeface="微软雅黑" panose="020B0503020204020204" pitchFamily="34" charset="-122"/>
                <a:ea typeface="微软雅黑" panose="020B0503020204020204" pitchFamily="34" charset="-122"/>
              </a:rPr>
              <a:t>和</a:t>
            </a:r>
            <a:r>
              <a:rPr lang="en-US" altLang="zh-CN" sz="1600" dirty="0">
                <a:solidFill>
                  <a:schemeClr val="accent1"/>
                </a:solidFill>
                <a:latin typeface="微软雅黑" panose="020B0503020204020204" pitchFamily="34" charset="-122"/>
                <a:ea typeface="微软雅黑" panose="020B0503020204020204" pitchFamily="34" charset="-122"/>
              </a:rPr>
              <a:t>names2</a:t>
            </a:r>
            <a:r>
              <a:rPr lang="zh-CN" altLang="en-US" sz="1600" dirty="0">
                <a:solidFill>
                  <a:schemeClr val="accent1"/>
                </a:solidFill>
                <a:latin typeface="微软雅黑" panose="020B0503020204020204" pitchFamily="34" charset="-122"/>
                <a:ea typeface="微软雅黑" panose="020B0503020204020204" pitchFamily="34" charset="-122"/>
              </a:rPr>
              <a:t>的交集</a:t>
            </a:r>
            <a:endParaRPr lang="en-US" altLang="zh-CN" sz="1600" dirty="0">
              <a:solidFill>
                <a:schemeClr val="accent1"/>
              </a:solidFill>
              <a:latin typeface="微软雅黑" panose="020B0503020204020204" pitchFamily="34" charset="-122"/>
              <a:ea typeface="微软雅黑" panose="020B0503020204020204" pitchFamily="34" charset="-122"/>
            </a:endParaRPr>
          </a:p>
          <a:p>
            <a:r>
              <a:rPr lang="en-US" altLang="zh-CN" sz="1600" dirty="0">
                <a:solidFill>
                  <a:schemeClr val="accent6"/>
                </a:solidFill>
                <a:latin typeface="微软雅黑" panose="020B0503020204020204" pitchFamily="34" charset="-122"/>
                <a:ea typeface="微软雅黑" panose="020B0503020204020204" pitchFamily="34" charset="-122"/>
              </a:rPr>
              <a:t>1) "</a:t>
            </a:r>
            <a:r>
              <a:rPr lang="en-US" altLang="zh-CN" sz="1600" dirty="0" err="1">
                <a:solidFill>
                  <a:schemeClr val="accent6"/>
                </a:solidFill>
                <a:latin typeface="微软雅黑" panose="020B0503020204020204" pitchFamily="34" charset="-122"/>
                <a:ea typeface="微软雅黑" panose="020B0503020204020204" pitchFamily="34" charset="-122"/>
              </a:rPr>
              <a:t>xiaoming</a:t>
            </a:r>
            <a:r>
              <a:rPr lang="en-US" altLang="zh-CN" sz="1600" dirty="0">
                <a:solidFill>
                  <a:schemeClr val="accent6"/>
                </a:solidFill>
                <a:latin typeface="微软雅黑" panose="020B0503020204020204" pitchFamily="34" charset="-122"/>
                <a:ea typeface="微软雅黑" panose="020B0503020204020204" pitchFamily="34" charset="-122"/>
              </a:rPr>
              <a:t>"</a:t>
            </a:r>
          </a:p>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sunion</a:t>
            </a:r>
            <a:r>
              <a:rPr lang="en-US" altLang="zh-CN" sz="1600" dirty="0">
                <a:solidFill>
                  <a:srgbClr val="C00000"/>
                </a:solidFill>
                <a:latin typeface="微软雅黑" panose="020B0503020204020204" pitchFamily="34" charset="-122"/>
                <a:ea typeface="微软雅黑" panose="020B0503020204020204" pitchFamily="34" charset="-122"/>
              </a:rPr>
              <a:t> </a:t>
            </a:r>
            <a:r>
              <a:rPr lang="en-US" altLang="zh-CN" sz="1600" dirty="0">
                <a:solidFill>
                  <a:schemeClr val="accent6"/>
                </a:solidFill>
                <a:latin typeface="微软雅黑" panose="020B0503020204020204" pitchFamily="34" charset="-122"/>
                <a:ea typeface="微软雅黑" panose="020B0503020204020204" pitchFamily="34" charset="-122"/>
              </a:rPr>
              <a:t>names names2     </a:t>
            </a:r>
            <a:r>
              <a:rPr lang="en-US" altLang="zh-CN" sz="1600" dirty="0" smtClean="0">
                <a:solidFill>
                  <a:schemeClr val="accent1"/>
                </a:solidFill>
                <a:latin typeface="微软雅黑" panose="020B0503020204020204" pitchFamily="34" charset="-122"/>
                <a:ea typeface="微软雅黑" panose="020B0503020204020204" pitchFamily="34" charset="-122"/>
              </a:rPr>
              <a:t># </a:t>
            </a:r>
            <a:r>
              <a:rPr lang="zh-CN" altLang="en-US" sz="1600" dirty="0">
                <a:solidFill>
                  <a:schemeClr val="accent1"/>
                </a:solidFill>
                <a:latin typeface="微软雅黑" panose="020B0503020204020204" pitchFamily="34" charset="-122"/>
                <a:ea typeface="微软雅黑" panose="020B0503020204020204" pitchFamily="34" charset="-122"/>
              </a:rPr>
              <a:t>求集合</a:t>
            </a:r>
            <a:r>
              <a:rPr lang="en-US" altLang="zh-CN" sz="1600" dirty="0">
                <a:solidFill>
                  <a:schemeClr val="accent1"/>
                </a:solidFill>
                <a:latin typeface="微软雅黑" panose="020B0503020204020204" pitchFamily="34" charset="-122"/>
                <a:ea typeface="微软雅黑" panose="020B0503020204020204" pitchFamily="34" charset="-122"/>
              </a:rPr>
              <a:t>names </a:t>
            </a:r>
            <a:r>
              <a:rPr lang="zh-CN" altLang="en-US" sz="1600" dirty="0">
                <a:solidFill>
                  <a:schemeClr val="accent1"/>
                </a:solidFill>
                <a:latin typeface="微软雅黑" panose="020B0503020204020204" pitchFamily="34" charset="-122"/>
                <a:ea typeface="微软雅黑" panose="020B0503020204020204" pitchFamily="34" charset="-122"/>
              </a:rPr>
              <a:t>和</a:t>
            </a:r>
            <a:r>
              <a:rPr lang="en-US" altLang="zh-CN" sz="1600" dirty="0">
                <a:solidFill>
                  <a:schemeClr val="accent1"/>
                </a:solidFill>
                <a:latin typeface="微软雅黑" panose="020B0503020204020204" pitchFamily="34" charset="-122"/>
                <a:ea typeface="微软雅黑" panose="020B0503020204020204" pitchFamily="34" charset="-122"/>
              </a:rPr>
              <a:t>names2</a:t>
            </a:r>
            <a:r>
              <a:rPr lang="zh-CN" altLang="en-US" sz="1600" dirty="0">
                <a:solidFill>
                  <a:schemeClr val="accent1"/>
                </a:solidFill>
                <a:latin typeface="微软雅黑" panose="020B0503020204020204" pitchFamily="34" charset="-122"/>
                <a:ea typeface="微软雅黑" panose="020B0503020204020204" pitchFamily="34" charset="-122"/>
              </a:rPr>
              <a:t>的并集</a:t>
            </a:r>
            <a:endParaRPr lang="en-US" altLang="zh-CN" sz="1600" dirty="0">
              <a:solidFill>
                <a:schemeClr val="accent1"/>
              </a:solidFill>
              <a:latin typeface="微软雅黑" panose="020B0503020204020204" pitchFamily="34" charset="-122"/>
              <a:ea typeface="微软雅黑" panose="020B0503020204020204" pitchFamily="34" charset="-122"/>
            </a:endParaRPr>
          </a:p>
          <a:p>
            <a:r>
              <a:rPr lang="en-US" altLang="zh-CN" sz="1600" dirty="0">
                <a:solidFill>
                  <a:schemeClr val="accent6"/>
                </a:solidFill>
                <a:latin typeface="微软雅黑" panose="020B0503020204020204" pitchFamily="34" charset="-122"/>
                <a:ea typeface="微软雅黑" panose="020B0503020204020204" pitchFamily="34" charset="-122"/>
              </a:rPr>
              <a:t>1) "</a:t>
            </a:r>
            <a:r>
              <a:rPr lang="en-US" altLang="zh-CN" sz="1600" dirty="0" err="1">
                <a:solidFill>
                  <a:schemeClr val="accent6"/>
                </a:solidFill>
                <a:latin typeface="微软雅黑" panose="020B0503020204020204" pitchFamily="34" charset="-122"/>
                <a:ea typeface="微软雅黑" panose="020B0503020204020204" pitchFamily="34" charset="-122"/>
              </a:rPr>
              <a:t>xiaoming</a:t>
            </a:r>
            <a:r>
              <a:rPr lang="en-US" altLang="zh-CN" sz="1600" dirty="0">
                <a:solidFill>
                  <a:schemeClr val="accent6"/>
                </a:solidFill>
                <a:latin typeface="微软雅黑" panose="020B0503020204020204" pitchFamily="34" charset="-122"/>
                <a:ea typeface="微软雅黑" panose="020B0503020204020204" pitchFamily="34" charset="-122"/>
              </a:rPr>
              <a:t>"</a:t>
            </a:r>
          </a:p>
          <a:p>
            <a:r>
              <a:rPr lang="en-US" altLang="zh-CN" sz="1600" dirty="0">
                <a:solidFill>
                  <a:schemeClr val="accent6"/>
                </a:solidFill>
                <a:latin typeface="微软雅黑" panose="020B0503020204020204" pitchFamily="34" charset="-122"/>
                <a:ea typeface="微软雅黑" panose="020B0503020204020204" pitchFamily="34" charset="-122"/>
              </a:rPr>
              <a:t>2) "</a:t>
            </a:r>
            <a:r>
              <a:rPr lang="en-US" altLang="zh-CN" sz="1600" dirty="0" err="1">
                <a:solidFill>
                  <a:schemeClr val="accent6"/>
                </a:solidFill>
                <a:latin typeface="微软雅黑" panose="020B0503020204020204" pitchFamily="34" charset="-122"/>
                <a:ea typeface="微软雅黑" panose="020B0503020204020204" pitchFamily="34" charset="-122"/>
              </a:rPr>
              <a:t>agou</a:t>
            </a:r>
            <a:r>
              <a:rPr lang="en-US" altLang="zh-CN" sz="1600" dirty="0">
                <a:solidFill>
                  <a:schemeClr val="accent6"/>
                </a:solidFill>
                <a:latin typeface="微软雅黑" panose="020B0503020204020204" pitchFamily="34" charset="-122"/>
                <a:ea typeface="微软雅黑" panose="020B0503020204020204" pitchFamily="34" charset="-122"/>
              </a:rPr>
              <a:t>"</a:t>
            </a:r>
          </a:p>
          <a:p>
            <a:r>
              <a:rPr lang="en-US" altLang="zh-CN" sz="1600" dirty="0">
                <a:solidFill>
                  <a:schemeClr val="accent6"/>
                </a:solidFill>
                <a:latin typeface="微软雅黑" panose="020B0503020204020204" pitchFamily="34" charset="-122"/>
                <a:ea typeface="微软雅黑" panose="020B0503020204020204" pitchFamily="34" charset="-122"/>
              </a:rPr>
              <a:t>3) "</a:t>
            </a:r>
            <a:r>
              <a:rPr lang="en-US" altLang="zh-CN" sz="1600" dirty="0" err="1">
                <a:solidFill>
                  <a:schemeClr val="accent6"/>
                </a:solidFill>
                <a:latin typeface="微软雅黑" panose="020B0503020204020204" pitchFamily="34" charset="-122"/>
                <a:ea typeface="微软雅黑" panose="020B0503020204020204" pitchFamily="34" charset="-122"/>
              </a:rPr>
              <a:t>dali</a:t>
            </a:r>
            <a:r>
              <a:rPr lang="en-US" altLang="zh-CN" sz="1600" dirty="0">
                <a:solidFill>
                  <a:schemeClr val="accent6"/>
                </a:solidFill>
                <a:latin typeface="微软雅黑" panose="020B0503020204020204" pitchFamily="34" charset="-122"/>
                <a:ea typeface="微软雅黑" panose="020B0503020204020204" pitchFamily="34" charset="-122"/>
              </a:rPr>
              <a:t>"</a:t>
            </a:r>
          </a:p>
          <a:p>
            <a:r>
              <a:rPr lang="en-US" altLang="zh-CN" sz="1600" dirty="0">
                <a:solidFill>
                  <a:schemeClr val="accent6"/>
                </a:solidFill>
                <a:latin typeface="微软雅黑" panose="020B0503020204020204" pitchFamily="34" charset="-122"/>
                <a:ea typeface="微软雅黑" panose="020B0503020204020204" pitchFamily="34" charset="-122"/>
              </a:rPr>
              <a:t>4) "</a:t>
            </a:r>
            <a:r>
              <a:rPr lang="en-US" altLang="zh-CN" sz="1600" dirty="0" err="1">
                <a:solidFill>
                  <a:schemeClr val="accent6"/>
                </a:solidFill>
                <a:latin typeface="微软雅黑" panose="020B0503020204020204" pitchFamily="34" charset="-122"/>
                <a:ea typeface="微软雅黑" panose="020B0503020204020204" pitchFamily="34" charset="-122"/>
              </a:rPr>
              <a:t>xiaofang</a:t>
            </a:r>
            <a:r>
              <a:rPr lang="en-US" altLang="zh-CN" sz="1600" dirty="0">
                <a:solidFill>
                  <a:schemeClr val="accent6"/>
                </a:solidFill>
                <a:latin typeface="微软雅黑" panose="020B0503020204020204" pitchFamily="34" charset="-122"/>
                <a:ea typeface="微软雅黑" panose="020B0503020204020204" pitchFamily="34" charset="-122"/>
              </a:rPr>
              <a:t>"</a:t>
            </a:r>
          </a:p>
          <a:p>
            <a:r>
              <a:rPr lang="en-US" altLang="zh-CN" sz="1600" dirty="0">
                <a:solidFill>
                  <a:schemeClr val="accent6"/>
                </a:solidFill>
                <a:latin typeface="微软雅黑" panose="020B0503020204020204" pitchFamily="34" charset="-122"/>
                <a:ea typeface="微软雅黑" panose="020B0503020204020204" pitchFamily="34" charset="-122"/>
              </a:rPr>
              <a:t>5) "</a:t>
            </a:r>
            <a:r>
              <a:rPr lang="en-US" altLang="zh-CN" sz="1600" dirty="0" err="1">
                <a:solidFill>
                  <a:schemeClr val="accent6"/>
                </a:solidFill>
                <a:latin typeface="微软雅黑" panose="020B0503020204020204" pitchFamily="34" charset="-122"/>
                <a:ea typeface="微软雅黑" panose="020B0503020204020204" pitchFamily="34" charset="-122"/>
              </a:rPr>
              <a:t>amao</a:t>
            </a:r>
            <a:r>
              <a:rPr lang="en-US" altLang="zh-CN" sz="1600" dirty="0">
                <a:solidFill>
                  <a:schemeClr val="accent6"/>
                </a:solidFill>
                <a:latin typeface="微软雅黑" panose="020B0503020204020204" pitchFamily="34" charset="-122"/>
                <a:ea typeface="微软雅黑" panose="020B0503020204020204" pitchFamily="34" charset="-122"/>
              </a:rPr>
              <a:t>"</a:t>
            </a:r>
          </a:p>
          <a:p>
            <a:r>
              <a:rPr lang="en-US" altLang="zh-CN" sz="1600" dirty="0">
                <a:solidFill>
                  <a:schemeClr val="accent6"/>
                </a:solidFill>
                <a:latin typeface="微软雅黑" panose="020B0503020204020204" pitchFamily="34" charset="-122"/>
                <a:ea typeface="微软雅黑" panose="020B0503020204020204" pitchFamily="34" charset="-122"/>
              </a:rPr>
              <a:t>6) "</a:t>
            </a:r>
            <a:r>
              <a:rPr lang="en-US" altLang="zh-CN" sz="1600" dirty="0" err="1">
                <a:solidFill>
                  <a:schemeClr val="accent6"/>
                </a:solidFill>
                <a:latin typeface="微软雅黑" panose="020B0503020204020204" pitchFamily="34" charset="-122"/>
                <a:ea typeface="微软雅黑" panose="020B0503020204020204" pitchFamily="34" charset="-122"/>
              </a:rPr>
              <a:t>xiaozhu</a:t>
            </a:r>
            <a:r>
              <a:rPr lang="en-US" altLang="zh-CN" sz="1600" dirty="0">
                <a:solidFill>
                  <a:schemeClr val="accent6"/>
                </a:solidFill>
                <a:latin typeface="微软雅黑" panose="020B0503020204020204" pitchFamily="34" charset="-122"/>
                <a:ea typeface="微软雅黑" panose="020B0503020204020204" pitchFamily="34" charset="-122"/>
              </a:rPr>
              <a:t>“</a:t>
            </a:r>
          </a:p>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spop</a:t>
            </a:r>
            <a:r>
              <a:rPr lang="en-US" altLang="zh-CN" sz="1600" dirty="0">
                <a:solidFill>
                  <a:srgbClr val="C00000"/>
                </a:solidFill>
                <a:latin typeface="微软雅黑" panose="020B0503020204020204" pitchFamily="34" charset="-122"/>
                <a:ea typeface="微软雅黑" panose="020B0503020204020204" pitchFamily="34" charset="-122"/>
              </a:rPr>
              <a:t> </a:t>
            </a:r>
            <a:r>
              <a:rPr lang="en-US" altLang="zh-CN" sz="1600" dirty="0">
                <a:solidFill>
                  <a:schemeClr val="accent6"/>
                </a:solidFill>
                <a:latin typeface="微软雅黑" panose="020B0503020204020204" pitchFamily="34" charset="-122"/>
                <a:ea typeface="微软雅黑" panose="020B0503020204020204" pitchFamily="34" charset="-122"/>
              </a:rPr>
              <a:t>names                      </a:t>
            </a:r>
            <a:r>
              <a:rPr lang="en-US" altLang="zh-CN" sz="1600" dirty="0" smtClean="0">
                <a:solidFill>
                  <a:schemeClr val="accent1"/>
                </a:solidFill>
                <a:latin typeface="微软雅黑" panose="020B0503020204020204" pitchFamily="34" charset="-122"/>
                <a:ea typeface="微软雅黑" panose="020B0503020204020204" pitchFamily="34" charset="-122"/>
              </a:rPr>
              <a:t># </a:t>
            </a:r>
            <a:r>
              <a:rPr lang="zh-CN" altLang="en-US" sz="1600" dirty="0">
                <a:solidFill>
                  <a:schemeClr val="accent1"/>
                </a:solidFill>
                <a:latin typeface="微软雅黑" panose="020B0503020204020204" pitchFamily="34" charset="-122"/>
                <a:ea typeface="微软雅黑" panose="020B0503020204020204" pitchFamily="34" charset="-122"/>
              </a:rPr>
              <a:t>从集合</a:t>
            </a:r>
            <a:r>
              <a:rPr lang="en-US" altLang="zh-CN" sz="1600" dirty="0">
                <a:solidFill>
                  <a:schemeClr val="accent1"/>
                </a:solidFill>
                <a:latin typeface="微软雅黑" panose="020B0503020204020204" pitchFamily="34" charset="-122"/>
                <a:ea typeface="微软雅黑" panose="020B0503020204020204" pitchFamily="34" charset="-122"/>
              </a:rPr>
              <a:t>names</a:t>
            </a:r>
            <a:r>
              <a:rPr lang="zh-CN" altLang="en-US" sz="1600" dirty="0">
                <a:solidFill>
                  <a:schemeClr val="accent1"/>
                </a:solidFill>
                <a:latin typeface="微软雅黑" panose="020B0503020204020204" pitchFamily="34" charset="-122"/>
                <a:ea typeface="微软雅黑" panose="020B0503020204020204" pitchFamily="34" charset="-122"/>
              </a:rPr>
              <a:t>随机弹出一个成员</a:t>
            </a:r>
            <a:endParaRPr lang="en-US" altLang="zh-CN" sz="1600" dirty="0">
              <a:solidFill>
                <a:schemeClr val="accent1"/>
              </a:solidFill>
              <a:latin typeface="微软雅黑" panose="020B0503020204020204" pitchFamily="34" charset="-122"/>
              <a:ea typeface="微软雅黑" panose="020B0503020204020204" pitchFamily="34" charset="-122"/>
            </a:endParaRPr>
          </a:p>
          <a:p>
            <a:r>
              <a:rPr lang="en-US" altLang="zh-CN" sz="1600" dirty="0">
                <a:solidFill>
                  <a:schemeClr val="accent6"/>
                </a:solidFill>
                <a:latin typeface="微软雅黑" panose="020B0503020204020204" pitchFamily="34" charset="-122"/>
                <a:ea typeface="微软雅黑" panose="020B0503020204020204" pitchFamily="34" charset="-122"/>
              </a:rPr>
              <a:t>"</a:t>
            </a:r>
            <a:r>
              <a:rPr lang="en-US" altLang="zh-CN" sz="1600" dirty="0" err="1">
                <a:solidFill>
                  <a:schemeClr val="accent6"/>
                </a:solidFill>
                <a:latin typeface="微软雅黑" panose="020B0503020204020204" pitchFamily="34" charset="-122"/>
                <a:ea typeface="微软雅黑" panose="020B0503020204020204" pitchFamily="34" charset="-122"/>
              </a:rPr>
              <a:t>amao</a:t>
            </a:r>
            <a:r>
              <a:rPr lang="en-US" altLang="zh-CN" sz="1600" dirty="0" smtClean="0">
                <a:solidFill>
                  <a:schemeClr val="accent6"/>
                </a:solidFill>
                <a:latin typeface="微软雅黑" panose="020B0503020204020204" pitchFamily="34" charset="-122"/>
                <a:ea typeface="微软雅黑" panose="020B0503020204020204" pitchFamily="34" charset="-122"/>
              </a:rPr>
              <a:t>"</a:t>
            </a:r>
            <a:endParaRPr lang="zh-CN" altLang="en-US" sz="1600" dirty="0">
              <a:solidFill>
                <a:schemeClr val="accent6"/>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955924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6"/>
                                        </p:tgtEl>
                                        <p:attrNameLst>
                                          <p:attrName>style.visibility</p:attrName>
                                        </p:attrNameLst>
                                      </p:cBhvr>
                                      <p:to>
                                        <p:strVal val="visible"/>
                                      </p:to>
                                    </p:set>
                                    <p:anim calcmode="lin" valueType="num">
                                      <p:cBhvr>
                                        <p:cTn id="12" dur="500" fill="hold"/>
                                        <p:tgtEl>
                                          <p:spTgt spid="16"/>
                                        </p:tgtEl>
                                        <p:attrNameLst>
                                          <p:attrName>ppt_w</p:attrName>
                                        </p:attrNameLst>
                                      </p:cBhvr>
                                      <p:tavLst>
                                        <p:tav tm="0">
                                          <p:val>
                                            <p:fltVal val="0"/>
                                          </p:val>
                                        </p:tav>
                                        <p:tav tm="100000">
                                          <p:val>
                                            <p:strVal val="#ppt_w"/>
                                          </p:val>
                                        </p:tav>
                                      </p:tavLst>
                                    </p:anim>
                                    <p:anim calcmode="lin" valueType="num">
                                      <p:cBhvr>
                                        <p:cTn id="13" dur="500" fill="hold"/>
                                        <p:tgtEl>
                                          <p:spTgt spid="16"/>
                                        </p:tgtEl>
                                        <p:attrNameLst>
                                          <p:attrName>ppt_h</p:attrName>
                                        </p:attrNameLst>
                                      </p:cBhvr>
                                      <p:tavLst>
                                        <p:tav tm="0">
                                          <p:val>
                                            <p:fltVal val="0"/>
                                          </p:val>
                                        </p:tav>
                                        <p:tav tm="100000">
                                          <p:val>
                                            <p:strVal val="#ppt_h"/>
                                          </p:val>
                                        </p:tav>
                                      </p:tavLst>
                                    </p:anim>
                                    <p:animEffect transition="in" filter="fade">
                                      <p:cBhvr>
                                        <p:cTn id="14"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A0F23"/>
        </a:solidFill>
        <a:effectLst/>
      </p:bgPr>
    </p:bg>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xmlns="" id="{CBDC52CD-1D62-48AF-A9DF-9F18AEA2B1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01385" y="-114300"/>
            <a:ext cx="1301859" cy="920356"/>
          </a:xfrm>
          <a:prstGeom prst="rect">
            <a:avLst/>
          </a:prstGeom>
        </p:spPr>
      </p:pic>
      <p:pic>
        <p:nvPicPr>
          <p:cNvPr id="14" name="图片 13">
            <a:extLst>
              <a:ext uri="{FF2B5EF4-FFF2-40B4-BE49-F238E27FC236}">
                <a16:creationId xmlns:a16="http://schemas.microsoft.com/office/drawing/2014/main" xmlns="" id="{F78DA958-9B1B-47DA-A870-8C0B3A7D8866}"/>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b="63537"/>
          <a:stretch/>
        </p:blipFill>
        <p:spPr>
          <a:xfrm>
            <a:off x="11184164" y="217733"/>
            <a:ext cx="572339" cy="337210"/>
          </a:xfrm>
          <a:prstGeom prst="rect">
            <a:avLst/>
          </a:prstGeom>
        </p:spPr>
      </p:pic>
      <p:cxnSp>
        <p:nvCxnSpPr>
          <p:cNvPr id="15" name="直接连接符 14">
            <a:extLst>
              <a:ext uri="{FF2B5EF4-FFF2-40B4-BE49-F238E27FC236}">
                <a16:creationId xmlns:a16="http://schemas.microsoft.com/office/drawing/2014/main" xmlns="" id="{93240A06-D526-4907-A163-94ABB41190CC}"/>
              </a:ext>
            </a:extLst>
          </p:cNvPr>
          <p:cNvCxnSpPr/>
          <p:nvPr/>
        </p:nvCxnSpPr>
        <p:spPr>
          <a:xfrm>
            <a:off x="11103244" y="225825"/>
            <a:ext cx="0" cy="2435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xmlns="" id="{74C59758-12AB-44A5-92FA-DB52904027AE}"/>
              </a:ext>
            </a:extLst>
          </p:cNvPr>
          <p:cNvSpPr/>
          <p:nvPr/>
        </p:nvSpPr>
        <p:spPr>
          <a:xfrm>
            <a:off x="802332" y="1287114"/>
            <a:ext cx="10765483" cy="1289905"/>
          </a:xfrm>
          <a:prstGeom prst="rect">
            <a:avLst/>
          </a:prstGeom>
        </p:spPr>
        <p:txBody>
          <a:bodyPr wrap="square">
            <a:spAutoFit/>
          </a:bodyPr>
          <a:lstStyle/>
          <a:p>
            <a:pPr indent="457200">
              <a:lnSpc>
                <a:spcPct val="150000"/>
              </a:lnSpc>
            </a:pPr>
            <a:r>
              <a:rPr lang="zh-CN" altLang="en-US" dirty="0" smtClean="0">
                <a:solidFill>
                  <a:prstClr val="white"/>
                </a:solidFill>
                <a:latin typeface="微软雅黑" panose="020B0503020204020204" pitchFamily="34" charset="-122"/>
                <a:ea typeface="微软雅黑" panose="020B0503020204020204" pitchFamily="34" charset="-122"/>
              </a:rPr>
              <a:t>在</a:t>
            </a:r>
            <a:r>
              <a:rPr lang="en-US" altLang="zh-CN" dirty="0" smtClean="0">
                <a:solidFill>
                  <a:prstClr val="white"/>
                </a:solidFill>
                <a:latin typeface="微软雅黑" panose="020B0503020204020204" pitchFamily="34" charset="-122"/>
                <a:ea typeface="微软雅黑" panose="020B0503020204020204" pitchFamily="34" charset="-122"/>
              </a:rPr>
              <a:t>OMS</a:t>
            </a:r>
            <a:r>
              <a:rPr lang="zh-CN" altLang="en-US" dirty="0">
                <a:solidFill>
                  <a:prstClr val="white"/>
                </a:solidFill>
                <a:latin typeface="微软雅黑" panose="020B0503020204020204" pitchFamily="34" charset="-122"/>
                <a:ea typeface="微软雅黑" panose="020B0503020204020204" pitchFamily="34" charset="-122"/>
              </a:rPr>
              <a:t>接</a:t>
            </a:r>
            <a:r>
              <a:rPr lang="zh-CN" altLang="en-US" dirty="0" smtClean="0">
                <a:solidFill>
                  <a:prstClr val="white"/>
                </a:solidFill>
                <a:latin typeface="微软雅黑" panose="020B0503020204020204" pitchFamily="34" charset="-122"/>
                <a:ea typeface="微软雅黑" panose="020B0503020204020204" pitchFamily="34" charset="-122"/>
              </a:rPr>
              <a:t>收第三方下单的场景中，</a:t>
            </a:r>
            <a:r>
              <a:rPr lang="en-US" altLang="zh-CN" dirty="0" smtClean="0">
                <a:solidFill>
                  <a:prstClr val="white"/>
                </a:solidFill>
                <a:latin typeface="微软雅黑" panose="020B0503020204020204" pitchFamily="34" charset="-122"/>
                <a:ea typeface="微软雅黑" panose="020B0503020204020204" pitchFamily="34" charset="-122"/>
              </a:rPr>
              <a:t>OMS</a:t>
            </a:r>
            <a:r>
              <a:rPr lang="zh-CN" altLang="en-US" dirty="0" smtClean="0">
                <a:solidFill>
                  <a:prstClr val="white"/>
                </a:solidFill>
                <a:latin typeface="微软雅黑" panose="020B0503020204020204" pitchFamily="34" charset="-122"/>
                <a:ea typeface="微软雅黑" panose="020B0503020204020204" pitchFamily="34" charset="-122"/>
              </a:rPr>
              <a:t>会对客户订单内容做校验，其中一个重要校验就是订单的商品是否是该货主的商品，如果该货主没有这个商品，则校验不通过。为了应对高并发需求，货主的商品列表缓存在</a:t>
            </a:r>
            <a:r>
              <a:rPr lang="en-US" altLang="zh-CN" dirty="0" err="1" smtClean="0">
                <a:solidFill>
                  <a:prstClr val="white"/>
                </a:solidFill>
                <a:latin typeface="微软雅黑" panose="020B0503020204020204" pitchFamily="34" charset="-122"/>
                <a:ea typeface="微软雅黑" panose="020B0503020204020204" pitchFamily="34" charset="-122"/>
              </a:rPr>
              <a:t>redis</a:t>
            </a:r>
            <a:r>
              <a:rPr lang="zh-CN" altLang="en-US" dirty="0" smtClean="0">
                <a:solidFill>
                  <a:prstClr val="white"/>
                </a:solidFill>
                <a:latin typeface="微软雅黑" panose="020B0503020204020204" pitchFamily="34" charset="-122"/>
                <a:ea typeface="微软雅黑" panose="020B0503020204020204" pitchFamily="34" charset="-122"/>
              </a:rPr>
              <a:t>中</a:t>
            </a:r>
            <a:endParaRPr lang="zh-CN" altLang="en-US" dirty="0">
              <a:solidFill>
                <a:prstClr val="white"/>
              </a:solidFill>
              <a:latin typeface="微软雅黑" panose="020B0503020204020204" pitchFamily="34" charset="-122"/>
              <a:ea typeface="微软雅黑" panose="020B0503020204020204" pitchFamily="34" charset="-122"/>
            </a:endParaRPr>
          </a:p>
        </p:txBody>
      </p:sp>
      <p:sp>
        <p:nvSpPr>
          <p:cNvPr id="10" name="TextBox 9"/>
          <p:cNvSpPr txBox="1"/>
          <p:nvPr/>
        </p:nvSpPr>
        <p:spPr>
          <a:xfrm>
            <a:off x="704849" y="605109"/>
            <a:ext cx="9096535" cy="523220"/>
          </a:xfrm>
          <a:prstGeom prst="rect">
            <a:avLst/>
          </a:prstGeom>
          <a:noFill/>
        </p:spPr>
        <p:txBody>
          <a:bodyPr wrap="square" rtlCol="0">
            <a:spAutoFit/>
          </a:bodyPr>
          <a:lstStyle/>
          <a:p>
            <a:pPr>
              <a:defRPr/>
            </a:pPr>
            <a:r>
              <a:rPr lang="en-US" altLang="zh-CN"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2.3.3 </a:t>
            </a:r>
            <a:r>
              <a:rPr lang="zh-CN" altLang="en-US"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货主的商品列表</a:t>
            </a:r>
          </a:p>
        </p:txBody>
      </p:sp>
      <p:sp>
        <p:nvSpPr>
          <p:cNvPr id="2" name="文本框 1"/>
          <p:cNvSpPr txBox="1"/>
          <p:nvPr/>
        </p:nvSpPr>
        <p:spPr>
          <a:xfrm>
            <a:off x="802332" y="2818423"/>
            <a:ext cx="10188844" cy="2062103"/>
          </a:xfrm>
          <a:prstGeom prst="rect">
            <a:avLst/>
          </a:prstGeom>
          <a:noFill/>
          <a:ln>
            <a:solidFill>
              <a:schemeClr val="bg1"/>
            </a:solidFill>
          </a:ln>
        </p:spPr>
        <p:txBody>
          <a:bodyPr wrap="square" rtlCol="0">
            <a:spAutoFit/>
          </a:bodyPr>
          <a:lstStyle/>
          <a:p>
            <a:r>
              <a:rPr lang="en-US" altLang="zh-CN" sz="1600" dirty="0" smtClean="0">
                <a:solidFill>
                  <a:schemeClr val="accent1"/>
                </a:solidFill>
                <a:latin typeface="微软雅黑" panose="020B0503020204020204" pitchFamily="34" charset="-122"/>
                <a:ea typeface="微软雅黑" panose="020B0503020204020204" pitchFamily="34" charset="-122"/>
              </a:rPr>
              <a:t>#  </a:t>
            </a:r>
            <a:r>
              <a:rPr lang="zh-CN" altLang="en-US" sz="1600" dirty="0" smtClean="0">
                <a:solidFill>
                  <a:schemeClr val="accent1"/>
                </a:solidFill>
                <a:latin typeface="微软雅黑" panose="020B0503020204020204" pitchFamily="34" charset="-122"/>
                <a:ea typeface="微软雅黑" panose="020B0503020204020204" pitchFamily="34" charset="-122"/>
              </a:rPr>
              <a:t>初始化货主的商品列表，放入集合</a:t>
            </a:r>
            <a:r>
              <a:rPr lang="en-US" altLang="zh-CN" sz="1600" dirty="0">
                <a:solidFill>
                  <a:schemeClr val="accent1"/>
                </a:solidFill>
                <a:latin typeface="微软雅黑" panose="020B0503020204020204" pitchFamily="34" charset="-122"/>
                <a:ea typeface="微软雅黑" panose="020B0503020204020204" pitchFamily="34" charset="-122"/>
              </a:rPr>
              <a:t>customer01_items</a:t>
            </a:r>
            <a:r>
              <a:rPr lang="zh-CN" altLang="en-US" sz="1600" dirty="0" smtClean="0">
                <a:solidFill>
                  <a:schemeClr val="accent1"/>
                </a:solidFill>
                <a:latin typeface="微软雅黑" panose="020B0503020204020204" pitchFamily="34" charset="-122"/>
                <a:ea typeface="微软雅黑" panose="020B0503020204020204" pitchFamily="34" charset="-122"/>
              </a:rPr>
              <a:t>中，</a:t>
            </a:r>
            <a:r>
              <a:rPr lang="zh-CN" altLang="en-US" sz="1600" dirty="0">
                <a:solidFill>
                  <a:schemeClr val="accent1"/>
                </a:solidFill>
                <a:latin typeface="微软雅黑" panose="020B0503020204020204" pitchFamily="34" charset="-122"/>
                <a:ea typeface="微软雅黑" panose="020B0503020204020204" pitchFamily="34" charset="-122"/>
              </a:rPr>
              <a:t>集</a:t>
            </a:r>
            <a:r>
              <a:rPr lang="zh-CN" altLang="en-US" sz="1600" dirty="0" smtClean="0">
                <a:solidFill>
                  <a:schemeClr val="accent1"/>
                </a:solidFill>
                <a:latin typeface="微软雅黑" panose="020B0503020204020204" pitchFamily="34" charset="-122"/>
                <a:ea typeface="微软雅黑" panose="020B0503020204020204" pitchFamily="34" charset="-122"/>
              </a:rPr>
              <a:t>合</a:t>
            </a:r>
            <a:r>
              <a:rPr lang="en-US" altLang="zh-CN" sz="1600" dirty="0" smtClean="0">
                <a:solidFill>
                  <a:schemeClr val="accent1"/>
                </a:solidFill>
                <a:latin typeface="微软雅黑" panose="020B0503020204020204" pitchFamily="34" charset="-122"/>
                <a:ea typeface="微软雅黑" panose="020B0503020204020204" pitchFamily="34" charset="-122"/>
              </a:rPr>
              <a:t>key</a:t>
            </a:r>
            <a:r>
              <a:rPr lang="zh-CN" altLang="en-US" sz="1600" dirty="0" smtClean="0">
                <a:solidFill>
                  <a:schemeClr val="accent1"/>
                </a:solidFill>
                <a:latin typeface="微软雅黑" panose="020B0503020204020204" pitchFamily="34" charset="-122"/>
                <a:ea typeface="微软雅黑" panose="020B0503020204020204" pitchFamily="34" charset="-122"/>
              </a:rPr>
              <a:t>按“货主代码</a:t>
            </a:r>
            <a:r>
              <a:rPr lang="en-US" altLang="zh-CN" sz="1600" dirty="0" smtClean="0">
                <a:solidFill>
                  <a:schemeClr val="accent1"/>
                </a:solidFill>
                <a:latin typeface="微软雅黑" panose="020B0503020204020204" pitchFamily="34" charset="-122"/>
                <a:ea typeface="微软雅黑" panose="020B0503020204020204" pitchFamily="34" charset="-122"/>
              </a:rPr>
              <a:t>+_items”</a:t>
            </a:r>
            <a:r>
              <a:rPr lang="zh-CN" altLang="en-US" sz="1600" dirty="0" smtClean="0">
                <a:solidFill>
                  <a:schemeClr val="accent1"/>
                </a:solidFill>
                <a:latin typeface="微软雅黑" panose="020B0503020204020204" pitchFamily="34" charset="-122"/>
                <a:ea typeface="微软雅黑" panose="020B0503020204020204" pitchFamily="34" charset="-122"/>
              </a:rPr>
              <a:t>的规则组成。</a:t>
            </a:r>
            <a:endParaRPr lang="en-US" altLang="zh-CN" sz="1600" dirty="0" smtClean="0">
              <a:solidFill>
                <a:schemeClr val="accent1"/>
              </a:solidFill>
              <a:latin typeface="微软雅黑" panose="020B0503020204020204" pitchFamily="34" charset="-122"/>
              <a:ea typeface="微软雅黑" panose="020B0503020204020204" pitchFamily="34" charset="-122"/>
            </a:endParaRPr>
          </a:p>
          <a:p>
            <a:r>
              <a:rPr lang="en-US" altLang="zh-CN" sz="1600" dirty="0" smtClean="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sadd</a:t>
            </a:r>
            <a:r>
              <a:rPr lang="en-US" altLang="zh-CN" sz="1600" dirty="0">
                <a:solidFill>
                  <a:srgbClr val="C00000"/>
                </a:solidFill>
                <a:latin typeface="微软雅黑" panose="020B0503020204020204" pitchFamily="34" charset="-122"/>
                <a:ea typeface="微软雅黑" panose="020B0503020204020204" pitchFamily="34" charset="-122"/>
              </a:rPr>
              <a:t> </a:t>
            </a:r>
            <a:r>
              <a:rPr lang="en-US" altLang="zh-CN" sz="1600" dirty="0">
                <a:solidFill>
                  <a:schemeClr val="accent6"/>
                </a:solidFill>
                <a:latin typeface="微软雅黑" panose="020B0503020204020204" pitchFamily="34" charset="-122"/>
                <a:ea typeface="微软雅黑" panose="020B0503020204020204" pitchFamily="34" charset="-122"/>
              </a:rPr>
              <a:t>customer01_items sku001 sku002 sku003 sku004 sku005</a:t>
            </a:r>
          </a:p>
          <a:p>
            <a:r>
              <a:rPr lang="en-US" altLang="zh-CN" sz="1600" dirty="0">
                <a:solidFill>
                  <a:schemeClr val="accent6"/>
                </a:solidFill>
                <a:latin typeface="微软雅黑" panose="020B0503020204020204" pitchFamily="34" charset="-122"/>
                <a:ea typeface="微软雅黑" panose="020B0503020204020204" pitchFamily="34" charset="-122"/>
              </a:rPr>
              <a:t>(integer) </a:t>
            </a:r>
            <a:r>
              <a:rPr lang="en-US" altLang="zh-CN" sz="1600" dirty="0" smtClean="0">
                <a:solidFill>
                  <a:schemeClr val="accent6"/>
                </a:solidFill>
                <a:latin typeface="微软雅黑" panose="020B0503020204020204" pitchFamily="34" charset="-122"/>
                <a:ea typeface="微软雅黑" panose="020B0503020204020204" pitchFamily="34" charset="-122"/>
              </a:rPr>
              <a:t>5</a:t>
            </a:r>
          </a:p>
          <a:p>
            <a:r>
              <a:rPr lang="en-US" altLang="zh-CN" sz="1600" dirty="0" smtClean="0">
                <a:solidFill>
                  <a:schemeClr val="accent1"/>
                </a:solidFill>
                <a:latin typeface="微软雅黑" panose="020B0503020204020204" pitchFamily="34" charset="-122"/>
                <a:ea typeface="微软雅黑" panose="020B0503020204020204" pitchFamily="34" charset="-122"/>
              </a:rPr>
              <a:t>#  </a:t>
            </a:r>
            <a:r>
              <a:rPr lang="zh-CN" altLang="en-US" sz="1600" dirty="0" smtClean="0">
                <a:solidFill>
                  <a:schemeClr val="accent1"/>
                </a:solidFill>
                <a:latin typeface="微软雅黑" panose="020B0503020204020204" pitchFamily="34" charset="-122"/>
                <a:ea typeface="微软雅黑" panose="020B0503020204020204" pitchFamily="34" charset="-122"/>
              </a:rPr>
              <a:t>分别判断商品</a:t>
            </a:r>
            <a:r>
              <a:rPr lang="en-US" altLang="zh-CN" sz="1600" dirty="0" smtClean="0">
                <a:solidFill>
                  <a:schemeClr val="accent1"/>
                </a:solidFill>
                <a:latin typeface="微软雅黑" panose="020B0503020204020204" pitchFamily="34" charset="-122"/>
                <a:ea typeface="微软雅黑" panose="020B0503020204020204" pitchFamily="34" charset="-122"/>
              </a:rPr>
              <a:t>sku003</a:t>
            </a:r>
            <a:r>
              <a:rPr lang="zh-CN" altLang="en-US" sz="1600" dirty="0" smtClean="0">
                <a:solidFill>
                  <a:schemeClr val="accent1"/>
                </a:solidFill>
                <a:latin typeface="微软雅黑" panose="020B0503020204020204" pitchFamily="34" charset="-122"/>
                <a:ea typeface="微软雅黑" panose="020B0503020204020204" pitchFamily="34" charset="-122"/>
              </a:rPr>
              <a:t>，</a:t>
            </a:r>
            <a:r>
              <a:rPr lang="en-US" altLang="zh-CN" sz="1600" dirty="0">
                <a:solidFill>
                  <a:schemeClr val="accent1"/>
                </a:solidFill>
                <a:latin typeface="微软雅黑" panose="020B0503020204020204" pitchFamily="34" charset="-122"/>
                <a:ea typeface="微软雅黑" panose="020B0503020204020204" pitchFamily="34" charset="-122"/>
              </a:rPr>
              <a:t> sku008</a:t>
            </a:r>
            <a:r>
              <a:rPr lang="zh-CN" altLang="en-US" sz="1600" dirty="0" smtClean="0">
                <a:solidFill>
                  <a:schemeClr val="accent1"/>
                </a:solidFill>
                <a:latin typeface="微软雅黑" panose="020B0503020204020204" pitchFamily="34" charset="-122"/>
                <a:ea typeface="微软雅黑" panose="020B0503020204020204" pitchFamily="34" charset="-122"/>
              </a:rPr>
              <a:t>是否是货主的商品，返回值</a:t>
            </a:r>
            <a:r>
              <a:rPr lang="en-US" altLang="zh-CN" sz="1600" dirty="0" smtClean="0">
                <a:solidFill>
                  <a:schemeClr val="accent1"/>
                </a:solidFill>
                <a:latin typeface="微软雅黑" panose="020B0503020204020204" pitchFamily="34" charset="-122"/>
                <a:ea typeface="微软雅黑" panose="020B0503020204020204" pitchFamily="34" charset="-122"/>
              </a:rPr>
              <a:t>1</a:t>
            </a:r>
            <a:r>
              <a:rPr lang="zh-CN" altLang="en-US" sz="1600" dirty="0" smtClean="0">
                <a:solidFill>
                  <a:schemeClr val="accent1"/>
                </a:solidFill>
                <a:latin typeface="微软雅黑" panose="020B0503020204020204" pitchFamily="34" charset="-122"/>
                <a:ea typeface="微软雅黑" panose="020B0503020204020204" pitchFamily="34" charset="-122"/>
              </a:rPr>
              <a:t>表示是，</a:t>
            </a:r>
            <a:r>
              <a:rPr lang="en-US" altLang="zh-CN" sz="1600" dirty="0" smtClean="0">
                <a:solidFill>
                  <a:schemeClr val="accent1"/>
                </a:solidFill>
                <a:latin typeface="微软雅黑" panose="020B0503020204020204" pitchFamily="34" charset="-122"/>
                <a:ea typeface="微软雅黑" panose="020B0503020204020204" pitchFamily="34" charset="-122"/>
              </a:rPr>
              <a:t>0</a:t>
            </a:r>
            <a:r>
              <a:rPr lang="zh-CN" altLang="en-US" sz="1600" dirty="0" smtClean="0">
                <a:solidFill>
                  <a:schemeClr val="accent1"/>
                </a:solidFill>
                <a:latin typeface="微软雅黑" panose="020B0503020204020204" pitchFamily="34" charset="-122"/>
                <a:ea typeface="微软雅黑" panose="020B0503020204020204" pitchFamily="34" charset="-122"/>
              </a:rPr>
              <a:t>表示否</a:t>
            </a:r>
            <a:endParaRPr lang="en-US" altLang="zh-CN" sz="1600" dirty="0">
              <a:solidFill>
                <a:schemeClr val="accent1"/>
              </a:solidFill>
              <a:latin typeface="微软雅黑" panose="020B0503020204020204" pitchFamily="34" charset="-122"/>
              <a:ea typeface="微软雅黑" panose="020B0503020204020204" pitchFamily="34" charset="-122"/>
            </a:endParaRPr>
          </a:p>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sismember</a:t>
            </a:r>
            <a:r>
              <a:rPr lang="en-US" altLang="zh-CN" sz="1600" dirty="0">
                <a:solidFill>
                  <a:srgbClr val="C00000"/>
                </a:solidFill>
                <a:latin typeface="微软雅黑" panose="020B0503020204020204" pitchFamily="34" charset="-122"/>
                <a:ea typeface="微软雅黑" panose="020B0503020204020204" pitchFamily="34" charset="-122"/>
              </a:rPr>
              <a:t> </a:t>
            </a:r>
            <a:r>
              <a:rPr lang="en-US" altLang="zh-CN" sz="1600" dirty="0">
                <a:solidFill>
                  <a:schemeClr val="accent6"/>
                </a:solidFill>
                <a:latin typeface="微软雅黑" panose="020B0503020204020204" pitchFamily="34" charset="-122"/>
                <a:ea typeface="微软雅黑" panose="020B0503020204020204" pitchFamily="34" charset="-122"/>
              </a:rPr>
              <a:t>customer01_items sku003</a:t>
            </a:r>
          </a:p>
          <a:p>
            <a:r>
              <a:rPr lang="en-US" altLang="zh-CN" sz="1600" dirty="0">
                <a:solidFill>
                  <a:schemeClr val="accent6"/>
                </a:solidFill>
                <a:latin typeface="微软雅黑" panose="020B0503020204020204" pitchFamily="34" charset="-122"/>
                <a:ea typeface="微软雅黑" panose="020B0503020204020204" pitchFamily="34" charset="-122"/>
              </a:rPr>
              <a:t>(integer) 1</a:t>
            </a:r>
          </a:p>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sismember</a:t>
            </a:r>
            <a:r>
              <a:rPr lang="en-US" altLang="zh-CN" sz="1600" dirty="0">
                <a:solidFill>
                  <a:srgbClr val="C00000"/>
                </a:solidFill>
                <a:latin typeface="微软雅黑" panose="020B0503020204020204" pitchFamily="34" charset="-122"/>
                <a:ea typeface="微软雅黑" panose="020B0503020204020204" pitchFamily="34" charset="-122"/>
              </a:rPr>
              <a:t> </a:t>
            </a:r>
            <a:r>
              <a:rPr lang="en-US" altLang="zh-CN" sz="1600" dirty="0">
                <a:solidFill>
                  <a:schemeClr val="accent6"/>
                </a:solidFill>
                <a:latin typeface="微软雅黑" panose="020B0503020204020204" pitchFamily="34" charset="-122"/>
                <a:ea typeface="微软雅黑" panose="020B0503020204020204" pitchFamily="34" charset="-122"/>
              </a:rPr>
              <a:t>customer01_items sku008</a:t>
            </a:r>
          </a:p>
          <a:p>
            <a:r>
              <a:rPr lang="en-US" altLang="zh-CN" sz="1600" dirty="0">
                <a:solidFill>
                  <a:schemeClr val="accent6"/>
                </a:solidFill>
                <a:latin typeface="微软雅黑" panose="020B0503020204020204" pitchFamily="34" charset="-122"/>
                <a:ea typeface="微软雅黑" panose="020B0503020204020204" pitchFamily="34" charset="-122"/>
              </a:rPr>
              <a:t>(integer) 0</a:t>
            </a:r>
            <a:endParaRPr lang="zh-CN" altLang="en-US" sz="1600" dirty="0" smtClean="0">
              <a:solidFill>
                <a:schemeClr val="accent6"/>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245513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additive="base">
                                        <p:cTn id="14" dur="500" fill="hold"/>
                                        <p:tgtEl>
                                          <p:spTgt spid="2"/>
                                        </p:tgtEl>
                                        <p:attrNameLst>
                                          <p:attrName>ppt_x</p:attrName>
                                        </p:attrNameLst>
                                      </p:cBhvr>
                                      <p:tavLst>
                                        <p:tav tm="0">
                                          <p:val>
                                            <p:strVal val="#ppt_x"/>
                                          </p:val>
                                        </p:tav>
                                        <p:tav tm="100000">
                                          <p:val>
                                            <p:strVal val="#ppt_x"/>
                                          </p:val>
                                        </p:tav>
                                      </p:tavLst>
                                    </p:anim>
                                    <p:anim calcmode="lin" valueType="num">
                                      <p:cBhvr additive="base">
                                        <p:cTn id="15"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A0F23"/>
        </a:solidFill>
        <a:effectLst/>
      </p:bgPr>
    </p:bg>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xmlns="" id="{CBDC52CD-1D62-48AF-A9DF-9F18AEA2B1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01385" y="-114300"/>
            <a:ext cx="1301859" cy="920356"/>
          </a:xfrm>
          <a:prstGeom prst="rect">
            <a:avLst/>
          </a:prstGeom>
        </p:spPr>
      </p:pic>
      <p:pic>
        <p:nvPicPr>
          <p:cNvPr id="14" name="图片 13">
            <a:extLst>
              <a:ext uri="{FF2B5EF4-FFF2-40B4-BE49-F238E27FC236}">
                <a16:creationId xmlns:a16="http://schemas.microsoft.com/office/drawing/2014/main" xmlns="" id="{F78DA958-9B1B-47DA-A870-8C0B3A7D8866}"/>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b="63537"/>
          <a:stretch/>
        </p:blipFill>
        <p:spPr>
          <a:xfrm>
            <a:off x="11184164" y="217733"/>
            <a:ext cx="572339" cy="337210"/>
          </a:xfrm>
          <a:prstGeom prst="rect">
            <a:avLst/>
          </a:prstGeom>
        </p:spPr>
      </p:pic>
      <p:cxnSp>
        <p:nvCxnSpPr>
          <p:cNvPr id="15" name="直接连接符 14">
            <a:extLst>
              <a:ext uri="{FF2B5EF4-FFF2-40B4-BE49-F238E27FC236}">
                <a16:creationId xmlns:a16="http://schemas.microsoft.com/office/drawing/2014/main" xmlns="" id="{93240A06-D526-4907-A163-94ABB41190CC}"/>
              </a:ext>
            </a:extLst>
          </p:cNvPr>
          <p:cNvCxnSpPr/>
          <p:nvPr/>
        </p:nvCxnSpPr>
        <p:spPr>
          <a:xfrm>
            <a:off x="11103244" y="225825"/>
            <a:ext cx="0" cy="2435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xmlns="" id="{74C59758-12AB-44A5-92FA-DB52904027AE}"/>
              </a:ext>
            </a:extLst>
          </p:cNvPr>
          <p:cNvSpPr/>
          <p:nvPr/>
        </p:nvSpPr>
        <p:spPr>
          <a:xfrm>
            <a:off x="802332" y="2041856"/>
            <a:ext cx="10765483" cy="1338828"/>
          </a:xfrm>
          <a:prstGeom prst="rect">
            <a:avLst/>
          </a:prstGeom>
        </p:spPr>
        <p:txBody>
          <a:bodyPr wrap="square">
            <a:spAutoFit/>
          </a:bodyPr>
          <a:lstStyle/>
          <a:p>
            <a:pPr indent="457200">
              <a:lnSpc>
                <a:spcPct val="150000"/>
              </a:lnSpc>
            </a:pPr>
            <a:r>
              <a:rPr lang="en-US" altLang="zh-CN" dirty="0" err="1">
                <a:solidFill>
                  <a:prstClr val="white"/>
                </a:solidFill>
                <a:latin typeface="微软雅黑" panose="020B0503020204020204" pitchFamily="34" charset="-122"/>
                <a:ea typeface="微软雅黑" panose="020B0503020204020204" pitchFamily="34" charset="-122"/>
              </a:rPr>
              <a:t>Redis</a:t>
            </a:r>
            <a:r>
              <a:rPr lang="en-US" altLang="zh-CN" dirty="0">
                <a:solidFill>
                  <a:prstClr val="white"/>
                </a:solidFill>
                <a:latin typeface="微软雅黑" panose="020B0503020204020204" pitchFamily="34" charset="-122"/>
                <a:ea typeface="微软雅黑" panose="020B0503020204020204" pitchFamily="34" charset="-122"/>
              </a:rPr>
              <a:t> </a:t>
            </a:r>
            <a:r>
              <a:rPr lang="zh-CN" altLang="en-US" dirty="0">
                <a:solidFill>
                  <a:prstClr val="white"/>
                </a:solidFill>
                <a:latin typeface="微软雅黑" panose="020B0503020204020204" pitchFamily="34" charset="-122"/>
                <a:ea typeface="微软雅黑" panose="020B0503020204020204" pitchFamily="34" charset="-122"/>
              </a:rPr>
              <a:t>有序集合和集合一样也是</a:t>
            </a:r>
            <a:r>
              <a:rPr lang="en-US" altLang="zh-CN" dirty="0">
                <a:solidFill>
                  <a:prstClr val="white"/>
                </a:solidFill>
                <a:latin typeface="微软雅黑" panose="020B0503020204020204" pitchFamily="34" charset="-122"/>
                <a:ea typeface="微软雅黑" panose="020B0503020204020204" pitchFamily="34" charset="-122"/>
              </a:rPr>
              <a:t>string</a:t>
            </a:r>
            <a:r>
              <a:rPr lang="zh-CN" altLang="en-US" dirty="0">
                <a:solidFill>
                  <a:prstClr val="white"/>
                </a:solidFill>
                <a:latin typeface="微软雅黑" panose="020B0503020204020204" pitchFamily="34" charset="-122"/>
                <a:ea typeface="微软雅黑" panose="020B0503020204020204" pitchFamily="34" charset="-122"/>
              </a:rPr>
              <a:t>类型元素的集合</a:t>
            </a:r>
            <a:r>
              <a:rPr lang="en-US" altLang="zh-CN" dirty="0">
                <a:solidFill>
                  <a:prstClr val="white"/>
                </a:solidFill>
                <a:latin typeface="微软雅黑" panose="020B0503020204020204" pitchFamily="34" charset="-122"/>
                <a:ea typeface="微软雅黑" panose="020B0503020204020204" pitchFamily="34" charset="-122"/>
              </a:rPr>
              <a:t>,</a:t>
            </a:r>
            <a:r>
              <a:rPr lang="zh-CN" altLang="en-US" dirty="0">
                <a:solidFill>
                  <a:prstClr val="white"/>
                </a:solidFill>
                <a:latin typeface="微软雅黑" panose="020B0503020204020204" pitchFamily="34" charset="-122"/>
                <a:ea typeface="微软雅黑" panose="020B0503020204020204" pitchFamily="34" charset="-122"/>
              </a:rPr>
              <a:t>且不允许重复的成员</a:t>
            </a:r>
            <a:r>
              <a:rPr lang="zh-CN" altLang="en-US" dirty="0" smtClean="0">
                <a:solidFill>
                  <a:prstClr val="white"/>
                </a:solidFill>
                <a:latin typeface="微软雅黑" panose="020B0503020204020204" pitchFamily="34" charset="-122"/>
                <a:ea typeface="微软雅黑" panose="020B0503020204020204" pitchFamily="34" charset="-122"/>
              </a:rPr>
              <a:t>。不同</a:t>
            </a:r>
            <a:r>
              <a:rPr lang="zh-CN" altLang="en-US" dirty="0">
                <a:solidFill>
                  <a:prstClr val="white"/>
                </a:solidFill>
                <a:latin typeface="微软雅黑" panose="020B0503020204020204" pitchFamily="34" charset="-122"/>
                <a:ea typeface="微软雅黑" panose="020B0503020204020204" pitchFamily="34" charset="-122"/>
              </a:rPr>
              <a:t>的是每个元素都会关联一个</a:t>
            </a:r>
            <a:r>
              <a:rPr lang="en-US" altLang="zh-CN" dirty="0">
                <a:solidFill>
                  <a:prstClr val="white"/>
                </a:solidFill>
                <a:latin typeface="微软雅黑" panose="020B0503020204020204" pitchFamily="34" charset="-122"/>
                <a:ea typeface="微软雅黑" panose="020B0503020204020204" pitchFamily="34" charset="-122"/>
              </a:rPr>
              <a:t>double</a:t>
            </a:r>
            <a:r>
              <a:rPr lang="zh-CN" altLang="en-US" dirty="0">
                <a:solidFill>
                  <a:prstClr val="white"/>
                </a:solidFill>
                <a:latin typeface="微软雅黑" panose="020B0503020204020204" pitchFamily="34" charset="-122"/>
                <a:ea typeface="微软雅黑" panose="020B0503020204020204" pitchFamily="34" charset="-122"/>
              </a:rPr>
              <a:t>类型的分数</a:t>
            </a:r>
            <a:r>
              <a:rPr lang="zh-CN" altLang="en-US" dirty="0" smtClean="0">
                <a:solidFill>
                  <a:prstClr val="white"/>
                </a:solidFill>
                <a:latin typeface="微软雅黑" panose="020B0503020204020204" pitchFamily="34" charset="-122"/>
                <a:ea typeface="微软雅黑" panose="020B0503020204020204" pitchFamily="34" charset="-122"/>
              </a:rPr>
              <a:t>。代表这个元素的排序权重。它内部使用跳跃列表的数据结构。有序</a:t>
            </a:r>
            <a:r>
              <a:rPr lang="zh-CN" altLang="en-US" dirty="0">
                <a:solidFill>
                  <a:prstClr val="white"/>
                </a:solidFill>
                <a:latin typeface="微软雅黑" panose="020B0503020204020204" pitchFamily="34" charset="-122"/>
                <a:ea typeface="微软雅黑" panose="020B0503020204020204" pitchFamily="34" charset="-122"/>
              </a:rPr>
              <a:t>集合的成员是唯一的</a:t>
            </a:r>
            <a:r>
              <a:rPr lang="en-US" altLang="zh-CN" dirty="0">
                <a:solidFill>
                  <a:prstClr val="white"/>
                </a:solidFill>
                <a:latin typeface="微软雅黑" panose="020B0503020204020204" pitchFamily="34" charset="-122"/>
                <a:ea typeface="微软雅黑" panose="020B0503020204020204" pitchFamily="34" charset="-122"/>
              </a:rPr>
              <a:t>,</a:t>
            </a:r>
            <a:r>
              <a:rPr lang="zh-CN" altLang="en-US" dirty="0">
                <a:solidFill>
                  <a:prstClr val="white"/>
                </a:solidFill>
                <a:latin typeface="微软雅黑" panose="020B0503020204020204" pitchFamily="34" charset="-122"/>
                <a:ea typeface="微软雅黑" panose="020B0503020204020204" pitchFamily="34" charset="-122"/>
              </a:rPr>
              <a:t>但分数</a:t>
            </a:r>
            <a:r>
              <a:rPr lang="en-US" altLang="zh-CN" dirty="0">
                <a:solidFill>
                  <a:prstClr val="white"/>
                </a:solidFill>
                <a:latin typeface="微软雅黑" panose="020B0503020204020204" pitchFamily="34" charset="-122"/>
                <a:ea typeface="微软雅黑" panose="020B0503020204020204" pitchFamily="34" charset="-122"/>
              </a:rPr>
              <a:t>(score)</a:t>
            </a:r>
            <a:r>
              <a:rPr lang="zh-CN" altLang="en-US" dirty="0">
                <a:solidFill>
                  <a:prstClr val="white"/>
                </a:solidFill>
                <a:latin typeface="微软雅黑" panose="020B0503020204020204" pitchFamily="34" charset="-122"/>
                <a:ea typeface="微软雅黑" panose="020B0503020204020204" pitchFamily="34" charset="-122"/>
              </a:rPr>
              <a:t>却可以重复。</a:t>
            </a:r>
          </a:p>
        </p:txBody>
      </p:sp>
      <p:sp>
        <p:nvSpPr>
          <p:cNvPr id="10" name="TextBox 9"/>
          <p:cNvSpPr txBox="1"/>
          <p:nvPr/>
        </p:nvSpPr>
        <p:spPr>
          <a:xfrm>
            <a:off x="704849" y="605109"/>
            <a:ext cx="9015615" cy="584775"/>
          </a:xfrm>
          <a:prstGeom prst="rect">
            <a:avLst/>
          </a:prstGeom>
          <a:noFill/>
        </p:spPr>
        <p:txBody>
          <a:bodyPr wrap="square" rtlCol="0">
            <a:spAutoFit/>
          </a:bodyPr>
          <a:lstStyle/>
          <a:p>
            <a:pPr>
              <a:defRPr/>
            </a:pPr>
            <a:r>
              <a:rPr lang="en-US" altLang="zh-CN" sz="32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2.4</a:t>
            </a:r>
            <a:r>
              <a:rPr lang="zh-CN" altLang="en-US" sz="32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a:t>
            </a:r>
            <a:r>
              <a:rPr lang="en-US" altLang="zh-CN" sz="3200" b="1" dirty="0" err="1">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redis</a:t>
            </a:r>
            <a:r>
              <a:rPr lang="zh-CN" altLang="en-US" sz="32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基本数据结构之</a:t>
            </a:r>
            <a:r>
              <a:rPr lang="en-US" altLang="zh-CN" sz="3200" b="1" dirty="0" err="1">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zset</a:t>
            </a:r>
            <a:endParaRPr lang="zh-CN" altLang="en-US" sz="32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endParaRPr>
          </a:p>
        </p:txBody>
      </p:sp>
      <p:sp>
        <p:nvSpPr>
          <p:cNvPr id="8" name="TextBox 9"/>
          <p:cNvSpPr txBox="1"/>
          <p:nvPr/>
        </p:nvSpPr>
        <p:spPr>
          <a:xfrm>
            <a:off x="704850" y="1359853"/>
            <a:ext cx="4038600" cy="523220"/>
          </a:xfrm>
          <a:prstGeom prst="rect">
            <a:avLst/>
          </a:prstGeom>
          <a:noFill/>
        </p:spPr>
        <p:txBody>
          <a:bodyPr wrap="square" rtlCol="0">
            <a:spAutoFit/>
          </a:bodyPr>
          <a:lstStyle/>
          <a:p>
            <a:pPr>
              <a:defRPr/>
            </a:pPr>
            <a:r>
              <a:rPr lang="en-US" altLang="zh-CN"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2.4.1 </a:t>
            </a:r>
            <a:r>
              <a:rPr lang="zh-CN" altLang="en-US"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存储结构</a:t>
            </a:r>
          </a:p>
        </p:txBody>
      </p:sp>
      <p:grpSp>
        <p:nvGrpSpPr>
          <p:cNvPr id="12" name="组合 11"/>
          <p:cNvGrpSpPr/>
          <p:nvPr/>
        </p:nvGrpSpPr>
        <p:grpSpPr>
          <a:xfrm>
            <a:off x="2192212" y="3411499"/>
            <a:ext cx="5879126" cy="3212481"/>
            <a:chOff x="1524000" y="2781919"/>
            <a:chExt cx="5879126" cy="3212481"/>
          </a:xfrm>
        </p:grpSpPr>
        <p:grpSp>
          <p:nvGrpSpPr>
            <p:cNvPr id="16" name="组合 15"/>
            <p:cNvGrpSpPr/>
            <p:nvPr/>
          </p:nvGrpSpPr>
          <p:grpSpPr>
            <a:xfrm>
              <a:off x="1524000" y="2781919"/>
              <a:ext cx="5879126" cy="2641600"/>
              <a:chOff x="1524000" y="2896219"/>
              <a:chExt cx="5879126" cy="2641600"/>
            </a:xfrm>
          </p:grpSpPr>
          <p:sp>
            <p:nvSpPr>
              <p:cNvPr id="18" name="椭圆 17"/>
              <p:cNvSpPr/>
              <p:nvPr/>
            </p:nvSpPr>
            <p:spPr>
              <a:xfrm>
                <a:off x="1524000" y="3835400"/>
                <a:ext cx="1574800" cy="800100"/>
              </a:xfrm>
              <a:prstGeom prst="ellipse">
                <a:avLst/>
              </a:prstGeom>
              <a:solidFill>
                <a:schemeClr val="accent5"/>
              </a:solidFill>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dirty="0" err="1" smtClean="0"/>
                  <a:t>zset</a:t>
                </a:r>
                <a:r>
                  <a:rPr lang="en-US" altLang="zh-CN" dirty="0" smtClean="0"/>
                  <a:t>-key</a:t>
                </a:r>
                <a:endParaRPr lang="zh-CN" altLang="en-US" dirty="0"/>
              </a:p>
            </p:txBody>
          </p:sp>
          <p:sp>
            <p:nvSpPr>
              <p:cNvPr id="19" name="椭圆 18"/>
              <p:cNvSpPr/>
              <p:nvPr/>
            </p:nvSpPr>
            <p:spPr>
              <a:xfrm>
                <a:off x="4279900" y="2896219"/>
                <a:ext cx="1118580" cy="660400"/>
              </a:xfrm>
              <a:prstGeom prst="ellipse">
                <a:avLst/>
              </a:prstGeom>
              <a:solidFill>
                <a:schemeClr val="accent4">
                  <a:lumMod val="60000"/>
                  <a:lumOff val="40000"/>
                </a:schemeClr>
              </a:solidFill>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dirty="0" smtClean="0"/>
                  <a:t>value</a:t>
                </a:r>
                <a:endParaRPr lang="zh-CN" altLang="en-US" dirty="0"/>
              </a:p>
            </p:txBody>
          </p:sp>
          <p:sp>
            <p:nvSpPr>
              <p:cNvPr id="20" name="椭圆 19"/>
              <p:cNvSpPr/>
              <p:nvPr/>
            </p:nvSpPr>
            <p:spPr>
              <a:xfrm>
                <a:off x="6223000" y="2896219"/>
                <a:ext cx="1180126" cy="660400"/>
              </a:xfrm>
              <a:prstGeom prst="ellipse">
                <a:avLst/>
              </a:prstGeom>
              <a:solidFill>
                <a:schemeClr val="accent2">
                  <a:lumMod val="75000"/>
                </a:schemeClr>
              </a:solidFill>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dirty="0" smtClean="0"/>
                  <a:t>score</a:t>
                </a:r>
                <a:endParaRPr lang="zh-CN" altLang="en-US" dirty="0"/>
              </a:p>
            </p:txBody>
          </p:sp>
          <p:sp>
            <p:nvSpPr>
              <p:cNvPr id="21" name="椭圆 20"/>
              <p:cNvSpPr/>
              <p:nvPr/>
            </p:nvSpPr>
            <p:spPr>
              <a:xfrm>
                <a:off x="4279900" y="3912219"/>
                <a:ext cx="1118580" cy="660400"/>
              </a:xfrm>
              <a:prstGeom prst="ellipse">
                <a:avLst/>
              </a:prstGeom>
              <a:solidFill>
                <a:schemeClr val="accent4">
                  <a:lumMod val="60000"/>
                  <a:lumOff val="40000"/>
                </a:schemeClr>
              </a:solidFill>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dirty="0"/>
                  <a:t>value</a:t>
                </a:r>
                <a:endParaRPr lang="zh-CN" altLang="en-US" dirty="0"/>
              </a:p>
            </p:txBody>
          </p:sp>
          <p:sp>
            <p:nvSpPr>
              <p:cNvPr id="22" name="椭圆 21"/>
              <p:cNvSpPr/>
              <p:nvPr/>
            </p:nvSpPr>
            <p:spPr>
              <a:xfrm>
                <a:off x="6223000" y="3912219"/>
                <a:ext cx="1180126" cy="660400"/>
              </a:xfrm>
              <a:prstGeom prst="ellipse">
                <a:avLst/>
              </a:prstGeom>
              <a:solidFill>
                <a:schemeClr val="accent2">
                  <a:lumMod val="75000"/>
                </a:schemeClr>
              </a:solidFill>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dirty="0"/>
                  <a:t>score</a:t>
                </a:r>
                <a:endParaRPr lang="zh-CN" altLang="en-US" dirty="0"/>
              </a:p>
            </p:txBody>
          </p:sp>
          <p:sp>
            <p:nvSpPr>
              <p:cNvPr id="23" name="椭圆 22"/>
              <p:cNvSpPr/>
              <p:nvPr/>
            </p:nvSpPr>
            <p:spPr>
              <a:xfrm>
                <a:off x="4292600" y="4877419"/>
                <a:ext cx="1105880" cy="660400"/>
              </a:xfrm>
              <a:prstGeom prst="ellipse">
                <a:avLst/>
              </a:prstGeom>
              <a:solidFill>
                <a:schemeClr val="accent4">
                  <a:lumMod val="60000"/>
                  <a:lumOff val="40000"/>
                </a:schemeClr>
              </a:solidFill>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dirty="0"/>
                  <a:t>value</a:t>
                </a:r>
                <a:endParaRPr lang="zh-CN" altLang="en-US" dirty="0"/>
              </a:p>
            </p:txBody>
          </p:sp>
          <p:sp>
            <p:nvSpPr>
              <p:cNvPr id="24" name="椭圆 23"/>
              <p:cNvSpPr/>
              <p:nvPr/>
            </p:nvSpPr>
            <p:spPr>
              <a:xfrm>
                <a:off x="6235700" y="4877419"/>
                <a:ext cx="1167426" cy="660400"/>
              </a:xfrm>
              <a:prstGeom prst="ellipse">
                <a:avLst/>
              </a:prstGeom>
              <a:solidFill>
                <a:schemeClr val="accent2">
                  <a:lumMod val="75000"/>
                </a:schemeClr>
              </a:solidFill>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dirty="0"/>
                  <a:t>score</a:t>
                </a:r>
                <a:endParaRPr lang="zh-CN" altLang="en-US" dirty="0"/>
              </a:p>
            </p:txBody>
          </p:sp>
          <p:cxnSp>
            <p:nvCxnSpPr>
              <p:cNvPr id="25" name="直接箭头连接符 24"/>
              <p:cNvCxnSpPr>
                <a:endCxn id="19" idx="2"/>
              </p:cNvCxnSpPr>
              <p:nvPr/>
            </p:nvCxnSpPr>
            <p:spPr>
              <a:xfrm flipV="1">
                <a:off x="3098800" y="3226419"/>
                <a:ext cx="1181100" cy="888382"/>
              </a:xfrm>
              <a:prstGeom prst="straightConnector1">
                <a:avLst/>
              </a:prstGeom>
              <a:ln w="25400" cmpd="sng">
                <a:solidFill>
                  <a:schemeClr val="accent6">
                    <a:lumMod val="75000"/>
                  </a:schemeClr>
                </a:solidFill>
                <a:prstDash val="solid"/>
                <a:tailEnd type="arrow"/>
              </a:ln>
            </p:spPr>
            <p:style>
              <a:lnRef idx="1">
                <a:schemeClr val="accent1"/>
              </a:lnRef>
              <a:fillRef idx="0">
                <a:schemeClr val="accent1"/>
              </a:fillRef>
              <a:effectRef idx="0">
                <a:schemeClr val="accent1"/>
              </a:effectRef>
              <a:fontRef idx="minor">
                <a:schemeClr val="tx1"/>
              </a:fontRef>
            </p:style>
          </p:cxnSp>
          <p:cxnSp>
            <p:nvCxnSpPr>
              <p:cNvPr id="26" name="直接箭头连接符 3"/>
              <p:cNvCxnSpPr/>
              <p:nvPr/>
            </p:nvCxnSpPr>
            <p:spPr>
              <a:xfrm>
                <a:off x="3098800" y="4248159"/>
                <a:ext cx="1193800" cy="1086469"/>
              </a:xfrm>
              <a:prstGeom prst="straightConnector1">
                <a:avLst/>
              </a:prstGeom>
              <a:ln w="25400" cmpd="sng">
                <a:solidFill>
                  <a:schemeClr val="accent6">
                    <a:lumMod val="75000"/>
                  </a:schemeClr>
                </a:solidFill>
                <a:prstDash val="solid"/>
                <a:tailEnd type="arrow"/>
              </a:ln>
            </p:spPr>
            <p:style>
              <a:lnRef idx="1">
                <a:schemeClr val="accent1"/>
              </a:lnRef>
              <a:fillRef idx="0">
                <a:schemeClr val="accent1"/>
              </a:fillRef>
              <a:effectRef idx="0">
                <a:schemeClr val="accent1"/>
              </a:effectRef>
              <a:fontRef idx="minor">
                <a:schemeClr val="tx1"/>
              </a:fontRef>
            </p:style>
          </p:cxnSp>
          <p:cxnSp>
            <p:nvCxnSpPr>
              <p:cNvPr id="27" name="直接箭头连接符 3"/>
              <p:cNvCxnSpPr>
                <a:stCxn id="18" idx="6"/>
                <a:endCxn id="21" idx="2"/>
              </p:cNvCxnSpPr>
              <p:nvPr/>
            </p:nvCxnSpPr>
            <p:spPr>
              <a:xfrm>
                <a:off x="3098800" y="4235450"/>
                <a:ext cx="1181100" cy="6969"/>
              </a:xfrm>
              <a:prstGeom prst="straightConnector1">
                <a:avLst/>
              </a:prstGeom>
              <a:ln w="25400" cmpd="sng">
                <a:solidFill>
                  <a:schemeClr val="accent6">
                    <a:lumMod val="75000"/>
                  </a:schemeClr>
                </a:solidFill>
                <a:prstDash val="solid"/>
                <a:tailEnd type="arrow"/>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a:stCxn id="19" idx="6"/>
                <a:endCxn id="20" idx="2"/>
              </p:cNvCxnSpPr>
              <p:nvPr/>
            </p:nvCxnSpPr>
            <p:spPr>
              <a:xfrm>
                <a:off x="5398480" y="3226419"/>
                <a:ext cx="824520" cy="0"/>
              </a:xfrm>
              <a:prstGeom prst="straightConnector1">
                <a:avLst/>
              </a:prstGeom>
              <a:ln w="25400" cmpd="sng">
                <a:solidFill>
                  <a:schemeClr val="accent6">
                    <a:lumMod val="75000"/>
                  </a:schemeClr>
                </a:solidFill>
                <a:prstDash val="solid"/>
                <a:tailEnd type="arrow"/>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a:stCxn id="21" idx="6"/>
              </p:cNvCxnSpPr>
              <p:nvPr/>
            </p:nvCxnSpPr>
            <p:spPr>
              <a:xfrm>
                <a:off x="5398480" y="4242419"/>
                <a:ext cx="824520" cy="26019"/>
              </a:xfrm>
              <a:prstGeom prst="straightConnector1">
                <a:avLst/>
              </a:prstGeom>
              <a:ln w="25400" cmpd="sng">
                <a:solidFill>
                  <a:schemeClr val="accent6">
                    <a:lumMod val="75000"/>
                  </a:schemeClr>
                </a:solidFill>
                <a:prstDash val="solid"/>
                <a:tailEnd type="arrow"/>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a:stCxn id="23" idx="6"/>
              </p:cNvCxnSpPr>
              <p:nvPr/>
            </p:nvCxnSpPr>
            <p:spPr>
              <a:xfrm>
                <a:off x="5398480" y="5207619"/>
                <a:ext cx="837220" cy="13947"/>
              </a:xfrm>
              <a:prstGeom prst="straightConnector1">
                <a:avLst/>
              </a:prstGeom>
              <a:ln w="25400" cmpd="sng">
                <a:solidFill>
                  <a:schemeClr val="accent6">
                    <a:lumMod val="75000"/>
                  </a:schemeClr>
                </a:solidFill>
                <a:prstDash val="solid"/>
                <a:tailEnd type="arrow"/>
              </a:ln>
            </p:spPr>
            <p:style>
              <a:lnRef idx="1">
                <a:schemeClr val="accent1"/>
              </a:lnRef>
              <a:fillRef idx="0">
                <a:schemeClr val="accent1"/>
              </a:fillRef>
              <a:effectRef idx="0">
                <a:schemeClr val="accent1"/>
              </a:effectRef>
              <a:fontRef idx="minor">
                <a:schemeClr val="tx1"/>
              </a:fontRef>
            </p:style>
          </p:cxnSp>
        </p:grpSp>
        <p:sp>
          <p:nvSpPr>
            <p:cNvPr id="17" name="文本框 16"/>
            <p:cNvSpPr txBox="1"/>
            <p:nvPr/>
          </p:nvSpPr>
          <p:spPr>
            <a:xfrm>
              <a:off x="3352800" y="5626100"/>
              <a:ext cx="1828800" cy="368300"/>
            </a:xfrm>
            <a:prstGeom prst="rect">
              <a:avLst/>
            </a:prstGeom>
            <a:noFill/>
          </p:spPr>
          <p:txBody>
            <a:bodyPr wrap="square" rtlCol="0">
              <a:spAutoFit/>
            </a:bodyPr>
            <a:lstStyle/>
            <a:p>
              <a:pPr algn="ctr"/>
              <a:r>
                <a:rPr lang="zh-CN" altLang="en-US" dirty="0" smtClean="0">
                  <a:solidFill>
                    <a:schemeClr val="bg1"/>
                  </a:solidFill>
                  <a:latin typeface="微软雅黑" panose="020B0503020204020204" pitchFamily="34" charset="-122"/>
                  <a:ea typeface="微软雅黑" panose="020B0503020204020204" pitchFamily="34" charset="-122"/>
                </a:rPr>
                <a:t>图</a:t>
              </a:r>
              <a:r>
                <a:rPr lang="en-US" altLang="zh-CN" dirty="0" smtClean="0">
                  <a:solidFill>
                    <a:schemeClr val="bg1"/>
                  </a:solidFill>
                  <a:latin typeface="微软雅黑" panose="020B0503020204020204" pitchFamily="34" charset="-122"/>
                  <a:ea typeface="微软雅黑" panose="020B0503020204020204" pitchFamily="34" charset="-122"/>
                </a:rPr>
                <a:t>2.4.1 - 1</a:t>
              </a:r>
              <a:endParaRPr lang="zh-CN" altLang="en-US" dirty="0" smtClean="0">
                <a:solidFill>
                  <a:schemeClr val="bg1"/>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642385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down)">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A0F23"/>
        </a:solidFill>
        <a:effectLst/>
      </p:bgPr>
    </p:bg>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xmlns="" id="{CBDC52CD-1D62-48AF-A9DF-9F18AEA2B1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01385" y="-114300"/>
            <a:ext cx="1301859" cy="920356"/>
          </a:xfrm>
          <a:prstGeom prst="rect">
            <a:avLst/>
          </a:prstGeom>
        </p:spPr>
      </p:pic>
      <p:pic>
        <p:nvPicPr>
          <p:cNvPr id="14" name="图片 13">
            <a:extLst>
              <a:ext uri="{FF2B5EF4-FFF2-40B4-BE49-F238E27FC236}">
                <a16:creationId xmlns:a16="http://schemas.microsoft.com/office/drawing/2014/main" xmlns="" id="{F78DA958-9B1B-47DA-A870-8C0B3A7D8866}"/>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b="63537"/>
          <a:stretch/>
        </p:blipFill>
        <p:spPr>
          <a:xfrm>
            <a:off x="11184164" y="217733"/>
            <a:ext cx="572339" cy="337210"/>
          </a:xfrm>
          <a:prstGeom prst="rect">
            <a:avLst/>
          </a:prstGeom>
        </p:spPr>
      </p:pic>
      <p:cxnSp>
        <p:nvCxnSpPr>
          <p:cNvPr id="15" name="直接连接符 14">
            <a:extLst>
              <a:ext uri="{FF2B5EF4-FFF2-40B4-BE49-F238E27FC236}">
                <a16:creationId xmlns:a16="http://schemas.microsoft.com/office/drawing/2014/main" xmlns="" id="{93240A06-D526-4907-A163-94ABB41190CC}"/>
              </a:ext>
            </a:extLst>
          </p:cNvPr>
          <p:cNvCxnSpPr/>
          <p:nvPr/>
        </p:nvCxnSpPr>
        <p:spPr>
          <a:xfrm>
            <a:off x="11103244" y="225825"/>
            <a:ext cx="0" cy="2435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xmlns="" id="{74C59758-12AB-44A5-92FA-DB52904027AE}"/>
              </a:ext>
            </a:extLst>
          </p:cNvPr>
          <p:cNvSpPr/>
          <p:nvPr/>
        </p:nvSpPr>
        <p:spPr>
          <a:xfrm>
            <a:off x="816846" y="1258086"/>
            <a:ext cx="5443277" cy="5509200"/>
          </a:xfrm>
          <a:prstGeom prst="rect">
            <a:avLst/>
          </a:prstGeom>
          <a:ln>
            <a:solidFill>
              <a:schemeClr val="bg1"/>
            </a:solidFill>
          </a:ln>
        </p:spPr>
        <p:txBody>
          <a:bodyPr wrap="square">
            <a:spAutoFit/>
          </a:bodyPr>
          <a:lstStyle/>
          <a:p>
            <a:r>
              <a:rPr lang="en-US" altLang="zh-CN" sz="1600" dirty="0">
                <a:solidFill>
                  <a:schemeClr val="accent1"/>
                </a:solidFill>
                <a:latin typeface="微软雅黑" panose="020B0503020204020204" pitchFamily="34" charset="-122"/>
                <a:ea typeface="微软雅黑" panose="020B0503020204020204" pitchFamily="34" charset="-122"/>
              </a:rPr>
              <a:t># </a:t>
            </a:r>
            <a:r>
              <a:rPr lang="en-US" altLang="zh-CN" sz="1600" dirty="0" err="1">
                <a:solidFill>
                  <a:schemeClr val="accent1"/>
                </a:solidFill>
                <a:latin typeface="微软雅黑" panose="020B0503020204020204" pitchFamily="34" charset="-122"/>
                <a:ea typeface="微软雅黑" panose="020B0503020204020204" pitchFamily="34" charset="-122"/>
              </a:rPr>
              <a:t>zset</a:t>
            </a:r>
            <a:r>
              <a:rPr lang="zh-CN" altLang="en-US" sz="1600" dirty="0">
                <a:solidFill>
                  <a:schemeClr val="accent1"/>
                </a:solidFill>
                <a:latin typeface="微软雅黑" panose="020B0503020204020204" pitchFamily="34" charset="-122"/>
                <a:ea typeface="微软雅黑" panose="020B0503020204020204" pitchFamily="34" charset="-122"/>
              </a:rPr>
              <a:t>中增加四个元</a:t>
            </a:r>
            <a:r>
              <a:rPr lang="zh-CN" altLang="en-US" sz="1600" dirty="0" smtClean="0">
                <a:solidFill>
                  <a:schemeClr val="accent1"/>
                </a:solidFill>
                <a:latin typeface="微软雅黑" panose="020B0503020204020204" pitchFamily="34" charset="-122"/>
                <a:ea typeface="微软雅黑" panose="020B0503020204020204" pitchFamily="34" charset="-122"/>
              </a:rPr>
              <a:t>素</a:t>
            </a:r>
            <a:r>
              <a:rPr lang="en-US" altLang="zh-CN" sz="1600" dirty="0" smtClean="0">
                <a:solidFill>
                  <a:schemeClr val="accent1"/>
                </a:solidFill>
                <a:latin typeface="微软雅黑" panose="020B0503020204020204" pitchFamily="34" charset="-122"/>
                <a:ea typeface="微软雅黑" panose="020B0503020204020204" pitchFamily="34" charset="-122"/>
              </a:rPr>
              <a:t>,books</a:t>
            </a:r>
            <a:r>
              <a:rPr lang="zh-CN" altLang="en-US" sz="1600" dirty="0" smtClean="0">
                <a:solidFill>
                  <a:schemeClr val="accent1"/>
                </a:solidFill>
                <a:latin typeface="微软雅黑" panose="020B0503020204020204" pitchFamily="34" charset="-122"/>
                <a:ea typeface="微软雅黑" panose="020B0503020204020204" pitchFamily="34" charset="-122"/>
              </a:rPr>
              <a:t>是</a:t>
            </a:r>
            <a:r>
              <a:rPr lang="en-US" altLang="zh-CN" sz="1600" dirty="0" smtClean="0">
                <a:solidFill>
                  <a:schemeClr val="accent1"/>
                </a:solidFill>
                <a:latin typeface="微软雅黑" panose="020B0503020204020204" pitchFamily="34" charset="-122"/>
                <a:ea typeface="微软雅黑" panose="020B0503020204020204" pitchFamily="34" charset="-122"/>
              </a:rPr>
              <a:t>key</a:t>
            </a:r>
            <a:r>
              <a:rPr lang="zh-CN" altLang="en-US" sz="1600" dirty="0" smtClean="0">
                <a:solidFill>
                  <a:schemeClr val="accent1"/>
                </a:solidFill>
                <a:latin typeface="微软雅黑" panose="020B0503020204020204" pitchFamily="34" charset="-122"/>
                <a:ea typeface="微软雅黑" panose="020B0503020204020204" pitchFamily="34" charset="-122"/>
              </a:rPr>
              <a:t>，接着的是元素的分数，最后是加入集合的元素</a:t>
            </a:r>
            <a:endParaRPr lang="zh-CN" altLang="en-US" sz="1600" dirty="0">
              <a:solidFill>
                <a:schemeClr val="accent1"/>
              </a:solidFill>
              <a:latin typeface="微软雅黑" panose="020B0503020204020204" pitchFamily="34" charset="-122"/>
              <a:ea typeface="微软雅黑" panose="020B0503020204020204" pitchFamily="34" charset="-122"/>
            </a:endParaRPr>
          </a:p>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zadd</a:t>
            </a:r>
            <a:r>
              <a:rPr lang="en-US" altLang="zh-CN" sz="1600" dirty="0">
                <a:solidFill>
                  <a:srgbClr val="C00000"/>
                </a:solidFill>
                <a:latin typeface="微软雅黑" panose="020B0503020204020204" pitchFamily="34" charset="-122"/>
                <a:ea typeface="微软雅黑" panose="020B0503020204020204" pitchFamily="34" charset="-122"/>
              </a:rPr>
              <a:t> </a:t>
            </a:r>
            <a:r>
              <a:rPr lang="en-US" altLang="zh-CN" sz="1600" dirty="0">
                <a:solidFill>
                  <a:schemeClr val="accent6"/>
                </a:solidFill>
                <a:latin typeface="微软雅黑" panose="020B0503020204020204" pitchFamily="34" charset="-122"/>
                <a:ea typeface="微软雅黑" panose="020B0503020204020204" pitchFamily="34" charset="-122"/>
              </a:rPr>
              <a:t>books 55.6 java  </a:t>
            </a:r>
          </a:p>
          <a:p>
            <a:r>
              <a:rPr lang="en-US" altLang="zh-CN" sz="1600" dirty="0">
                <a:solidFill>
                  <a:schemeClr val="accent6"/>
                </a:solidFill>
                <a:latin typeface="微软雅黑" panose="020B0503020204020204" pitchFamily="34" charset="-122"/>
                <a:ea typeface="微软雅黑" panose="020B0503020204020204" pitchFamily="34" charset="-122"/>
              </a:rPr>
              <a:t>(integer) 0</a:t>
            </a:r>
          </a:p>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zadd</a:t>
            </a:r>
            <a:r>
              <a:rPr lang="en-US" altLang="zh-CN" sz="1600" dirty="0">
                <a:solidFill>
                  <a:srgbClr val="C00000"/>
                </a:solidFill>
                <a:latin typeface="微软雅黑" panose="020B0503020204020204" pitchFamily="34" charset="-122"/>
                <a:ea typeface="微软雅黑" panose="020B0503020204020204" pitchFamily="34" charset="-122"/>
              </a:rPr>
              <a:t> </a:t>
            </a:r>
            <a:r>
              <a:rPr lang="en-US" altLang="zh-CN" sz="1600" dirty="0">
                <a:solidFill>
                  <a:schemeClr val="accent6"/>
                </a:solidFill>
                <a:latin typeface="微软雅黑" panose="020B0503020204020204" pitchFamily="34" charset="-122"/>
                <a:ea typeface="微软雅黑" panose="020B0503020204020204" pitchFamily="34" charset="-122"/>
              </a:rPr>
              <a:t>books 81.4 go</a:t>
            </a:r>
          </a:p>
          <a:p>
            <a:r>
              <a:rPr lang="en-US" altLang="zh-CN" sz="1600" dirty="0">
                <a:solidFill>
                  <a:schemeClr val="accent6"/>
                </a:solidFill>
                <a:latin typeface="微软雅黑" panose="020B0503020204020204" pitchFamily="34" charset="-122"/>
                <a:ea typeface="微软雅黑" panose="020B0503020204020204" pitchFamily="34" charset="-122"/>
              </a:rPr>
              <a:t>(integer) 0</a:t>
            </a:r>
          </a:p>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zadd</a:t>
            </a:r>
            <a:r>
              <a:rPr lang="en-US" altLang="zh-CN" sz="1600" dirty="0">
                <a:solidFill>
                  <a:srgbClr val="C00000"/>
                </a:solidFill>
                <a:latin typeface="微软雅黑" panose="020B0503020204020204" pitchFamily="34" charset="-122"/>
                <a:ea typeface="微软雅黑" panose="020B0503020204020204" pitchFamily="34" charset="-122"/>
              </a:rPr>
              <a:t> </a:t>
            </a:r>
            <a:r>
              <a:rPr lang="en-US" altLang="zh-CN" sz="1600" dirty="0">
                <a:solidFill>
                  <a:schemeClr val="accent6"/>
                </a:solidFill>
                <a:latin typeface="微软雅黑" panose="020B0503020204020204" pitchFamily="34" charset="-122"/>
                <a:ea typeface="微软雅黑" panose="020B0503020204020204" pitchFamily="34" charset="-122"/>
              </a:rPr>
              <a:t>books 2.2 </a:t>
            </a:r>
            <a:r>
              <a:rPr lang="en-US" altLang="zh-CN" sz="1600" dirty="0" err="1">
                <a:solidFill>
                  <a:schemeClr val="accent6"/>
                </a:solidFill>
                <a:latin typeface="微软雅黑" panose="020B0503020204020204" pitchFamily="34" charset="-122"/>
                <a:ea typeface="微软雅黑" panose="020B0503020204020204" pitchFamily="34" charset="-122"/>
              </a:rPr>
              <a:t>javascript</a:t>
            </a:r>
            <a:endParaRPr lang="en-US" altLang="zh-CN" sz="1600" dirty="0">
              <a:solidFill>
                <a:schemeClr val="accent6"/>
              </a:solidFill>
              <a:latin typeface="微软雅黑" panose="020B0503020204020204" pitchFamily="34" charset="-122"/>
              <a:ea typeface="微软雅黑" panose="020B0503020204020204" pitchFamily="34" charset="-122"/>
            </a:endParaRPr>
          </a:p>
          <a:p>
            <a:r>
              <a:rPr lang="en-US" altLang="zh-CN" sz="1600" dirty="0">
                <a:solidFill>
                  <a:schemeClr val="accent6"/>
                </a:solidFill>
                <a:latin typeface="微软雅黑" panose="020B0503020204020204" pitchFamily="34" charset="-122"/>
                <a:ea typeface="微软雅黑" panose="020B0503020204020204" pitchFamily="34" charset="-122"/>
              </a:rPr>
              <a:t>(integer) 0</a:t>
            </a:r>
          </a:p>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zadd</a:t>
            </a:r>
            <a:r>
              <a:rPr lang="en-US" altLang="zh-CN" sz="1600" dirty="0">
                <a:solidFill>
                  <a:srgbClr val="C00000"/>
                </a:solidFill>
                <a:latin typeface="微软雅黑" panose="020B0503020204020204" pitchFamily="34" charset="-122"/>
                <a:ea typeface="微软雅黑" panose="020B0503020204020204" pitchFamily="34" charset="-122"/>
              </a:rPr>
              <a:t> </a:t>
            </a:r>
            <a:r>
              <a:rPr lang="en-US" altLang="zh-CN" sz="1600" dirty="0">
                <a:solidFill>
                  <a:schemeClr val="accent6"/>
                </a:solidFill>
                <a:latin typeface="微软雅黑" panose="020B0503020204020204" pitchFamily="34" charset="-122"/>
                <a:ea typeface="微软雅黑" panose="020B0503020204020204" pitchFamily="34" charset="-122"/>
              </a:rPr>
              <a:t>books 38 c</a:t>
            </a:r>
          </a:p>
          <a:p>
            <a:r>
              <a:rPr lang="en-US" altLang="zh-CN" sz="1600" dirty="0">
                <a:solidFill>
                  <a:schemeClr val="accent6"/>
                </a:solidFill>
                <a:latin typeface="微软雅黑" panose="020B0503020204020204" pitchFamily="34" charset="-122"/>
                <a:ea typeface="微软雅黑" panose="020B0503020204020204" pitchFamily="34" charset="-122"/>
              </a:rPr>
              <a:t>(integer) 0</a:t>
            </a:r>
          </a:p>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dirty="0" err="1">
                <a:solidFill>
                  <a:schemeClr val="accent6"/>
                </a:solidFill>
                <a:latin typeface="微软雅黑" panose="020B0503020204020204" pitchFamily="34" charset="-122"/>
                <a:ea typeface="微软雅黑" panose="020B0503020204020204" pitchFamily="34" charset="-122"/>
              </a:rPr>
              <a:t>zcard</a:t>
            </a:r>
            <a:r>
              <a:rPr lang="en-US" altLang="zh-CN" sz="1600" dirty="0">
                <a:solidFill>
                  <a:schemeClr val="accent6"/>
                </a:solidFill>
                <a:latin typeface="微软雅黑" panose="020B0503020204020204" pitchFamily="34" charset="-122"/>
                <a:ea typeface="微软雅黑" panose="020B0503020204020204" pitchFamily="34" charset="-122"/>
              </a:rPr>
              <a:t> books</a:t>
            </a:r>
          </a:p>
          <a:p>
            <a:r>
              <a:rPr lang="en-US" altLang="zh-CN" sz="1600" dirty="0">
                <a:solidFill>
                  <a:schemeClr val="accent6"/>
                </a:solidFill>
                <a:latin typeface="微软雅黑" panose="020B0503020204020204" pitchFamily="34" charset="-122"/>
                <a:ea typeface="微软雅黑" panose="020B0503020204020204" pitchFamily="34" charset="-122"/>
              </a:rPr>
              <a:t>4</a:t>
            </a:r>
          </a:p>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zrange</a:t>
            </a:r>
            <a:r>
              <a:rPr lang="en-US" altLang="zh-CN" sz="1600" dirty="0">
                <a:solidFill>
                  <a:srgbClr val="C00000"/>
                </a:solidFill>
                <a:latin typeface="微软雅黑" panose="020B0503020204020204" pitchFamily="34" charset="-122"/>
                <a:ea typeface="微软雅黑" panose="020B0503020204020204" pitchFamily="34" charset="-122"/>
              </a:rPr>
              <a:t> </a:t>
            </a:r>
            <a:r>
              <a:rPr lang="en-US" altLang="zh-CN" sz="1600" dirty="0">
                <a:solidFill>
                  <a:schemeClr val="accent6"/>
                </a:solidFill>
                <a:latin typeface="微软雅黑" panose="020B0503020204020204" pitchFamily="34" charset="-122"/>
                <a:ea typeface="微软雅黑" panose="020B0503020204020204" pitchFamily="34" charset="-122"/>
              </a:rPr>
              <a:t>books 0 -1  </a:t>
            </a:r>
            <a:r>
              <a:rPr lang="en-US" altLang="zh-CN" sz="1600" dirty="0">
                <a:solidFill>
                  <a:schemeClr val="accent1"/>
                </a:solidFill>
                <a:latin typeface="微软雅黑" panose="020B0503020204020204" pitchFamily="34" charset="-122"/>
                <a:ea typeface="微软雅黑" panose="020B0503020204020204" pitchFamily="34" charset="-122"/>
              </a:rPr>
              <a:t># </a:t>
            </a:r>
            <a:r>
              <a:rPr lang="zh-CN" altLang="en-US" sz="1600" dirty="0">
                <a:solidFill>
                  <a:schemeClr val="accent1"/>
                </a:solidFill>
                <a:latin typeface="微软雅黑" panose="020B0503020204020204" pitchFamily="34" charset="-122"/>
                <a:ea typeface="微软雅黑" panose="020B0503020204020204" pitchFamily="34" charset="-122"/>
              </a:rPr>
              <a:t>从小到大返回所有元素</a:t>
            </a:r>
          </a:p>
          <a:p>
            <a:r>
              <a:rPr lang="en-US" altLang="zh-CN" sz="1600" dirty="0">
                <a:solidFill>
                  <a:schemeClr val="accent6"/>
                </a:solidFill>
                <a:latin typeface="微软雅黑" panose="020B0503020204020204" pitchFamily="34" charset="-122"/>
                <a:ea typeface="微软雅黑" panose="020B0503020204020204" pitchFamily="34" charset="-122"/>
              </a:rPr>
              <a:t>1) "</a:t>
            </a:r>
            <a:r>
              <a:rPr lang="en-US" altLang="zh-CN" sz="1600" dirty="0" err="1">
                <a:solidFill>
                  <a:schemeClr val="accent6"/>
                </a:solidFill>
                <a:latin typeface="微软雅黑" panose="020B0503020204020204" pitchFamily="34" charset="-122"/>
                <a:ea typeface="微软雅黑" panose="020B0503020204020204" pitchFamily="34" charset="-122"/>
              </a:rPr>
              <a:t>javascript</a:t>
            </a:r>
            <a:r>
              <a:rPr lang="en-US" altLang="zh-CN" sz="1600" dirty="0">
                <a:solidFill>
                  <a:schemeClr val="accent6"/>
                </a:solidFill>
                <a:latin typeface="微软雅黑" panose="020B0503020204020204" pitchFamily="34" charset="-122"/>
                <a:ea typeface="微软雅黑" panose="020B0503020204020204" pitchFamily="34" charset="-122"/>
              </a:rPr>
              <a:t>"</a:t>
            </a:r>
          </a:p>
          <a:p>
            <a:r>
              <a:rPr lang="en-US" altLang="zh-CN" sz="1600" dirty="0">
                <a:solidFill>
                  <a:schemeClr val="accent6"/>
                </a:solidFill>
                <a:latin typeface="微软雅黑" panose="020B0503020204020204" pitchFamily="34" charset="-122"/>
                <a:ea typeface="微软雅黑" panose="020B0503020204020204" pitchFamily="34" charset="-122"/>
              </a:rPr>
              <a:t>2) "c"</a:t>
            </a:r>
          </a:p>
          <a:p>
            <a:r>
              <a:rPr lang="en-US" altLang="zh-CN" sz="1600" dirty="0">
                <a:solidFill>
                  <a:schemeClr val="accent6"/>
                </a:solidFill>
                <a:latin typeface="微软雅黑" panose="020B0503020204020204" pitchFamily="34" charset="-122"/>
                <a:ea typeface="微软雅黑" panose="020B0503020204020204" pitchFamily="34" charset="-122"/>
              </a:rPr>
              <a:t>3) "java"</a:t>
            </a:r>
          </a:p>
          <a:p>
            <a:r>
              <a:rPr lang="en-US" altLang="zh-CN" sz="1600" dirty="0">
                <a:solidFill>
                  <a:schemeClr val="accent6"/>
                </a:solidFill>
                <a:latin typeface="微软雅黑" panose="020B0503020204020204" pitchFamily="34" charset="-122"/>
                <a:ea typeface="微软雅黑" panose="020B0503020204020204" pitchFamily="34" charset="-122"/>
              </a:rPr>
              <a:t>4) "</a:t>
            </a:r>
            <a:r>
              <a:rPr lang="en-US" altLang="zh-CN" sz="1600" dirty="0" smtClean="0">
                <a:solidFill>
                  <a:schemeClr val="accent6"/>
                </a:solidFill>
                <a:latin typeface="微软雅黑" panose="020B0503020204020204" pitchFamily="34" charset="-122"/>
                <a:ea typeface="微软雅黑" panose="020B0503020204020204" pitchFamily="34" charset="-122"/>
              </a:rPr>
              <a:t>go“</a:t>
            </a:r>
            <a:endParaRPr lang="zh-CN" altLang="en-US" sz="1600" dirty="0">
              <a:solidFill>
                <a:schemeClr val="accent1"/>
              </a:solidFill>
              <a:latin typeface="微软雅黑" panose="020B0503020204020204" pitchFamily="34" charset="-122"/>
              <a:ea typeface="微软雅黑" panose="020B0503020204020204" pitchFamily="34" charset="-122"/>
            </a:endParaRPr>
          </a:p>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zrange</a:t>
            </a:r>
            <a:r>
              <a:rPr lang="en-US" altLang="zh-CN" sz="1600" dirty="0">
                <a:solidFill>
                  <a:srgbClr val="C00000"/>
                </a:solidFill>
                <a:latin typeface="微软雅黑" panose="020B0503020204020204" pitchFamily="34" charset="-122"/>
                <a:ea typeface="微软雅黑" panose="020B0503020204020204" pitchFamily="34" charset="-122"/>
              </a:rPr>
              <a:t> </a:t>
            </a:r>
            <a:r>
              <a:rPr lang="en-US" altLang="zh-CN" sz="1600" dirty="0">
                <a:solidFill>
                  <a:schemeClr val="accent6"/>
                </a:solidFill>
                <a:latin typeface="微软雅黑" panose="020B0503020204020204" pitchFamily="34" charset="-122"/>
                <a:ea typeface="微软雅黑" panose="020B0503020204020204" pitchFamily="34" charset="-122"/>
              </a:rPr>
              <a:t>books 0 -1 </a:t>
            </a:r>
            <a:r>
              <a:rPr lang="en-US" altLang="zh-CN" sz="1600" b="1" dirty="0">
                <a:solidFill>
                  <a:srgbClr val="FFD343"/>
                </a:solidFill>
                <a:latin typeface="微软雅黑" panose="020B0503020204020204" pitchFamily="34" charset="-122"/>
                <a:ea typeface="微软雅黑" panose="020B0503020204020204" pitchFamily="34" charset="-122"/>
              </a:rPr>
              <a:t>WITHSCORES</a:t>
            </a:r>
            <a:r>
              <a:rPr lang="en-US" altLang="zh-CN" sz="1600" dirty="0">
                <a:solidFill>
                  <a:schemeClr val="accent6"/>
                </a:solidFill>
                <a:latin typeface="微软雅黑" panose="020B0503020204020204" pitchFamily="34" charset="-122"/>
                <a:ea typeface="微软雅黑" panose="020B0503020204020204" pitchFamily="34" charset="-122"/>
              </a:rPr>
              <a:t> </a:t>
            </a:r>
            <a:r>
              <a:rPr lang="en-US" altLang="zh-CN" sz="1600" dirty="0">
                <a:solidFill>
                  <a:schemeClr val="accent1"/>
                </a:solidFill>
                <a:latin typeface="微软雅黑" panose="020B0503020204020204" pitchFamily="34" charset="-122"/>
                <a:ea typeface="微软雅黑" panose="020B0503020204020204" pitchFamily="34" charset="-122"/>
              </a:rPr>
              <a:t># </a:t>
            </a:r>
            <a:r>
              <a:rPr lang="zh-CN" altLang="en-US" sz="1600" dirty="0">
                <a:solidFill>
                  <a:schemeClr val="accent1"/>
                </a:solidFill>
                <a:latin typeface="微软雅黑" panose="020B0503020204020204" pitchFamily="34" charset="-122"/>
                <a:ea typeface="微软雅黑" panose="020B0503020204020204" pitchFamily="34" charset="-122"/>
              </a:rPr>
              <a:t>从小到大返回元素及</a:t>
            </a:r>
            <a:r>
              <a:rPr lang="zh-CN" altLang="en-US" sz="1600" dirty="0" smtClean="0">
                <a:solidFill>
                  <a:schemeClr val="accent1"/>
                </a:solidFill>
                <a:latin typeface="微软雅黑" panose="020B0503020204020204" pitchFamily="34" charset="-122"/>
                <a:ea typeface="微软雅黑" panose="020B0503020204020204" pitchFamily="34" charset="-122"/>
              </a:rPr>
              <a:t>分数，元素和分数交替返回</a:t>
            </a:r>
            <a:endParaRPr lang="en-US" altLang="zh-CN" sz="1600" dirty="0">
              <a:solidFill>
                <a:schemeClr val="accent6"/>
              </a:solidFill>
              <a:latin typeface="微软雅黑" panose="020B0503020204020204" pitchFamily="34" charset="-122"/>
              <a:ea typeface="微软雅黑" panose="020B0503020204020204" pitchFamily="34" charset="-122"/>
            </a:endParaRPr>
          </a:p>
          <a:p>
            <a:r>
              <a:rPr lang="en-US" altLang="zh-CN" sz="1600" dirty="0">
                <a:solidFill>
                  <a:schemeClr val="accent6"/>
                </a:solidFill>
                <a:latin typeface="微软雅黑" panose="020B0503020204020204" pitchFamily="34" charset="-122"/>
                <a:ea typeface="微软雅黑" panose="020B0503020204020204" pitchFamily="34" charset="-122"/>
              </a:rPr>
              <a:t>1) "</a:t>
            </a:r>
            <a:r>
              <a:rPr lang="en-US" altLang="zh-CN" sz="1600" dirty="0" err="1">
                <a:solidFill>
                  <a:schemeClr val="accent6"/>
                </a:solidFill>
                <a:latin typeface="微软雅黑" panose="020B0503020204020204" pitchFamily="34" charset="-122"/>
                <a:ea typeface="微软雅黑" panose="020B0503020204020204" pitchFamily="34" charset="-122"/>
              </a:rPr>
              <a:t>javascript</a:t>
            </a:r>
            <a:r>
              <a:rPr lang="en-US" altLang="zh-CN" sz="1600" dirty="0">
                <a:solidFill>
                  <a:schemeClr val="accent6"/>
                </a:solidFill>
                <a:latin typeface="微软雅黑" panose="020B0503020204020204" pitchFamily="34" charset="-122"/>
                <a:ea typeface="微软雅黑" panose="020B0503020204020204" pitchFamily="34" charset="-122"/>
              </a:rPr>
              <a:t>"</a:t>
            </a:r>
          </a:p>
          <a:p>
            <a:r>
              <a:rPr lang="en-US" altLang="zh-CN" sz="1600" dirty="0">
                <a:solidFill>
                  <a:schemeClr val="accent6"/>
                </a:solidFill>
                <a:latin typeface="微软雅黑" panose="020B0503020204020204" pitchFamily="34" charset="-122"/>
                <a:ea typeface="微软雅黑" panose="020B0503020204020204" pitchFamily="34" charset="-122"/>
              </a:rPr>
              <a:t>2) </a:t>
            </a:r>
            <a:r>
              <a:rPr lang="en-US" altLang="zh-CN" sz="1600" dirty="0" smtClean="0">
                <a:solidFill>
                  <a:schemeClr val="accent6"/>
                </a:solidFill>
                <a:latin typeface="微软雅黑" panose="020B0503020204020204" pitchFamily="34" charset="-122"/>
                <a:ea typeface="微软雅黑" panose="020B0503020204020204" pitchFamily="34" charset="-122"/>
              </a:rPr>
              <a:t>2.2</a:t>
            </a:r>
          </a:p>
          <a:p>
            <a:r>
              <a:rPr lang="en-US" altLang="zh-CN" sz="1600" dirty="0">
                <a:solidFill>
                  <a:schemeClr val="accent6"/>
                </a:solidFill>
                <a:latin typeface="微软雅黑" panose="020B0503020204020204" pitchFamily="34" charset="-122"/>
                <a:ea typeface="微软雅黑" panose="020B0503020204020204" pitchFamily="34" charset="-122"/>
              </a:rPr>
              <a:t>3) "c</a:t>
            </a:r>
            <a:r>
              <a:rPr lang="en-US" altLang="zh-CN" sz="1600" dirty="0" smtClean="0">
                <a:solidFill>
                  <a:schemeClr val="accent6"/>
                </a:solidFill>
                <a:latin typeface="微软雅黑" panose="020B0503020204020204" pitchFamily="34" charset="-122"/>
                <a:ea typeface="微软雅黑" panose="020B0503020204020204" pitchFamily="34" charset="-122"/>
              </a:rPr>
              <a:t>"</a:t>
            </a:r>
            <a:endParaRPr lang="en-US" altLang="zh-CN" sz="1600" dirty="0">
              <a:solidFill>
                <a:schemeClr val="accent6"/>
              </a:solidFill>
              <a:latin typeface="微软雅黑" panose="020B0503020204020204" pitchFamily="34" charset="-122"/>
              <a:ea typeface="微软雅黑" panose="020B0503020204020204" pitchFamily="34" charset="-122"/>
            </a:endParaRPr>
          </a:p>
        </p:txBody>
      </p:sp>
      <p:sp>
        <p:nvSpPr>
          <p:cNvPr id="10" name="TextBox 9"/>
          <p:cNvSpPr txBox="1"/>
          <p:nvPr/>
        </p:nvSpPr>
        <p:spPr>
          <a:xfrm>
            <a:off x="704850" y="605109"/>
            <a:ext cx="8883650" cy="523220"/>
          </a:xfrm>
          <a:prstGeom prst="rect">
            <a:avLst/>
          </a:prstGeom>
          <a:noFill/>
        </p:spPr>
        <p:txBody>
          <a:bodyPr wrap="square" rtlCol="0">
            <a:spAutoFit/>
          </a:bodyPr>
          <a:lstStyle/>
          <a:p>
            <a:pPr>
              <a:defRPr/>
            </a:pPr>
            <a:r>
              <a:rPr lang="en-US" altLang="zh-CN"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2.4.2 </a:t>
            </a:r>
            <a:r>
              <a:rPr lang="zh-CN" altLang="en-US"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常用命令及用法</a:t>
            </a:r>
          </a:p>
        </p:txBody>
      </p:sp>
      <p:sp>
        <p:nvSpPr>
          <p:cNvPr id="12" name="矩形 11">
            <a:extLst>
              <a:ext uri="{FF2B5EF4-FFF2-40B4-BE49-F238E27FC236}">
                <a16:creationId xmlns:a16="http://schemas.microsoft.com/office/drawing/2014/main" xmlns="" id="{74C59758-12AB-44A5-92FA-DB52904027AE}"/>
              </a:ext>
            </a:extLst>
          </p:cNvPr>
          <p:cNvSpPr/>
          <p:nvPr/>
        </p:nvSpPr>
        <p:spPr>
          <a:xfrm>
            <a:off x="6358597" y="1258531"/>
            <a:ext cx="5180261" cy="5262979"/>
          </a:xfrm>
          <a:prstGeom prst="rect">
            <a:avLst/>
          </a:prstGeom>
          <a:ln>
            <a:solidFill>
              <a:schemeClr val="bg1"/>
            </a:solidFill>
          </a:ln>
        </p:spPr>
        <p:txBody>
          <a:bodyPr wrap="square">
            <a:spAutoFit/>
          </a:bodyPr>
          <a:lstStyle/>
          <a:p>
            <a:r>
              <a:rPr lang="en-US" altLang="zh-CN" sz="1600" dirty="0" smtClean="0">
                <a:solidFill>
                  <a:schemeClr val="accent6"/>
                </a:solidFill>
                <a:latin typeface="微软雅黑" panose="020B0503020204020204" pitchFamily="34" charset="-122"/>
                <a:ea typeface="微软雅黑" panose="020B0503020204020204" pitchFamily="34" charset="-122"/>
              </a:rPr>
              <a:t>4</a:t>
            </a:r>
            <a:r>
              <a:rPr lang="en-US" altLang="zh-CN" sz="1600" dirty="0">
                <a:solidFill>
                  <a:schemeClr val="accent6"/>
                </a:solidFill>
                <a:latin typeface="微软雅黑" panose="020B0503020204020204" pitchFamily="34" charset="-122"/>
                <a:ea typeface="微软雅黑" panose="020B0503020204020204" pitchFamily="34" charset="-122"/>
              </a:rPr>
              <a:t>) </a:t>
            </a:r>
            <a:r>
              <a:rPr lang="en-US" altLang="zh-CN" sz="1600" dirty="0" smtClean="0">
                <a:solidFill>
                  <a:schemeClr val="accent6"/>
                </a:solidFill>
                <a:latin typeface="微软雅黑" panose="020B0503020204020204" pitchFamily="34" charset="-122"/>
                <a:ea typeface="微软雅黑" panose="020B0503020204020204" pitchFamily="34" charset="-122"/>
              </a:rPr>
              <a:t>38.0</a:t>
            </a:r>
          </a:p>
          <a:p>
            <a:r>
              <a:rPr lang="en-US" altLang="zh-CN" sz="1600" dirty="0" smtClean="0">
                <a:solidFill>
                  <a:schemeClr val="accent6"/>
                </a:solidFill>
                <a:latin typeface="微软雅黑" panose="020B0503020204020204" pitchFamily="34" charset="-122"/>
                <a:ea typeface="微软雅黑" panose="020B0503020204020204" pitchFamily="34" charset="-122"/>
              </a:rPr>
              <a:t>5</a:t>
            </a:r>
            <a:r>
              <a:rPr lang="en-US" altLang="zh-CN" sz="1600" dirty="0">
                <a:solidFill>
                  <a:schemeClr val="accent6"/>
                </a:solidFill>
                <a:latin typeface="微软雅黑" panose="020B0503020204020204" pitchFamily="34" charset="-122"/>
                <a:ea typeface="微软雅黑" panose="020B0503020204020204" pitchFamily="34" charset="-122"/>
              </a:rPr>
              <a:t>) "java"</a:t>
            </a:r>
          </a:p>
          <a:p>
            <a:r>
              <a:rPr lang="en-US" altLang="zh-CN" sz="1600" dirty="0">
                <a:solidFill>
                  <a:schemeClr val="accent6"/>
                </a:solidFill>
                <a:latin typeface="微软雅黑" panose="020B0503020204020204" pitchFamily="34" charset="-122"/>
                <a:ea typeface="微软雅黑" panose="020B0503020204020204" pitchFamily="34" charset="-122"/>
              </a:rPr>
              <a:t>6) 55.6</a:t>
            </a:r>
          </a:p>
          <a:p>
            <a:r>
              <a:rPr lang="en-US" altLang="zh-CN" sz="1600" dirty="0">
                <a:solidFill>
                  <a:schemeClr val="accent6"/>
                </a:solidFill>
                <a:latin typeface="微软雅黑" panose="020B0503020204020204" pitchFamily="34" charset="-122"/>
                <a:ea typeface="微软雅黑" panose="020B0503020204020204" pitchFamily="34" charset="-122"/>
              </a:rPr>
              <a:t>7) "go"</a:t>
            </a:r>
          </a:p>
          <a:p>
            <a:r>
              <a:rPr lang="en-US" altLang="zh-CN" sz="1600" dirty="0">
                <a:solidFill>
                  <a:schemeClr val="accent6"/>
                </a:solidFill>
                <a:latin typeface="微软雅黑" panose="020B0503020204020204" pitchFamily="34" charset="-122"/>
                <a:ea typeface="微软雅黑" panose="020B0503020204020204" pitchFamily="34" charset="-122"/>
              </a:rPr>
              <a:t>8) 81.4</a:t>
            </a:r>
          </a:p>
          <a:p>
            <a:r>
              <a:rPr lang="en-US" altLang="zh-CN" sz="1600" dirty="0" smtClean="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zcount</a:t>
            </a:r>
            <a:r>
              <a:rPr lang="en-US" altLang="zh-CN" sz="1600" dirty="0">
                <a:solidFill>
                  <a:srgbClr val="C00000"/>
                </a:solidFill>
                <a:latin typeface="微软雅黑" panose="020B0503020204020204" pitchFamily="34" charset="-122"/>
                <a:ea typeface="微软雅黑" panose="020B0503020204020204" pitchFamily="34" charset="-122"/>
              </a:rPr>
              <a:t> </a:t>
            </a:r>
            <a:r>
              <a:rPr lang="en-US" altLang="zh-CN" sz="1600" dirty="0">
                <a:solidFill>
                  <a:schemeClr val="accent6"/>
                </a:solidFill>
                <a:latin typeface="微软雅黑" panose="020B0503020204020204" pitchFamily="34" charset="-122"/>
                <a:ea typeface="微软雅黑" panose="020B0503020204020204" pitchFamily="34" charset="-122"/>
              </a:rPr>
              <a:t>books 20 60  </a:t>
            </a:r>
            <a:r>
              <a:rPr lang="en-US" altLang="zh-CN" sz="1600" dirty="0" smtClean="0">
                <a:solidFill>
                  <a:schemeClr val="accent6"/>
                </a:solidFill>
                <a:latin typeface="微软雅黑" panose="020B0503020204020204" pitchFamily="34" charset="-122"/>
                <a:ea typeface="微软雅黑" panose="020B0503020204020204" pitchFamily="34" charset="-122"/>
              </a:rPr>
              <a:t>  </a:t>
            </a:r>
            <a:r>
              <a:rPr lang="en-US" altLang="zh-CN" sz="1600" dirty="0" smtClean="0">
                <a:solidFill>
                  <a:schemeClr val="accent1"/>
                </a:solidFill>
                <a:latin typeface="微软雅黑" panose="020B0503020204020204" pitchFamily="34" charset="-122"/>
                <a:ea typeface="微软雅黑" panose="020B0503020204020204" pitchFamily="34" charset="-122"/>
              </a:rPr>
              <a:t># </a:t>
            </a:r>
            <a:r>
              <a:rPr lang="zh-CN" altLang="en-US" sz="1600" dirty="0">
                <a:solidFill>
                  <a:schemeClr val="accent1"/>
                </a:solidFill>
                <a:latin typeface="微软雅黑" panose="020B0503020204020204" pitchFamily="34" charset="-122"/>
                <a:ea typeface="微软雅黑" panose="020B0503020204020204" pitchFamily="34" charset="-122"/>
              </a:rPr>
              <a:t>获取分数值在指定区间的</a:t>
            </a:r>
            <a:r>
              <a:rPr lang="zh-CN" altLang="en-US" sz="1600" dirty="0" smtClean="0">
                <a:solidFill>
                  <a:schemeClr val="accent1"/>
                </a:solidFill>
                <a:latin typeface="微软雅黑" panose="020B0503020204020204" pitchFamily="34" charset="-122"/>
                <a:ea typeface="微软雅黑" panose="020B0503020204020204" pitchFamily="34" charset="-122"/>
              </a:rPr>
              <a:t>元素个数</a:t>
            </a:r>
            <a:endParaRPr lang="en-US" altLang="zh-CN" sz="1600" dirty="0">
              <a:solidFill>
                <a:schemeClr val="accent6"/>
              </a:solidFill>
              <a:latin typeface="微软雅黑" panose="020B0503020204020204" pitchFamily="34" charset="-122"/>
              <a:ea typeface="微软雅黑" panose="020B0503020204020204" pitchFamily="34" charset="-122"/>
            </a:endParaRPr>
          </a:p>
          <a:p>
            <a:r>
              <a:rPr lang="en-US" altLang="zh-CN" sz="1600" dirty="0">
                <a:solidFill>
                  <a:schemeClr val="accent6"/>
                </a:solidFill>
                <a:latin typeface="微软雅黑" panose="020B0503020204020204" pitchFamily="34" charset="-122"/>
                <a:ea typeface="微软雅黑" panose="020B0503020204020204" pitchFamily="34" charset="-122"/>
              </a:rPr>
              <a:t>2</a:t>
            </a:r>
          </a:p>
          <a:p>
            <a:r>
              <a:rPr lang="en-US" altLang="zh-CN" sz="1600" dirty="0" smtClean="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zincrby</a:t>
            </a:r>
            <a:r>
              <a:rPr lang="en-US" altLang="zh-CN" sz="1600" dirty="0">
                <a:solidFill>
                  <a:srgbClr val="C00000"/>
                </a:solidFill>
                <a:latin typeface="微软雅黑" panose="020B0503020204020204" pitchFamily="34" charset="-122"/>
                <a:ea typeface="微软雅黑" panose="020B0503020204020204" pitchFamily="34" charset="-122"/>
              </a:rPr>
              <a:t> </a:t>
            </a:r>
            <a:r>
              <a:rPr lang="en-US" altLang="zh-CN" sz="1600" dirty="0">
                <a:solidFill>
                  <a:schemeClr val="accent6"/>
                </a:solidFill>
                <a:latin typeface="微软雅黑" panose="020B0503020204020204" pitchFamily="34" charset="-122"/>
                <a:ea typeface="微软雅黑" panose="020B0503020204020204" pitchFamily="34" charset="-122"/>
              </a:rPr>
              <a:t>books 2 java  </a:t>
            </a:r>
            <a:r>
              <a:rPr lang="en-US" altLang="zh-CN" sz="1600" dirty="0" smtClean="0">
                <a:solidFill>
                  <a:schemeClr val="accent6"/>
                </a:solidFill>
                <a:latin typeface="微软雅黑" panose="020B0503020204020204" pitchFamily="34" charset="-122"/>
                <a:ea typeface="微软雅黑" panose="020B0503020204020204" pitchFamily="34" charset="-122"/>
              </a:rPr>
              <a:t> </a:t>
            </a:r>
            <a:r>
              <a:rPr lang="en-US" altLang="zh-CN" sz="1600" dirty="0">
                <a:solidFill>
                  <a:schemeClr val="accent1"/>
                </a:solidFill>
                <a:latin typeface="微软雅黑" panose="020B0503020204020204" pitchFamily="34" charset="-122"/>
                <a:ea typeface="微软雅黑" panose="020B0503020204020204" pitchFamily="34" charset="-122"/>
              </a:rPr>
              <a:t># </a:t>
            </a:r>
            <a:r>
              <a:rPr lang="zh-CN" altLang="en-US" sz="1600" dirty="0">
                <a:solidFill>
                  <a:schemeClr val="accent1"/>
                </a:solidFill>
                <a:latin typeface="微软雅黑" panose="020B0503020204020204" pitchFamily="34" charset="-122"/>
                <a:ea typeface="微软雅黑" panose="020B0503020204020204" pitchFamily="34" charset="-122"/>
              </a:rPr>
              <a:t>增加指定的元</a:t>
            </a:r>
            <a:r>
              <a:rPr lang="zh-CN" altLang="en-US" sz="1600" dirty="0" smtClean="0">
                <a:solidFill>
                  <a:schemeClr val="accent1"/>
                </a:solidFill>
                <a:latin typeface="微软雅黑" panose="020B0503020204020204" pitchFamily="34" charset="-122"/>
                <a:ea typeface="微软雅黑" panose="020B0503020204020204" pitchFamily="34" charset="-122"/>
              </a:rPr>
              <a:t>素</a:t>
            </a:r>
            <a:r>
              <a:rPr lang="en-US" altLang="zh-CN" sz="1600" dirty="0" smtClean="0">
                <a:solidFill>
                  <a:schemeClr val="accent1"/>
                </a:solidFill>
                <a:latin typeface="微软雅黑" panose="020B0503020204020204" pitchFamily="34" charset="-122"/>
                <a:ea typeface="微软雅黑" panose="020B0503020204020204" pitchFamily="34" charset="-122"/>
              </a:rPr>
              <a:t>java</a:t>
            </a:r>
            <a:r>
              <a:rPr lang="zh-CN" altLang="en-US" sz="1600" dirty="0" smtClean="0">
                <a:solidFill>
                  <a:schemeClr val="accent1"/>
                </a:solidFill>
                <a:latin typeface="微软雅黑" panose="020B0503020204020204" pitchFamily="34" charset="-122"/>
                <a:ea typeface="微软雅黑" panose="020B0503020204020204" pitchFamily="34" charset="-122"/>
              </a:rPr>
              <a:t>的分值</a:t>
            </a:r>
            <a:endParaRPr lang="en-US" altLang="zh-CN" sz="1600" dirty="0">
              <a:solidFill>
                <a:schemeClr val="accent6"/>
              </a:solidFill>
              <a:latin typeface="微软雅黑" panose="020B0503020204020204" pitchFamily="34" charset="-122"/>
              <a:ea typeface="微软雅黑" panose="020B0503020204020204" pitchFamily="34" charset="-122"/>
            </a:endParaRPr>
          </a:p>
          <a:p>
            <a:r>
              <a:rPr lang="en-US" altLang="zh-CN" sz="1600" dirty="0">
                <a:solidFill>
                  <a:schemeClr val="accent6"/>
                </a:solidFill>
                <a:latin typeface="微软雅黑" panose="020B0503020204020204" pitchFamily="34" charset="-122"/>
                <a:ea typeface="微软雅黑" panose="020B0503020204020204" pitchFamily="34" charset="-122"/>
              </a:rPr>
              <a:t>57.6</a:t>
            </a:r>
          </a:p>
          <a:p>
            <a:r>
              <a:rPr lang="en-US" altLang="zh-CN" sz="1600" dirty="0" smtClean="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zscore</a:t>
            </a:r>
            <a:r>
              <a:rPr lang="en-US" altLang="zh-CN" sz="1600" dirty="0">
                <a:solidFill>
                  <a:srgbClr val="C00000"/>
                </a:solidFill>
                <a:latin typeface="微软雅黑" panose="020B0503020204020204" pitchFamily="34" charset="-122"/>
                <a:ea typeface="微软雅黑" panose="020B0503020204020204" pitchFamily="34" charset="-122"/>
              </a:rPr>
              <a:t> </a:t>
            </a:r>
            <a:r>
              <a:rPr lang="en-US" altLang="zh-CN" sz="1600" dirty="0">
                <a:solidFill>
                  <a:schemeClr val="accent6"/>
                </a:solidFill>
                <a:latin typeface="微软雅黑" panose="020B0503020204020204" pitchFamily="34" charset="-122"/>
                <a:ea typeface="微软雅黑" panose="020B0503020204020204" pitchFamily="34" charset="-122"/>
              </a:rPr>
              <a:t>books java  </a:t>
            </a:r>
            <a:r>
              <a:rPr lang="en-US" altLang="zh-CN" sz="1600" dirty="0" smtClean="0">
                <a:solidFill>
                  <a:schemeClr val="accent6"/>
                </a:solidFill>
                <a:latin typeface="微软雅黑" panose="020B0503020204020204" pitchFamily="34" charset="-122"/>
                <a:ea typeface="微软雅黑" panose="020B0503020204020204" pitchFamily="34" charset="-122"/>
              </a:rPr>
              <a:t>     </a:t>
            </a:r>
            <a:r>
              <a:rPr lang="en-US" altLang="zh-CN" sz="1600" dirty="0">
                <a:solidFill>
                  <a:schemeClr val="accent1"/>
                </a:solidFill>
                <a:latin typeface="微软雅黑" panose="020B0503020204020204" pitchFamily="34" charset="-122"/>
                <a:ea typeface="微软雅黑" panose="020B0503020204020204" pitchFamily="34" charset="-122"/>
              </a:rPr>
              <a:t># </a:t>
            </a:r>
            <a:r>
              <a:rPr lang="zh-CN" altLang="en-US" sz="1600" dirty="0">
                <a:solidFill>
                  <a:schemeClr val="accent1"/>
                </a:solidFill>
                <a:latin typeface="微软雅黑" panose="020B0503020204020204" pitchFamily="34" charset="-122"/>
                <a:ea typeface="微软雅黑" panose="020B0503020204020204" pitchFamily="34" charset="-122"/>
              </a:rPr>
              <a:t>获取指定元</a:t>
            </a:r>
            <a:r>
              <a:rPr lang="zh-CN" altLang="en-US" sz="1600" dirty="0" smtClean="0">
                <a:solidFill>
                  <a:schemeClr val="accent1"/>
                </a:solidFill>
                <a:latin typeface="微软雅黑" panose="020B0503020204020204" pitchFamily="34" charset="-122"/>
                <a:ea typeface="微软雅黑" panose="020B0503020204020204" pitchFamily="34" charset="-122"/>
              </a:rPr>
              <a:t>素</a:t>
            </a:r>
            <a:r>
              <a:rPr lang="en-US" altLang="zh-CN" sz="1600" dirty="0" smtClean="0">
                <a:solidFill>
                  <a:schemeClr val="accent1"/>
                </a:solidFill>
                <a:latin typeface="微软雅黑" panose="020B0503020204020204" pitchFamily="34" charset="-122"/>
                <a:ea typeface="微软雅黑" panose="020B0503020204020204" pitchFamily="34" charset="-122"/>
              </a:rPr>
              <a:t>java</a:t>
            </a:r>
            <a:r>
              <a:rPr lang="zh-CN" altLang="en-US" sz="1600" dirty="0" smtClean="0">
                <a:solidFill>
                  <a:schemeClr val="accent1"/>
                </a:solidFill>
                <a:latin typeface="微软雅黑" panose="020B0503020204020204" pitchFamily="34" charset="-122"/>
                <a:ea typeface="微软雅黑" panose="020B0503020204020204" pitchFamily="34" charset="-122"/>
              </a:rPr>
              <a:t>的分值</a:t>
            </a:r>
            <a:endParaRPr lang="en-US" altLang="zh-CN" sz="1600" dirty="0">
              <a:solidFill>
                <a:schemeClr val="accent6"/>
              </a:solidFill>
              <a:latin typeface="微软雅黑" panose="020B0503020204020204" pitchFamily="34" charset="-122"/>
              <a:ea typeface="微软雅黑" panose="020B0503020204020204" pitchFamily="34" charset="-122"/>
            </a:endParaRPr>
          </a:p>
          <a:p>
            <a:r>
              <a:rPr lang="en-US" altLang="zh-CN" sz="1600" dirty="0">
                <a:solidFill>
                  <a:schemeClr val="accent6"/>
                </a:solidFill>
                <a:latin typeface="微软雅黑" panose="020B0503020204020204" pitchFamily="34" charset="-122"/>
                <a:ea typeface="微软雅黑" panose="020B0503020204020204" pitchFamily="34" charset="-122"/>
              </a:rPr>
              <a:t>57.6</a:t>
            </a:r>
          </a:p>
          <a:p>
            <a:r>
              <a:rPr lang="en-US" altLang="zh-CN" sz="1600" dirty="0" smtClean="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zrevrange</a:t>
            </a:r>
            <a:r>
              <a:rPr lang="en-US" altLang="zh-CN" sz="1600" dirty="0">
                <a:solidFill>
                  <a:srgbClr val="C00000"/>
                </a:solidFill>
                <a:latin typeface="微软雅黑" panose="020B0503020204020204" pitchFamily="34" charset="-122"/>
                <a:ea typeface="微软雅黑" panose="020B0503020204020204" pitchFamily="34" charset="-122"/>
              </a:rPr>
              <a:t> </a:t>
            </a:r>
            <a:r>
              <a:rPr lang="en-US" altLang="zh-CN" sz="1600" dirty="0">
                <a:solidFill>
                  <a:schemeClr val="accent6"/>
                </a:solidFill>
                <a:latin typeface="微软雅黑" panose="020B0503020204020204" pitchFamily="34" charset="-122"/>
                <a:ea typeface="微软雅黑" panose="020B0503020204020204" pitchFamily="34" charset="-122"/>
              </a:rPr>
              <a:t>books 0 2 </a:t>
            </a:r>
            <a:r>
              <a:rPr lang="en-US" altLang="zh-CN" sz="1600" b="1" dirty="0" err="1">
                <a:solidFill>
                  <a:srgbClr val="FFD343"/>
                </a:solidFill>
                <a:latin typeface="微软雅黑" panose="020B0503020204020204" pitchFamily="34" charset="-122"/>
                <a:ea typeface="微软雅黑" panose="020B0503020204020204" pitchFamily="34" charset="-122"/>
              </a:rPr>
              <a:t>withscores</a:t>
            </a:r>
            <a:r>
              <a:rPr lang="en-US" altLang="zh-CN" sz="1600" dirty="0">
                <a:solidFill>
                  <a:schemeClr val="accent6"/>
                </a:solidFill>
                <a:latin typeface="微软雅黑" panose="020B0503020204020204" pitchFamily="34" charset="-122"/>
                <a:ea typeface="微软雅黑" panose="020B0503020204020204" pitchFamily="34" charset="-122"/>
              </a:rPr>
              <a:t>  </a:t>
            </a:r>
            <a:r>
              <a:rPr lang="en-US" altLang="zh-CN" sz="1600" dirty="0" smtClean="0">
                <a:solidFill>
                  <a:schemeClr val="accent6"/>
                </a:solidFill>
                <a:latin typeface="微软雅黑" panose="020B0503020204020204" pitchFamily="34" charset="-122"/>
                <a:ea typeface="微软雅黑" panose="020B0503020204020204" pitchFamily="34" charset="-122"/>
              </a:rPr>
              <a:t>  </a:t>
            </a:r>
            <a:r>
              <a:rPr lang="en-US" altLang="zh-CN" sz="1600" dirty="0">
                <a:solidFill>
                  <a:schemeClr val="accent1"/>
                </a:solidFill>
                <a:latin typeface="微软雅黑" panose="020B0503020204020204" pitchFamily="34" charset="-122"/>
                <a:ea typeface="微软雅黑" panose="020B0503020204020204" pitchFamily="34" charset="-122"/>
              </a:rPr>
              <a:t># </a:t>
            </a:r>
            <a:r>
              <a:rPr lang="zh-CN" altLang="en-US" sz="1600" dirty="0">
                <a:solidFill>
                  <a:schemeClr val="accent1"/>
                </a:solidFill>
                <a:latin typeface="微软雅黑" panose="020B0503020204020204" pitchFamily="34" charset="-122"/>
                <a:ea typeface="微软雅黑" panose="020B0503020204020204" pitchFamily="34" charset="-122"/>
              </a:rPr>
              <a:t>从大到小返回元素及</a:t>
            </a:r>
            <a:r>
              <a:rPr lang="zh-CN" altLang="en-US" sz="1600" dirty="0" smtClean="0">
                <a:solidFill>
                  <a:schemeClr val="accent1"/>
                </a:solidFill>
                <a:latin typeface="微软雅黑" panose="020B0503020204020204" pitchFamily="34" charset="-122"/>
                <a:ea typeface="微软雅黑" panose="020B0503020204020204" pitchFamily="34" charset="-122"/>
              </a:rPr>
              <a:t>分数</a:t>
            </a:r>
            <a:endParaRPr lang="en-US" altLang="zh-CN" sz="1600" dirty="0">
              <a:solidFill>
                <a:schemeClr val="accent6"/>
              </a:solidFill>
              <a:latin typeface="微软雅黑" panose="020B0503020204020204" pitchFamily="34" charset="-122"/>
              <a:ea typeface="微软雅黑" panose="020B0503020204020204" pitchFamily="34" charset="-122"/>
            </a:endParaRPr>
          </a:p>
          <a:p>
            <a:r>
              <a:rPr lang="en-US" altLang="zh-CN" sz="1600" dirty="0">
                <a:solidFill>
                  <a:schemeClr val="accent6"/>
                </a:solidFill>
                <a:latin typeface="微软雅黑" panose="020B0503020204020204" pitchFamily="34" charset="-122"/>
                <a:ea typeface="微软雅黑" panose="020B0503020204020204" pitchFamily="34" charset="-122"/>
              </a:rPr>
              <a:t>1) "go"</a:t>
            </a:r>
          </a:p>
          <a:p>
            <a:r>
              <a:rPr lang="en-US" altLang="zh-CN" sz="1600" dirty="0">
                <a:solidFill>
                  <a:schemeClr val="accent6"/>
                </a:solidFill>
                <a:latin typeface="微软雅黑" panose="020B0503020204020204" pitchFamily="34" charset="-122"/>
                <a:ea typeface="微软雅黑" panose="020B0503020204020204" pitchFamily="34" charset="-122"/>
              </a:rPr>
              <a:t>2) 81.4</a:t>
            </a:r>
          </a:p>
          <a:p>
            <a:r>
              <a:rPr lang="en-US" altLang="zh-CN" sz="1600" dirty="0">
                <a:solidFill>
                  <a:schemeClr val="accent6"/>
                </a:solidFill>
                <a:latin typeface="微软雅黑" panose="020B0503020204020204" pitchFamily="34" charset="-122"/>
                <a:ea typeface="微软雅黑" panose="020B0503020204020204" pitchFamily="34" charset="-122"/>
              </a:rPr>
              <a:t>3) "java"</a:t>
            </a:r>
          </a:p>
          <a:p>
            <a:r>
              <a:rPr lang="en-US" altLang="zh-CN" sz="1600" dirty="0">
                <a:solidFill>
                  <a:schemeClr val="accent6"/>
                </a:solidFill>
                <a:latin typeface="微软雅黑" panose="020B0503020204020204" pitchFamily="34" charset="-122"/>
                <a:ea typeface="微软雅黑" panose="020B0503020204020204" pitchFamily="34" charset="-122"/>
              </a:rPr>
              <a:t>4) 57.6</a:t>
            </a:r>
          </a:p>
          <a:p>
            <a:r>
              <a:rPr lang="en-US" altLang="zh-CN" sz="1600" dirty="0">
                <a:solidFill>
                  <a:schemeClr val="accent6"/>
                </a:solidFill>
                <a:latin typeface="微软雅黑" panose="020B0503020204020204" pitchFamily="34" charset="-122"/>
                <a:ea typeface="微软雅黑" panose="020B0503020204020204" pitchFamily="34" charset="-122"/>
              </a:rPr>
              <a:t>5) "c"</a:t>
            </a:r>
          </a:p>
          <a:p>
            <a:r>
              <a:rPr lang="en-US" altLang="zh-CN" sz="1600" dirty="0">
                <a:solidFill>
                  <a:schemeClr val="accent6"/>
                </a:solidFill>
                <a:latin typeface="微软雅黑" panose="020B0503020204020204" pitchFamily="34" charset="-122"/>
                <a:ea typeface="微软雅黑" panose="020B0503020204020204" pitchFamily="34" charset="-122"/>
              </a:rPr>
              <a:t>6) 38.0</a:t>
            </a:r>
            <a:endParaRPr lang="en-US" altLang="zh-CN" sz="1600" dirty="0" smtClean="0">
              <a:solidFill>
                <a:schemeClr val="accent6"/>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82785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anim calcmode="lin" valueType="num">
                                      <p:cBhvr>
                                        <p:cTn id="13" dur="1000" fill="hold"/>
                                        <p:tgtEl>
                                          <p:spTgt spid="12"/>
                                        </p:tgtEl>
                                        <p:attrNameLst>
                                          <p:attrName>ppt_x</p:attrName>
                                        </p:attrNameLst>
                                      </p:cBhvr>
                                      <p:tavLst>
                                        <p:tav tm="0">
                                          <p:val>
                                            <p:strVal val="#ppt_x"/>
                                          </p:val>
                                        </p:tav>
                                        <p:tav tm="100000">
                                          <p:val>
                                            <p:strVal val="#ppt_x"/>
                                          </p:val>
                                        </p:tav>
                                      </p:tavLst>
                                    </p:anim>
                                    <p:anim calcmode="lin" valueType="num">
                                      <p:cBhvr>
                                        <p:cTn id="14"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A0F23"/>
        </a:solidFill>
        <a:effectLst/>
      </p:bgPr>
    </p:bg>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xmlns="" id="{CBDC52CD-1D62-48AF-A9DF-9F18AEA2B1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01385" y="-114300"/>
            <a:ext cx="1301859" cy="920356"/>
          </a:xfrm>
          <a:prstGeom prst="rect">
            <a:avLst/>
          </a:prstGeom>
        </p:spPr>
      </p:pic>
      <p:pic>
        <p:nvPicPr>
          <p:cNvPr id="14" name="图片 13">
            <a:extLst>
              <a:ext uri="{FF2B5EF4-FFF2-40B4-BE49-F238E27FC236}">
                <a16:creationId xmlns:a16="http://schemas.microsoft.com/office/drawing/2014/main" xmlns="" id="{F78DA958-9B1B-47DA-A870-8C0B3A7D8866}"/>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b="63537"/>
          <a:stretch/>
        </p:blipFill>
        <p:spPr>
          <a:xfrm>
            <a:off x="11184164" y="217733"/>
            <a:ext cx="572339" cy="337210"/>
          </a:xfrm>
          <a:prstGeom prst="rect">
            <a:avLst/>
          </a:prstGeom>
        </p:spPr>
      </p:pic>
      <p:cxnSp>
        <p:nvCxnSpPr>
          <p:cNvPr id="15" name="直接连接符 14">
            <a:extLst>
              <a:ext uri="{FF2B5EF4-FFF2-40B4-BE49-F238E27FC236}">
                <a16:creationId xmlns:a16="http://schemas.microsoft.com/office/drawing/2014/main" xmlns="" id="{93240A06-D526-4907-A163-94ABB41190CC}"/>
              </a:ext>
            </a:extLst>
          </p:cNvPr>
          <p:cNvCxnSpPr/>
          <p:nvPr/>
        </p:nvCxnSpPr>
        <p:spPr>
          <a:xfrm>
            <a:off x="11103244" y="225825"/>
            <a:ext cx="0" cy="2435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xmlns="" id="{74C59758-12AB-44A5-92FA-DB52904027AE}"/>
              </a:ext>
            </a:extLst>
          </p:cNvPr>
          <p:cNvSpPr/>
          <p:nvPr/>
        </p:nvSpPr>
        <p:spPr>
          <a:xfrm>
            <a:off x="802332" y="1199194"/>
            <a:ext cx="10765483" cy="1754326"/>
          </a:xfrm>
          <a:prstGeom prst="rect">
            <a:avLst/>
          </a:prstGeom>
        </p:spPr>
        <p:txBody>
          <a:bodyPr wrap="square">
            <a:spAutoFit/>
          </a:bodyPr>
          <a:lstStyle/>
          <a:p>
            <a:pPr indent="457200">
              <a:lnSpc>
                <a:spcPct val="150000"/>
              </a:lnSpc>
            </a:pPr>
            <a:r>
              <a:rPr lang="zh-CN" altLang="en-US" dirty="0">
                <a:solidFill>
                  <a:prstClr val="white"/>
                </a:solidFill>
                <a:latin typeface="微软雅黑" panose="020B0503020204020204" pitchFamily="34" charset="-122"/>
                <a:ea typeface="微软雅黑" panose="020B0503020204020204" pitchFamily="34" charset="-122"/>
              </a:rPr>
              <a:t>借</a:t>
            </a:r>
            <a:r>
              <a:rPr lang="zh-CN" altLang="en-US" dirty="0" smtClean="0">
                <a:solidFill>
                  <a:prstClr val="white"/>
                </a:solidFill>
                <a:latin typeface="微软雅黑" panose="020B0503020204020204" pitchFamily="34" charset="-122"/>
                <a:ea typeface="微软雅黑" panose="020B0503020204020204" pitchFamily="34" charset="-122"/>
              </a:rPr>
              <a:t>助</a:t>
            </a:r>
            <a:r>
              <a:rPr lang="en-US" altLang="zh-CN" dirty="0" err="1" smtClean="0">
                <a:solidFill>
                  <a:prstClr val="white"/>
                </a:solidFill>
                <a:latin typeface="微软雅黑" panose="020B0503020204020204" pitchFamily="34" charset="-122"/>
                <a:ea typeface="微软雅黑" panose="020B0503020204020204" pitchFamily="34" charset="-122"/>
              </a:rPr>
              <a:t>redis</a:t>
            </a:r>
            <a:r>
              <a:rPr lang="zh-CN" altLang="en-US" dirty="0" smtClean="0">
                <a:solidFill>
                  <a:prstClr val="white"/>
                </a:solidFill>
                <a:latin typeface="微软雅黑" panose="020B0503020204020204" pitchFamily="34" charset="-122"/>
                <a:ea typeface="微软雅黑" panose="020B0503020204020204" pitchFamily="34" charset="-122"/>
              </a:rPr>
              <a:t>做排行榜功能的业界很多，比如在游戏中的积分排行榜，综合战斗力排行榜。因为对实时性要求高，请求频繁，</a:t>
            </a:r>
            <a:r>
              <a:rPr lang="zh-CN" altLang="en-US" dirty="0">
                <a:solidFill>
                  <a:prstClr val="white"/>
                </a:solidFill>
                <a:latin typeface="微软雅黑" panose="020B0503020204020204" pitchFamily="34" charset="-122"/>
                <a:ea typeface="微软雅黑" panose="020B0503020204020204" pitchFamily="34" charset="-122"/>
              </a:rPr>
              <a:t>排</a:t>
            </a:r>
            <a:r>
              <a:rPr lang="zh-CN" altLang="en-US" dirty="0" smtClean="0">
                <a:solidFill>
                  <a:prstClr val="white"/>
                </a:solidFill>
                <a:latin typeface="微软雅黑" panose="020B0503020204020204" pitchFamily="34" charset="-122"/>
                <a:ea typeface="微软雅黑" panose="020B0503020204020204" pitchFamily="34" charset="-122"/>
              </a:rPr>
              <a:t>序数据量往往较大。用传统数据库</a:t>
            </a:r>
            <a:r>
              <a:rPr lang="zh-CN" altLang="en-US" dirty="0">
                <a:solidFill>
                  <a:prstClr val="white"/>
                </a:solidFill>
                <a:latin typeface="微软雅黑" panose="020B0503020204020204" pitchFamily="34" charset="-122"/>
                <a:ea typeface="微软雅黑" panose="020B0503020204020204" pitchFamily="34" charset="-122"/>
              </a:rPr>
              <a:t>实</a:t>
            </a:r>
            <a:r>
              <a:rPr lang="zh-CN" altLang="en-US" dirty="0" smtClean="0">
                <a:solidFill>
                  <a:prstClr val="white"/>
                </a:solidFill>
                <a:latin typeface="微软雅黑" panose="020B0503020204020204" pitchFamily="34" charset="-122"/>
                <a:ea typeface="微软雅黑" panose="020B0503020204020204" pitchFamily="34" charset="-122"/>
              </a:rPr>
              <a:t>现，往往效果不理想，不足以支持高并发场景。借助</a:t>
            </a:r>
            <a:r>
              <a:rPr lang="en-US" altLang="zh-CN" dirty="0" err="1" smtClean="0">
                <a:solidFill>
                  <a:prstClr val="white"/>
                </a:solidFill>
                <a:latin typeface="微软雅黑" panose="020B0503020204020204" pitchFamily="34" charset="-122"/>
                <a:ea typeface="微软雅黑" panose="020B0503020204020204" pitchFamily="34" charset="-122"/>
              </a:rPr>
              <a:t>redis</a:t>
            </a:r>
            <a:r>
              <a:rPr lang="zh-CN" altLang="en-US" dirty="0" smtClean="0">
                <a:solidFill>
                  <a:prstClr val="white"/>
                </a:solidFill>
                <a:latin typeface="微软雅黑" panose="020B0503020204020204" pitchFamily="34" charset="-122"/>
                <a:ea typeface="微软雅黑" panose="020B0503020204020204" pitchFamily="34" charset="-122"/>
              </a:rPr>
              <a:t>的</a:t>
            </a:r>
            <a:r>
              <a:rPr lang="en-US" altLang="zh-CN" dirty="0" err="1" smtClean="0">
                <a:solidFill>
                  <a:prstClr val="white"/>
                </a:solidFill>
                <a:latin typeface="微软雅黑" panose="020B0503020204020204" pitchFamily="34" charset="-122"/>
                <a:ea typeface="微软雅黑" panose="020B0503020204020204" pitchFamily="34" charset="-122"/>
              </a:rPr>
              <a:t>zset</a:t>
            </a:r>
            <a:r>
              <a:rPr lang="zh-CN" altLang="en-US" dirty="0" smtClean="0">
                <a:solidFill>
                  <a:prstClr val="white"/>
                </a:solidFill>
                <a:latin typeface="微软雅黑" panose="020B0503020204020204" pitchFamily="34" charset="-122"/>
                <a:ea typeface="微软雅黑" panose="020B0503020204020204" pitchFamily="34" charset="-122"/>
              </a:rPr>
              <a:t>数据结构，可以轻松实现实时排行榜并且系统具有很好的响应性。</a:t>
            </a:r>
            <a:endParaRPr lang="en-US" altLang="zh-CN" dirty="0" smtClean="0">
              <a:solidFill>
                <a:prstClr val="white"/>
              </a:solidFill>
              <a:latin typeface="微软雅黑" panose="020B0503020204020204" pitchFamily="34" charset="-122"/>
              <a:ea typeface="微软雅黑" panose="020B0503020204020204" pitchFamily="34" charset="-122"/>
            </a:endParaRPr>
          </a:p>
          <a:p>
            <a:pPr indent="457200">
              <a:lnSpc>
                <a:spcPct val="150000"/>
              </a:lnSpc>
            </a:pPr>
            <a:r>
              <a:rPr lang="zh-CN" altLang="en-US" dirty="0" smtClean="0">
                <a:solidFill>
                  <a:prstClr val="white"/>
                </a:solidFill>
                <a:latin typeface="微软雅黑" panose="020B0503020204020204" pitchFamily="34" charset="-122"/>
                <a:ea typeface="微软雅黑" panose="020B0503020204020204" pitchFamily="34" charset="-122"/>
              </a:rPr>
              <a:t>下面实现从大到小前</a:t>
            </a:r>
            <a:r>
              <a:rPr lang="en-US" altLang="zh-CN" dirty="0" smtClean="0">
                <a:solidFill>
                  <a:prstClr val="white"/>
                </a:solidFill>
                <a:latin typeface="微软雅黑" panose="020B0503020204020204" pitchFamily="34" charset="-122"/>
                <a:ea typeface="微软雅黑" panose="020B0503020204020204" pitchFamily="34" charset="-122"/>
              </a:rPr>
              <a:t>5</a:t>
            </a:r>
            <a:r>
              <a:rPr lang="zh-CN" altLang="en-US" dirty="0" smtClean="0">
                <a:solidFill>
                  <a:prstClr val="white"/>
                </a:solidFill>
                <a:latin typeface="微软雅黑" panose="020B0503020204020204" pitchFamily="34" charset="-122"/>
                <a:ea typeface="微软雅黑" panose="020B0503020204020204" pitchFamily="34" charset="-122"/>
              </a:rPr>
              <a:t>名的排行榜</a:t>
            </a:r>
            <a:endParaRPr lang="zh-CN" altLang="en-US" dirty="0">
              <a:solidFill>
                <a:prstClr val="white"/>
              </a:solidFill>
              <a:latin typeface="微软雅黑" panose="020B0503020204020204" pitchFamily="34" charset="-122"/>
              <a:ea typeface="微软雅黑" panose="020B0503020204020204" pitchFamily="34" charset="-122"/>
            </a:endParaRPr>
          </a:p>
        </p:txBody>
      </p:sp>
      <p:sp>
        <p:nvSpPr>
          <p:cNvPr id="10" name="TextBox 9"/>
          <p:cNvSpPr txBox="1"/>
          <p:nvPr/>
        </p:nvSpPr>
        <p:spPr>
          <a:xfrm>
            <a:off x="704849" y="605109"/>
            <a:ext cx="9096535" cy="523220"/>
          </a:xfrm>
          <a:prstGeom prst="rect">
            <a:avLst/>
          </a:prstGeom>
          <a:noFill/>
        </p:spPr>
        <p:txBody>
          <a:bodyPr wrap="square" rtlCol="0">
            <a:spAutoFit/>
          </a:bodyPr>
          <a:lstStyle/>
          <a:p>
            <a:pPr>
              <a:defRPr/>
            </a:pPr>
            <a:r>
              <a:rPr lang="en-US" altLang="zh-CN"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2.4.3 </a:t>
            </a:r>
            <a:r>
              <a:rPr lang="zh-CN" altLang="en-US"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排行榜功能</a:t>
            </a:r>
          </a:p>
        </p:txBody>
      </p:sp>
      <p:sp>
        <p:nvSpPr>
          <p:cNvPr id="2" name="文本框 1"/>
          <p:cNvSpPr txBox="1"/>
          <p:nvPr/>
        </p:nvSpPr>
        <p:spPr>
          <a:xfrm>
            <a:off x="802333" y="3263845"/>
            <a:ext cx="5246776" cy="3293209"/>
          </a:xfrm>
          <a:prstGeom prst="rect">
            <a:avLst/>
          </a:prstGeom>
          <a:noFill/>
          <a:ln>
            <a:solidFill>
              <a:schemeClr val="bg1"/>
            </a:solidFill>
          </a:ln>
        </p:spPr>
        <p:txBody>
          <a:bodyPr wrap="square" rtlCol="0">
            <a:spAutoFit/>
          </a:bodyPr>
          <a:lstStyle/>
          <a:p>
            <a:r>
              <a:rPr lang="en-US" altLang="zh-CN" sz="1600" dirty="0" smtClean="0">
                <a:solidFill>
                  <a:schemeClr val="accent1"/>
                </a:solidFill>
                <a:latin typeface="微软雅黑" panose="020B0503020204020204" pitchFamily="34" charset="-122"/>
                <a:ea typeface="微软雅黑" panose="020B0503020204020204" pitchFamily="34" charset="-122"/>
              </a:rPr>
              <a:t>#  </a:t>
            </a:r>
            <a:r>
              <a:rPr lang="zh-CN" altLang="en-US" sz="1600" dirty="0" smtClean="0">
                <a:solidFill>
                  <a:schemeClr val="accent1"/>
                </a:solidFill>
                <a:latin typeface="微软雅黑" panose="020B0503020204020204" pitchFamily="34" charset="-122"/>
                <a:ea typeface="微软雅黑" panose="020B0503020204020204" pitchFamily="34" charset="-122"/>
              </a:rPr>
              <a:t>添加待排行的数据</a:t>
            </a:r>
            <a:endParaRPr lang="en-US" altLang="zh-CN" sz="1600" dirty="0" smtClean="0">
              <a:solidFill>
                <a:schemeClr val="accent1"/>
              </a:solidFill>
              <a:latin typeface="微软雅黑" panose="020B0503020204020204" pitchFamily="34" charset="-122"/>
              <a:ea typeface="微软雅黑" panose="020B0503020204020204" pitchFamily="34" charset="-122"/>
            </a:endParaRPr>
          </a:p>
          <a:p>
            <a:r>
              <a:rPr lang="en-US" altLang="zh-CN" sz="1600" dirty="0" smtClean="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zadd</a:t>
            </a:r>
            <a:r>
              <a:rPr lang="en-US" altLang="zh-CN" sz="1600" dirty="0">
                <a:solidFill>
                  <a:srgbClr val="FF0000"/>
                </a:solidFill>
                <a:latin typeface="微软雅黑" panose="020B0503020204020204" pitchFamily="34" charset="-122"/>
                <a:ea typeface="微软雅黑" panose="020B0503020204020204" pitchFamily="34" charset="-122"/>
              </a:rPr>
              <a:t> </a:t>
            </a:r>
            <a:r>
              <a:rPr lang="en-US" altLang="zh-CN" sz="1600" dirty="0" err="1">
                <a:solidFill>
                  <a:schemeClr val="accent6"/>
                </a:solidFill>
                <a:latin typeface="微软雅黑" panose="020B0503020204020204" pitchFamily="34" charset="-122"/>
                <a:ea typeface="微软雅黑" panose="020B0503020204020204" pitchFamily="34" charset="-122"/>
              </a:rPr>
              <a:t>power_rank</a:t>
            </a:r>
            <a:r>
              <a:rPr lang="en-US" altLang="zh-CN" sz="1600" dirty="0">
                <a:solidFill>
                  <a:schemeClr val="accent6"/>
                </a:solidFill>
                <a:latin typeface="微软雅黑" panose="020B0503020204020204" pitchFamily="34" charset="-122"/>
                <a:ea typeface="微软雅黑" panose="020B0503020204020204" pitchFamily="34" charset="-122"/>
              </a:rPr>
              <a:t> 4000 </a:t>
            </a:r>
            <a:r>
              <a:rPr lang="en-US" altLang="zh-CN" sz="1600" dirty="0" err="1">
                <a:solidFill>
                  <a:schemeClr val="accent6"/>
                </a:solidFill>
                <a:latin typeface="微软雅黑" panose="020B0503020204020204" pitchFamily="34" charset="-122"/>
                <a:ea typeface="微软雅黑" panose="020B0503020204020204" pitchFamily="34" charset="-122"/>
              </a:rPr>
              <a:t>liubei</a:t>
            </a:r>
            <a:endParaRPr lang="en-US" altLang="zh-CN" sz="1600" dirty="0">
              <a:solidFill>
                <a:schemeClr val="accent6"/>
              </a:solidFill>
              <a:latin typeface="微软雅黑" panose="020B0503020204020204" pitchFamily="34" charset="-122"/>
              <a:ea typeface="微软雅黑" panose="020B0503020204020204" pitchFamily="34" charset="-122"/>
            </a:endParaRPr>
          </a:p>
          <a:p>
            <a:r>
              <a:rPr lang="en-US" altLang="zh-CN" sz="1600" dirty="0">
                <a:solidFill>
                  <a:schemeClr val="accent6"/>
                </a:solidFill>
                <a:latin typeface="微软雅黑" panose="020B0503020204020204" pitchFamily="34" charset="-122"/>
                <a:ea typeface="微软雅黑" panose="020B0503020204020204" pitchFamily="34" charset="-122"/>
              </a:rPr>
              <a:t>(integer) 1</a:t>
            </a:r>
          </a:p>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zadd</a:t>
            </a:r>
            <a:r>
              <a:rPr lang="en-US" altLang="zh-CN" sz="1600" dirty="0">
                <a:solidFill>
                  <a:srgbClr val="FF0000"/>
                </a:solidFill>
                <a:latin typeface="微软雅黑" panose="020B0503020204020204" pitchFamily="34" charset="-122"/>
                <a:ea typeface="微软雅黑" panose="020B0503020204020204" pitchFamily="34" charset="-122"/>
              </a:rPr>
              <a:t> </a:t>
            </a:r>
            <a:r>
              <a:rPr lang="en-US" altLang="zh-CN" sz="1600" dirty="0" err="1">
                <a:solidFill>
                  <a:schemeClr val="accent6"/>
                </a:solidFill>
                <a:latin typeface="微软雅黑" panose="020B0503020204020204" pitchFamily="34" charset="-122"/>
                <a:ea typeface="微软雅黑" panose="020B0503020204020204" pitchFamily="34" charset="-122"/>
              </a:rPr>
              <a:t>power_rank</a:t>
            </a:r>
            <a:r>
              <a:rPr lang="en-US" altLang="zh-CN" sz="1600" dirty="0">
                <a:solidFill>
                  <a:schemeClr val="accent6"/>
                </a:solidFill>
                <a:latin typeface="微软雅黑" panose="020B0503020204020204" pitchFamily="34" charset="-122"/>
                <a:ea typeface="微软雅黑" panose="020B0503020204020204" pitchFamily="34" charset="-122"/>
              </a:rPr>
              <a:t> 5000 </a:t>
            </a:r>
            <a:r>
              <a:rPr lang="en-US" altLang="zh-CN" sz="1600" dirty="0" err="1">
                <a:solidFill>
                  <a:schemeClr val="accent6"/>
                </a:solidFill>
                <a:latin typeface="微软雅黑" panose="020B0503020204020204" pitchFamily="34" charset="-122"/>
                <a:ea typeface="微软雅黑" panose="020B0503020204020204" pitchFamily="34" charset="-122"/>
              </a:rPr>
              <a:t>guanyu</a:t>
            </a:r>
            <a:endParaRPr lang="en-US" altLang="zh-CN" sz="1600" dirty="0">
              <a:solidFill>
                <a:schemeClr val="accent6"/>
              </a:solidFill>
              <a:latin typeface="微软雅黑" panose="020B0503020204020204" pitchFamily="34" charset="-122"/>
              <a:ea typeface="微软雅黑" panose="020B0503020204020204" pitchFamily="34" charset="-122"/>
            </a:endParaRPr>
          </a:p>
          <a:p>
            <a:r>
              <a:rPr lang="en-US" altLang="zh-CN" sz="1600" dirty="0">
                <a:solidFill>
                  <a:schemeClr val="accent6"/>
                </a:solidFill>
                <a:latin typeface="微软雅黑" panose="020B0503020204020204" pitchFamily="34" charset="-122"/>
                <a:ea typeface="微软雅黑" panose="020B0503020204020204" pitchFamily="34" charset="-122"/>
              </a:rPr>
              <a:t>(integer) 1</a:t>
            </a:r>
          </a:p>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zadd</a:t>
            </a:r>
            <a:r>
              <a:rPr lang="en-US" altLang="zh-CN" sz="1600" dirty="0">
                <a:solidFill>
                  <a:srgbClr val="FF0000"/>
                </a:solidFill>
                <a:latin typeface="微软雅黑" panose="020B0503020204020204" pitchFamily="34" charset="-122"/>
                <a:ea typeface="微软雅黑" panose="020B0503020204020204" pitchFamily="34" charset="-122"/>
              </a:rPr>
              <a:t> </a:t>
            </a:r>
            <a:r>
              <a:rPr lang="en-US" altLang="zh-CN" sz="1600" dirty="0" err="1">
                <a:solidFill>
                  <a:schemeClr val="accent6"/>
                </a:solidFill>
                <a:latin typeface="微软雅黑" panose="020B0503020204020204" pitchFamily="34" charset="-122"/>
                <a:ea typeface="微软雅黑" panose="020B0503020204020204" pitchFamily="34" charset="-122"/>
              </a:rPr>
              <a:t>power_rank</a:t>
            </a:r>
            <a:r>
              <a:rPr lang="en-US" altLang="zh-CN" sz="1600" dirty="0">
                <a:solidFill>
                  <a:schemeClr val="accent6"/>
                </a:solidFill>
                <a:latin typeface="微软雅黑" panose="020B0503020204020204" pitchFamily="34" charset="-122"/>
                <a:ea typeface="微软雅黑" panose="020B0503020204020204" pitchFamily="34" charset="-122"/>
              </a:rPr>
              <a:t> 4500 </a:t>
            </a:r>
            <a:r>
              <a:rPr lang="en-US" altLang="zh-CN" sz="1600" dirty="0" err="1">
                <a:solidFill>
                  <a:schemeClr val="accent6"/>
                </a:solidFill>
                <a:latin typeface="微软雅黑" panose="020B0503020204020204" pitchFamily="34" charset="-122"/>
                <a:ea typeface="微软雅黑" panose="020B0503020204020204" pitchFamily="34" charset="-122"/>
              </a:rPr>
              <a:t>zhangfei</a:t>
            </a:r>
            <a:endParaRPr lang="en-US" altLang="zh-CN" sz="1600" dirty="0">
              <a:solidFill>
                <a:schemeClr val="accent6"/>
              </a:solidFill>
              <a:latin typeface="微软雅黑" panose="020B0503020204020204" pitchFamily="34" charset="-122"/>
              <a:ea typeface="微软雅黑" panose="020B0503020204020204" pitchFamily="34" charset="-122"/>
            </a:endParaRPr>
          </a:p>
          <a:p>
            <a:r>
              <a:rPr lang="en-US" altLang="zh-CN" sz="1600" dirty="0">
                <a:solidFill>
                  <a:schemeClr val="accent6"/>
                </a:solidFill>
                <a:latin typeface="微软雅黑" panose="020B0503020204020204" pitchFamily="34" charset="-122"/>
                <a:ea typeface="微软雅黑" panose="020B0503020204020204" pitchFamily="34" charset="-122"/>
              </a:rPr>
              <a:t>(integer) 1</a:t>
            </a:r>
          </a:p>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zadd</a:t>
            </a:r>
            <a:r>
              <a:rPr lang="en-US" altLang="zh-CN" sz="1600" dirty="0">
                <a:solidFill>
                  <a:srgbClr val="FF0000"/>
                </a:solidFill>
                <a:latin typeface="微软雅黑" panose="020B0503020204020204" pitchFamily="34" charset="-122"/>
                <a:ea typeface="微软雅黑" panose="020B0503020204020204" pitchFamily="34" charset="-122"/>
              </a:rPr>
              <a:t> </a:t>
            </a:r>
            <a:r>
              <a:rPr lang="en-US" altLang="zh-CN" sz="1600" dirty="0" err="1">
                <a:solidFill>
                  <a:schemeClr val="accent6"/>
                </a:solidFill>
                <a:latin typeface="微软雅黑" panose="020B0503020204020204" pitchFamily="34" charset="-122"/>
                <a:ea typeface="微软雅黑" panose="020B0503020204020204" pitchFamily="34" charset="-122"/>
              </a:rPr>
              <a:t>power_rank</a:t>
            </a:r>
            <a:r>
              <a:rPr lang="en-US" altLang="zh-CN" sz="1600" dirty="0">
                <a:solidFill>
                  <a:schemeClr val="accent6"/>
                </a:solidFill>
                <a:latin typeface="微软雅黑" panose="020B0503020204020204" pitchFamily="34" charset="-122"/>
                <a:ea typeface="微软雅黑" panose="020B0503020204020204" pitchFamily="34" charset="-122"/>
              </a:rPr>
              <a:t> 8000 </a:t>
            </a:r>
            <a:r>
              <a:rPr lang="en-US" altLang="zh-CN" sz="1600" dirty="0" err="1">
                <a:solidFill>
                  <a:schemeClr val="accent6"/>
                </a:solidFill>
                <a:latin typeface="微软雅黑" panose="020B0503020204020204" pitchFamily="34" charset="-122"/>
                <a:ea typeface="微软雅黑" panose="020B0503020204020204" pitchFamily="34" charset="-122"/>
              </a:rPr>
              <a:t>lvbu</a:t>
            </a:r>
            <a:endParaRPr lang="en-US" altLang="zh-CN" sz="1600" dirty="0">
              <a:solidFill>
                <a:schemeClr val="accent6"/>
              </a:solidFill>
              <a:latin typeface="微软雅黑" panose="020B0503020204020204" pitchFamily="34" charset="-122"/>
              <a:ea typeface="微软雅黑" panose="020B0503020204020204" pitchFamily="34" charset="-122"/>
            </a:endParaRPr>
          </a:p>
          <a:p>
            <a:r>
              <a:rPr lang="en-US" altLang="zh-CN" sz="1600" dirty="0">
                <a:solidFill>
                  <a:schemeClr val="accent6"/>
                </a:solidFill>
                <a:latin typeface="微软雅黑" panose="020B0503020204020204" pitchFamily="34" charset="-122"/>
                <a:ea typeface="微软雅黑" panose="020B0503020204020204" pitchFamily="34" charset="-122"/>
              </a:rPr>
              <a:t>(integer) 1</a:t>
            </a:r>
          </a:p>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zadd</a:t>
            </a:r>
            <a:r>
              <a:rPr lang="en-US" altLang="zh-CN" sz="1600" dirty="0">
                <a:solidFill>
                  <a:srgbClr val="FF0000"/>
                </a:solidFill>
                <a:latin typeface="微软雅黑" panose="020B0503020204020204" pitchFamily="34" charset="-122"/>
                <a:ea typeface="微软雅黑" panose="020B0503020204020204" pitchFamily="34" charset="-122"/>
              </a:rPr>
              <a:t> </a:t>
            </a:r>
            <a:r>
              <a:rPr lang="en-US" altLang="zh-CN" sz="1600" dirty="0" err="1">
                <a:solidFill>
                  <a:schemeClr val="accent6"/>
                </a:solidFill>
                <a:latin typeface="微软雅黑" panose="020B0503020204020204" pitchFamily="34" charset="-122"/>
                <a:ea typeface="微软雅黑" panose="020B0503020204020204" pitchFamily="34" charset="-122"/>
              </a:rPr>
              <a:t>power_rank</a:t>
            </a:r>
            <a:r>
              <a:rPr lang="en-US" altLang="zh-CN" sz="1600" dirty="0">
                <a:solidFill>
                  <a:schemeClr val="accent6"/>
                </a:solidFill>
                <a:latin typeface="微软雅黑" panose="020B0503020204020204" pitchFamily="34" charset="-122"/>
                <a:ea typeface="微软雅黑" panose="020B0503020204020204" pitchFamily="34" charset="-122"/>
              </a:rPr>
              <a:t> 7000 </a:t>
            </a:r>
            <a:r>
              <a:rPr lang="en-US" altLang="zh-CN" sz="1600" dirty="0" err="1">
                <a:solidFill>
                  <a:schemeClr val="accent6"/>
                </a:solidFill>
                <a:latin typeface="微软雅黑" panose="020B0503020204020204" pitchFamily="34" charset="-122"/>
                <a:ea typeface="微软雅黑" panose="020B0503020204020204" pitchFamily="34" charset="-122"/>
              </a:rPr>
              <a:t>zhaozinong</a:t>
            </a:r>
            <a:endParaRPr lang="en-US" altLang="zh-CN" sz="1600" dirty="0">
              <a:solidFill>
                <a:schemeClr val="accent6"/>
              </a:solidFill>
              <a:latin typeface="微软雅黑" panose="020B0503020204020204" pitchFamily="34" charset="-122"/>
              <a:ea typeface="微软雅黑" panose="020B0503020204020204" pitchFamily="34" charset="-122"/>
            </a:endParaRPr>
          </a:p>
          <a:p>
            <a:r>
              <a:rPr lang="en-US" altLang="zh-CN" sz="1600" dirty="0">
                <a:solidFill>
                  <a:schemeClr val="accent6"/>
                </a:solidFill>
                <a:latin typeface="微软雅黑" panose="020B0503020204020204" pitchFamily="34" charset="-122"/>
                <a:ea typeface="微软雅黑" panose="020B0503020204020204" pitchFamily="34" charset="-122"/>
              </a:rPr>
              <a:t>(integer) 1</a:t>
            </a:r>
          </a:p>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zadd</a:t>
            </a:r>
            <a:r>
              <a:rPr lang="en-US" altLang="zh-CN" sz="1600" dirty="0">
                <a:solidFill>
                  <a:srgbClr val="FF0000"/>
                </a:solidFill>
                <a:latin typeface="微软雅黑" panose="020B0503020204020204" pitchFamily="34" charset="-122"/>
                <a:ea typeface="微软雅黑" panose="020B0503020204020204" pitchFamily="34" charset="-122"/>
              </a:rPr>
              <a:t> </a:t>
            </a:r>
            <a:r>
              <a:rPr lang="en-US" altLang="zh-CN" sz="1600" dirty="0" err="1">
                <a:solidFill>
                  <a:schemeClr val="accent6"/>
                </a:solidFill>
                <a:latin typeface="微软雅黑" panose="020B0503020204020204" pitchFamily="34" charset="-122"/>
                <a:ea typeface="微软雅黑" panose="020B0503020204020204" pitchFamily="34" charset="-122"/>
              </a:rPr>
              <a:t>power_rank</a:t>
            </a:r>
            <a:r>
              <a:rPr lang="en-US" altLang="zh-CN" sz="1600" dirty="0">
                <a:solidFill>
                  <a:schemeClr val="accent6"/>
                </a:solidFill>
                <a:latin typeface="微软雅黑" panose="020B0503020204020204" pitchFamily="34" charset="-122"/>
                <a:ea typeface="微软雅黑" panose="020B0503020204020204" pitchFamily="34" charset="-122"/>
              </a:rPr>
              <a:t> 2000 </a:t>
            </a:r>
            <a:r>
              <a:rPr lang="en-US" altLang="zh-CN" sz="1600" dirty="0" err="1">
                <a:solidFill>
                  <a:schemeClr val="accent6"/>
                </a:solidFill>
                <a:latin typeface="微软雅黑" panose="020B0503020204020204" pitchFamily="34" charset="-122"/>
                <a:ea typeface="微软雅黑" panose="020B0503020204020204" pitchFamily="34" charset="-122"/>
              </a:rPr>
              <a:t>huaxiong</a:t>
            </a:r>
            <a:endParaRPr lang="en-US" altLang="zh-CN" sz="1600" dirty="0">
              <a:solidFill>
                <a:schemeClr val="accent6"/>
              </a:solidFill>
              <a:latin typeface="微软雅黑" panose="020B0503020204020204" pitchFamily="34" charset="-122"/>
              <a:ea typeface="微软雅黑" panose="020B0503020204020204" pitchFamily="34" charset="-122"/>
            </a:endParaRPr>
          </a:p>
          <a:p>
            <a:r>
              <a:rPr lang="en-US" altLang="zh-CN" sz="1600" dirty="0">
                <a:solidFill>
                  <a:schemeClr val="accent6"/>
                </a:solidFill>
                <a:latin typeface="微软雅黑" panose="020B0503020204020204" pitchFamily="34" charset="-122"/>
                <a:ea typeface="微软雅黑" panose="020B0503020204020204" pitchFamily="34" charset="-122"/>
              </a:rPr>
              <a:t>(integer) </a:t>
            </a:r>
            <a:r>
              <a:rPr lang="en-US" altLang="zh-CN" sz="1600" dirty="0" smtClean="0">
                <a:solidFill>
                  <a:schemeClr val="accent6"/>
                </a:solidFill>
                <a:latin typeface="微软雅黑" panose="020B0503020204020204" pitchFamily="34" charset="-122"/>
                <a:ea typeface="微软雅黑" panose="020B0503020204020204" pitchFamily="34" charset="-122"/>
              </a:rPr>
              <a:t>1</a:t>
            </a:r>
            <a:endParaRPr lang="en-US" altLang="zh-CN" sz="1600" dirty="0">
              <a:solidFill>
                <a:schemeClr val="accent6"/>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6175715" y="3263845"/>
            <a:ext cx="5285365" cy="3323987"/>
          </a:xfrm>
          <a:prstGeom prst="rect">
            <a:avLst/>
          </a:prstGeom>
          <a:noFill/>
          <a:ln>
            <a:solidFill>
              <a:schemeClr val="bg1"/>
            </a:solidFill>
          </a:ln>
        </p:spPr>
        <p:txBody>
          <a:bodyPr wrap="square" rtlCol="0">
            <a:spAutoFit/>
          </a:bodyPr>
          <a:lstStyle/>
          <a:p>
            <a:r>
              <a:rPr lang="en-US" altLang="zh-CN" sz="1600" dirty="0" smtClean="0">
                <a:solidFill>
                  <a:schemeClr val="accent1"/>
                </a:solidFill>
                <a:latin typeface="微软雅黑" panose="020B0503020204020204" pitchFamily="34" charset="-122"/>
                <a:ea typeface="微软雅黑" panose="020B0503020204020204" pitchFamily="34" charset="-122"/>
              </a:rPr>
              <a:t># </a:t>
            </a:r>
            <a:r>
              <a:rPr lang="zh-CN" altLang="en-US" sz="1600" dirty="0" smtClean="0">
                <a:solidFill>
                  <a:schemeClr val="accent1"/>
                </a:solidFill>
                <a:latin typeface="微软雅黑" panose="020B0503020204020204" pitchFamily="34" charset="-122"/>
                <a:ea typeface="微软雅黑" panose="020B0503020204020204" pitchFamily="34" charset="-122"/>
              </a:rPr>
              <a:t>获取排行榜前</a:t>
            </a:r>
            <a:r>
              <a:rPr lang="en-US" altLang="zh-CN" sz="1600" dirty="0" smtClean="0">
                <a:solidFill>
                  <a:schemeClr val="accent1"/>
                </a:solidFill>
                <a:latin typeface="微软雅黑" panose="020B0503020204020204" pitchFamily="34" charset="-122"/>
                <a:ea typeface="微软雅黑" panose="020B0503020204020204" pitchFamily="34" charset="-122"/>
              </a:rPr>
              <a:t>5</a:t>
            </a:r>
            <a:r>
              <a:rPr lang="zh-CN" altLang="en-US" sz="1600" dirty="0" smtClean="0">
                <a:solidFill>
                  <a:schemeClr val="accent1"/>
                </a:solidFill>
                <a:latin typeface="微软雅黑" panose="020B0503020204020204" pitchFamily="34" charset="-122"/>
                <a:ea typeface="微软雅黑" panose="020B0503020204020204" pitchFamily="34" charset="-122"/>
              </a:rPr>
              <a:t>名的数据</a:t>
            </a:r>
            <a:endParaRPr lang="en-US" altLang="zh-CN" sz="1600" dirty="0" smtClean="0">
              <a:solidFill>
                <a:schemeClr val="accent1"/>
              </a:solidFill>
              <a:latin typeface="微软雅黑" panose="020B0503020204020204" pitchFamily="34" charset="-122"/>
              <a:ea typeface="微软雅黑" panose="020B0503020204020204" pitchFamily="34" charset="-122"/>
            </a:endParaRPr>
          </a:p>
          <a:p>
            <a:r>
              <a:rPr lang="en-US" altLang="zh-CN" sz="1600" dirty="0" smtClean="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zrevrange</a:t>
            </a:r>
            <a:r>
              <a:rPr lang="en-US" altLang="zh-CN" sz="1600" dirty="0">
                <a:solidFill>
                  <a:srgbClr val="FF0000"/>
                </a:solidFill>
                <a:latin typeface="微软雅黑" panose="020B0503020204020204" pitchFamily="34" charset="-122"/>
                <a:ea typeface="微软雅黑" panose="020B0503020204020204" pitchFamily="34" charset="-122"/>
              </a:rPr>
              <a:t> </a:t>
            </a:r>
            <a:r>
              <a:rPr lang="en-US" altLang="zh-CN" sz="1600" dirty="0" err="1">
                <a:solidFill>
                  <a:schemeClr val="accent6"/>
                </a:solidFill>
                <a:latin typeface="微软雅黑" panose="020B0503020204020204" pitchFamily="34" charset="-122"/>
                <a:ea typeface="微软雅黑" panose="020B0503020204020204" pitchFamily="34" charset="-122"/>
              </a:rPr>
              <a:t>power_rank</a:t>
            </a:r>
            <a:r>
              <a:rPr lang="en-US" altLang="zh-CN" sz="1600" dirty="0">
                <a:solidFill>
                  <a:schemeClr val="accent6"/>
                </a:solidFill>
                <a:latin typeface="微软雅黑" panose="020B0503020204020204" pitchFamily="34" charset="-122"/>
                <a:ea typeface="微软雅黑" panose="020B0503020204020204" pitchFamily="34" charset="-122"/>
              </a:rPr>
              <a:t> 0 4 </a:t>
            </a:r>
            <a:r>
              <a:rPr lang="en-US" altLang="zh-CN" sz="1600" b="1" dirty="0" err="1">
                <a:solidFill>
                  <a:srgbClr val="FFD343"/>
                </a:solidFill>
                <a:latin typeface="微软雅黑" panose="020B0503020204020204" pitchFamily="34" charset="-122"/>
                <a:ea typeface="微软雅黑" panose="020B0503020204020204" pitchFamily="34" charset="-122"/>
              </a:rPr>
              <a:t>withscores</a:t>
            </a:r>
            <a:endParaRPr lang="en-US" altLang="zh-CN" sz="1600" b="1" dirty="0">
              <a:solidFill>
                <a:srgbClr val="FFD343"/>
              </a:solidFill>
              <a:latin typeface="微软雅黑" panose="020B0503020204020204" pitchFamily="34" charset="-122"/>
              <a:ea typeface="微软雅黑" panose="020B0503020204020204" pitchFamily="34" charset="-122"/>
            </a:endParaRPr>
          </a:p>
          <a:p>
            <a:r>
              <a:rPr lang="en-US" altLang="zh-CN" sz="1600" dirty="0">
                <a:solidFill>
                  <a:schemeClr val="accent6"/>
                </a:solidFill>
                <a:latin typeface="微软雅黑" panose="020B0503020204020204" pitchFamily="34" charset="-122"/>
                <a:ea typeface="微软雅黑" panose="020B0503020204020204" pitchFamily="34" charset="-122"/>
              </a:rPr>
              <a:t>1) "</a:t>
            </a:r>
            <a:r>
              <a:rPr lang="en-US" altLang="zh-CN" sz="1600" dirty="0" err="1">
                <a:solidFill>
                  <a:schemeClr val="accent6"/>
                </a:solidFill>
                <a:latin typeface="微软雅黑" panose="020B0503020204020204" pitchFamily="34" charset="-122"/>
                <a:ea typeface="微软雅黑" panose="020B0503020204020204" pitchFamily="34" charset="-122"/>
              </a:rPr>
              <a:t>lvbu</a:t>
            </a:r>
            <a:r>
              <a:rPr lang="en-US" altLang="zh-CN" sz="1600" dirty="0">
                <a:solidFill>
                  <a:schemeClr val="accent6"/>
                </a:solidFill>
                <a:latin typeface="微软雅黑" panose="020B0503020204020204" pitchFamily="34" charset="-122"/>
                <a:ea typeface="微软雅黑" panose="020B0503020204020204" pitchFamily="34" charset="-122"/>
              </a:rPr>
              <a:t>"</a:t>
            </a:r>
          </a:p>
          <a:p>
            <a:r>
              <a:rPr lang="en-US" altLang="zh-CN" sz="1600" dirty="0">
                <a:solidFill>
                  <a:schemeClr val="accent6"/>
                </a:solidFill>
                <a:latin typeface="微软雅黑" panose="020B0503020204020204" pitchFamily="34" charset="-122"/>
                <a:ea typeface="微软雅黑" panose="020B0503020204020204" pitchFamily="34" charset="-122"/>
              </a:rPr>
              <a:t>2) 8000.0</a:t>
            </a:r>
          </a:p>
          <a:p>
            <a:r>
              <a:rPr lang="en-US" altLang="zh-CN" sz="1600" dirty="0">
                <a:solidFill>
                  <a:schemeClr val="accent6"/>
                </a:solidFill>
                <a:latin typeface="微软雅黑" panose="020B0503020204020204" pitchFamily="34" charset="-122"/>
                <a:ea typeface="微软雅黑" panose="020B0503020204020204" pitchFamily="34" charset="-122"/>
              </a:rPr>
              <a:t>3) "</a:t>
            </a:r>
            <a:r>
              <a:rPr lang="en-US" altLang="zh-CN" sz="1600" dirty="0" err="1">
                <a:solidFill>
                  <a:schemeClr val="accent6"/>
                </a:solidFill>
                <a:latin typeface="微软雅黑" panose="020B0503020204020204" pitchFamily="34" charset="-122"/>
                <a:ea typeface="微软雅黑" panose="020B0503020204020204" pitchFamily="34" charset="-122"/>
              </a:rPr>
              <a:t>zhaozinong</a:t>
            </a:r>
            <a:r>
              <a:rPr lang="en-US" altLang="zh-CN" sz="1600" dirty="0">
                <a:solidFill>
                  <a:schemeClr val="accent6"/>
                </a:solidFill>
                <a:latin typeface="微软雅黑" panose="020B0503020204020204" pitchFamily="34" charset="-122"/>
                <a:ea typeface="微软雅黑" panose="020B0503020204020204" pitchFamily="34" charset="-122"/>
              </a:rPr>
              <a:t>"</a:t>
            </a:r>
          </a:p>
          <a:p>
            <a:r>
              <a:rPr lang="en-US" altLang="zh-CN" sz="1600" dirty="0">
                <a:solidFill>
                  <a:schemeClr val="accent6"/>
                </a:solidFill>
                <a:latin typeface="微软雅黑" panose="020B0503020204020204" pitchFamily="34" charset="-122"/>
                <a:ea typeface="微软雅黑" panose="020B0503020204020204" pitchFamily="34" charset="-122"/>
              </a:rPr>
              <a:t>4) 7000.0</a:t>
            </a:r>
          </a:p>
          <a:p>
            <a:r>
              <a:rPr lang="en-US" altLang="zh-CN" sz="1600" dirty="0">
                <a:solidFill>
                  <a:schemeClr val="accent6"/>
                </a:solidFill>
                <a:latin typeface="微软雅黑" panose="020B0503020204020204" pitchFamily="34" charset="-122"/>
                <a:ea typeface="微软雅黑" panose="020B0503020204020204" pitchFamily="34" charset="-122"/>
              </a:rPr>
              <a:t>5) "</a:t>
            </a:r>
            <a:r>
              <a:rPr lang="en-US" altLang="zh-CN" sz="1600" dirty="0" err="1">
                <a:solidFill>
                  <a:schemeClr val="accent6"/>
                </a:solidFill>
                <a:latin typeface="微软雅黑" panose="020B0503020204020204" pitchFamily="34" charset="-122"/>
                <a:ea typeface="微软雅黑" panose="020B0503020204020204" pitchFamily="34" charset="-122"/>
              </a:rPr>
              <a:t>guanyu</a:t>
            </a:r>
            <a:r>
              <a:rPr lang="en-US" altLang="zh-CN" sz="1600" dirty="0">
                <a:solidFill>
                  <a:schemeClr val="accent6"/>
                </a:solidFill>
                <a:latin typeface="微软雅黑" panose="020B0503020204020204" pitchFamily="34" charset="-122"/>
                <a:ea typeface="微软雅黑" panose="020B0503020204020204" pitchFamily="34" charset="-122"/>
              </a:rPr>
              <a:t>"</a:t>
            </a:r>
          </a:p>
          <a:p>
            <a:r>
              <a:rPr lang="en-US" altLang="zh-CN" sz="1600" dirty="0">
                <a:solidFill>
                  <a:schemeClr val="accent6"/>
                </a:solidFill>
                <a:latin typeface="微软雅黑" panose="020B0503020204020204" pitchFamily="34" charset="-122"/>
                <a:ea typeface="微软雅黑" panose="020B0503020204020204" pitchFamily="34" charset="-122"/>
              </a:rPr>
              <a:t>6) 5000.0</a:t>
            </a:r>
          </a:p>
          <a:p>
            <a:r>
              <a:rPr lang="en-US" altLang="zh-CN" sz="1600" dirty="0">
                <a:solidFill>
                  <a:schemeClr val="accent6"/>
                </a:solidFill>
                <a:latin typeface="微软雅黑" panose="020B0503020204020204" pitchFamily="34" charset="-122"/>
                <a:ea typeface="微软雅黑" panose="020B0503020204020204" pitchFamily="34" charset="-122"/>
              </a:rPr>
              <a:t>7) "</a:t>
            </a:r>
            <a:r>
              <a:rPr lang="en-US" altLang="zh-CN" sz="1600" dirty="0" err="1">
                <a:solidFill>
                  <a:schemeClr val="accent6"/>
                </a:solidFill>
                <a:latin typeface="微软雅黑" panose="020B0503020204020204" pitchFamily="34" charset="-122"/>
                <a:ea typeface="微软雅黑" panose="020B0503020204020204" pitchFamily="34" charset="-122"/>
              </a:rPr>
              <a:t>zhangfei</a:t>
            </a:r>
            <a:r>
              <a:rPr lang="en-US" altLang="zh-CN" sz="1600" dirty="0">
                <a:solidFill>
                  <a:schemeClr val="accent6"/>
                </a:solidFill>
                <a:latin typeface="微软雅黑" panose="020B0503020204020204" pitchFamily="34" charset="-122"/>
                <a:ea typeface="微软雅黑" panose="020B0503020204020204" pitchFamily="34" charset="-122"/>
              </a:rPr>
              <a:t>"</a:t>
            </a:r>
          </a:p>
          <a:p>
            <a:r>
              <a:rPr lang="en-US" altLang="zh-CN" sz="1600" dirty="0">
                <a:solidFill>
                  <a:schemeClr val="accent6"/>
                </a:solidFill>
                <a:latin typeface="微软雅黑" panose="020B0503020204020204" pitchFamily="34" charset="-122"/>
                <a:ea typeface="微软雅黑" panose="020B0503020204020204" pitchFamily="34" charset="-122"/>
              </a:rPr>
              <a:t>8) 4500.0</a:t>
            </a:r>
          </a:p>
          <a:p>
            <a:r>
              <a:rPr lang="en-US" altLang="zh-CN" sz="1600" dirty="0">
                <a:solidFill>
                  <a:schemeClr val="accent6"/>
                </a:solidFill>
                <a:latin typeface="微软雅黑" panose="020B0503020204020204" pitchFamily="34" charset="-122"/>
                <a:ea typeface="微软雅黑" panose="020B0503020204020204" pitchFamily="34" charset="-122"/>
              </a:rPr>
              <a:t>9) "</a:t>
            </a:r>
            <a:r>
              <a:rPr lang="en-US" altLang="zh-CN" sz="1600" dirty="0" err="1">
                <a:solidFill>
                  <a:schemeClr val="accent6"/>
                </a:solidFill>
                <a:latin typeface="微软雅黑" panose="020B0503020204020204" pitchFamily="34" charset="-122"/>
                <a:ea typeface="微软雅黑" panose="020B0503020204020204" pitchFamily="34" charset="-122"/>
              </a:rPr>
              <a:t>liubei</a:t>
            </a:r>
            <a:r>
              <a:rPr lang="en-US" altLang="zh-CN" sz="1600" dirty="0">
                <a:solidFill>
                  <a:schemeClr val="accent6"/>
                </a:solidFill>
                <a:latin typeface="微软雅黑" panose="020B0503020204020204" pitchFamily="34" charset="-122"/>
                <a:ea typeface="微软雅黑" panose="020B0503020204020204" pitchFamily="34" charset="-122"/>
              </a:rPr>
              <a:t>"</a:t>
            </a:r>
          </a:p>
          <a:p>
            <a:r>
              <a:rPr lang="en-US" altLang="zh-CN" sz="1600" dirty="0">
                <a:solidFill>
                  <a:schemeClr val="accent6"/>
                </a:solidFill>
                <a:latin typeface="微软雅黑" panose="020B0503020204020204" pitchFamily="34" charset="-122"/>
                <a:ea typeface="微软雅黑" panose="020B0503020204020204" pitchFamily="34" charset="-122"/>
              </a:rPr>
              <a:t>10) 4000.0</a:t>
            </a:r>
            <a:endParaRPr lang="zh-CN" altLang="en-US" sz="1600" dirty="0">
              <a:solidFill>
                <a:schemeClr val="accent6"/>
              </a:solidFill>
              <a:latin typeface="微软雅黑" panose="020B0503020204020204" pitchFamily="34" charset="-122"/>
              <a:ea typeface="微软雅黑" panose="020B0503020204020204" pitchFamily="34" charset="-122"/>
            </a:endParaRPr>
          </a:p>
          <a:p>
            <a:pPr algn="l"/>
            <a:endParaRPr lang="zh-CN" altLang="en-US" dirty="0" smtClean="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259691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1000"/>
                                        <p:tgtEl>
                                          <p:spTgt spid="3"/>
                                        </p:tgtEl>
                                      </p:cBhvr>
                                    </p:animEffect>
                                    <p:anim calcmode="lin" valueType="num">
                                      <p:cBhvr>
                                        <p:cTn id="20" dur="1000" fill="hold"/>
                                        <p:tgtEl>
                                          <p:spTgt spid="3"/>
                                        </p:tgtEl>
                                        <p:attrNameLst>
                                          <p:attrName>ppt_x</p:attrName>
                                        </p:attrNameLst>
                                      </p:cBhvr>
                                      <p:tavLst>
                                        <p:tav tm="0">
                                          <p:val>
                                            <p:strVal val="#ppt_x"/>
                                          </p:val>
                                        </p:tav>
                                        <p:tav tm="100000">
                                          <p:val>
                                            <p:strVal val="#ppt_x"/>
                                          </p:val>
                                        </p:tav>
                                      </p:tavLst>
                                    </p:anim>
                                    <p:anim calcmode="lin" valueType="num">
                                      <p:cBhvr>
                                        <p:cTn id="21"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animBg="1"/>
      <p:bldP spid="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A0F23"/>
        </a:solidFill>
        <a:effectLst/>
      </p:bgPr>
    </p:bg>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xmlns="" id="{CBDC52CD-1D62-48AF-A9DF-9F18AEA2B1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01385" y="-114300"/>
            <a:ext cx="1301859" cy="920356"/>
          </a:xfrm>
          <a:prstGeom prst="rect">
            <a:avLst/>
          </a:prstGeom>
        </p:spPr>
      </p:pic>
      <p:pic>
        <p:nvPicPr>
          <p:cNvPr id="14" name="图片 13">
            <a:extLst>
              <a:ext uri="{FF2B5EF4-FFF2-40B4-BE49-F238E27FC236}">
                <a16:creationId xmlns:a16="http://schemas.microsoft.com/office/drawing/2014/main" xmlns="" id="{F78DA958-9B1B-47DA-A870-8C0B3A7D8866}"/>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b="63537"/>
          <a:stretch/>
        </p:blipFill>
        <p:spPr>
          <a:xfrm>
            <a:off x="11184164" y="217733"/>
            <a:ext cx="572339" cy="337210"/>
          </a:xfrm>
          <a:prstGeom prst="rect">
            <a:avLst/>
          </a:prstGeom>
        </p:spPr>
      </p:pic>
      <p:cxnSp>
        <p:nvCxnSpPr>
          <p:cNvPr id="15" name="直接连接符 14">
            <a:extLst>
              <a:ext uri="{FF2B5EF4-FFF2-40B4-BE49-F238E27FC236}">
                <a16:creationId xmlns:a16="http://schemas.microsoft.com/office/drawing/2014/main" xmlns="" id="{93240A06-D526-4907-A163-94ABB41190CC}"/>
              </a:ext>
            </a:extLst>
          </p:cNvPr>
          <p:cNvCxnSpPr/>
          <p:nvPr/>
        </p:nvCxnSpPr>
        <p:spPr>
          <a:xfrm>
            <a:off x="11103244" y="225825"/>
            <a:ext cx="0" cy="2435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xmlns="" id="{74C59758-12AB-44A5-92FA-DB52904027AE}"/>
              </a:ext>
            </a:extLst>
          </p:cNvPr>
          <p:cNvSpPr/>
          <p:nvPr/>
        </p:nvSpPr>
        <p:spPr>
          <a:xfrm>
            <a:off x="802332" y="1983798"/>
            <a:ext cx="10765483" cy="3822585"/>
          </a:xfrm>
          <a:prstGeom prst="rect">
            <a:avLst/>
          </a:prstGeom>
        </p:spPr>
        <p:txBody>
          <a:bodyPr wrap="square">
            <a:spAutoFit/>
          </a:bodyPr>
          <a:lstStyle/>
          <a:p>
            <a:pPr indent="457200">
              <a:lnSpc>
                <a:spcPct val="150000"/>
              </a:lnSpc>
            </a:pPr>
            <a:r>
              <a:rPr lang="en-US" altLang="zh-CN" dirty="0" err="1" smtClean="0">
                <a:solidFill>
                  <a:prstClr val="white"/>
                </a:solidFill>
                <a:latin typeface="微软雅黑" panose="020B0503020204020204" pitchFamily="34" charset="-122"/>
                <a:ea typeface="微软雅黑" panose="020B0503020204020204" pitchFamily="34" charset="-122"/>
              </a:rPr>
              <a:t>redis</a:t>
            </a:r>
            <a:r>
              <a:rPr lang="zh-CN" altLang="en-US" dirty="0" smtClean="0">
                <a:solidFill>
                  <a:prstClr val="white"/>
                </a:solidFill>
                <a:latin typeface="微软雅黑" panose="020B0503020204020204" pitchFamily="34" charset="-122"/>
                <a:ea typeface="微软雅黑" panose="020B0503020204020204" pitchFamily="34" charset="-122"/>
              </a:rPr>
              <a:t>的</a:t>
            </a:r>
            <a:r>
              <a:rPr lang="en-US" altLang="zh-CN" dirty="0" smtClean="0">
                <a:solidFill>
                  <a:prstClr val="white"/>
                </a:solidFill>
                <a:latin typeface="微软雅黑" panose="020B0503020204020204" pitchFamily="34" charset="-122"/>
                <a:ea typeface="微软雅黑" panose="020B0503020204020204" pitchFamily="34" charset="-122"/>
              </a:rPr>
              <a:t>list</a:t>
            </a:r>
            <a:r>
              <a:rPr lang="zh-CN" altLang="en-US" dirty="0" smtClean="0">
                <a:solidFill>
                  <a:prstClr val="white"/>
                </a:solidFill>
                <a:latin typeface="微软雅黑" panose="020B0503020204020204" pitchFamily="34" charset="-122"/>
                <a:ea typeface="微软雅黑" panose="020B0503020204020204" pitchFamily="34" charset="-122"/>
              </a:rPr>
              <a:t>相当于</a:t>
            </a:r>
            <a:r>
              <a:rPr lang="en-US" altLang="zh-CN" dirty="0" smtClean="0">
                <a:solidFill>
                  <a:prstClr val="white"/>
                </a:solidFill>
                <a:latin typeface="微软雅黑" panose="020B0503020204020204" pitchFamily="34" charset="-122"/>
                <a:ea typeface="微软雅黑" panose="020B0503020204020204" pitchFamily="34" charset="-122"/>
              </a:rPr>
              <a:t>java</a:t>
            </a:r>
            <a:r>
              <a:rPr lang="zh-CN" altLang="en-US" dirty="0" smtClean="0">
                <a:solidFill>
                  <a:prstClr val="white"/>
                </a:solidFill>
                <a:latin typeface="微软雅黑" panose="020B0503020204020204" pitchFamily="34" charset="-122"/>
                <a:ea typeface="微软雅黑" panose="020B0503020204020204" pitchFamily="34" charset="-122"/>
              </a:rPr>
              <a:t>语言中的</a:t>
            </a:r>
            <a:r>
              <a:rPr lang="en-US" altLang="zh-CN" dirty="0" err="1" smtClean="0">
                <a:solidFill>
                  <a:prstClr val="white"/>
                </a:solidFill>
                <a:latin typeface="微软雅黑" panose="020B0503020204020204" pitchFamily="34" charset="-122"/>
                <a:ea typeface="微软雅黑" panose="020B0503020204020204" pitchFamily="34" charset="-122"/>
              </a:rPr>
              <a:t>LinkedList</a:t>
            </a:r>
            <a:r>
              <a:rPr lang="zh-CN" altLang="en-US" dirty="0" smtClean="0">
                <a:solidFill>
                  <a:prstClr val="white"/>
                </a:solidFill>
                <a:latin typeface="微软雅黑" panose="020B0503020204020204" pitchFamily="34" charset="-122"/>
                <a:ea typeface="微软雅黑" panose="020B0503020204020204" pitchFamily="34" charset="-122"/>
              </a:rPr>
              <a:t>，这意味着</a:t>
            </a:r>
            <a:r>
              <a:rPr lang="en-US" altLang="zh-CN" dirty="0" smtClean="0">
                <a:solidFill>
                  <a:prstClr val="white"/>
                </a:solidFill>
                <a:latin typeface="微软雅黑" panose="020B0503020204020204" pitchFamily="34" charset="-122"/>
                <a:ea typeface="微软雅黑" panose="020B0503020204020204" pitchFamily="34" charset="-122"/>
              </a:rPr>
              <a:t>list</a:t>
            </a:r>
            <a:r>
              <a:rPr lang="zh-CN" altLang="en-US" dirty="0" smtClean="0">
                <a:solidFill>
                  <a:prstClr val="white"/>
                </a:solidFill>
                <a:latin typeface="微软雅黑" panose="020B0503020204020204" pitchFamily="34" charset="-122"/>
                <a:ea typeface="微软雅黑" panose="020B0503020204020204" pitchFamily="34" charset="-122"/>
              </a:rPr>
              <a:t>的插入和删除操作非常快，时间复杂度在</a:t>
            </a:r>
            <a:r>
              <a:rPr lang="en-US" altLang="zh-CN" dirty="0" smtClean="0">
                <a:solidFill>
                  <a:prstClr val="white"/>
                </a:solidFill>
                <a:latin typeface="微软雅黑" panose="020B0503020204020204" pitchFamily="34" charset="-122"/>
                <a:ea typeface="微软雅黑" panose="020B0503020204020204" pitchFamily="34" charset="-122"/>
              </a:rPr>
              <a:t>O(1),</a:t>
            </a:r>
            <a:r>
              <a:rPr lang="zh-CN" altLang="en-US" dirty="0" smtClean="0">
                <a:solidFill>
                  <a:prstClr val="white"/>
                </a:solidFill>
                <a:latin typeface="微软雅黑" panose="020B0503020204020204" pitchFamily="34" charset="-122"/>
                <a:ea typeface="微软雅黑" panose="020B0503020204020204" pitchFamily="34" charset="-122"/>
              </a:rPr>
              <a:t>但是</a:t>
            </a:r>
            <a:r>
              <a:rPr lang="zh-CN" altLang="en-US" dirty="0">
                <a:solidFill>
                  <a:prstClr val="white"/>
                </a:solidFill>
                <a:latin typeface="微软雅黑" panose="020B0503020204020204" pitchFamily="34" charset="-122"/>
                <a:ea typeface="微软雅黑" panose="020B0503020204020204" pitchFamily="34" charset="-122"/>
              </a:rPr>
              <a:t>元素</a:t>
            </a:r>
            <a:r>
              <a:rPr lang="zh-CN" altLang="en-US" dirty="0" smtClean="0">
                <a:solidFill>
                  <a:prstClr val="white"/>
                </a:solidFill>
                <a:latin typeface="微软雅黑" panose="020B0503020204020204" pitchFamily="34" charset="-122"/>
                <a:ea typeface="微软雅黑" panose="020B0503020204020204" pitchFamily="34" charset="-122"/>
              </a:rPr>
              <a:t>定位慢，时间复杂度是</a:t>
            </a:r>
            <a:r>
              <a:rPr lang="en-US" altLang="zh-CN" dirty="0" smtClean="0">
                <a:solidFill>
                  <a:prstClr val="white"/>
                </a:solidFill>
                <a:latin typeface="微软雅黑" panose="020B0503020204020204" pitchFamily="34" charset="-122"/>
                <a:ea typeface="微软雅黑" panose="020B0503020204020204" pitchFamily="34" charset="-122"/>
              </a:rPr>
              <a:t>O(n)</a:t>
            </a:r>
            <a:r>
              <a:rPr lang="zh-CN" altLang="en-US" dirty="0" smtClean="0">
                <a:solidFill>
                  <a:prstClr val="white"/>
                </a:solidFill>
                <a:latin typeface="微软雅黑" panose="020B0503020204020204" pitchFamily="34" charset="-122"/>
                <a:ea typeface="微软雅黑" panose="020B0503020204020204" pitchFamily="34" charset="-122"/>
              </a:rPr>
              <a:t>。数据按照插入的顺序排序。</a:t>
            </a:r>
            <a:endParaRPr lang="en-US" altLang="zh-CN" dirty="0" smtClean="0">
              <a:solidFill>
                <a:prstClr val="white"/>
              </a:solidFill>
              <a:latin typeface="微软雅黑" panose="020B0503020204020204" pitchFamily="34" charset="-122"/>
              <a:ea typeface="微软雅黑" panose="020B0503020204020204" pitchFamily="34" charset="-122"/>
            </a:endParaRPr>
          </a:p>
          <a:p>
            <a:pPr>
              <a:lnSpc>
                <a:spcPct val="140000"/>
              </a:lnSpc>
            </a:pPr>
            <a:endParaRPr lang="en-US" altLang="zh-CN" sz="1600" dirty="0">
              <a:solidFill>
                <a:prstClr val="white"/>
              </a:solidFill>
              <a:latin typeface="微软雅黑" panose="020B0503020204020204" pitchFamily="34" charset="-122"/>
              <a:ea typeface="微软雅黑" panose="020B0503020204020204" pitchFamily="34" charset="-122"/>
            </a:endParaRPr>
          </a:p>
          <a:p>
            <a:pPr>
              <a:lnSpc>
                <a:spcPct val="140000"/>
              </a:lnSpc>
            </a:pPr>
            <a:endParaRPr lang="en-US" altLang="zh-CN" sz="1600" dirty="0" smtClean="0">
              <a:solidFill>
                <a:prstClr val="white"/>
              </a:solidFill>
              <a:latin typeface="微软雅黑" panose="020B0503020204020204" pitchFamily="34" charset="-122"/>
              <a:ea typeface="微软雅黑" panose="020B0503020204020204" pitchFamily="34" charset="-122"/>
            </a:endParaRPr>
          </a:p>
          <a:p>
            <a:pPr>
              <a:lnSpc>
                <a:spcPct val="140000"/>
              </a:lnSpc>
            </a:pPr>
            <a:endParaRPr lang="en-US" altLang="zh-CN" sz="1600" dirty="0">
              <a:solidFill>
                <a:prstClr val="white"/>
              </a:solidFill>
              <a:latin typeface="微软雅黑" panose="020B0503020204020204" pitchFamily="34" charset="-122"/>
              <a:ea typeface="微软雅黑" panose="020B0503020204020204" pitchFamily="34" charset="-122"/>
            </a:endParaRPr>
          </a:p>
          <a:p>
            <a:pPr>
              <a:lnSpc>
                <a:spcPct val="140000"/>
              </a:lnSpc>
            </a:pPr>
            <a:endParaRPr lang="en-US" altLang="zh-CN" sz="1600" dirty="0" smtClean="0">
              <a:solidFill>
                <a:prstClr val="white"/>
              </a:solidFill>
              <a:latin typeface="微软雅黑" panose="020B0503020204020204" pitchFamily="34" charset="-122"/>
              <a:ea typeface="微软雅黑" panose="020B0503020204020204" pitchFamily="34" charset="-122"/>
            </a:endParaRPr>
          </a:p>
          <a:p>
            <a:pPr>
              <a:lnSpc>
                <a:spcPct val="140000"/>
              </a:lnSpc>
            </a:pPr>
            <a:endParaRPr lang="en-US" altLang="zh-CN" sz="1600" dirty="0">
              <a:solidFill>
                <a:prstClr val="white"/>
              </a:solidFill>
              <a:latin typeface="微软雅黑" panose="020B0503020204020204" pitchFamily="34" charset="-122"/>
              <a:ea typeface="微软雅黑" panose="020B0503020204020204" pitchFamily="34" charset="-122"/>
            </a:endParaRPr>
          </a:p>
          <a:p>
            <a:pPr>
              <a:lnSpc>
                <a:spcPct val="140000"/>
              </a:lnSpc>
            </a:pPr>
            <a:endParaRPr lang="en-US" altLang="zh-CN" sz="1600" dirty="0" smtClean="0">
              <a:solidFill>
                <a:prstClr val="white"/>
              </a:solidFill>
              <a:latin typeface="微软雅黑" panose="020B0503020204020204" pitchFamily="34" charset="-122"/>
              <a:ea typeface="微软雅黑" panose="020B0503020204020204" pitchFamily="34" charset="-122"/>
            </a:endParaRPr>
          </a:p>
          <a:p>
            <a:pPr>
              <a:lnSpc>
                <a:spcPct val="150000"/>
              </a:lnSpc>
            </a:pPr>
            <a:r>
              <a:rPr lang="zh-CN" altLang="en-US" dirty="0" smtClean="0">
                <a:solidFill>
                  <a:prstClr val="white"/>
                </a:solidFill>
                <a:latin typeface="微软雅黑" panose="020B0503020204020204" pitchFamily="34" charset="-122"/>
                <a:ea typeface="微软雅黑" panose="020B0503020204020204" pitchFamily="34" charset="-122"/>
              </a:rPr>
              <a:t>如图</a:t>
            </a:r>
            <a:r>
              <a:rPr lang="en-US" altLang="zh-CN" dirty="0" smtClean="0">
                <a:solidFill>
                  <a:prstClr val="white"/>
                </a:solidFill>
                <a:latin typeface="微软雅黑" panose="020B0503020204020204" pitchFamily="34" charset="-122"/>
                <a:ea typeface="微软雅黑" panose="020B0503020204020204" pitchFamily="34" charset="-122"/>
              </a:rPr>
              <a:t>2.5.1-1</a:t>
            </a:r>
            <a:r>
              <a:rPr lang="zh-CN" altLang="en-US" dirty="0" smtClean="0">
                <a:solidFill>
                  <a:prstClr val="white"/>
                </a:solidFill>
                <a:latin typeface="微软雅黑" panose="020B0503020204020204" pitchFamily="34" charset="-122"/>
                <a:ea typeface="微软雅黑" panose="020B0503020204020204" pitchFamily="34" charset="-122"/>
              </a:rPr>
              <a:t>所示，</a:t>
            </a:r>
            <a:r>
              <a:rPr lang="en-US" altLang="zh-CN" dirty="0" smtClean="0">
                <a:solidFill>
                  <a:prstClr val="white"/>
                </a:solidFill>
                <a:latin typeface="微软雅黑" panose="020B0503020204020204" pitchFamily="34" charset="-122"/>
                <a:ea typeface="微软雅黑" panose="020B0503020204020204" pitchFamily="34" charset="-122"/>
              </a:rPr>
              <a:t>list</a:t>
            </a:r>
            <a:r>
              <a:rPr lang="zh-CN" altLang="en-US" dirty="0" smtClean="0">
                <a:solidFill>
                  <a:prstClr val="white"/>
                </a:solidFill>
                <a:latin typeface="微软雅黑" panose="020B0503020204020204" pitchFamily="34" charset="-122"/>
                <a:ea typeface="微软雅黑" panose="020B0503020204020204" pitchFamily="34" charset="-122"/>
              </a:rPr>
              <a:t>列表的每个元素可以向前或向后访问。</a:t>
            </a:r>
            <a:endParaRPr lang="en-US" altLang="zh-CN" dirty="0" smtClean="0">
              <a:solidFill>
                <a:prstClr val="white"/>
              </a:solidFill>
              <a:latin typeface="微软雅黑" panose="020B0503020204020204" pitchFamily="34" charset="-122"/>
              <a:ea typeface="微软雅黑" panose="020B0503020204020204" pitchFamily="34" charset="-122"/>
            </a:endParaRPr>
          </a:p>
          <a:p>
            <a:pPr>
              <a:lnSpc>
                <a:spcPct val="150000"/>
              </a:lnSpc>
            </a:pPr>
            <a:r>
              <a:rPr lang="zh-CN" altLang="en-US" dirty="0" smtClean="0">
                <a:solidFill>
                  <a:prstClr val="white"/>
                </a:solidFill>
                <a:latin typeface="微软雅黑" panose="020B0503020204020204" pitchFamily="34" charset="-122"/>
                <a:ea typeface="微软雅黑" panose="020B0503020204020204" pitchFamily="34" charset="-122"/>
              </a:rPr>
              <a:t>借助</a:t>
            </a:r>
            <a:r>
              <a:rPr lang="en-US" altLang="zh-CN" dirty="0" smtClean="0">
                <a:solidFill>
                  <a:prstClr val="white"/>
                </a:solidFill>
                <a:latin typeface="微软雅黑" panose="020B0503020204020204" pitchFamily="34" charset="-122"/>
                <a:ea typeface="微软雅黑" panose="020B0503020204020204" pitchFamily="34" charset="-122"/>
              </a:rPr>
              <a:t>list</a:t>
            </a:r>
            <a:r>
              <a:rPr lang="zh-CN" altLang="en-US" dirty="0" smtClean="0">
                <a:solidFill>
                  <a:prstClr val="white"/>
                </a:solidFill>
                <a:latin typeface="微软雅黑" panose="020B0503020204020204" pitchFamily="34" charset="-122"/>
                <a:ea typeface="微软雅黑" panose="020B0503020204020204" pitchFamily="34" charset="-122"/>
              </a:rPr>
              <a:t>可以实现先进先出的队列，也可以实现后进先出的栈。</a:t>
            </a:r>
            <a:endParaRPr lang="en-US" altLang="zh-CN" dirty="0">
              <a:solidFill>
                <a:prstClr val="white"/>
              </a:solidFill>
              <a:latin typeface="微软雅黑" panose="020B0503020204020204" pitchFamily="34" charset="-122"/>
              <a:ea typeface="微软雅黑" panose="020B0503020204020204" pitchFamily="34" charset="-122"/>
            </a:endParaRPr>
          </a:p>
        </p:txBody>
      </p:sp>
      <p:sp>
        <p:nvSpPr>
          <p:cNvPr id="10" name="TextBox 9"/>
          <p:cNvSpPr txBox="1"/>
          <p:nvPr/>
        </p:nvSpPr>
        <p:spPr>
          <a:xfrm>
            <a:off x="704849" y="605109"/>
            <a:ext cx="8584293" cy="584775"/>
          </a:xfrm>
          <a:prstGeom prst="rect">
            <a:avLst/>
          </a:prstGeom>
          <a:noFill/>
        </p:spPr>
        <p:txBody>
          <a:bodyPr wrap="square" rtlCol="0">
            <a:spAutoFit/>
          </a:bodyPr>
          <a:lstStyle/>
          <a:p>
            <a:pPr>
              <a:defRPr/>
            </a:pPr>
            <a:r>
              <a:rPr lang="en-US" altLang="zh-CN" sz="32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2.5</a:t>
            </a:r>
            <a:r>
              <a:rPr lang="zh-CN" altLang="en-US" sz="32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a:t>
            </a:r>
            <a:r>
              <a:rPr lang="en-US" altLang="zh-CN" sz="3200" b="1" dirty="0" err="1">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redis</a:t>
            </a:r>
            <a:r>
              <a:rPr lang="zh-CN" altLang="en-US" sz="32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基本数据结构之</a:t>
            </a:r>
            <a:r>
              <a:rPr lang="en-US" altLang="zh-CN" sz="32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list</a:t>
            </a:r>
            <a:endParaRPr lang="zh-CN" altLang="en-US" sz="32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endParaRPr>
          </a:p>
        </p:txBody>
      </p:sp>
      <p:sp>
        <p:nvSpPr>
          <p:cNvPr id="8" name="TextBox 9"/>
          <p:cNvSpPr txBox="1"/>
          <p:nvPr/>
        </p:nvSpPr>
        <p:spPr>
          <a:xfrm>
            <a:off x="704850" y="1330819"/>
            <a:ext cx="4038600" cy="523220"/>
          </a:xfrm>
          <a:prstGeom prst="rect">
            <a:avLst/>
          </a:prstGeom>
          <a:noFill/>
        </p:spPr>
        <p:txBody>
          <a:bodyPr wrap="square" rtlCol="0">
            <a:spAutoFit/>
          </a:bodyPr>
          <a:lstStyle/>
          <a:p>
            <a:pPr>
              <a:defRPr/>
            </a:pPr>
            <a:r>
              <a:rPr lang="en-US" altLang="zh-CN"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2.5.1 </a:t>
            </a:r>
            <a:r>
              <a:rPr lang="zh-CN" altLang="en-US"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存储结构</a:t>
            </a:r>
            <a:endParaRPr lang="zh-CN" altLang="en-US"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endParaRPr>
          </a:p>
        </p:txBody>
      </p:sp>
      <p:grpSp>
        <p:nvGrpSpPr>
          <p:cNvPr id="33" name="组合 32"/>
          <p:cNvGrpSpPr/>
          <p:nvPr/>
        </p:nvGrpSpPr>
        <p:grpSpPr>
          <a:xfrm>
            <a:off x="1188246" y="3097954"/>
            <a:ext cx="9459847" cy="1422464"/>
            <a:chOff x="1188246" y="3097954"/>
            <a:chExt cx="9459847" cy="1422464"/>
          </a:xfrm>
        </p:grpSpPr>
        <p:sp>
          <p:nvSpPr>
            <p:cNvPr id="2" name="矩形 1"/>
            <p:cNvSpPr/>
            <p:nvPr/>
          </p:nvSpPr>
          <p:spPr>
            <a:xfrm>
              <a:off x="1188246" y="3097954"/>
              <a:ext cx="1204686" cy="682171"/>
            </a:xfrm>
            <a:prstGeom prst="rect">
              <a:avLst/>
            </a:prstGeom>
            <a:solidFill>
              <a:schemeClr val="accent6"/>
            </a:solidFill>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r>
                <a:rPr lang="zh-CN" altLang="en-US" dirty="0">
                  <a:solidFill>
                    <a:srgbClr val="FFFF00"/>
                  </a:solidFill>
                </a:rPr>
                <a:t>长沙</a:t>
              </a:r>
            </a:p>
          </p:txBody>
        </p:sp>
        <p:sp>
          <p:nvSpPr>
            <p:cNvPr id="12" name="矩形 11"/>
            <p:cNvSpPr/>
            <p:nvPr/>
          </p:nvSpPr>
          <p:spPr>
            <a:xfrm>
              <a:off x="3212387" y="3097954"/>
              <a:ext cx="1204686" cy="682171"/>
            </a:xfrm>
            <a:prstGeom prst="rect">
              <a:avLst/>
            </a:prstGeom>
            <a:solidFill>
              <a:schemeClr val="accent6"/>
            </a:solidFill>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r>
                <a:rPr lang="zh-CN" altLang="en-US" dirty="0">
                  <a:solidFill>
                    <a:srgbClr val="FFFF00"/>
                  </a:solidFill>
                </a:rPr>
                <a:t>武汉</a:t>
              </a:r>
            </a:p>
          </p:txBody>
        </p:sp>
        <p:sp>
          <p:nvSpPr>
            <p:cNvPr id="16" name="矩形 15"/>
            <p:cNvSpPr/>
            <p:nvPr/>
          </p:nvSpPr>
          <p:spPr>
            <a:xfrm>
              <a:off x="5236528" y="3100711"/>
              <a:ext cx="1204686" cy="682171"/>
            </a:xfrm>
            <a:prstGeom prst="rect">
              <a:avLst/>
            </a:prstGeom>
            <a:solidFill>
              <a:schemeClr val="accent6"/>
            </a:solidFill>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r>
                <a:rPr lang="zh-CN" altLang="en-US" dirty="0">
                  <a:solidFill>
                    <a:srgbClr val="FFFF00"/>
                  </a:solidFill>
                </a:rPr>
                <a:t>深圳</a:t>
              </a:r>
            </a:p>
          </p:txBody>
        </p:sp>
        <p:sp>
          <p:nvSpPr>
            <p:cNvPr id="17" name="矩形 16"/>
            <p:cNvSpPr/>
            <p:nvPr/>
          </p:nvSpPr>
          <p:spPr>
            <a:xfrm>
              <a:off x="7368100" y="3097954"/>
              <a:ext cx="1204686" cy="682171"/>
            </a:xfrm>
            <a:prstGeom prst="rect">
              <a:avLst/>
            </a:prstGeom>
            <a:solidFill>
              <a:schemeClr val="accent6"/>
            </a:solidFill>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r>
                <a:rPr lang="zh-CN" altLang="en-US" dirty="0">
                  <a:solidFill>
                    <a:srgbClr val="FFFF00"/>
                  </a:solidFill>
                </a:rPr>
                <a:t>广州</a:t>
              </a:r>
            </a:p>
          </p:txBody>
        </p:sp>
        <p:sp>
          <p:nvSpPr>
            <p:cNvPr id="18" name="矩形 17"/>
            <p:cNvSpPr/>
            <p:nvPr/>
          </p:nvSpPr>
          <p:spPr>
            <a:xfrm>
              <a:off x="9443407" y="3100626"/>
              <a:ext cx="1204686" cy="682171"/>
            </a:xfrm>
            <a:prstGeom prst="rect">
              <a:avLst/>
            </a:prstGeom>
            <a:solidFill>
              <a:schemeClr val="accent6"/>
            </a:solidFill>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r>
                <a:rPr lang="zh-CN" altLang="en-US" dirty="0">
                  <a:solidFill>
                    <a:srgbClr val="FFFF00"/>
                  </a:solidFill>
                </a:rPr>
                <a:t>北京</a:t>
              </a:r>
            </a:p>
          </p:txBody>
        </p:sp>
        <p:cxnSp>
          <p:nvCxnSpPr>
            <p:cNvPr id="4" name="直接箭头连接符 3"/>
            <p:cNvCxnSpPr>
              <a:stCxn id="2" idx="3"/>
              <a:endCxn id="12" idx="1"/>
            </p:cNvCxnSpPr>
            <p:nvPr/>
          </p:nvCxnSpPr>
          <p:spPr>
            <a:xfrm>
              <a:off x="2392932" y="3439040"/>
              <a:ext cx="819455" cy="0"/>
            </a:xfrm>
            <a:prstGeom prst="straightConnector1">
              <a:avLst/>
            </a:prstGeom>
            <a:ln w="25400" cmpd="sng">
              <a:solidFill>
                <a:schemeClr val="accent1">
                  <a:alpha val="92000"/>
                </a:schemeClr>
              </a:solidFill>
              <a:prstDash val="solid"/>
              <a:headEnd type="stealth"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a:stCxn id="12" idx="3"/>
              <a:endCxn id="16" idx="1"/>
            </p:cNvCxnSpPr>
            <p:nvPr/>
          </p:nvCxnSpPr>
          <p:spPr>
            <a:xfrm>
              <a:off x="4417073" y="3439040"/>
              <a:ext cx="819455" cy="2757"/>
            </a:xfrm>
            <a:prstGeom prst="straightConnector1">
              <a:avLst/>
            </a:prstGeom>
            <a:ln w="25400" cmpd="sng">
              <a:solidFill>
                <a:schemeClr val="accent1">
                  <a:alpha val="92000"/>
                </a:schemeClr>
              </a:solidFill>
              <a:prstDash val="solid"/>
              <a:headEnd type="stealth"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a:stCxn id="16" idx="3"/>
              <a:endCxn id="17" idx="1"/>
            </p:cNvCxnSpPr>
            <p:nvPr/>
          </p:nvCxnSpPr>
          <p:spPr>
            <a:xfrm flipV="1">
              <a:off x="6441214" y="3439040"/>
              <a:ext cx="926886" cy="2757"/>
            </a:xfrm>
            <a:prstGeom prst="straightConnector1">
              <a:avLst/>
            </a:prstGeom>
            <a:ln w="25400" cmpd="sng">
              <a:solidFill>
                <a:schemeClr val="accent1">
                  <a:alpha val="92000"/>
                </a:schemeClr>
              </a:solidFill>
              <a:prstDash val="solid"/>
              <a:headEnd type="stealth"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a:stCxn id="17" idx="3"/>
              <a:endCxn id="18" idx="1"/>
            </p:cNvCxnSpPr>
            <p:nvPr/>
          </p:nvCxnSpPr>
          <p:spPr>
            <a:xfrm>
              <a:off x="8572786" y="3439040"/>
              <a:ext cx="870621" cy="2672"/>
            </a:xfrm>
            <a:prstGeom prst="straightConnector1">
              <a:avLst/>
            </a:prstGeom>
            <a:ln w="25400" cmpd="sng">
              <a:solidFill>
                <a:schemeClr val="accent1">
                  <a:alpha val="92000"/>
                </a:schemeClr>
              </a:solidFill>
              <a:prstDash val="solid"/>
              <a:headEnd type="stealth" w="lg" len="lg"/>
              <a:tailEnd type="stealth" w="lg" len="lg"/>
            </a:ln>
          </p:spPr>
          <p:style>
            <a:lnRef idx="1">
              <a:schemeClr val="accent1"/>
            </a:lnRef>
            <a:fillRef idx="0">
              <a:schemeClr val="accent1"/>
            </a:fillRef>
            <a:effectRef idx="0">
              <a:schemeClr val="accent1"/>
            </a:effectRef>
            <a:fontRef idx="minor">
              <a:schemeClr val="tx1"/>
            </a:fontRef>
          </p:style>
        </p:cxnSp>
        <p:sp>
          <p:nvSpPr>
            <p:cNvPr id="32" name="文本框 31"/>
            <p:cNvSpPr txBox="1"/>
            <p:nvPr/>
          </p:nvSpPr>
          <p:spPr>
            <a:xfrm>
              <a:off x="3991429" y="4151086"/>
              <a:ext cx="3106057" cy="369332"/>
            </a:xfrm>
            <a:prstGeom prst="rect">
              <a:avLst/>
            </a:prstGeom>
            <a:noFill/>
          </p:spPr>
          <p:txBody>
            <a:bodyPr wrap="square" rtlCol="0">
              <a:spAutoFit/>
            </a:bodyPr>
            <a:lstStyle/>
            <a:p>
              <a:pPr algn="ctr"/>
              <a:r>
                <a:rPr lang="zh-CN" altLang="en-US" dirty="0" smtClean="0">
                  <a:solidFill>
                    <a:schemeClr val="bg1"/>
                  </a:solidFill>
                  <a:latin typeface="微软雅黑" panose="020B0503020204020204" pitchFamily="34" charset="-122"/>
                  <a:ea typeface="微软雅黑" panose="020B0503020204020204" pitchFamily="34" charset="-122"/>
                </a:rPr>
                <a:t>图</a:t>
              </a:r>
              <a:r>
                <a:rPr lang="en-US" altLang="zh-CN" dirty="0" smtClean="0">
                  <a:solidFill>
                    <a:schemeClr val="bg1"/>
                  </a:solidFill>
                  <a:latin typeface="微软雅黑" panose="020B0503020204020204" pitchFamily="34" charset="-122"/>
                  <a:ea typeface="微软雅黑" panose="020B0503020204020204" pitchFamily="34" charset="-122"/>
                </a:rPr>
                <a:t>2.5.1 - 1</a:t>
              </a:r>
              <a:endParaRPr lang="zh-CN" altLang="en-US" dirty="0" smtClean="0">
                <a:solidFill>
                  <a:schemeClr val="bg1"/>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3934696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33"/>
                                        </p:tgtEl>
                                        <p:attrNameLst>
                                          <p:attrName>style.visibility</p:attrName>
                                        </p:attrNameLst>
                                      </p:cBhvr>
                                      <p:to>
                                        <p:strVal val="visible"/>
                                      </p:to>
                                    </p:set>
                                    <p:anim calcmode="lin" valueType="num">
                                      <p:cBhvr>
                                        <p:cTn id="14" dur="500" fill="hold"/>
                                        <p:tgtEl>
                                          <p:spTgt spid="33"/>
                                        </p:tgtEl>
                                        <p:attrNameLst>
                                          <p:attrName>ppt_w</p:attrName>
                                        </p:attrNameLst>
                                      </p:cBhvr>
                                      <p:tavLst>
                                        <p:tav tm="0">
                                          <p:val>
                                            <p:fltVal val="0"/>
                                          </p:val>
                                        </p:tav>
                                        <p:tav tm="100000">
                                          <p:val>
                                            <p:strVal val="#ppt_w"/>
                                          </p:val>
                                        </p:tav>
                                      </p:tavLst>
                                    </p:anim>
                                    <p:anim calcmode="lin" valueType="num">
                                      <p:cBhvr>
                                        <p:cTn id="15" dur="500" fill="hold"/>
                                        <p:tgtEl>
                                          <p:spTgt spid="33"/>
                                        </p:tgtEl>
                                        <p:attrNameLst>
                                          <p:attrName>ppt_h</p:attrName>
                                        </p:attrNameLst>
                                      </p:cBhvr>
                                      <p:tavLst>
                                        <p:tav tm="0">
                                          <p:val>
                                            <p:fltVal val="0"/>
                                          </p:val>
                                        </p:tav>
                                        <p:tav tm="100000">
                                          <p:val>
                                            <p:strVal val="#ppt_h"/>
                                          </p:val>
                                        </p:tav>
                                      </p:tavLst>
                                    </p:anim>
                                    <p:animEffect transition="in" filter="fade">
                                      <p:cBhvr>
                                        <p:cTn id="16"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A0F23"/>
        </a:solidFill>
        <a:effectLst/>
      </p:bgPr>
    </p:bg>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xmlns="" id="{CBDC52CD-1D62-48AF-A9DF-9F18AEA2B1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01385" y="-114300"/>
            <a:ext cx="1301859" cy="920356"/>
          </a:xfrm>
          <a:prstGeom prst="rect">
            <a:avLst/>
          </a:prstGeom>
        </p:spPr>
      </p:pic>
      <p:pic>
        <p:nvPicPr>
          <p:cNvPr id="14" name="图片 13">
            <a:extLst>
              <a:ext uri="{FF2B5EF4-FFF2-40B4-BE49-F238E27FC236}">
                <a16:creationId xmlns:a16="http://schemas.microsoft.com/office/drawing/2014/main" xmlns="" id="{F78DA958-9B1B-47DA-A870-8C0B3A7D8866}"/>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b="63537"/>
          <a:stretch/>
        </p:blipFill>
        <p:spPr>
          <a:xfrm>
            <a:off x="11184164" y="217733"/>
            <a:ext cx="572339" cy="337210"/>
          </a:xfrm>
          <a:prstGeom prst="rect">
            <a:avLst/>
          </a:prstGeom>
        </p:spPr>
      </p:pic>
      <p:cxnSp>
        <p:nvCxnSpPr>
          <p:cNvPr id="15" name="直接连接符 14">
            <a:extLst>
              <a:ext uri="{FF2B5EF4-FFF2-40B4-BE49-F238E27FC236}">
                <a16:creationId xmlns:a16="http://schemas.microsoft.com/office/drawing/2014/main" xmlns="" id="{93240A06-D526-4907-A163-94ABB41190CC}"/>
              </a:ext>
            </a:extLst>
          </p:cNvPr>
          <p:cNvCxnSpPr/>
          <p:nvPr/>
        </p:nvCxnSpPr>
        <p:spPr>
          <a:xfrm>
            <a:off x="11103244" y="225825"/>
            <a:ext cx="0" cy="2435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xmlns="" id="{74C59758-12AB-44A5-92FA-DB52904027AE}"/>
              </a:ext>
            </a:extLst>
          </p:cNvPr>
          <p:cNvSpPr/>
          <p:nvPr/>
        </p:nvSpPr>
        <p:spPr>
          <a:xfrm>
            <a:off x="802332" y="1287114"/>
            <a:ext cx="10705039" cy="4770537"/>
          </a:xfrm>
          <a:prstGeom prst="rect">
            <a:avLst/>
          </a:prstGeom>
          <a:ln>
            <a:solidFill>
              <a:schemeClr val="bg1"/>
            </a:solidFill>
          </a:ln>
        </p:spPr>
        <p:txBody>
          <a:bodyPr wrap="square">
            <a:spAutoFit/>
          </a:bodyPr>
          <a:lstStyle/>
          <a:p>
            <a:r>
              <a:rPr lang="en-US" altLang="zh-CN" sz="1600" dirty="0" smtClean="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rpush</a:t>
            </a:r>
            <a:r>
              <a:rPr lang="en-US" altLang="zh-CN" sz="1600" dirty="0">
                <a:solidFill>
                  <a:srgbClr val="FF0000"/>
                </a:solidFill>
                <a:latin typeface="微软雅黑" panose="020B0503020204020204" pitchFamily="34" charset="-122"/>
                <a:ea typeface="微软雅黑" panose="020B0503020204020204" pitchFamily="34" charset="-122"/>
              </a:rPr>
              <a:t> </a:t>
            </a:r>
            <a:r>
              <a:rPr lang="en-US" altLang="zh-CN" sz="1600" dirty="0" err="1">
                <a:solidFill>
                  <a:schemeClr val="accent6"/>
                </a:solidFill>
                <a:latin typeface="微软雅黑" panose="020B0503020204020204" pitchFamily="34" charset="-122"/>
                <a:ea typeface="微软雅黑" panose="020B0503020204020204" pitchFamily="34" charset="-122"/>
              </a:rPr>
              <a:t>lange</a:t>
            </a:r>
            <a:r>
              <a:rPr lang="en-US" altLang="zh-CN" sz="1600" dirty="0">
                <a:solidFill>
                  <a:schemeClr val="accent6"/>
                </a:solidFill>
                <a:latin typeface="微软雅黑" panose="020B0503020204020204" pitchFamily="34" charset="-122"/>
                <a:ea typeface="微软雅黑" panose="020B0503020204020204" pitchFamily="34" charset="-122"/>
              </a:rPr>
              <a:t> java </a:t>
            </a:r>
            <a:r>
              <a:rPr lang="en-US" altLang="zh-CN" sz="1600" dirty="0" err="1">
                <a:solidFill>
                  <a:schemeClr val="accent6"/>
                </a:solidFill>
                <a:latin typeface="微软雅黑" panose="020B0503020204020204" pitchFamily="34" charset="-122"/>
                <a:ea typeface="微软雅黑" panose="020B0503020204020204" pitchFamily="34" charset="-122"/>
              </a:rPr>
              <a:t>javascript</a:t>
            </a:r>
            <a:r>
              <a:rPr lang="en-US" altLang="zh-CN" sz="1600" dirty="0">
                <a:solidFill>
                  <a:schemeClr val="accent6"/>
                </a:solidFill>
                <a:latin typeface="微软雅黑" panose="020B0503020204020204" pitchFamily="34" charset="-122"/>
                <a:ea typeface="微软雅黑" panose="020B0503020204020204" pitchFamily="34" charset="-122"/>
              </a:rPr>
              <a:t> go c </a:t>
            </a:r>
            <a:r>
              <a:rPr lang="en-US" altLang="zh-CN" sz="1600" dirty="0" err="1">
                <a:solidFill>
                  <a:schemeClr val="accent6"/>
                </a:solidFill>
                <a:latin typeface="微软雅黑" panose="020B0503020204020204" pitchFamily="34" charset="-122"/>
                <a:ea typeface="微软雅黑" panose="020B0503020204020204" pitchFamily="34" charset="-122"/>
              </a:rPr>
              <a:t>c</a:t>
            </a:r>
            <a:r>
              <a:rPr lang="en-US" altLang="zh-CN" sz="1600" dirty="0" err="1" smtClean="0">
                <a:solidFill>
                  <a:schemeClr val="accent6"/>
                </a:solidFill>
                <a:latin typeface="微软雅黑" panose="020B0503020204020204" pitchFamily="34" charset="-122"/>
                <a:ea typeface="微软雅黑" panose="020B0503020204020204" pitchFamily="34" charset="-122"/>
              </a:rPr>
              <a:t>++</a:t>
            </a:r>
            <a:r>
              <a:rPr lang="en-US" altLang="zh-CN" sz="1600" dirty="0" smtClean="0">
                <a:solidFill>
                  <a:schemeClr val="accent6"/>
                </a:solidFill>
                <a:latin typeface="微软雅黑" panose="020B0503020204020204" pitchFamily="34" charset="-122"/>
                <a:ea typeface="微软雅黑" panose="020B0503020204020204" pitchFamily="34" charset="-122"/>
              </a:rPr>
              <a:t>   </a:t>
            </a:r>
            <a:r>
              <a:rPr lang="en-US" altLang="zh-CN" sz="1600" dirty="0">
                <a:solidFill>
                  <a:schemeClr val="accent1"/>
                </a:solidFill>
                <a:latin typeface="微软雅黑" panose="020B0503020204020204" pitchFamily="34" charset="-122"/>
                <a:ea typeface="微软雅黑" panose="020B0503020204020204" pitchFamily="34" charset="-122"/>
              </a:rPr>
              <a:t># </a:t>
            </a:r>
            <a:r>
              <a:rPr lang="zh-CN" altLang="en-US" sz="1600" dirty="0">
                <a:solidFill>
                  <a:schemeClr val="accent1"/>
                </a:solidFill>
                <a:latin typeface="微软雅黑" panose="020B0503020204020204" pitchFamily="34" charset="-122"/>
                <a:ea typeface="微软雅黑" panose="020B0503020204020204" pitchFamily="34" charset="-122"/>
              </a:rPr>
              <a:t>批量添加元素到</a:t>
            </a:r>
            <a:r>
              <a:rPr lang="zh-CN" altLang="en-US" sz="1600" dirty="0" smtClean="0">
                <a:solidFill>
                  <a:schemeClr val="accent1"/>
                </a:solidFill>
                <a:latin typeface="微软雅黑" panose="020B0503020204020204" pitchFamily="34" charset="-122"/>
                <a:ea typeface="微软雅黑" panose="020B0503020204020204" pitchFamily="34" charset="-122"/>
              </a:rPr>
              <a:t>列表</a:t>
            </a:r>
            <a:r>
              <a:rPr lang="en-US" altLang="zh-CN" sz="1600" dirty="0" err="1" smtClean="0">
                <a:solidFill>
                  <a:schemeClr val="accent1"/>
                </a:solidFill>
                <a:latin typeface="微软雅黑" panose="020B0503020204020204" pitchFamily="34" charset="-122"/>
                <a:ea typeface="微软雅黑" panose="020B0503020204020204" pitchFamily="34" charset="-122"/>
              </a:rPr>
              <a:t>lange</a:t>
            </a:r>
            <a:r>
              <a:rPr lang="zh-CN" altLang="en-US" sz="1600" dirty="0" smtClean="0">
                <a:solidFill>
                  <a:schemeClr val="accent1"/>
                </a:solidFill>
                <a:latin typeface="微软雅黑" panose="020B0503020204020204" pitchFamily="34" charset="-122"/>
                <a:ea typeface="微软雅黑" panose="020B0503020204020204" pitchFamily="34" charset="-122"/>
              </a:rPr>
              <a:t>为</a:t>
            </a:r>
            <a:r>
              <a:rPr lang="en-US" altLang="zh-CN" sz="1600" dirty="0" smtClean="0">
                <a:solidFill>
                  <a:schemeClr val="accent1"/>
                </a:solidFill>
                <a:latin typeface="微软雅黑" panose="020B0503020204020204" pitchFamily="34" charset="-122"/>
                <a:ea typeface="微软雅黑" panose="020B0503020204020204" pitchFamily="34" charset="-122"/>
              </a:rPr>
              <a:t>list</a:t>
            </a:r>
            <a:r>
              <a:rPr lang="zh-CN" altLang="en-US" sz="1600" dirty="0" smtClean="0">
                <a:solidFill>
                  <a:schemeClr val="accent1"/>
                </a:solidFill>
                <a:latin typeface="微软雅黑" panose="020B0503020204020204" pitchFamily="34" charset="-122"/>
                <a:ea typeface="微软雅黑" panose="020B0503020204020204" pitchFamily="34" charset="-122"/>
              </a:rPr>
              <a:t>的</a:t>
            </a:r>
            <a:r>
              <a:rPr lang="en-US" altLang="zh-CN" sz="1600" dirty="0" smtClean="0">
                <a:solidFill>
                  <a:schemeClr val="accent1"/>
                </a:solidFill>
                <a:latin typeface="微软雅黑" panose="020B0503020204020204" pitchFamily="34" charset="-122"/>
                <a:ea typeface="微软雅黑" panose="020B0503020204020204" pitchFamily="34" charset="-122"/>
              </a:rPr>
              <a:t>key</a:t>
            </a:r>
            <a:r>
              <a:rPr lang="zh-CN" altLang="en-US" sz="1600" dirty="0" smtClean="0">
                <a:solidFill>
                  <a:schemeClr val="accent1"/>
                </a:solidFill>
                <a:latin typeface="微软雅黑" panose="020B0503020204020204" pitchFamily="34" charset="-122"/>
                <a:ea typeface="微软雅黑" panose="020B0503020204020204" pitchFamily="34" charset="-122"/>
              </a:rPr>
              <a:t>，后面是加入</a:t>
            </a:r>
            <a:r>
              <a:rPr lang="en-US" altLang="zh-CN" sz="1600" dirty="0" smtClean="0">
                <a:solidFill>
                  <a:schemeClr val="accent1"/>
                </a:solidFill>
                <a:latin typeface="微软雅黑" panose="020B0503020204020204" pitchFamily="34" charset="-122"/>
                <a:ea typeface="微软雅黑" panose="020B0503020204020204" pitchFamily="34" charset="-122"/>
              </a:rPr>
              <a:t>list</a:t>
            </a:r>
            <a:r>
              <a:rPr lang="zh-CN" altLang="en-US" sz="1600" dirty="0" smtClean="0">
                <a:solidFill>
                  <a:schemeClr val="accent1"/>
                </a:solidFill>
                <a:latin typeface="微软雅黑" panose="020B0503020204020204" pitchFamily="34" charset="-122"/>
                <a:ea typeface="微软雅黑" panose="020B0503020204020204" pitchFamily="34" charset="-122"/>
              </a:rPr>
              <a:t>的多个元素。</a:t>
            </a:r>
            <a:endParaRPr lang="en-US" altLang="zh-CN" sz="1600" dirty="0">
              <a:solidFill>
                <a:schemeClr val="accent6"/>
              </a:solidFill>
              <a:latin typeface="微软雅黑" panose="020B0503020204020204" pitchFamily="34" charset="-122"/>
              <a:ea typeface="微软雅黑" panose="020B0503020204020204" pitchFamily="34" charset="-122"/>
            </a:endParaRPr>
          </a:p>
          <a:p>
            <a:r>
              <a:rPr lang="en-US" altLang="zh-CN" sz="1600" dirty="0">
                <a:solidFill>
                  <a:schemeClr val="accent6"/>
                </a:solidFill>
                <a:latin typeface="微软雅黑" panose="020B0503020204020204" pitchFamily="34" charset="-122"/>
                <a:ea typeface="微软雅黑" panose="020B0503020204020204" pitchFamily="34" charset="-122"/>
              </a:rPr>
              <a:t>(integer) 5</a:t>
            </a:r>
          </a:p>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llen</a:t>
            </a:r>
            <a:r>
              <a:rPr lang="en-US" altLang="zh-CN" sz="1600" dirty="0">
                <a:solidFill>
                  <a:srgbClr val="FF0000"/>
                </a:solidFill>
                <a:latin typeface="微软雅黑" panose="020B0503020204020204" pitchFamily="34" charset="-122"/>
                <a:ea typeface="微软雅黑" panose="020B0503020204020204" pitchFamily="34" charset="-122"/>
              </a:rPr>
              <a:t> </a:t>
            </a:r>
            <a:r>
              <a:rPr lang="en-US" altLang="zh-CN" sz="1600" dirty="0" err="1">
                <a:solidFill>
                  <a:schemeClr val="accent6"/>
                </a:solidFill>
                <a:latin typeface="微软雅黑" panose="020B0503020204020204" pitchFamily="34" charset="-122"/>
                <a:ea typeface="微软雅黑" panose="020B0503020204020204" pitchFamily="34" charset="-122"/>
              </a:rPr>
              <a:t>lange</a:t>
            </a:r>
            <a:r>
              <a:rPr lang="en-US" altLang="zh-CN" sz="1600" dirty="0">
                <a:solidFill>
                  <a:schemeClr val="accent6"/>
                </a:solidFill>
                <a:latin typeface="微软雅黑" panose="020B0503020204020204" pitchFamily="34" charset="-122"/>
                <a:ea typeface="微软雅黑" panose="020B0503020204020204" pitchFamily="34" charset="-122"/>
              </a:rPr>
              <a:t>  </a:t>
            </a:r>
            <a:r>
              <a:rPr lang="en-US" altLang="zh-CN" sz="1600" dirty="0" smtClean="0">
                <a:solidFill>
                  <a:schemeClr val="accent6"/>
                </a:solidFill>
                <a:latin typeface="微软雅黑" panose="020B0503020204020204" pitchFamily="34" charset="-122"/>
                <a:ea typeface="微软雅黑" panose="020B0503020204020204" pitchFamily="34" charset="-122"/>
              </a:rPr>
              <a:t>	  </a:t>
            </a:r>
            <a:r>
              <a:rPr lang="en-US" altLang="zh-CN" sz="1600" dirty="0" smtClean="0">
                <a:solidFill>
                  <a:schemeClr val="accent1"/>
                </a:solidFill>
                <a:latin typeface="微软雅黑" panose="020B0503020204020204" pitchFamily="34" charset="-122"/>
                <a:ea typeface="微软雅黑" panose="020B0503020204020204" pitchFamily="34" charset="-122"/>
              </a:rPr>
              <a:t># </a:t>
            </a:r>
            <a:r>
              <a:rPr lang="zh-CN" altLang="en-US" sz="1600" dirty="0">
                <a:solidFill>
                  <a:schemeClr val="accent1"/>
                </a:solidFill>
                <a:latin typeface="微软雅黑" panose="020B0503020204020204" pitchFamily="34" charset="-122"/>
                <a:ea typeface="微软雅黑" panose="020B0503020204020204" pitchFamily="34" charset="-122"/>
              </a:rPr>
              <a:t>列表长度</a:t>
            </a:r>
          </a:p>
          <a:p>
            <a:r>
              <a:rPr lang="en-US" altLang="zh-CN" sz="1600" dirty="0">
                <a:solidFill>
                  <a:schemeClr val="accent6"/>
                </a:solidFill>
                <a:latin typeface="微软雅黑" panose="020B0503020204020204" pitchFamily="34" charset="-122"/>
                <a:ea typeface="微软雅黑" panose="020B0503020204020204" pitchFamily="34" charset="-122"/>
              </a:rPr>
              <a:t>(integer) 5</a:t>
            </a:r>
          </a:p>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lrange</a:t>
            </a:r>
            <a:r>
              <a:rPr lang="en-US" altLang="zh-CN" sz="1600" dirty="0">
                <a:solidFill>
                  <a:srgbClr val="FF0000"/>
                </a:solidFill>
                <a:latin typeface="微软雅黑" panose="020B0503020204020204" pitchFamily="34" charset="-122"/>
                <a:ea typeface="微软雅黑" panose="020B0503020204020204" pitchFamily="34" charset="-122"/>
              </a:rPr>
              <a:t> </a:t>
            </a:r>
            <a:r>
              <a:rPr lang="en-US" altLang="zh-CN" sz="1600" dirty="0" err="1">
                <a:solidFill>
                  <a:schemeClr val="accent6"/>
                </a:solidFill>
                <a:latin typeface="微软雅黑" panose="020B0503020204020204" pitchFamily="34" charset="-122"/>
                <a:ea typeface="微软雅黑" panose="020B0503020204020204" pitchFamily="34" charset="-122"/>
              </a:rPr>
              <a:t>lange</a:t>
            </a:r>
            <a:r>
              <a:rPr lang="en-US" altLang="zh-CN" sz="1600" dirty="0">
                <a:solidFill>
                  <a:schemeClr val="accent6"/>
                </a:solidFill>
                <a:latin typeface="微软雅黑" panose="020B0503020204020204" pitchFamily="34" charset="-122"/>
                <a:ea typeface="微软雅黑" panose="020B0503020204020204" pitchFamily="34" charset="-122"/>
              </a:rPr>
              <a:t> 0 -1 </a:t>
            </a:r>
            <a:r>
              <a:rPr lang="en-US" altLang="zh-CN" sz="1600" dirty="0">
                <a:solidFill>
                  <a:schemeClr val="accent1"/>
                </a:solidFill>
                <a:latin typeface="微软雅黑" panose="020B0503020204020204" pitchFamily="34" charset="-122"/>
                <a:ea typeface="微软雅黑" panose="020B0503020204020204" pitchFamily="34" charset="-122"/>
              </a:rPr>
              <a:t># </a:t>
            </a:r>
            <a:r>
              <a:rPr lang="zh-CN" altLang="en-US" sz="1600" dirty="0">
                <a:solidFill>
                  <a:schemeClr val="accent1"/>
                </a:solidFill>
                <a:latin typeface="微软雅黑" panose="020B0503020204020204" pitchFamily="34" charset="-122"/>
                <a:ea typeface="微软雅黑" panose="020B0503020204020204" pitchFamily="34" charset="-122"/>
              </a:rPr>
              <a:t>查看列表所有的元素</a:t>
            </a:r>
          </a:p>
          <a:p>
            <a:r>
              <a:rPr lang="en-US" altLang="zh-CN" sz="1600" dirty="0">
                <a:solidFill>
                  <a:schemeClr val="accent6"/>
                </a:solidFill>
                <a:latin typeface="微软雅黑" panose="020B0503020204020204" pitchFamily="34" charset="-122"/>
                <a:ea typeface="微软雅黑" panose="020B0503020204020204" pitchFamily="34" charset="-122"/>
              </a:rPr>
              <a:t>1) "java"</a:t>
            </a:r>
          </a:p>
          <a:p>
            <a:r>
              <a:rPr lang="en-US" altLang="zh-CN" sz="1600" dirty="0">
                <a:solidFill>
                  <a:schemeClr val="accent6"/>
                </a:solidFill>
                <a:latin typeface="微软雅黑" panose="020B0503020204020204" pitchFamily="34" charset="-122"/>
                <a:ea typeface="微软雅黑" panose="020B0503020204020204" pitchFamily="34" charset="-122"/>
              </a:rPr>
              <a:t>2) "</a:t>
            </a:r>
            <a:r>
              <a:rPr lang="en-US" altLang="zh-CN" sz="1600" dirty="0" err="1">
                <a:solidFill>
                  <a:schemeClr val="accent6"/>
                </a:solidFill>
                <a:latin typeface="微软雅黑" panose="020B0503020204020204" pitchFamily="34" charset="-122"/>
                <a:ea typeface="微软雅黑" panose="020B0503020204020204" pitchFamily="34" charset="-122"/>
              </a:rPr>
              <a:t>javascript</a:t>
            </a:r>
            <a:r>
              <a:rPr lang="en-US" altLang="zh-CN" sz="1600" dirty="0">
                <a:solidFill>
                  <a:schemeClr val="accent6"/>
                </a:solidFill>
                <a:latin typeface="微软雅黑" panose="020B0503020204020204" pitchFamily="34" charset="-122"/>
                <a:ea typeface="微软雅黑" panose="020B0503020204020204" pitchFamily="34" charset="-122"/>
              </a:rPr>
              <a:t>"</a:t>
            </a:r>
          </a:p>
          <a:p>
            <a:r>
              <a:rPr lang="en-US" altLang="zh-CN" sz="1600" dirty="0">
                <a:solidFill>
                  <a:schemeClr val="accent6"/>
                </a:solidFill>
                <a:latin typeface="微软雅黑" panose="020B0503020204020204" pitchFamily="34" charset="-122"/>
                <a:ea typeface="微软雅黑" panose="020B0503020204020204" pitchFamily="34" charset="-122"/>
              </a:rPr>
              <a:t>3) "go"</a:t>
            </a:r>
          </a:p>
          <a:p>
            <a:r>
              <a:rPr lang="en-US" altLang="zh-CN" sz="1600" dirty="0">
                <a:solidFill>
                  <a:schemeClr val="accent6"/>
                </a:solidFill>
                <a:latin typeface="微软雅黑" panose="020B0503020204020204" pitchFamily="34" charset="-122"/>
                <a:ea typeface="微软雅黑" panose="020B0503020204020204" pitchFamily="34" charset="-122"/>
              </a:rPr>
              <a:t>4) "c"</a:t>
            </a:r>
          </a:p>
          <a:p>
            <a:r>
              <a:rPr lang="en-US" altLang="zh-CN" sz="1600" dirty="0">
                <a:solidFill>
                  <a:schemeClr val="accent6"/>
                </a:solidFill>
                <a:latin typeface="微软雅黑" panose="020B0503020204020204" pitchFamily="34" charset="-122"/>
                <a:ea typeface="微软雅黑" panose="020B0503020204020204" pitchFamily="34" charset="-122"/>
              </a:rPr>
              <a:t>5) "</a:t>
            </a:r>
            <a:r>
              <a:rPr lang="en-US" altLang="zh-CN" sz="1600" dirty="0" err="1">
                <a:solidFill>
                  <a:schemeClr val="accent6"/>
                </a:solidFill>
                <a:latin typeface="微软雅黑" panose="020B0503020204020204" pitchFamily="34" charset="-122"/>
                <a:ea typeface="微软雅黑" panose="020B0503020204020204" pitchFamily="34" charset="-122"/>
              </a:rPr>
              <a:t>c++</a:t>
            </a:r>
            <a:r>
              <a:rPr lang="en-US" altLang="zh-CN" sz="1600" dirty="0">
                <a:solidFill>
                  <a:schemeClr val="accent6"/>
                </a:solidFill>
                <a:latin typeface="微软雅黑" panose="020B0503020204020204" pitchFamily="34" charset="-122"/>
                <a:ea typeface="微软雅黑" panose="020B0503020204020204" pitchFamily="34" charset="-122"/>
              </a:rPr>
              <a:t>"</a:t>
            </a:r>
          </a:p>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lpop</a:t>
            </a:r>
            <a:r>
              <a:rPr lang="en-US" altLang="zh-CN" sz="1600" dirty="0">
                <a:solidFill>
                  <a:srgbClr val="FF0000"/>
                </a:solidFill>
                <a:latin typeface="微软雅黑" panose="020B0503020204020204" pitchFamily="34" charset="-122"/>
                <a:ea typeface="微软雅黑" panose="020B0503020204020204" pitchFamily="34" charset="-122"/>
              </a:rPr>
              <a:t> </a:t>
            </a:r>
            <a:r>
              <a:rPr lang="en-US" altLang="zh-CN" sz="1600" dirty="0" err="1">
                <a:solidFill>
                  <a:schemeClr val="accent6"/>
                </a:solidFill>
                <a:latin typeface="微软雅黑" panose="020B0503020204020204" pitchFamily="34" charset="-122"/>
                <a:ea typeface="微软雅黑" panose="020B0503020204020204" pitchFamily="34" charset="-122"/>
              </a:rPr>
              <a:t>lange</a:t>
            </a:r>
            <a:r>
              <a:rPr lang="en-US" altLang="zh-CN" sz="1600" dirty="0">
                <a:solidFill>
                  <a:schemeClr val="accent6"/>
                </a:solidFill>
                <a:latin typeface="微软雅黑" panose="020B0503020204020204" pitchFamily="34" charset="-122"/>
                <a:ea typeface="微软雅黑" panose="020B0503020204020204" pitchFamily="34" charset="-122"/>
              </a:rPr>
              <a:t> </a:t>
            </a:r>
            <a:r>
              <a:rPr lang="en-US" altLang="zh-CN" sz="1600" dirty="0" smtClean="0">
                <a:solidFill>
                  <a:schemeClr val="accent6"/>
                </a:solidFill>
                <a:latin typeface="微软雅黑" panose="020B0503020204020204" pitchFamily="34" charset="-122"/>
                <a:ea typeface="微软雅黑" panose="020B0503020204020204" pitchFamily="34" charset="-122"/>
              </a:rPr>
              <a:t>         </a:t>
            </a:r>
            <a:r>
              <a:rPr lang="en-US" altLang="zh-CN" sz="1600" dirty="0" smtClean="0">
                <a:solidFill>
                  <a:schemeClr val="accent1"/>
                </a:solidFill>
                <a:latin typeface="微软雅黑" panose="020B0503020204020204" pitchFamily="34" charset="-122"/>
                <a:ea typeface="微软雅黑" panose="020B0503020204020204" pitchFamily="34" charset="-122"/>
              </a:rPr>
              <a:t># </a:t>
            </a:r>
            <a:r>
              <a:rPr lang="zh-CN" altLang="en-US" sz="1600" dirty="0">
                <a:solidFill>
                  <a:schemeClr val="accent1"/>
                </a:solidFill>
                <a:latin typeface="微软雅黑" panose="020B0503020204020204" pitchFamily="34" charset="-122"/>
                <a:ea typeface="微软雅黑" panose="020B0503020204020204" pitchFamily="34" charset="-122"/>
              </a:rPr>
              <a:t>从列表左边删除一个元素并返回</a:t>
            </a:r>
          </a:p>
          <a:p>
            <a:r>
              <a:rPr lang="en-US" altLang="zh-CN" sz="1600" dirty="0">
                <a:solidFill>
                  <a:schemeClr val="accent6"/>
                </a:solidFill>
                <a:latin typeface="微软雅黑" panose="020B0503020204020204" pitchFamily="34" charset="-122"/>
                <a:ea typeface="微软雅黑" panose="020B0503020204020204" pitchFamily="34" charset="-122"/>
              </a:rPr>
              <a:t>"java"</a:t>
            </a:r>
          </a:p>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rpop</a:t>
            </a:r>
            <a:r>
              <a:rPr lang="en-US" altLang="zh-CN" sz="1600" dirty="0">
                <a:solidFill>
                  <a:srgbClr val="FF0000"/>
                </a:solidFill>
                <a:latin typeface="微软雅黑" panose="020B0503020204020204" pitchFamily="34" charset="-122"/>
                <a:ea typeface="微软雅黑" panose="020B0503020204020204" pitchFamily="34" charset="-122"/>
              </a:rPr>
              <a:t> </a:t>
            </a:r>
            <a:r>
              <a:rPr lang="en-US" altLang="zh-CN" sz="1600" dirty="0" err="1">
                <a:solidFill>
                  <a:schemeClr val="accent6"/>
                </a:solidFill>
                <a:latin typeface="微软雅黑" panose="020B0503020204020204" pitchFamily="34" charset="-122"/>
                <a:ea typeface="微软雅黑" panose="020B0503020204020204" pitchFamily="34" charset="-122"/>
              </a:rPr>
              <a:t>lange</a:t>
            </a:r>
            <a:r>
              <a:rPr lang="en-US" altLang="zh-CN" sz="1600" dirty="0">
                <a:solidFill>
                  <a:schemeClr val="accent6"/>
                </a:solidFill>
                <a:latin typeface="微软雅黑" panose="020B0503020204020204" pitchFamily="34" charset="-122"/>
                <a:ea typeface="微软雅黑" panose="020B0503020204020204" pitchFamily="34" charset="-122"/>
              </a:rPr>
              <a:t> </a:t>
            </a:r>
            <a:r>
              <a:rPr lang="en-US" altLang="zh-CN" sz="1600" dirty="0" smtClean="0">
                <a:solidFill>
                  <a:schemeClr val="accent6"/>
                </a:solidFill>
                <a:latin typeface="微软雅黑" panose="020B0503020204020204" pitchFamily="34" charset="-122"/>
                <a:ea typeface="微软雅黑" panose="020B0503020204020204" pitchFamily="34" charset="-122"/>
              </a:rPr>
              <a:t> 	</a:t>
            </a:r>
            <a:r>
              <a:rPr lang="en-US" altLang="zh-CN" sz="1600" dirty="0" smtClean="0">
                <a:solidFill>
                  <a:schemeClr val="accent1"/>
                </a:solidFill>
                <a:latin typeface="微软雅黑" panose="020B0503020204020204" pitchFamily="34" charset="-122"/>
                <a:ea typeface="微软雅黑" panose="020B0503020204020204" pitchFamily="34" charset="-122"/>
              </a:rPr>
              <a:t># </a:t>
            </a:r>
            <a:r>
              <a:rPr lang="zh-CN" altLang="en-US" sz="1600" dirty="0">
                <a:solidFill>
                  <a:schemeClr val="accent1"/>
                </a:solidFill>
                <a:latin typeface="微软雅黑" panose="020B0503020204020204" pitchFamily="34" charset="-122"/>
                <a:ea typeface="微软雅黑" panose="020B0503020204020204" pitchFamily="34" charset="-122"/>
              </a:rPr>
              <a:t>从列表右边删除一个元素并返回</a:t>
            </a:r>
          </a:p>
          <a:p>
            <a:r>
              <a:rPr lang="en-US" altLang="zh-CN" sz="1600" dirty="0">
                <a:solidFill>
                  <a:schemeClr val="accent6"/>
                </a:solidFill>
                <a:latin typeface="微软雅黑" panose="020B0503020204020204" pitchFamily="34" charset="-122"/>
                <a:ea typeface="微软雅黑" panose="020B0503020204020204" pitchFamily="34" charset="-122"/>
              </a:rPr>
              <a:t>"</a:t>
            </a:r>
            <a:r>
              <a:rPr lang="en-US" altLang="zh-CN" sz="1600" dirty="0" err="1">
                <a:solidFill>
                  <a:schemeClr val="accent6"/>
                </a:solidFill>
                <a:latin typeface="微软雅黑" panose="020B0503020204020204" pitchFamily="34" charset="-122"/>
                <a:ea typeface="微软雅黑" panose="020B0503020204020204" pitchFamily="34" charset="-122"/>
              </a:rPr>
              <a:t>c</a:t>
            </a:r>
            <a:r>
              <a:rPr lang="en-US" altLang="zh-CN" sz="1600" dirty="0" err="1" smtClean="0">
                <a:solidFill>
                  <a:schemeClr val="accent6"/>
                </a:solidFill>
                <a:latin typeface="微软雅黑" panose="020B0503020204020204" pitchFamily="34" charset="-122"/>
                <a:ea typeface="微软雅黑" panose="020B0503020204020204" pitchFamily="34" charset="-122"/>
              </a:rPr>
              <a:t>++</a:t>
            </a:r>
            <a:r>
              <a:rPr lang="en-US" altLang="zh-CN" sz="1600" dirty="0" smtClean="0">
                <a:solidFill>
                  <a:schemeClr val="accent6"/>
                </a:solidFill>
                <a:latin typeface="微软雅黑" panose="020B0503020204020204" pitchFamily="34" charset="-122"/>
                <a:ea typeface="微软雅黑" panose="020B0503020204020204" pitchFamily="34" charset="-122"/>
              </a:rPr>
              <a:t>"</a:t>
            </a:r>
            <a:endParaRPr lang="zh-CN" altLang="en-US" sz="1600" dirty="0">
              <a:solidFill>
                <a:schemeClr val="accent1"/>
              </a:solidFill>
              <a:latin typeface="微软雅黑" panose="020B0503020204020204" pitchFamily="34" charset="-122"/>
              <a:ea typeface="微软雅黑" panose="020B0503020204020204" pitchFamily="34" charset="-122"/>
            </a:endParaRPr>
          </a:p>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lrem</a:t>
            </a:r>
            <a:r>
              <a:rPr lang="en-US" altLang="zh-CN" sz="1600" dirty="0">
                <a:solidFill>
                  <a:srgbClr val="FF0000"/>
                </a:solidFill>
                <a:latin typeface="微软雅黑" panose="020B0503020204020204" pitchFamily="34" charset="-122"/>
                <a:ea typeface="微软雅黑" panose="020B0503020204020204" pitchFamily="34" charset="-122"/>
              </a:rPr>
              <a:t> </a:t>
            </a:r>
            <a:r>
              <a:rPr lang="en-US" altLang="zh-CN" sz="1600" dirty="0" err="1">
                <a:solidFill>
                  <a:schemeClr val="accent6"/>
                </a:solidFill>
                <a:latin typeface="微软雅黑" panose="020B0503020204020204" pitchFamily="34" charset="-122"/>
                <a:ea typeface="微软雅黑" panose="020B0503020204020204" pitchFamily="34" charset="-122"/>
              </a:rPr>
              <a:t>lange</a:t>
            </a:r>
            <a:r>
              <a:rPr lang="en-US" altLang="zh-CN" sz="1600" dirty="0">
                <a:solidFill>
                  <a:schemeClr val="accent6"/>
                </a:solidFill>
                <a:latin typeface="微软雅黑" panose="020B0503020204020204" pitchFamily="34" charset="-122"/>
                <a:ea typeface="微软雅黑" panose="020B0503020204020204" pitchFamily="34" charset="-122"/>
              </a:rPr>
              <a:t> 1 go </a:t>
            </a:r>
            <a:r>
              <a:rPr lang="en-US" altLang="zh-CN" sz="1600" dirty="0">
                <a:solidFill>
                  <a:schemeClr val="accent1"/>
                </a:solidFill>
                <a:latin typeface="微软雅黑" panose="020B0503020204020204" pitchFamily="34" charset="-122"/>
                <a:ea typeface="微软雅黑" panose="020B0503020204020204" pitchFamily="34" charset="-122"/>
              </a:rPr>
              <a:t># </a:t>
            </a:r>
            <a:r>
              <a:rPr lang="zh-CN" altLang="en-US" sz="1600" dirty="0">
                <a:solidFill>
                  <a:schemeClr val="accent1"/>
                </a:solidFill>
                <a:latin typeface="微软雅黑" panose="020B0503020204020204" pitchFamily="34" charset="-122"/>
                <a:ea typeface="微软雅黑" panose="020B0503020204020204" pitchFamily="34" charset="-122"/>
              </a:rPr>
              <a:t>从列表第</a:t>
            </a:r>
            <a:r>
              <a:rPr lang="en-US" altLang="zh-CN" sz="1600" dirty="0">
                <a:solidFill>
                  <a:schemeClr val="accent1"/>
                </a:solidFill>
                <a:latin typeface="微软雅黑" panose="020B0503020204020204" pitchFamily="34" charset="-122"/>
                <a:ea typeface="微软雅黑" panose="020B0503020204020204" pitchFamily="34" charset="-122"/>
              </a:rPr>
              <a:t>2</a:t>
            </a:r>
            <a:r>
              <a:rPr lang="zh-CN" altLang="en-US" sz="1600" dirty="0">
                <a:solidFill>
                  <a:schemeClr val="accent1"/>
                </a:solidFill>
                <a:latin typeface="微软雅黑" panose="020B0503020204020204" pitchFamily="34" charset="-122"/>
                <a:ea typeface="微软雅黑" panose="020B0503020204020204" pitchFamily="34" charset="-122"/>
              </a:rPr>
              <a:t>个位置开始查找值等于</a:t>
            </a:r>
            <a:r>
              <a:rPr lang="en-US" altLang="zh-CN" sz="1600" dirty="0" smtClean="0">
                <a:solidFill>
                  <a:schemeClr val="accent1"/>
                </a:solidFill>
                <a:latin typeface="微软雅黑" panose="020B0503020204020204" pitchFamily="34" charset="-122"/>
                <a:ea typeface="微软雅黑" panose="020B0503020204020204" pitchFamily="34" charset="-122"/>
              </a:rPr>
              <a:t>go</a:t>
            </a:r>
            <a:r>
              <a:rPr lang="zh-CN" altLang="en-US" sz="1600" dirty="0" smtClean="0">
                <a:solidFill>
                  <a:schemeClr val="accent1"/>
                </a:solidFill>
                <a:latin typeface="微软雅黑" panose="020B0503020204020204" pitchFamily="34" charset="-122"/>
                <a:ea typeface="微软雅黑" panose="020B0503020204020204" pitchFamily="34" charset="-122"/>
              </a:rPr>
              <a:t>的</a:t>
            </a:r>
            <a:r>
              <a:rPr lang="zh-CN" altLang="en-US" sz="1600" dirty="0">
                <a:solidFill>
                  <a:schemeClr val="accent1"/>
                </a:solidFill>
                <a:latin typeface="微软雅黑" panose="020B0503020204020204" pitchFamily="34" charset="-122"/>
                <a:ea typeface="微软雅黑" panose="020B0503020204020204" pitchFamily="34" charset="-122"/>
              </a:rPr>
              <a:t>一个元素并则删除</a:t>
            </a:r>
            <a:endParaRPr lang="en-US" altLang="zh-CN" sz="1600" dirty="0">
              <a:solidFill>
                <a:schemeClr val="accent6"/>
              </a:solidFill>
              <a:latin typeface="微软雅黑" panose="020B0503020204020204" pitchFamily="34" charset="-122"/>
              <a:ea typeface="微软雅黑" panose="020B0503020204020204" pitchFamily="34" charset="-122"/>
            </a:endParaRPr>
          </a:p>
          <a:p>
            <a:r>
              <a:rPr lang="en-US" altLang="zh-CN" sz="1600" dirty="0">
                <a:solidFill>
                  <a:schemeClr val="accent6"/>
                </a:solidFill>
                <a:latin typeface="微软雅黑" panose="020B0503020204020204" pitchFamily="34" charset="-122"/>
                <a:ea typeface="微软雅黑" panose="020B0503020204020204" pitchFamily="34" charset="-122"/>
              </a:rPr>
              <a:t>(integer) 1</a:t>
            </a:r>
          </a:p>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lrange</a:t>
            </a:r>
            <a:r>
              <a:rPr lang="en-US" altLang="zh-CN" sz="1600" dirty="0">
                <a:solidFill>
                  <a:srgbClr val="FF0000"/>
                </a:solidFill>
                <a:latin typeface="微软雅黑" panose="020B0503020204020204" pitchFamily="34" charset="-122"/>
                <a:ea typeface="微软雅黑" panose="020B0503020204020204" pitchFamily="34" charset="-122"/>
              </a:rPr>
              <a:t> </a:t>
            </a:r>
            <a:r>
              <a:rPr lang="en-US" altLang="zh-CN" sz="1600" dirty="0" err="1">
                <a:solidFill>
                  <a:schemeClr val="accent6"/>
                </a:solidFill>
                <a:latin typeface="微软雅黑" panose="020B0503020204020204" pitchFamily="34" charset="-122"/>
                <a:ea typeface="微软雅黑" panose="020B0503020204020204" pitchFamily="34" charset="-122"/>
              </a:rPr>
              <a:t>lange</a:t>
            </a:r>
            <a:r>
              <a:rPr lang="en-US" altLang="zh-CN" sz="1600" dirty="0">
                <a:solidFill>
                  <a:schemeClr val="accent6"/>
                </a:solidFill>
                <a:latin typeface="微软雅黑" panose="020B0503020204020204" pitchFamily="34" charset="-122"/>
                <a:ea typeface="微软雅黑" panose="020B0503020204020204" pitchFamily="34" charset="-122"/>
              </a:rPr>
              <a:t> 0 -1 </a:t>
            </a:r>
          </a:p>
          <a:p>
            <a:r>
              <a:rPr lang="en-US" altLang="zh-CN" sz="1600" dirty="0">
                <a:solidFill>
                  <a:schemeClr val="accent6"/>
                </a:solidFill>
                <a:latin typeface="微软雅黑" panose="020B0503020204020204" pitchFamily="34" charset="-122"/>
                <a:ea typeface="微软雅黑" panose="020B0503020204020204" pitchFamily="34" charset="-122"/>
              </a:rPr>
              <a:t>1) "</a:t>
            </a:r>
            <a:r>
              <a:rPr lang="en-US" altLang="zh-CN" sz="1600" dirty="0" err="1">
                <a:solidFill>
                  <a:schemeClr val="accent6"/>
                </a:solidFill>
                <a:latin typeface="微软雅黑" panose="020B0503020204020204" pitchFamily="34" charset="-122"/>
                <a:ea typeface="微软雅黑" panose="020B0503020204020204" pitchFamily="34" charset="-122"/>
              </a:rPr>
              <a:t>javascript</a:t>
            </a:r>
            <a:r>
              <a:rPr lang="en-US" altLang="zh-CN" sz="1600" dirty="0">
                <a:solidFill>
                  <a:schemeClr val="accent6"/>
                </a:solidFill>
                <a:latin typeface="微软雅黑" panose="020B0503020204020204" pitchFamily="34" charset="-122"/>
                <a:ea typeface="微软雅黑" panose="020B0503020204020204" pitchFamily="34" charset="-122"/>
              </a:rPr>
              <a:t>"</a:t>
            </a:r>
          </a:p>
          <a:p>
            <a:r>
              <a:rPr lang="en-US" altLang="zh-CN" sz="1600" dirty="0">
                <a:solidFill>
                  <a:schemeClr val="accent6"/>
                </a:solidFill>
                <a:latin typeface="微软雅黑" panose="020B0503020204020204" pitchFamily="34" charset="-122"/>
                <a:ea typeface="微软雅黑" panose="020B0503020204020204" pitchFamily="34" charset="-122"/>
              </a:rPr>
              <a:t>2) "c"</a:t>
            </a:r>
            <a:endParaRPr lang="zh-CN" altLang="en-US" sz="1600" dirty="0">
              <a:solidFill>
                <a:schemeClr val="accent6"/>
              </a:solidFill>
              <a:latin typeface="微软雅黑" panose="020B0503020204020204" pitchFamily="34" charset="-122"/>
              <a:ea typeface="微软雅黑" panose="020B0503020204020204" pitchFamily="34" charset="-122"/>
            </a:endParaRPr>
          </a:p>
        </p:txBody>
      </p:sp>
      <p:sp>
        <p:nvSpPr>
          <p:cNvPr id="10" name="TextBox 9"/>
          <p:cNvSpPr txBox="1"/>
          <p:nvPr/>
        </p:nvSpPr>
        <p:spPr>
          <a:xfrm>
            <a:off x="704850" y="605109"/>
            <a:ext cx="8883650" cy="523220"/>
          </a:xfrm>
          <a:prstGeom prst="rect">
            <a:avLst/>
          </a:prstGeom>
          <a:noFill/>
        </p:spPr>
        <p:txBody>
          <a:bodyPr wrap="square" rtlCol="0">
            <a:spAutoFit/>
          </a:bodyPr>
          <a:lstStyle/>
          <a:p>
            <a:pPr>
              <a:defRPr/>
            </a:pPr>
            <a:r>
              <a:rPr lang="en-US" altLang="zh-CN"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2.5.2 </a:t>
            </a:r>
            <a:r>
              <a:rPr lang="zh-CN" altLang="en-US"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常用</a:t>
            </a:r>
            <a:r>
              <a:rPr lang="zh-CN" altLang="en-US" sz="2800" b="1" dirty="0" smtClean="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命令及用法</a:t>
            </a:r>
            <a:endParaRPr lang="zh-CN" altLang="en-US"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141783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A0F23"/>
        </a:solidFill>
        <a:effectLst/>
      </p:bgPr>
    </p:bg>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xmlns="" id="{CBDC52CD-1D62-48AF-A9DF-9F18AEA2B1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01385" y="-114300"/>
            <a:ext cx="1301859" cy="920356"/>
          </a:xfrm>
          <a:prstGeom prst="rect">
            <a:avLst/>
          </a:prstGeom>
        </p:spPr>
      </p:pic>
      <p:pic>
        <p:nvPicPr>
          <p:cNvPr id="14" name="图片 13">
            <a:extLst>
              <a:ext uri="{FF2B5EF4-FFF2-40B4-BE49-F238E27FC236}">
                <a16:creationId xmlns:a16="http://schemas.microsoft.com/office/drawing/2014/main" xmlns="" id="{F78DA958-9B1B-47DA-A870-8C0B3A7D8866}"/>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b="63537"/>
          <a:stretch/>
        </p:blipFill>
        <p:spPr>
          <a:xfrm>
            <a:off x="11184164" y="217733"/>
            <a:ext cx="572339" cy="337210"/>
          </a:xfrm>
          <a:prstGeom prst="rect">
            <a:avLst/>
          </a:prstGeom>
        </p:spPr>
      </p:pic>
      <p:cxnSp>
        <p:nvCxnSpPr>
          <p:cNvPr id="15" name="直接连接符 14">
            <a:extLst>
              <a:ext uri="{FF2B5EF4-FFF2-40B4-BE49-F238E27FC236}">
                <a16:creationId xmlns:a16="http://schemas.microsoft.com/office/drawing/2014/main" xmlns="" id="{93240A06-D526-4907-A163-94ABB41190CC}"/>
              </a:ext>
            </a:extLst>
          </p:cNvPr>
          <p:cNvCxnSpPr/>
          <p:nvPr/>
        </p:nvCxnSpPr>
        <p:spPr>
          <a:xfrm>
            <a:off x="11103244" y="225825"/>
            <a:ext cx="0" cy="2435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xmlns="" id="{74C59758-12AB-44A5-92FA-DB52904027AE}"/>
              </a:ext>
            </a:extLst>
          </p:cNvPr>
          <p:cNvSpPr/>
          <p:nvPr/>
        </p:nvSpPr>
        <p:spPr>
          <a:xfrm>
            <a:off x="802332" y="1287114"/>
            <a:ext cx="10765483" cy="1213730"/>
          </a:xfrm>
          <a:prstGeom prst="rect">
            <a:avLst/>
          </a:prstGeom>
        </p:spPr>
        <p:txBody>
          <a:bodyPr wrap="square">
            <a:spAutoFit/>
          </a:bodyPr>
          <a:lstStyle/>
          <a:p>
            <a:pPr>
              <a:lnSpc>
                <a:spcPct val="140000"/>
              </a:lnSpc>
            </a:pPr>
            <a:r>
              <a:rPr lang="zh-CN" altLang="en-US" dirty="0">
                <a:solidFill>
                  <a:prstClr val="white"/>
                </a:solidFill>
                <a:latin typeface="微软雅黑" panose="020B0503020204020204" pitchFamily="34" charset="-122"/>
                <a:ea typeface="微软雅黑" panose="020B0503020204020204" pitchFamily="34" charset="-122"/>
              </a:rPr>
              <a:t>需</a:t>
            </a:r>
            <a:r>
              <a:rPr lang="zh-CN" altLang="en-US" dirty="0" smtClean="0">
                <a:solidFill>
                  <a:prstClr val="white"/>
                </a:solidFill>
                <a:latin typeface="微软雅黑" panose="020B0503020204020204" pitchFamily="34" charset="-122"/>
                <a:ea typeface="微软雅黑" panose="020B0503020204020204" pitchFamily="34" charset="-122"/>
              </a:rPr>
              <a:t>求背景：假设需要保存最近</a:t>
            </a:r>
            <a:r>
              <a:rPr lang="en-US" altLang="zh-CN" dirty="0" smtClean="0">
                <a:solidFill>
                  <a:prstClr val="white"/>
                </a:solidFill>
                <a:latin typeface="微软雅黑" panose="020B0503020204020204" pitchFamily="34" charset="-122"/>
                <a:ea typeface="微软雅黑" panose="020B0503020204020204" pitchFamily="34" charset="-122"/>
              </a:rPr>
              <a:t>5</a:t>
            </a:r>
            <a:r>
              <a:rPr lang="zh-CN" altLang="en-US" dirty="0" smtClean="0">
                <a:solidFill>
                  <a:prstClr val="white"/>
                </a:solidFill>
                <a:latin typeface="微软雅黑" panose="020B0503020204020204" pitchFamily="34" charset="-122"/>
                <a:ea typeface="微软雅黑" panose="020B0503020204020204" pitchFamily="34" charset="-122"/>
              </a:rPr>
              <a:t>个联系人的信息，不论总量多少，只需要最近的</a:t>
            </a:r>
            <a:r>
              <a:rPr lang="en-US" altLang="zh-CN" dirty="0">
                <a:solidFill>
                  <a:prstClr val="white"/>
                </a:solidFill>
                <a:latin typeface="微软雅黑" panose="020B0503020204020204" pitchFamily="34" charset="-122"/>
                <a:ea typeface="微软雅黑" panose="020B0503020204020204" pitchFamily="34" charset="-122"/>
              </a:rPr>
              <a:t>4</a:t>
            </a:r>
            <a:r>
              <a:rPr lang="zh-CN" altLang="en-US" dirty="0" smtClean="0">
                <a:solidFill>
                  <a:prstClr val="white"/>
                </a:solidFill>
                <a:latin typeface="微软雅黑" panose="020B0503020204020204" pitchFamily="34" charset="-122"/>
                <a:ea typeface="微软雅黑" panose="020B0503020204020204" pitchFamily="34" charset="-122"/>
              </a:rPr>
              <a:t>个。历史其它的数据可以丢弃。</a:t>
            </a:r>
            <a:endParaRPr lang="en-US" altLang="zh-CN" dirty="0" smtClean="0">
              <a:solidFill>
                <a:prstClr val="white"/>
              </a:solidFill>
              <a:latin typeface="微软雅黑" panose="020B0503020204020204" pitchFamily="34" charset="-122"/>
              <a:ea typeface="微软雅黑" panose="020B0503020204020204" pitchFamily="34" charset="-122"/>
            </a:endParaRPr>
          </a:p>
          <a:p>
            <a:pPr>
              <a:lnSpc>
                <a:spcPct val="140000"/>
              </a:lnSpc>
            </a:pPr>
            <a:r>
              <a:rPr lang="zh-CN" altLang="en-US" dirty="0">
                <a:solidFill>
                  <a:prstClr val="white"/>
                </a:solidFill>
                <a:latin typeface="微软雅黑" panose="020B0503020204020204" pitchFamily="34" charset="-122"/>
                <a:ea typeface="微软雅黑" panose="020B0503020204020204" pitchFamily="34" charset="-122"/>
              </a:rPr>
              <a:t>借</a:t>
            </a:r>
            <a:r>
              <a:rPr lang="zh-CN" altLang="en-US" dirty="0" smtClean="0">
                <a:solidFill>
                  <a:prstClr val="white"/>
                </a:solidFill>
                <a:latin typeface="微软雅黑" panose="020B0503020204020204" pitchFamily="34" charset="-122"/>
                <a:ea typeface="微软雅黑" panose="020B0503020204020204" pitchFamily="34" charset="-122"/>
              </a:rPr>
              <a:t>助</a:t>
            </a:r>
            <a:r>
              <a:rPr lang="en-US" altLang="zh-CN" dirty="0" smtClean="0">
                <a:solidFill>
                  <a:prstClr val="white"/>
                </a:solidFill>
                <a:latin typeface="微软雅黑" panose="020B0503020204020204" pitchFamily="34" charset="-122"/>
                <a:ea typeface="微软雅黑" panose="020B0503020204020204" pitchFamily="34" charset="-122"/>
              </a:rPr>
              <a:t>list</a:t>
            </a:r>
            <a:r>
              <a:rPr lang="zh-CN" altLang="en-US" dirty="0" smtClean="0">
                <a:solidFill>
                  <a:prstClr val="white"/>
                </a:solidFill>
                <a:latin typeface="微软雅黑" panose="020B0503020204020204" pitchFamily="34" charset="-122"/>
                <a:ea typeface="微软雅黑" panose="020B0503020204020204" pitchFamily="34" charset="-122"/>
              </a:rPr>
              <a:t>的</a:t>
            </a:r>
            <a:r>
              <a:rPr lang="en-US" altLang="zh-CN" dirty="0" err="1" smtClean="0">
                <a:solidFill>
                  <a:prstClr val="white"/>
                </a:solidFill>
                <a:latin typeface="微软雅黑" panose="020B0503020204020204" pitchFamily="34" charset="-122"/>
                <a:ea typeface="微软雅黑" panose="020B0503020204020204" pitchFamily="34" charset="-122"/>
              </a:rPr>
              <a:t>ltrim</a:t>
            </a:r>
            <a:r>
              <a:rPr lang="zh-CN" altLang="en-US" dirty="0" smtClean="0">
                <a:solidFill>
                  <a:prstClr val="white"/>
                </a:solidFill>
                <a:latin typeface="微软雅黑" panose="020B0503020204020204" pitchFamily="34" charset="-122"/>
                <a:ea typeface="微软雅黑" panose="020B0503020204020204" pitchFamily="34" charset="-122"/>
              </a:rPr>
              <a:t>操作，在每次取数据之前，执行清理多余元素操作，使列表每次返回固定的</a:t>
            </a:r>
            <a:r>
              <a:rPr lang="en-US" altLang="zh-CN" dirty="0" smtClean="0">
                <a:solidFill>
                  <a:prstClr val="white"/>
                </a:solidFill>
                <a:latin typeface="微软雅黑" panose="020B0503020204020204" pitchFamily="34" charset="-122"/>
                <a:ea typeface="微软雅黑" panose="020B0503020204020204" pitchFamily="34" charset="-122"/>
              </a:rPr>
              <a:t>4</a:t>
            </a:r>
            <a:r>
              <a:rPr lang="zh-CN" altLang="en-US" dirty="0" smtClean="0">
                <a:solidFill>
                  <a:prstClr val="white"/>
                </a:solidFill>
                <a:latin typeface="微软雅黑" panose="020B0503020204020204" pitchFamily="34" charset="-122"/>
                <a:ea typeface="微软雅黑" panose="020B0503020204020204" pitchFamily="34" charset="-122"/>
              </a:rPr>
              <a:t>个联系人</a:t>
            </a:r>
            <a:endParaRPr lang="zh-CN" altLang="en-US" dirty="0">
              <a:solidFill>
                <a:prstClr val="white"/>
              </a:solidFill>
              <a:latin typeface="微软雅黑" panose="020B0503020204020204" pitchFamily="34" charset="-122"/>
              <a:ea typeface="微软雅黑" panose="020B0503020204020204" pitchFamily="34" charset="-122"/>
            </a:endParaRPr>
          </a:p>
        </p:txBody>
      </p:sp>
      <p:sp>
        <p:nvSpPr>
          <p:cNvPr id="10" name="TextBox 9"/>
          <p:cNvSpPr txBox="1"/>
          <p:nvPr/>
        </p:nvSpPr>
        <p:spPr>
          <a:xfrm>
            <a:off x="704849" y="605109"/>
            <a:ext cx="9096535" cy="523220"/>
          </a:xfrm>
          <a:prstGeom prst="rect">
            <a:avLst/>
          </a:prstGeom>
          <a:noFill/>
        </p:spPr>
        <p:txBody>
          <a:bodyPr wrap="square" rtlCol="0">
            <a:spAutoFit/>
          </a:bodyPr>
          <a:lstStyle/>
          <a:p>
            <a:pPr>
              <a:defRPr/>
            </a:pPr>
            <a:r>
              <a:rPr lang="en-US" altLang="zh-CN"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2.5.3 </a:t>
            </a:r>
            <a:r>
              <a:rPr lang="zh-CN" altLang="en-US"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最近联系人功能</a:t>
            </a:r>
          </a:p>
        </p:txBody>
      </p:sp>
      <p:sp>
        <p:nvSpPr>
          <p:cNvPr id="2" name="文本框 1"/>
          <p:cNvSpPr txBox="1"/>
          <p:nvPr/>
        </p:nvSpPr>
        <p:spPr>
          <a:xfrm>
            <a:off x="914399" y="2706930"/>
            <a:ext cx="5233183" cy="3785652"/>
          </a:xfrm>
          <a:prstGeom prst="rect">
            <a:avLst/>
          </a:prstGeom>
          <a:noFill/>
          <a:ln>
            <a:solidFill>
              <a:schemeClr val="bg1"/>
            </a:solidFill>
          </a:ln>
        </p:spPr>
        <p:txBody>
          <a:bodyPr wrap="square" rtlCol="0">
            <a:spAutoFit/>
          </a:bodyPr>
          <a:lstStyle/>
          <a:p>
            <a:r>
              <a:rPr lang="en-US" altLang="zh-CN" sz="1600" dirty="0">
                <a:solidFill>
                  <a:schemeClr val="accent1"/>
                </a:solidFill>
                <a:latin typeface="微软雅黑" panose="020B0503020204020204" pitchFamily="34" charset="-122"/>
                <a:ea typeface="微软雅黑" panose="020B0503020204020204" pitchFamily="34" charset="-122"/>
              </a:rPr>
              <a:t># </a:t>
            </a:r>
            <a:r>
              <a:rPr lang="zh-CN" altLang="en-US" sz="1600" dirty="0">
                <a:solidFill>
                  <a:schemeClr val="accent1"/>
                </a:solidFill>
                <a:latin typeface="微软雅黑" panose="020B0503020204020204" pitchFamily="34" charset="-122"/>
                <a:ea typeface="微软雅黑" panose="020B0503020204020204" pitchFamily="34" charset="-122"/>
              </a:rPr>
              <a:t>批量初始化列表</a:t>
            </a:r>
          </a:p>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lpush</a:t>
            </a:r>
            <a:r>
              <a:rPr lang="en-US" altLang="zh-CN" sz="1600" dirty="0">
                <a:solidFill>
                  <a:srgbClr val="FF0000"/>
                </a:solidFill>
                <a:latin typeface="微软雅黑" panose="020B0503020204020204" pitchFamily="34" charset="-122"/>
                <a:ea typeface="微软雅黑" panose="020B0503020204020204" pitchFamily="34" charset="-122"/>
              </a:rPr>
              <a:t> </a:t>
            </a:r>
            <a:r>
              <a:rPr lang="en-US" altLang="zh-CN" sz="1600" dirty="0" err="1">
                <a:solidFill>
                  <a:schemeClr val="accent6"/>
                </a:solidFill>
                <a:latin typeface="微软雅黑" panose="020B0503020204020204" pitchFamily="34" charset="-122"/>
                <a:ea typeface="微软雅黑" panose="020B0503020204020204" pitchFamily="34" charset="-122"/>
              </a:rPr>
              <a:t>recent_contacts</a:t>
            </a:r>
            <a:r>
              <a:rPr lang="en-US" altLang="zh-CN" sz="1600" dirty="0">
                <a:solidFill>
                  <a:schemeClr val="accent6"/>
                </a:solidFill>
                <a:latin typeface="微软雅黑" panose="020B0503020204020204" pitchFamily="34" charset="-122"/>
                <a:ea typeface="微软雅黑" panose="020B0503020204020204" pitchFamily="34" charset="-122"/>
              </a:rPr>
              <a:t> </a:t>
            </a:r>
            <a:r>
              <a:rPr lang="en-US" altLang="zh-CN" sz="1600" dirty="0" err="1">
                <a:solidFill>
                  <a:schemeClr val="accent6"/>
                </a:solidFill>
                <a:latin typeface="微软雅黑" panose="020B0503020204020204" pitchFamily="34" charset="-122"/>
                <a:ea typeface="微软雅黑" panose="020B0503020204020204" pitchFamily="34" charset="-122"/>
              </a:rPr>
              <a:t>xiaoming</a:t>
            </a:r>
            <a:r>
              <a:rPr lang="en-US" altLang="zh-CN" sz="1600" dirty="0">
                <a:solidFill>
                  <a:schemeClr val="accent6"/>
                </a:solidFill>
                <a:latin typeface="微软雅黑" panose="020B0503020204020204" pitchFamily="34" charset="-122"/>
                <a:ea typeface="微软雅黑" panose="020B0503020204020204" pitchFamily="34" charset="-122"/>
              </a:rPr>
              <a:t> </a:t>
            </a:r>
            <a:r>
              <a:rPr lang="en-US" altLang="zh-CN" sz="1600" dirty="0" err="1">
                <a:solidFill>
                  <a:schemeClr val="accent6"/>
                </a:solidFill>
                <a:latin typeface="微软雅黑" panose="020B0503020204020204" pitchFamily="34" charset="-122"/>
                <a:ea typeface="微软雅黑" panose="020B0503020204020204" pitchFamily="34" charset="-122"/>
              </a:rPr>
              <a:t>xiaofang</a:t>
            </a:r>
            <a:r>
              <a:rPr lang="en-US" altLang="zh-CN" sz="1600" dirty="0">
                <a:solidFill>
                  <a:schemeClr val="accent6"/>
                </a:solidFill>
                <a:latin typeface="微软雅黑" panose="020B0503020204020204" pitchFamily="34" charset="-122"/>
                <a:ea typeface="微软雅黑" panose="020B0503020204020204" pitchFamily="34" charset="-122"/>
              </a:rPr>
              <a:t> </a:t>
            </a:r>
            <a:r>
              <a:rPr lang="en-US" altLang="zh-CN" sz="1600" dirty="0" err="1">
                <a:solidFill>
                  <a:schemeClr val="accent6"/>
                </a:solidFill>
                <a:latin typeface="微软雅黑" panose="020B0503020204020204" pitchFamily="34" charset="-122"/>
                <a:ea typeface="微软雅黑" panose="020B0503020204020204" pitchFamily="34" charset="-122"/>
              </a:rPr>
              <a:t>xiaoli</a:t>
            </a:r>
            <a:r>
              <a:rPr lang="en-US" altLang="zh-CN" sz="1600" dirty="0">
                <a:solidFill>
                  <a:schemeClr val="accent6"/>
                </a:solidFill>
                <a:latin typeface="微软雅黑" panose="020B0503020204020204" pitchFamily="34" charset="-122"/>
                <a:ea typeface="微软雅黑" panose="020B0503020204020204" pitchFamily="34" charset="-122"/>
              </a:rPr>
              <a:t> </a:t>
            </a:r>
            <a:r>
              <a:rPr lang="en-US" altLang="zh-CN" sz="1600" dirty="0" err="1">
                <a:solidFill>
                  <a:schemeClr val="accent6"/>
                </a:solidFill>
                <a:latin typeface="微软雅黑" panose="020B0503020204020204" pitchFamily="34" charset="-122"/>
                <a:ea typeface="微软雅黑" panose="020B0503020204020204" pitchFamily="34" charset="-122"/>
              </a:rPr>
              <a:t>xiaohua</a:t>
            </a:r>
            <a:r>
              <a:rPr lang="en-US" altLang="zh-CN" sz="1600" dirty="0">
                <a:solidFill>
                  <a:schemeClr val="accent6"/>
                </a:solidFill>
                <a:latin typeface="微软雅黑" panose="020B0503020204020204" pitchFamily="34" charset="-122"/>
                <a:ea typeface="微软雅黑" panose="020B0503020204020204" pitchFamily="34" charset="-122"/>
              </a:rPr>
              <a:t> </a:t>
            </a:r>
            <a:r>
              <a:rPr lang="en-US" altLang="zh-CN" sz="1600" dirty="0" err="1">
                <a:solidFill>
                  <a:schemeClr val="accent6"/>
                </a:solidFill>
                <a:latin typeface="微软雅黑" panose="020B0503020204020204" pitchFamily="34" charset="-122"/>
                <a:ea typeface="微软雅黑" panose="020B0503020204020204" pitchFamily="34" charset="-122"/>
              </a:rPr>
              <a:t>xiaobing</a:t>
            </a:r>
            <a:endParaRPr lang="en-US" altLang="zh-CN" sz="1600" dirty="0">
              <a:solidFill>
                <a:schemeClr val="accent6"/>
              </a:solidFill>
              <a:latin typeface="微软雅黑" panose="020B0503020204020204" pitchFamily="34" charset="-122"/>
              <a:ea typeface="微软雅黑" panose="020B0503020204020204" pitchFamily="34" charset="-122"/>
            </a:endParaRPr>
          </a:p>
          <a:p>
            <a:r>
              <a:rPr lang="en-US" altLang="zh-CN" sz="1600" dirty="0">
                <a:solidFill>
                  <a:schemeClr val="accent6"/>
                </a:solidFill>
                <a:latin typeface="微软雅黑" panose="020B0503020204020204" pitchFamily="34" charset="-122"/>
                <a:ea typeface="微软雅黑" panose="020B0503020204020204" pitchFamily="34" charset="-122"/>
              </a:rPr>
              <a:t>(integer) 5</a:t>
            </a:r>
          </a:p>
          <a:p>
            <a:r>
              <a:rPr lang="en-US" altLang="zh-CN" sz="1600" dirty="0" smtClean="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lrange</a:t>
            </a:r>
            <a:r>
              <a:rPr lang="en-US" altLang="zh-CN" sz="1600" dirty="0">
                <a:solidFill>
                  <a:srgbClr val="FF0000"/>
                </a:solidFill>
                <a:latin typeface="微软雅黑" panose="020B0503020204020204" pitchFamily="34" charset="-122"/>
                <a:ea typeface="微软雅黑" panose="020B0503020204020204" pitchFamily="34" charset="-122"/>
              </a:rPr>
              <a:t> </a:t>
            </a:r>
            <a:r>
              <a:rPr lang="en-US" altLang="zh-CN" sz="1600" dirty="0" err="1">
                <a:solidFill>
                  <a:schemeClr val="accent6"/>
                </a:solidFill>
                <a:latin typeface="微软雅黑" panose="020B0503020204020204" pitchFamily="34" charset="-122"/>
                <a:ea typeface="微软雅黑" panose="020B0503020204020204" pitchFamily="34" charset="-122"/>
              </a:rPr>
              <a:t>recent_contacts</a:t>
            </a:r>
            <a:r>
              <a:rPr lang="en-US" altLang="zh-CN" sz="1600" dirty="0">
                <a:solidFill>
                  <a:schemeClr val="accent6"/>
                </a:solidFill>
                <a:latin typeface="微软雅黑" panose="020B0503020204020204" pitchFamily="34" charset="-122"/>
                <a:ea typeface="微软雅黑" panose="020B0503020204020204" pitchFamily="34" charset="-122"/>
              </a:rPr>
              <a:t> 0 -</a:t>
            </a:r>
            <a:r>
              <a:rPr lang="en-US" altLang="zh-CN" sz="1600" dirty="0" smtClean="0">
                <a:solidFill>
                  <a:schemeClr val="accent6"/>
                </a:solidFill>
                <a:latin typeface="微软雅黑" panose="020B0503020204020204" pitchFamily="34" charset="-122"/>
                <a:ea typeface="微软雅黑" panose="020B0503020204020204" pitchFamily="34" charset="-122"/>
              </a:rPr>
              <a:t>1  </a:t>
            </a:r>
            <a:r>
              <a:rPr lang="en-US" altLang="zh-CN" sz="1600" dirty="0">
                <a:solidFill>
                  <a:schemeClr val="accent1"/>
                </a:solidFill>
                <a:latin typeface="微软雅黑" panose="020B0503020204020204" pitchFamily="34" charset="-122"/>
                <a:ea typeface="微软雅黑" panose="020B0503020204020204" pitchFamily="34" charset="-122"/>
              </a:rPr>
              <a:t># </a:t>
            </a:r>
            <a:r>
              <a:rPr lang="zh-CN" altLang="en-US" sz="1600" dirty="0">
                <a:solidFill>
                  <a:schemeClr val="accent1"/>
                </a:solidFill>
                <a:latin typeface="微软雅黑" panose="020B0503020204020204" pitchFamily="34" charset="-122"/>
                <a:ea typeface="微软雅黑" panose="020B0503020204020204" pitchFamily="34" charset="-122"/>
              </a:rPr>
              <a:t>查看列表所有</a:t>
            </a:r>
            <a:r>
              <a:rPr lang="zh-CN" altLang="en-US" sz="1600" dirty="0" smtClean="0">
                <a:solidFill>
                  <a:schemeClr val="accent1"/>
                </a:solidFill>
                <a:latin typeface="微软雅黑" panose="020B0503020204020204" pitchFamily="34" charset="-122"/>
                <a:ea typeface="微软雅黑" panose="020B0503020204020204" pitchFamily="34" charset="-122"/>
              </a:rPr>
              <a:t>元素</a:t>
            </a:r>
            <a:endParaRPr lang="en-US" altLang="zh-CN" sz="1600" dirty="0">
              <a:solidFill>
                <a:schemeClr val="accent6"/>
              </a:solidFill>
              <a:latin typeface="微软雅黑" panose="020B0503020204020204" pitchFamily="34" charset="-122"/>
              <a:ea typeface="微软雅黑" panose="020B0503020204020204" pitchFamily="34" charset="-122"/>
            </a:endParaRPr>
          </a:p>
          <a:p>
            <a:r>
              <a:rPr lang="en-US" altLang="zh-CN" sz="1600" dirty="0">
                <a:solidFill>
                  <a:schemeClr val="accent6"/>
                </a:solidFill>
                <a:latin typeface="微软雅黑" panose="020B0503020204020204" pitchFamily="34" charset="-122"/>
                <a:ea typeface="微软雅黑" panose="020B0503020204020204" pitchFamily="34" charset="-122"/>
              </a:rPr>
              <a:t>1) "</a:t>
            </a:r>
            <a:r>
              <a:rPr lang="en-US" altLang="zh-CN" sz="1600" dirty="0" err="1">
                <a:solidFill>
                  <a:schemeClr val="accent6"/>
                </a:solidFill>
                <a:latin typeface="微软雅黑" panose="020B0503020204020204" pitchFamily="34" charset="-122"/>
                <a:ea typeface="微软雅黑" panose="020B0503020204020204" pitchFamily="34" charset="-122"/>
              </a:rPr>
              <a:t>xiaobing</a:t>
            </a:r>
            <a:r>
              <a:rPr lang="en-US" altLang="zh-CN" sz="1600" dirty="0">
                <a:solidFill>
                  <a:schemeClr val="accent6"/>
                </a:solidFill>
                <a:latin typeface="微软雅黑" panose="020B0503020204020204" pitchFamily="34" charset="-122"/>
                <a:ea typeface="微软雅黑" panose="020B0503020204020204" pitchFamily="34" charset="-122"/>
              </a:rPr>
              <a:t>"</a:t>
            </a:r>
          </a:p>
          <a:p>
            <a:r>
              <a:rPr lang="en-US" altLang="zh-CN" sz="1600" dirty="0">
                <a:solidFill>
                  <a:schemeClr val="accent6"/>
                </a:solidFill>
                <a:latin typeface="微软雅黑" panose="020B0503020204020204" pitchFamily="34" charset="-122"/>
                <a:ea typeface="微软雅黑" panose="020B0503020204020204" pitchFamily="34" charset="-122"/>
              </a:rPr>
              <a:t>2) "</a:t>
            </a:r>
            <a:r>
              <a:rPr lang="en-US" altLang="zh-CN" sz="1600" dirty="0" err="1">
                <a:solidFill>
                  <a:schemeClr val="accent6"/>
                </a:solidFill>
                <a:latin typeface="微软雅黑" panose="020B0503020204020204" pitchFamily="34" charset="-122"/>
                <a:ea typeface="微软雅黑" panose="020B0503020204020204" pitchFamily="34" charset="-122"/>
              </a:rPr>
              <a:t>xiaohua</a:t>
            </a:r>
            <a:r>
              <a:rPr lang="en-US" altLang="zh-CN" sz="1600" dirty="0">
                <a:solidFill>
                  <a:schemeClr val="accent6"/>
                </a:solidFill>
                <a:latin typeface="微软雅黑" panose="020B0503020204020204" pitchFamily="34" charset="-122"/>
                <a:ea typeface="微软雅黑" panose="020B0503020204020204" pitchFamily="34" charset="-122"/>
              </a:rPr>
              <a:t>"</a:t>
            </a:r>
          </a:p>
          <a:p>
            <a:r>
              <a:rPr lang="en-US" altLang="zh-CN" sz="1600" dirty="0">
                <a:solidFill>
                  <a:schemeClr val="accent6"/>
                </a:solidFill>
                <a:latin typeface="微软雅黑" panose="020B0503020204020204" pitchFamily="34" charset="-122"/>
                <a:ea typeface="微软雅黑" panose="020B0503020204020204" pitchFamily="34" charset="-122"/>
              </a:rPr>
              <a:t>3) "</a:t>
            </a:r>
            <a:r>
              <a:rPr lang="en-US" altLang="zh-CN" sz="1600" dirty="0" err="1">
                <a:solidFill>
                  <a:schemeClr val="accent6"/>
                </a:solidFill>
                <a:latin typeface="微软雅黑" panose="020B0503020204020204" pitchFamily="34" charset="-122"/>
                <a:ea typeface="微软雅黑" panose="020B0503020204020204" pitchFamily="34" charset="-122"/>
              </a:rPr>
              <a:t>xiaoli</a:t>
            </a:r>
            <a:r>
              <a:rPr lang="en-US" altLang="zh-CN" sz="1600" dirty="0">
                <a:solidFill>
                  <a:schemeClr val="accent6"/>
                </a:solidFill>
                <a:latin typeface="微软雅黑" panose="020B0503020204020204" pitchFamily="34" charset="-122"/>
                <a:ea typeface="微软雅黑" panose="020B0503020204020204" pitchFamily="34" charset="-122"/>
              </a:rPr>
              <a:t>"</a:t>
            </a:r>
          </a:p>
          <a:p>
            <a:r>
              <a:rPr lang="en-US" altLang="zh-CN" sz="1600" dirty="0">
                <a:solidFill>
                  <a:schemeClr val="accent6"/>
                </a:solidFill>
                <a:latin typeface="微软雅黑" panose="020B0503020204020204" pitchFamily="34" charset="-122"/>
                <a:ea typeface="微软雅黑" panose="020B0503020204020204" pitchFamily="34" charset="-122"/>
              </a:rPr>
              <a:t>4) "</a:t>
            </a:r>
            <a:r>
              <a:rPr lang="en-US" altLang="zh-CN" sz="1600" dirty="0" err="1">
                <a:solidFill>
                  <a:schemeClr val="accent6"/>
                </a:solidFill>
                <a:latin typeface="微软雅黑" panose="020B0503020204020204" pitchFamily="34" charset="-122"/>
                <a:ea typeface="微软雅黑" panose="020B0503020204020204" pitchFamily="34" charset="-122"/>
              </a:rPr>
              <a:t>xiaofang</a:t>
            </a:r>
            <a:r>
              <a:rPr lang="en-US" altLang="zh-CN" sz="1600" dirty="0">
                <a:solidFill>
                  <a:schemeClr val="accent6"/>
                </a:solidFill>
                <a:latin typeface="微软雅黑" panose="020B0503020204020204" pitchFamily="34" charset="-122"/>
                <a:ea typeface="微软雅黑" panose="020B0503020204020204" pitchFamily="34" charset="-122"/>
              </a:rPr>
              <a:t>"</a:t>
            </a:r>
          </a:p>
          <a:p>
            <a:r>
              <a:rPr lang="en-US" altLang="zh-CN" sz="1600" dirty="0">
                <a:solidFill>
                  <a:schemeClr val="accent6"/>
                </a:solidFill>
                <a:latin typeface="微软雅黑" panose="020B0503020204020204" pitchFamily="34" charset="-122"/>
                <a:ea typeface="微软雅黑" panose="020B0503020204020204" pitchFamily="34" charset="-122"/>
              </a:rPr>
              <a:t>5) "</a:t>
            </a:r>
            <a:r>
              <a:rPr lang="en-US" altLang="zh-CN" sz="1600" dirty="0" err="1">
                <a:solidFill>
                  <a:schemeClr val="accent6"/>
                </a:solidFill>
                <a:latin typeface="微软雅黑" panose="020B0503020204020204" pitchFamily="34" charset="-122"/>
                <a:ea typeface="微软雅黑" panose="020B0503020204020204" pitchFamily="34" charset="-122"/>
              </a:rPr>
              <a:t>xiaoming</a:t>
            </a:r>
            <a:r>
              <a:rPr lang="en-US" altLang="zh-CN" sz="1600" dirty="0">
                <a:solidFill>
                  <a:schemeClr val="accent6"/>
                </a:solidFill>
                <a:latin typeface="微软雅黑" panose="020B0503020204020204" pitchFamily="34" charset="-122"/>
                <a:ea typeface="微软雅黑" panose="020B0503020204020204" pitchFamily="34" charset="-122"/>
              </a:rPr>
              <a:t>"</a:t>
            </a:r>
          </a:p>
          <a:p>
            <a:r>
              <a:rPr lang="en-US" altLang="zh-CN" sz="1600" dirty="0" smtClean="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ltrim</a:t>
            </a:r>
            <a:r>
              <a:rPr lang="en-US" altLang="zh-CN" sz="1600" dirty="0">
                <a:solidFill>
                  <a:srgbClr val="FF0000"/>
                </a:solidFill>
                <a:latin typeface="微软雅黑" panose="020B0503020204020204" pitchFamily="34" charset="-122"/>
                <a:ea typeface="微软雅黑" panose="020B0503020204020204" pitchFamily="34" charset="-122"/>
              </a:rPr>
              <a:t> </a:t>
            </a:r>
            <a:r>
              <a:rPr lang="en-US" altLang="zh-CN" sz="1600" dirty="0" err="1">
                <a:solidFill>
                  <a:schemeClr val="accent6"/>
                </a:solidFill>
                <a:latin typeface="微软雅黑" panose="020B0503020204020204" pitchFamily="34" charset="-122"/>
                <a:ea typeface="微软雅黑" panose="020B0503020204020204" pitchFamily="34" charset="-122"/>
              </a:rPr>
              <a:t>recent_contacts</a:t>
            </a:r>
            <a:r>
              <a:rPr lang="en-US" altLang="zh-CN" sz="1600" dirty="0">
                <a:solidFill>
                  <a:schemeClr val="accent6"/>
                </a:solidFill>
                <a:latin typeface="微软雅黑" panose="020B0503020204020204" pitchFamily="34" charset="-122"/>
                <a:ea typeface="微软雅黑" panose="020B0503020204020204" pitchFamily="34" charset="-122"/>
              </a:rPr>
              <a:t> 0 </a:t>
            </a:r>
            <a:r>
              <a:rPr lang="en-US" altLang="zh-CN" sz="1600" dirty="0" smtClean="0">
                <a:solidFill>
                  <a:schemeClr val="accent6"/>
                </a:solidFill>
                <a:latin typeface="微软雅黑" panose="020B0503020204020204" pitchFamily="34" charset="-122"/>
                <a:ea typeface="微软雅黑" panose="020B0503020204020204" pitchFamily="34" charset="-122"/>
              </a:rPr>
              <a:t>3      </a:t>
            </a:r>
            <a:r>
              <a:rPr lang="en-US" altLang="zh-CN" sz="1600" dirty="0" smtClean="0">
                <a:solidFill>
                  <a:schemeClr val="accent1"/>
                </a:solidFill>
                <a:latin typeface="微软雅黑" panose="020B0503020204020204" pitchFamily="34" charset="-122"/>
                <a:ea typeface="微软雅黑" panose="020B0503020204020204" pitchFamily="34" charset="-122"/>
              </a:rPr>
              <a:t># </a:t>
            </a:r>
            <a:r>
              <a:rPr lang="zh-CN" altLang="en-US" sz="1600" dirty="0">
                <a:solidFill>
                  <a:schemeClr val="accent1"/>
                </a:solidFill>
                <a:latin typeface="微软雅黑" panose="020B0503020204020204" pitchFamily="34" charset="-122"/>
                <a:ea typeface="微软雅黑" panose="020B0503020204020204" pitchFamily="34" charset="-122"/>
              </a:rPr>
              <a:t>清除列表第</a:t>
            </a:r>
            <a:r>
              <a:rPr lang="en-US" altLang="zh-CN" sz="1600" dirty="0">
                <a:solidFill>
                  <a:schemeClr val="accent1"/>
                </a:solidFill>
                <a:latin typeface="微软雅黑" panose="020B0503020204020204" pitchFamily="34" charset="-122"/>
                <a:ea typeface="微软雅黑" panose="020B0503020204020204" pitchFamily="34" charset="-122"/>
              </a:rPr>
              <a:t>1</a:t>
            </a:r>
            <a:r>
              <a:rPr lang="zh-CN" altLang="en-US" sz="1600" dirty="0">
                <a:solidFill>
                  <a:schemeClr val="accent1"/>
                </a:solidFill>
                <a:latin typeface="微软雅黑" panose="020B0503020204020204" pitchFamily="34" charset="-122"/>
                <a:ea typeface="微软雅黑" panose="020B0503020204020204" pitchFamily="34" charset="-122"/>
              </a:rPr>
              <a:t>到</a:t>
            </a:r>
            <a:r>
              <a:rPr lang="en-US" altLang="zh-CN" sz="1600" dirty="0">
                <a:solidFill>
                  <a:schemeClr val="accent1"/>
                </a:solidFill>
                <a:latin typeface="微软雅黑" panose="020B0503020204020204" pitchFamily="34" charset="-122"/>
                <a:ea typeface="微软雅黑" panose="020B0503020204020204" pitchFamily="34" charset="-122"/>
              </a:rPr>
              <a:t>4</a:t>
            </a:r>
            <a:r>
              <a:rPr lang="zh-CN" altLang="en-US" sz="1600" dirty="0">
                <a:solidFill>
                  <a:schemeClr val="accent1"/>
                </a:solidFill>
                <a:latin typeface="微软雅黑" panose="020B0503020204020204" pitchFamily="34" charset="-122"/>
                <a:ea typeface="微软雅黑" panose="020B0503020204020204" pitchFamily="34" charset="-122"/>
              </a:rPr>
              <a:t>个元素之外的</a:t>
            </a:r>
            <a:r>
              <a:rPr lang="zh-CN" altLang="en-US" sz="1600" dirty="0" smtClean="0">
                <a:solidFill>
                  <a:schemeClr val="accent1"/>
                </a:solidFill>
                <a:latin typeface="微软雅黑" panose="020B0503020204020204" pitchFamily="34" charset="-122"/>
                <a:ea typeface="微软雅黑" panose="020B0503020204020204" pitchFamily="34" charset="-122"/>
              </a:rPr>
              <a:t>元素</a:t>
            </a:r>
            <a:endParaRPr lang="en-US" altLang="zh-CN" sz="1600" dirty="0">
              <a:solidFill>
                <a:schemeClr val="accent6"/>
              </a:solidFill>
              <a:latin typeface="微软雅黑" panose="020B0503020204020204" pitchFamily="34" charset="-122"/>
              <a:ea typeface="微软雅黑" panose="020B0503020204020204" pitchFamily="34" charset="-122"/>
            </a:endParaRPr>
          </a:p>
          <a:p>
            <a:r>
              <a:rPr lang="en-US" altLang="zh-CN" sz="1600" dirty="0">
                <a:solidFill>
                  <a:schemeClr val="accent6"/>
                </a:solidFill>
                <a:latin typeface="微软雅黑" panose="020B0503020204020204" pitchFamily="34" charset="-122"/>
                <a:ea typeface="微软雅黑" panose="020B0503020204020204" pitchFamily="34" charset="-122"/>
              </a:rPr>
              <a:t>OK</a:t>
            </a:r>
          </a:p>
          <a:p>
            <a:r>
              <a:rPr lang="en-US" altLang="zh-CN" sz="1600" dirty="0" smtClean="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lrange</a:t>
            </a:r>
            <a:r>
              <a:rPr lang="en-US" altLang="zh-CN" sz="1600" dirty="0">
                <a:solidFill>
                  <a:srgbClr val="FF0000"/>
                </a:solidFill>
                <a:latin typeface="微软雅黑" panose="020B0503020204020204" pitchFamily="34" charset="-122"/>
                <a:ea typeface="微软雅黑" panose="020B0503020204020204" pitchFamily="34" charset="-122"/>
              </a:rPr>
              <a:t> </a:t>
            </a:r>
            <a:r>
              <a:rPr lang="en-US" altLang="zh-CN" sz="1600" dirty="0" err="1">
                <a:solidFill>
                  <a:schemeClr val="accent6"/>
                </a:solidFill>
                <a:latin typeface="微软雅黑" panose="020B0503020204020204" pitchFamily="34" charset="-122"/>
                <a:ea typeface="微软雅黑" panose="020B0503020204020204" pitchFamily="34" charset="-122"/>
              </a:rPr>
              <a:t>recent_contacts</a:t>
            </a:r>
            <a:r>
              <a:rPr lang="en-US" altLang="zh-CN" sz="1600" dirty="0">
                <a:solidFill>
                  <a:schemeClr val="accent6"/>
                </a:solidFill>
                <a:latin typeface="微软雅黑" panose="020B0503020204020204" pitchFamily="34" charset="-122"/>
                <a:ea typeface="微软雅黑" panose="020B0503020204020204" pitchFamily="34" charset="-122"/>
              </a:rPr>
              <a:t> 0 -</a:t>
            </a:r>
            <a:r>
              <a:rPr lang="en-US" altLang="zh-CN" sz="1600" dirty="0" smtClean="0">
                <a:solidFill>
                  <a:schemeClr val="accent6"/>
                </a:solidFill>
                <a:latin typeface="微软雅黑" panose="020B0503020204020204" pitchFamily="34" charset="-122"/>
                <a:ea typeface="微软雅黑" panose="020B0503020204020204" pitchFamily="34" charset="-122"/>
              </a:rPr>
              <a:t>1  </a:t>
            </a:r>
            <a:r>
              <a:rPr lang="en-US" altLang="zh-CN" sz="1600" dirty="0">
                <a:solidFill>
                  <a:schemeClr val="accent1"/>
                </a:solidFill>
                <a:latin typeface="微软雅黑" panose="020B0503020204020204" pitchFamily="34" charset="-122"/>
                <a:ea typeface="微软雅黑" panose="020B0503020204020204" pitchFamily="34" charset="-122"/>
              </a:rPr>
              <a:t># </a:t>
            </a:r>
            <a:r>
              <a:rPr lang="zh-CN" altLang="en-US" sz="1600" dirty="0">
                <a:solidFill>
                  <a:schemeClr val="accent1"/>
                </a:solidFill>
                <a:latin typeface="微软雅黑" panose="020B0503020204020204" pitchFamily="34" charset="-122"/>
                <a:ea typeface="微软雅黑" panose="020B0503020204020204" pitchFamily="34" charset="-122"/>
              </a:rPr>
              <a:t>清除列表第</a:t>
            </a:r>
            <a:r>
              <a:rPr lang="en-US" altLang="zh-CN" sz="1600" dirty="0">
                <a:solidFill>
                  <a:schemeClr val="accent1"/>
                </a:solidFill>
                <a:latin typeface="微软雅黑" panose="020B0503020204020204" pitchFamily="34" charset="-122"/>
                <a:ea typeface="微软雅黑" panose="020B0503020204020204" pitchFamily="34" charset="-122"/>
              </a:rPr>
              <a:t>1</a:t>
            </a:r>
            <a:r>
              <a:rPr lang="zh-CN" altLang="en-US" sz="1600" dirty="0">
                <a:solidFill>
                  <a:schemeClr val="accent1"/>
                </a:solidFill>
                <a:latin typeface="微软雅黑" panose="020B0503020204020204" pitchFamily="34" charset="-122"/>
                <a:ea typeface="微软雅黑" panose="020B0503020204020204" pitchFamily="34" charset="-122"/>
              </a:rPr>
              <a:t>到</a:t>
            </a:r>
            <a:r>
              <a:rPr lang="en-US" altLang="zh-CN" sz="1600" dirty="0">
                <a:solidFill>
                  <a:schemeClr val="accent1"/>
                </a:solidFill>
                <a:latin typeface="微软雅黑" panose="020B0503020204020204" pitchFamily="34" charset="-122"/>
                <a:ea typeface="微软雅黑" panose="020B0503020204020204" pitchFamily="34" charset="-122"/>
              </a:rPr>
              <a:t>4</a:t>
            </a:r>
            <a:r>
              <a:rPr lang="zh-CN" altLang="en-US" sz="1600" dirty="0">
                <a:solidFill>
                  <a:schemeClr val="accent1"/>
                </a:solidFill>
                <a:latin typeface="微软雅黑" panose="020B0503020204020204" pitchFamily="34" charset="-122"/>
                <a:ea typeface="微软雅黑" panose="020B0503020204020204" pitchFamily="34" charset="-122"/>
              </a:rPr>
              <a:t>个元素之外的</a:t>
            </a:r>
            <a:r>
              <a:rPr lang="zh-CN" altLang="en-US" sz="1600" dirty="0" smtClean="0">
                <a:solidFill>
                  <a:schemeClr val="accent1"/>
                </a:solidFill>
                <a:latin typeface="微软雅黑" panose="020B0503020204020204" pitchFamily="34" charset="-122"/>
                <a:ea typeface="微软雅黑" panose="020B0503020204020204" pitchFamily="34" charset="-122"/>
              </a:rPr>
              <a:t>元素</a:t>
            </a:r>
            <a:endParaRPr lang="zh-CN" altLang="en-US" sz="1600" dirty="0">
              <a:solidFill>
                <a:schemeClr val="accent1"/>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6274191" y="2706935"/>
            <a:ext cx="5234602" cy="3539430"/>
          </a:xfrm>
          <a:prstGeom prst="rect">
            <a:avLst/>
          </a:prstGeom>
          <a:noFill/>
          <a:ln>
            <a:solidFill>
              <a:schemeClr val="bg1"/>
            </a:solidFill>
          </a:ln>
        </p:spPr>
        <p:txBody>
          <a:bodyPr wrap="square" rtlCol="0">
            <a:spAutoFit/>
          </a:bodyPr>
          <a:lstStyle/>
          <a:p>
            <a:r>
              <a:rPr lang="en-US" altLang="zh-CN" sz="1600" dirty="0">
                <a:solidFill>
                  <a:schemeClr val="accent6"/>
                </a:solidFill>
                <a:latin typeface="微软雅黑" panose="020B0503020204020204" pitchFamily="34" charset="-122"/>
                <a:ea typeface="微软雅黑" panose="020B0503020204020204" pitchFamily="34" charset="-122"/>
              </a:rPr>
              <a:t>1) "</a:t>
            </a:r>
            <a:r>
              <a:rPr lang="en-US" altLang="zh-CN" sz="1600" dirty="0" err="1">
                <a:solidFill>
                  <a:schemeClr val="accent6"/>
                </a:solidFill>
                <a:latin typeface="微软雅黑" panose="020B0503020204020204" pitchFamily="34" charset="-122"/>
                <a:ea typeface="微软雅黑" panose="020B0503020204020204" pitchFamily="34" charset="-122"/>
              </a:rPr>
              <a:t>xiaobing</a:t>
            </a:r>
            <a:r>
              <a:rPr lang="en-US" altLang="zh-CN" sz="1600" dirty="0">
                <a:solidFill>
                  <a:schemeClr val="accent6"/>
                </a:solidFill>
                <a:latin typeface="微软雅黑" panose="020B0503020204020204" pitchFamily="34" charset="-122"/>
                <a:ea typeface="微软雅黑" panose="020B0503020204020204" pitchFamily="34" charset="-122"/>
              </a:rPr>
              <a:t>"</a:t>
            </a:r>
          </a:p>
          <a:p>
            <a:r>
              <a:rPr lang="en-US" altLang="zh-CN" sz="1600" dirty="0">
                <a:solidFill>
                  <a:schemeClr val="accent6"/>
                </a:solidFill>
                <a:latin typeface="微软雅黑" panose="020B0503020204020204" pitchFamily="34" charset="-122"/>
                <a:ea typeface="微软雅黑" panose="020B0503020204020204" pitchFamily="34" charset="-122"/>
              </a:rPr>
              <a:t>2) "</a:t>
            </a:r>
            <a:r>
              <a:rPr lang="en-US" altLang="zh-CN" sz="1600" dirty="0" err="1">
                <a:solidFill>
                  <a:schemeClr val="accent6"/>
                </a:solidFill>
                <a:latin typeface="微软雅黑" panose="020B0503020204020204" pitchFamily="34" charset="-122"/>
                <a:ea typeface="微软雅黑" panose="020B0503020204020204" pitchFamily="34" charset="-122"/>
              </a:rPr>
              <a:t>xiaohua</a:t>
            </a:r>
            <a:r>
              <a:rPr lang="en-US" altLang="zh-CN" sz="1600" dirty="0" smtClean="0">
                <a:solidFill>
                  <a:schemeClr val="accent6"/>
                </a:solidFill>
                <a:latin typeface="微软雅黑" panose="020B0503020204020204" pitchFamily="34" charset="-122"/>
                <a:ea typeface="微软雅黑" panose="020B0503020204020204" pitchFamily="34" charset="-122"/>
              </a:rPr>
              <a:t>"</a:t>
            </a:r>
          </a:p>
          <a:p>
            <a:r>
              <a:rPr lang="en-US" altLang="zh-CN" sz="1600" dirty="0" smtClean="0">
                <a:solidFill>
                  <a:schemeClr val="accent6"/>
                </a:solidFill>
                <a:latin typeface="微软雅黑" panose="020B0503020204020204" pitchFamily="34" charset="-122"/>
                <a:ea typeface="微软雅黑" panose="020B0503020204020204" pitchFamily="34" charset="-122"/>
              </a:rPr>
              <a:t>3</a:t>
            </a:r>
            <a:r>
              <a:rPr lang="en-US" altLang="zh-CN" sz="1600" dirty="0">
                <a:solidFill>
                  <a:schemeClr val="accent6"/>
                </a:solidFill>
                <a:latin typeface="微软雅黑" panose="020B0503020204020204" pitchFamily="34" charset="-122"/>
                <a:ea typeface="微软雅黑" panose="020B0503020204020204" pitchFamily="34" charset="-122"/>
              </a:rPr>
              <a:t>) "</a:t>
            </a:r>
            <a:r>
              <a:rPr lang="en-US" altLang="zh-CN" sz="1600" dirty="0" err="1">
                <a:solidFill>
                  <a:schemeClr val="accent6"/>
                </a:solidFill>
                <a:latin typeface="微软雅黑" panose="020B0503020204020204" pitchFamily="34" charset="-122"/>
                <a:ea typeface="微软雅黑" panose="020B0503020204020204" pitchFamily="34" charset="-122"/>
              </a:rPr>
              <a:t>xiaoli</a:t>
            </a:r>
            <a:r>
              <a:rPr lang="en-US" altLang="zh-CN" sz="1600" dirty="0">
                <a:solidFill>
                  <a:schemeClr val="accent6"/>
                </a:solidFill>
                <a:latin typeface="微软雅黑" panose="020B0503020204020204" pitchFamily="34" charset="-122"/>
                <a:ea typeface="微软雅黑" panose="020B0503020204020204" pitchFamily="34" charset="-122"/>
              </a:rPr>
              <a:t>"</a:t>
            </a:r>
          </a:p>
          <a:p>
            <a:r>
              <a:rPr lang="en-US" altLang="zh-CN" sz="1600" dirty="0">
                <a:solidFill>
                  <a:schemeClr val="accent6"/>
                </a:solidFill>
                <a:latin typeface="微软雅黑" panose="020B0503020204020204" pitchFamily="34" charset="-122"/>
                <a:ea typeface="微软雅黑" panose="020B0503020204020204" pitchFamily="34" charset="-122"/>
              </a:rPr>
              <a:t>4) "</a:t>
            </a:r>
            <a:r>
              <a:rPr lang="en-US" altLang="zh-CN" sz="1600" dirty="0" err="1">
                <a:solidFill>
                  <a:schemeClr val="accent6"/>
                </a:solidFill>
                <a:latin typeface="微软雅黑" panose="020B0503020204020204" pitchFamily="34" charset="-122"/>
                <a:ea typeface="微软雅黑" panose="020B0503020204020204" pitchFamily="34" charset="-122"/>
              </a:rPr>
              <a:t>xiaofang</a:t>
            </a:r>
            <a:r>
              <a:rPr lang="en-US" altLang="zh-CN" sz="1600" dirty="0">
                <a:solidFill>
                  <a:schemeClr val="accent6"/>
                </a:solidFill>
                <a:latin typeface="微软雅黑" panose="020B0503020204020204" pitchFamily="34" charset="-122"/>
                <a:ea typeface="微软雅黑" panose="020B0503020204020204" pitchFamily="34" charset="-122"/>
              </a:rPr>
              <a:t>"</a:t>
            </a:r>
          </a:p>
          <a:p>
            <a:r>
              <a:rPr lang="en-US" altLang="zh-CN" sz="1600" dirty="0" smtClean="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lpush</a:t>
            </a:r>
            <a:r>
              <a:rPr lang="en-US" altLang="zh-CN" sz="1600" dirty="0">
                <a:solidFill>
                  <a:srgbClr val="FF0000"/>
                </a:solidFill>
                <a:latin typeface="微软雅黑" panose="020B0503020204020204" pitchFamily="34" charset="-122"/>
                <a:ea typeface="微软雅黑" panose="020B0503020204020204" pitchFamily="34" charset="-122"/>
              </a:rPr>
              <a:t> </a:t>
            </a:r>
            <a:r>
              <a:rPr lang="en-US" altLang="zh-CN" sz="1600" dirty="0" err="1">
                <a:solidFill>
                  <a:schemeClr val="accent6"/>
                </a:solidFill>
                <a:latin typeface="微软雅黑" panose="020B0503020204020204" pitchFamily="34" charset="-122"/>
                <a:ea typeface="微软雅黑" panose="020B0503020204020204" pitchFamily="34" charset="-122"/>
              </a:rPr>
              <a:t>recent_contacts</a:t>
            </a:r>
            <a:r>
              <a:rPr lang="en-US" altLang="zh-CN" sz="1600" dirty="0">
                <a:solidFill>
                  <a:schemeClr val="accent6"/>
                </a:solidFill>
                <a:latin typeface="微软雅黑" panose="020B0503020204020204" pitchFamily="34" charset="-122"/>
                <a:ea typeface="微软雅黑" panose="020B0503020204020204" pitchFamily="34" charset="-122"/>
              </a:rPr>
              <a:t> </a:t>
            </a:r>
            <a:r>
              <a:rPr lang="en-US" altLang="zh-CN" sz="1600" dirty="0" err="1" smtClean="0">
                <a:solidFill>
                  <a:schemeClr val="accent6"/>
                </a:solidFill>
                <a:latin typeface="微软雅黑" panose="020B0503020204020204" pitchFamily="34" charset="-122"/>
                <a:ea typeface="微软雅黑" panose="020B0503020204020204" pitchFamily="34" charset="-122"/>
              </a:rPr>
              <a:t>xiaoliu</a:t>
            </a:r>
            <a:r>
              <a:rPr lang="en-US" altLang="zh-CN" sz="1600" dirty="0" smtClean="0">
                <a:solidFill>
                  <a:schemeClr val="accent6"/>
                </a:solidFill>
                <a:latin typeface="微软雅黑" panose="020B0503020204020204" pitchFamily="34" charset="-122"/>
                <a:ea typeface="微软雅黑" panose="020B0503020204020204" pitchFamily="34" charset="-122"/>
              </a:rPr>
              <a:t>  </a:t>
            </a:r>
            <a:r>
              <a:rPr lang="en-US" altLang="zh-CN" sz="1600" dirty="0">
                <a:solidFill>
                  <a:schemeClr val="accent1"/>
                </a:solidFill>
                <a:latin typeface="微软雅黑" panose="020B0503020204020204" pitchFamily="34" charset="-122"/>
                <a:ea typeface="微软雅黑" panose="020B0503020204020204" pitchFamily="34" charset="-122"/>
              </a:rPr>
              <a:t># </a:t>
            </a:r>
            <a:r>
              <a:rPr lang="zh-CN" altLang="en-US" sz="1600" dirty="0">
                <a:solidFill>
                  <a:schemeClr val="accent1"/>
                </a:solidFill>
                <a:latin typeface="微软雅黑" panose="020B0503020204020204" pitchFamily="34" charset="-122"/>
                <a:ea typeface="微软雅黑" panose="020B0503020204020204" pitchFamily="34" charset="-122"/>
              </a:rPr>
              <a:t>添加新</a:t>
            </a:r>
            <a:r>
              <a:rPr lang="zh-CN" altLang="en-US" sz="1600" dirty="0" smtClean="0">
                <a:solidFill>
                  <a:schemeClr val="accent1"/>
                </a:solidFill>
                <a:latin typeface="微软雅黑" panose="020B0503020204020204" pitchFamily="34" charset="-122"/>
                <a:ea typeface="微软雅黑" panose="020B0503020204020204" pitchFamily="34" charset="-122"/>
              </a:rPr>
              <a:t>元素</a:t>
            </a:r>
            <a:endParaRPr lang="en-US" altLang="zh-CN" sz="1600" dirty="0">
              <a:solidFill>
                <a:schemeClr val="accent6"/>
              </a:solidFill>
              <a:latin typeface="微软雅黑" panose="020B0503020204020204" pitchFamily="34" charset="-122"/>
              <a:ea typeface="微软雅黑" panose="020B0503020204020204" pitchFamily="34" charset="-122"/>
            </a:endParaRPr>
          </a:p>
          <a:p>
            <a:r>
              <a:rPr lang="en-US" altLang="zh-CN" sz="1600" dirty="0">
                <a:solidFill>
                  <a:schemeClr val="accent6"/>
                </a:solidFill>
                <a:latin typeface="微软雅黑" panose="020B0503020204020204" pitchFamily="34" charset="-122"/>
                <a:ea typeface="微软雅黑" panose="020B0503020204020204" pitchFamily="34" charset="-122"/>
              </a:rPr>
              <a:t>(integer) 5</a:t>
            </a:r>
          </a:p>
          <a:p>
            <a:r>
              <a:rPr lang="en-US" altLang="zh-CN" sz="1600" dirty="0" smtClean="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ltrim</a:t>
            </a:r>
            <a:r>
              <a:rPr lang="en-US" altLang="zh-CN" sz="1600" dirty="0">
                <a:solidFill>
                  <a:srgbClr val="FF0000"/>
                </a:solidFill>
                <a:latin typeface="微软雅黑" panose="020B0503020204020204" pitchFamily="34" charset="-122"/>
                <a:ea typeface="微软雅黑" panose="020B0503020204020204" pitchFamily="34" charset="-122"/>
              </a:rPr>
              <a:t> </a:t>
            </a:r>
            <a:r>
              <a:rPr lang="en-US" altLang="zh-CN" sz="1600" dirty="0" err="1">
                <a:solidFill>
                  <a:schemeClr val="accent6"/>
                </a:solidFill>
                <a:latin typeface="微软雅黑" panose="020B0503020204020204" pitchFamily="34" charset="-122"/>
                <a:ea typeface="微软雅黑" panose="020B0503020204020204" pitchFamily="34" charset="-122"/>
              </a:rPr>
              <a:t>recent_contacts</a:t>
            </a:r>
            <a:r>
              <a:rPr lang="en-US" altLang="zh-CN" sz="1600" dirty="0">
                <a:solidFill>
                  <a:schemeClr val="accent6"/>
                </a:solidFill>
                <a:latin typeface="微软雅黑" panose="020B0503020204020204" pitchFamily="34" charset="-122"/>
                <a:ea typeface="微软雅黑" panose="020B0503020204020204" pitchFamily="34" charset="-122"/>
              </a:rPr>
              <a:t> 0 </a:t>
            </a:r>
            <a:r>
              <a:rPr lang="en-US" altLang="zh-CN" sz="1600" dirty="0" smtClean="0">
                <a:solidFill>
                  <a:schemeClr val="accent6"/>
                </a:solidFill>
                <a:latin typeface="微软雅黑" panose="020B0503020204020204" pitchFamily="34" charset="-122"/>
                <a:ea typeface="微软雅黑" panose="020B0503020204020204" pitchFamily="34" charset="-122"/>
              </a:rPr>
              <a:t>3        </a:t>
            </a:r>
            <a:r>
              <a:rPr lang="en-US" altLang="zh-CN" sz="1600" dirty="0" smtClean="0">
                <a:solidFill>
                  <a:schemeClr val="accent1"/>
                </a:solidFill>
                <a:latin typeface="微软雅黑" panose="020B0503020204020204" pitchFamily="34" charset="-122"/>
                <a:ea typeface="微软雅黑" panose="020B0503020204020204" pitchFamily="34" charset="-122"/>
              </a:rPr>
              <a:t># </a:t>
            </a:r>
            <a:r>
              <a:rPr lang="zh-CN" altLang="en-US" sz="1600" dirty="0">
                <a:solidFill>
                  <a:schemeClr val="accent1"/>
                </a:solidFill>
                <a:latin typeface="微软雅黑" panose="020B0503020204020204" pitchFamily="34" charset="-122"/>
                <a:ea typeface="微软雅黑" panose="020B0503020204020204" pitchFamily="34" charset="-122"/>
              </a:rPr>
              <a:t>每次获取数据前清除其它的</a:t>
            </a:r>
            <a:r>
              <a:rPr lang="zh-CN" altLang="en-US" sz="1600" dirty="0" smtClean="0">
                <a:solidFill>
                  <a:schemeClr val="accent1"/>
                </a:solidFill>
                <a:latin typeface="微软雅黑" panose="020B0503020204020204" pitchFamily="34" charset="-122"/>
                <a:ea typeface="微软雅黑" panose="020B0503020204020204" pitchFamily="34" charset="-122"/>
              </a:rPr>
              <a:t>元素</a:t>
            </a:r>
            <a:endParaRPr lang="en-US" altLang="zh-CN" sz="1600" dirty="0">
              <a:solidFill>
                <a:schemeClr val="accent6"/>
              </a:solidFill>
              <a:latin typeface="微软雅黑" panose="020B0503020204020204" pitchFamily="34" charset="-122"/>
              <a:ea typeface="微软雅黑" panose="020B0503020204020204" pitchFamily="34" charset="-122"/>
            </a:endParaRPr>
          </a:p>
          <a:p>
            <a:r>
              <a:rPr lang="en-US" altLang="zh-CN" sz="1600" dirty="0">
                <a:solidFill>
                  <a:schemeClr val="accent6"/>
                </a:solidFill>
                <a:latin typeface="微软雅黑" panose="020B0503020204020204" pitchFamily="34" charset="-122"/>
                <a:ea typeface="微软雅黑" panose="020B0503020204020204" pitchFamily="34" charset="-122"/>
              </a:rPr>
              <a:t>OK</a:t>
            </a:r>
          </a:p>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lrange</a:t>
            </a:r>
            <a:r>
              <a:rPr lang="en-US" altLang="zh-CN" sz="1600" dirty="0">
                <a:solidFill>
                  <a:srgbClr val="FF0000"/>
                </a:solidFill>
                <a:latin typeface="微软雅黑" panose="020B0503020204020204" pitchFamily="34" charset="-122"/>
                <a:ea typeface="微软雅黑" panose="020B0503020204020204" pitchFamily="34" charset="-122"/>
              </a:rPr>
              <a:t> </a:t>
            </a:r>
            <a:r>
              <a:rPr lang="en-US" altLang="zh-CN" sz="1600" dirty="0" err="1">
                <a:solidFill>
                  <a:schemeClr val="accent6"/>
                </a:solidFill>
                <a:latin typeface="微软雅黑" panose="020B0503020204020204" pitchFamily="34" charset="-122"/>
                <a:ea typeface="微软雅黑" panose="020B0503020204020204" pitchFamily="34" charset="-122"/>
              </a:rPr>
              <a:t>recent_contacts</a:t>
            </a:r>
            <a:r>
              <a:rPr lang="en-US" altLang="zh-CN" sz="1600" dirty="0">
                <a:solidFill>
                  <a:schemeClr val="accent6"/>
                </a:solidFill>
                <a:latin typeface="微软雅黑" panose="020B0503020204020204" pitchFamily="34" charset="-122"/>
                <a:ea typeface="微软雅黑" panose="020B0503020204020204" pitchFamily="34" charset="-122"/>
              </a:rPr>
              <a:t> 0 -1</a:t>
            </a:r>
          </a:p>
          <a:p>
            <a:r>
              <a:rPr lang="en-US" altLang="zh-CN" sz="1600" dirty="0">
                <a:solidFill>
                  <a:schemeClr val="accent6"/>
                </a:solidFill>
                <a:latin typeface="微软雅黑" panose="020B0503020204020204" pitchFamily="34" charset="-122"/>
                <a:ea typeface="微软雅黑" panose="020B0503020204020204" pitchFamily="34" charset="-122"/>
              </a:rPr>
              <a:t>1) "</a:t>
            </a:r>
            <a:r>
              <a:rPr lang="en-US" altLang="zh-CN" sz="1600" dirty="0" err="1">
                <a:solidFill>
                  <a:schemeClr val="accent6"/>
                </a:solidFill>
                <a:latin typeface="微软雅黑" panose="020B0503020204020204" pitchFamily="34" charset="-122"/>
                <a:ea typeface="微软雅黑" panose="020B0503020204020204" pitchFamily="34" charset="-122"/>
              </a:rPr>
              <a:t>xiaoliu</a:t>
            </a:r>
            <a:r>
              <a:rPr lang="en-US" altLang="zh-CN" sz="1600" dirty="0">
                <a:solidFill>
                  <a:schemeClr val="accent6"/>
                </a:solidFill>
                <a:latin typeface="微软雅黑" panose="020B0503020204020204" pitchFamily="34" charset="-122"/>
                <a:ea typeface="微软雅黑" panose="020B0503020204020204" pitchFamily="34" charset="-122"/>
              </a:rPr>
              <a:t>"</a:t>
            </a:r>
          </a:p>
          <a:p>
            <a:r>
              <a:rPr lang="en-US" altLang="zh-CN" sz="1600" dirty="0">
                <a:solidFill>
                  <a:schemeClr val="accent6"/>
                </a:solidFill>
                <a:latin typeface="微软雅黑" panose="020B0503020204020204" pitchFamily="34" charset="-122"/>
                <a:ea typeface="微软雅黑" panose="020B0503020204020204" pitchFamily="34" charset="-122"/>
              </a:rPr>
              <a:t>2) "</a:t>
            </a:r>
            <a:r>
              <a:rPr lang="en-US" altLang="zh-CN" sz="1600" dirty="0" err="1">
                <a:solidFill>
                  <a:schemeClr val="accent6"/>
                </a:solidFill>
                <a:latin typeface="微软雅黑" panose="020B0503020204020204" pitchFamily="34" charset="-122"/>
                <a:ea typeface="微软雅黑" panose="020B0503020204020204" pitchFamily="34" charset="-122"/>
              </a:rPr>
              <a:t>xiaobing</a:t>
            </a:r>
            <a:r>
              <a:rPr lang="en-US" altLang="zh-CN" sz="1600" dirty="0">
                <a:solidFill>
                  <a:schemeClr val="accent6"/>
                </a:solidFill>
                <a:latin typeface="微软雅黑" panose="020B0503020204020204" pitchFamily="34" charset="-122"/>
                <a:ea typeface="微软雅黑" panose="020B0503020204020204" pitchFamily="34" charset="-122"/>
              </a:rPr>
              <a:t>"</a:t>
            </a:r>
          </a:p>
          <a:p>
            <a:r>
              <a:rPr lang="en-US" altLang="zh-CN" sz="1600" dirty="0">
                <a:solidFill>
                  <a:schemeClr val="accent6"/>
                </a:solidFill>
                <a:latin typeface="微软雅黑" panose="020B0503020204020204" pitchFamily="34" charset="-122"/>
                <a:ea typeface="微软雅黑" panose="020B0503020204020204" pitchFamily="34" charset="-122"/>
              </a:rPr>
              <a:t>3) "</a:t>
            </a:r>
            <a:r>
              <a:rPr lang="en-US" altLang="zh-CN" sz="1600" dirty="0" err="1">
                <a:solidFill>
                  <a:schemeClr val="accent6"/>
                </a:solidFill>
                <a:latin typeface="微软雅黑" panose="020B0503020204020204" pitchFamily="34" charset="-122"/>
                <a:ea typeface="微软雅黑" panose="020B0503020204020204" pitchFamily="34" charset="-122"/>
              </a:rPr>
              <a:t>xiaohua</a:t>
            </a:r>
            <a:r>
              <a:rPr lang="en-US" altLang="zh-CN" sz="1600" dirty="0">
                <a:solidFill>
                  <a:schemeClr val="accent6"/>
                </a:solidFill>
                <a:latin typeface="微软雅黑" panose="020B0503020204020204" pitchFamily="34" charset="-122"/>
                <a:ea typeface="微软雅黑" panose="020B0503020204020204" pitchFamily="34" charset="-122"/>
              </a:rPr>
              <a:t>"</a:t>
            </a:r>
          </a:p>
          <a:p>
            <a:r>
              <a:rPr lang="en-US" altLang="zh-CN" sz="1600" dirty="0">
                <a:solidFill>
                  <a:schemeClr val="accent6"/>
                </a:solidFill>
                <a:latin typeface="微软雅黑" panose="020B0503020204020204" pitchFamily="34" charset="-122"/>
                <a:ea typeface="微软雅黑" panose="020B0503020204020204" pitchFamily="34" charset="-122"/>
              </a:rPr>
              <a:t>4) "</a:t>
            </a:r>
            <a:r>
              <a:rPr lang="en-US" altLang="zh-CN" sz="1600" dirty="0" err="1">
                <a:solidFill>
                  <a:schemeClr val="accent6"/>
                </a:solidFill>
                <a:latin typeface="微软雅黑" panose="020B0503020204020204" pitchFamily="34" charset="-122"/>
                <a:ea typeface="微软雅黑" panose="020B0503020204020204" pitchFamily="34" charset="-122"/>
              </a:rPr>
              <a:t>xiaoli</a:t>
            </a:r>
            <a:r>
              <a:rPr lang="en-US" altLang="zh-CN" sz="1600" dirty="0">
                <a:solidFill>
                  <a:schemeClr val="accent6"/>
                </a:solidFill>
                <a:latin typeface="微软雅黑" panose="020B0503020204020204" pitchFamily="34" charset="-122"/>
                <a:ea typeface="微软雅黑" panose="020B0503020204020204" pitchFamily="34" charset="-122"/>
              </a:rPr>
              <a:t>"</a:t>
            </a:r>
            <a:endParaRPr lang="zh-CN" altLang="en-US" sz="1600" dirty="0" smtClean="0">
              <a:solidFill>
                <a:schemeClr val="accent6"/>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658978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circle(in)">
                                      <p:cBhvr>
                                        <p:cTn id="14" dur="2000"/>
                                        <p:tgtEl>
                                          <p:spTgt spid="2"/>
                                        </p:tgtEl>
                                      </p:cBhvr>
                                    </p:animEffect>
                                  </p:childTnLst>
                                </p:cTn>
                              </p:par>
                              <p:par>
                                <p:cTn id="15" presetID="6" presetClass="entr" presetSubtype="16"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circle(in)">
                                      <p:cBhvr>
                                        <p:cTn id="17"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animBg="1"/>
      <p:bldP spid="1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A0F23"/>
        </a:solidFill>
        <a:effectLst/>
      </p:bgPr>
    </p:bg>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xmlns="" id="{62500BA0-5435-4394-A67D-935D06E8473D}"/>
              </a:ext>
            </a:extLst>
          </p:cNvPr>
          <p:cNvPicPr>
            <a:picLocks noChangeAspect="1"/>
          </p:cNvPicPr>
          <p:nvPr/>
        </p:nvPicPr>
        <p:blipFill rotWithShape="1">
          <a:blip r:embed="rId2"/>
          <a:srcRect l="60878"/>
          <a:stretch/>
        </p:blipFill>
        <p:spPr>
          <a:xfrm>
            <a:off x="6096000" y="652085"/>
            <a:ext cx="6269207" cy="5314808"/>
          </a:xfrm>
          <a:prstGeom prst="rect">
            <a:avLst/>
          </a:prstGeom>
          <a:solidFill>
            <a:srgbClr val="0A0F23"/>
          </a:solidFill>
          <a:effectLst>
            <a:softEdge rad="927100"/>
          </a:effectLst>
        </p:spPr>
      </p:pic>
      <p:sp>
        <p:nvSpPr>
          <p:cNvPr id="11" name="文本框 10">
            <a:extLst>
              <a:ext uri="{FF2B5EF4-FFF2-40B4-BE49-F238E27FC236}">
                <a16:creationId xmlns:a16="http://schemas.microsoft.com/office/drawing/2014/main" xmlns="" id="{070AA53B-EE7D-407A-93E5-ACCD74BA7C5C}"/>
              </a:ext>
            </a:extLst>
          </p:cNvPr>
          <p:cNvSpPr txBox="1"/>
          <p:nvPr/>
        </p:nvSpPr>
        <p:spPr>
          <a:xfrm>
            <a:off x="487679" y="2604821"/>
            <a:ext cx="3722371" cy="1200329"/>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72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pitchFamily="2" charset="-122"/>
                <a:cs typeface="+mn-cs"/>
              </a:rPr>
              <a:t>PART 03</a:t>
            </a:r>
            <a:endParaRPr kumimoji="0" lang="zh-CN" altLang="en-US" sz="72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pitchFamily="2" charset="-122"/>
              <a:cs typeface="+mn-cs"/>
            </a:endParaRPr>
          </a:p>
        </p:txBody>
      </p:sp>
      <p:sp>
        <p:nvSpPr>
          <p:cNvPr id="12" name="矩形 11">
            <a:extLst>
              <a:ext uri="{FF2B5EF4-FFF2-40B4-BE49-F238E27FC236}">
                <a16:creationId xmlns:a16="http://schemas.microsoft.com/office/drawing/2014/main" xmlns="" id="{1365D9B2-CE2D-4820-B0DA-C0FD3C575F5F}"/>
              </a:ext>
            </a:extLst>
          </p:cNvPr>
          <p:cNvSpPr/>
          <p:nvPr/>
        </p:nvSpPr>
        <p:spPr>
          <a:xfrm>
            <a:off x="487679" y="3837807"/>
            <a:ext cx="4232366" cy="6362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 </a:t>
            </a:r>
            <a:r>
              <a:rPr lang="en-US" altLang="zh-CN" sz="2000" b="1" dirty="0" err="1" smtClean="0">
                <a:solidFill>
                  <a:prstClr val="black">
                    <a:lumMod val="85000"/>
                    <a:lumOff val="15000"/>
                  </a:prstClr>
                </a:solidFill>
                <a:latin typeface="微软雅黑" panose="020B0503020204020204" pitchFamily="34" charset="-122"/>
                <a:ea typeface="微软雅黑" panose="020B0503020204020204" pitchFamily="34" charset="-122"/>
              </a:rPr>
              <a:t>redis</a:t>
            </a:r>
            <a:r>
              <a:rPr lang="zh-CN" altLang="en-US" sz="2000" b="1" dirty="0" smtClean="0">
                <a:solidFill>
                  <a:prstClr val="black">
                    <a:lumMod val="85000"/>
                    <a:lumOff val="15000"/>
                  </a:prstClr>
                </a:solidFill>
                <a:latin typeface="微软雅黑" panose="020B0503020204020204" pitchFamily="34" charset="-122"/>
                <a:ea typeface="微软雅黑" panose="020B0503020204020204" pitchFamily="34" charset="-122"/>
              </a:rPr>
              <a:t>其它</a:t>
            </a:r>
            <a:r>
              <a:rPr lang="zh-CN" altLang="en-US" sz="2000" b="1" dirty="0" smtClean="0">
                <a:solidFill>
                  <a:prstClr val="black">
                    <a:lumMod val="85000"/>
                    <a:lumOff val="15000"/>
                  </a:prstClr>
                </a:solidFill>
                <a:latin typeface="微软雅黑" panose="020B0503020204020204" pitchFamily="34" charset="-122"/>
                <a:ea typeface="微软雅黑" panose="020B0503020204020204" pitchFamily="34" charset="-122"/>
              </a:rPr>
              <a:t>数据类型</a:t>
            </a:r>
            <a:endParaRPr kumimoji="0" lang="zh-CN" altLang="en-US" sz="20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p:txBody>
      </p:sp>
      <p:pic>
        <p:nvPicPr>
          <p:cNvPr id="13" name="图片 12">
            <a:extLst>
              <a:ext uri="{FF2B5EF4-FFF2-40B4-BE49-F238E27FC236}">
                <a16:creationId xmlns:a16="http://schemas.microsoft.com/office/drawing/2014/main" xmlns="" id="{CBDC52CD-1D62-48AF-A9DF-9F18AEA2B1F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801385" y="-114300"/>
            <a:ext cx="1301859" cy="920356"/>
          </a:xfrm>
          <a:prstGeom prst="rect">
            <a:avLst/>
          </a:prstGeom>
        </p:spPr>
      </p:pic>
      <p:pic>
        <p:nvPicPr>
          <p:cNvPr id="14" name="图片 13">
            <a:extLst>
              <a:ext uri="{FF2B5EF4-FFF2-40B4-BE49-F238E27FC236}">
                <a16:creationId xmlns:a16="http://schemas.microsoft.com/office/drawing/2014/main" xmlns="" id="{F78DA958-9B1B-47DA-A870-8C0B3A7D8866}"/>
              </a:ext>
            </a:extLst>
          </p:cNvPr>
          <p:cNvPicPr>
            <a:picLocks noChangeAspect="1"/>
          </p:cNvPicPr>
          <p:nvPr/>
        </p:nvPicPr>
        <p:blipFill rotWithShape="1">
          <a:blip r:embed="rId4" cstate="print">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rcRect b="63537"/>
          <a:stretch/>
        </p:blipFill>
        <p:spPr>
          <a:xfrm>
            <a:off x="11184164" y="217733"/>
            <a:ext cx="572339" cy="337210"/>
          </a:xfrm>
          <a:prstGeom prst="rect">
            <a:avLst/>
          </a:prstGeom>
        </p:spPr>
      </p:pic>
      <p:cxnSp>
        <p:nvCxnSpPr>
          <p:cNvPr id="15" name="直接连接符 14">
            <a:extLst>
              <a:ext uri="{FF2B5EF4-FFF2-40B4-BE49-F238E27FC236}">
                <a16:creationId xmlns:a16="http://schemas.microsoft.com/office/drawing/2014/main" xmlns="" id="{93240A06-D526-4907-A163-94ABB41190CC}"/>
              </a:ext>
            </a:extLst>
          </p:cNvPr>
          <p:cNvCxnSpPr/>
          <p:nvPr/>
        </p:nvCxnSpPr>
        <p:spPr>
          <a:xfrm>
            <a:off x="11103244" y="225825"/>
            <a:ext cx="0" cy="2435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16" name="图片 15">
            <a:extLst>
              <a:ext uri="{FF2B5EF4-FFF2-40B4-BE49-F238E27FC236}">
                <a16:creationId xmlns:a16="http://schemas.microsoft.com/office/drawing/2014/main" xmlns="" id="{9D9CC490-11D4-4019-960D-2E0BA57F3E51}"/>
              </a:ext>
            </a:extLst>
          </p:cNvPr>
          <p:cNvPicPr>
            <a:picLocks noChangeAspect="1"/>
          </p:cNvPicPr>
          <p:nvPr/>
        </p:nvPicPr>
        <p:blipFill rotWithShape="1">
          <a:blip r:embed="rId2"/>
          <a:srcRect l="60878"/>
          <a:stretch/>
        </p:blipFill>
        <p:spPr>
          <a:xfrm>
            <a:off x="-5153300" y="547581"/>
            <a:ext cx="6269207" cy="5314808"/>
          </a:xfrm>
          <a:prstGeom prst="rect">
            <a:avLst/>
          </a:prstGeom>
          <a:solidFill>
            <a:srgbClr val="0A0F23"/>
          </a:solidFill>
          <a:effectLst>
            <a:softEdge rad="927100"/>
          </a:effectLst>
        </p:spPr>
      </p:pic>
    </p:spTree>
    <p:extLst>
      <p:ext uri="{BB962C8B-B14F-4D97-AF65-F5344CB8AC3E}">
        <p14:creationId xmlns:p14="http://schemas.microsoft.com/office/powerpoint/2010/main" val="412257575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A0F23"/>
        </a:solidFill>
        <a:effectLst/>
      </p:bgPr>
    </p:bg>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xmlns="" id="{CBDC52CD-1D62-48AF-A9DF-9F18AEA2B1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01385" y="-114300"/>
            <a:ext cx="1301859" cy="920356"/>
          </a:xfrm>
          <a:prstGeom prst="rect">
            <a:avLst/>
          </a:prstGeom>
        </p:spPr>
      </p:pic>
      <p:pic>
        <p:nvPicPr>
          <p:cNvPr id="14" name="图片 13">
            <a:extLst>
              <a:ext uri="{FF2B5EF4-FFF2-40B4-BE49-F238E27FC236}">
                <a16:creationId xmlns:a16="http://schemas.microsoft.com/office/drawing/2014/main" xmlns="" id="{F78DA958-9B1B-47DA-A870-8C0B3A7D8866}"/>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b="63537"/>
          <a:stretch/>
        </p:blipFill>
        <p:spPr>
          <a:xfrm>
            <a:off x="11184164" y="217733"/>
            <a:ext cx="572339" cy="337210"/>
          </a:xfrm>
          <a:prstGeom prst="rect">
            <a:avLst/>
          </a:prstGeom>
        </p:spPr>
      </p:pic>
      <p:cxnSp>
        <p:nvCxnSpPr>
          <p:cNvPr id="15" name="直接连接符 14">
            <a:extLst>
              <a:ext uri="{FF2B5EF4-FFF2-40B4-BE49-F238E27FC236}">
                <a16:creationId xmlns:a16="http://schemas.microsoft.com/office/drawing/2014/main" xmlns="" id="{93240A06-D526-4907-A163-94ABB41190CC}"/>
              </a:ext>
            </a:extLst>
          </p:cNvPr>
          <p:cNvCxnSpPr/>
          <p:nvPr/>
        </p:nvCxnSpPr>
        <p:spPr>
          <a:xfrm>
            <a:off x="11103244" y="225825"/>
            <a:ext cx="0" cy="2435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xmlns="" id="{74C59758-12AB-44A5-92FA-DB52904027AE}"/>
              </a:ext>
            </a:extLst>
          </p:cNvPr>
          <p:cNvSpPr/>
          <p:nvPr/>
        </p:nvSpPr>
        <p:spPr>
          <a:xfrm>
            <a:off x="802332" y="2172485"/>
            <a:ext cx="10765483" cy="2831544"/>
          </a:xfrm>
          <a:prstGeom prst="rect">
            <a:avLst/>
          </a:prstGeom>
        </p:spPr>
        <p:txBody>
          <a:bodyPr wrap="square">
            <a:spAutoFit/>
          </a:bodyPr>
          <a:lstStyle/>
          <a:p>
            <a:pPr indent="457200">
              <a:lnSpc>
                <a:spcPct val="150000"/>
              </a:lnSpc>
            </a:pPr>
            <a:r>
              <a:rPr lang="zh-CN" altLang="en-US" dirty="0" smtClean="0">
                <a:solidFill>
                  <a:prstClr val="white"/>
                </a:solidFill>
                <a:latin typeface="微软雅黑" panose="020B0503020204020204" pitchFamily="34" charset="-122"/>
                <a:ea typeface="微软雅黑" panose="020B0503020204020204" pitchFamily="34" charset="-122"/>
              </a:rPr>
              <a:t>当前很多软件为了增加用户粘度，都有签到功能，用户连续签到会得到一些诸如积分，虚拟币的奖励。签到的信息如果用普通的</a:t>
            </a:r>
            <a:r>
              <a:rPr lang="en-US" altLang="zh-CN" dirty="0" smtClean="0">
                <a:solidFill>
                  <a:prstClr val="white"/>
                </a:solidFill>
                <a:latin typeface="微软雅黑" panose="020B0503020204020204" pitchFamily="34" charset="-122"/>
                <a:ea typeface="微软雅黑" panose="020B0503020204020204" pitchFamily="34" charset="-122"/>
              </a:rPr>
              <a:t>key/value</a:t>
            </a:r>
            <a:r>
              <a:rPr lang="zh-CN" altLang="en-US" dirty="0">
                <a:solidFill>
                  <a:prstClr val="white"/>
                </a:solidFill>
                <a:latin typeface="微软雅黑" panose="020B0503020204020204" pitchFamily="34" charset="-122"/>
                <a:ea typeface="微软雅黑" panose="020B0503020204020204" pitchFamily="34" charset="-122"/>
              </a:rPr>
              <a:t>保</a:t>
            </a:r>
            <a:r>
              <a:rPr lang="zh-CN" altLang="en-US" dirty="0" smtClean="0">
                <a:solidFill>
                  <a:prstClr val="white"/>
                </a:solidFill>
                <a:latin typeface="微软雅黑" panose="020B0503020204020204" pitchFamily="34" charset="-122"/>
                <a:ea typeface="微软雅黑" panose="020B0503020204020204" pitchFamily="34" charset="-122"/>
              </a:rPr>
              <a:t>存，当用户量过千万上亿的时候，会占用太多的存储空间。</a:t>
            </a:r>
            <a:endParaRPr lang="en-US" altLang="zh-CN" dirty="0" smtClean="0">
              <a:solidFill>
                <a:prstClr val="white"/>
              </a:solidFill>
              <a:latin typeface="微软雅黑" panose="020B0503020204020204" pitchFamily="34" charset="-122"/>
              <a:ea typeface="微软雅黑" panose="020B0503020204020204" pitchFamily="34" charset="-122"/>
            </a:endParaRPr>
          </a:p>
          <a:p>
            <a:pPr indent="457200">
              <a:lnSpc>
                <a:spcPct val="150000"/>
              </a:lnSpc>
            </a:pPr>
            <a:r>
              <a:rPr lang="zh-CN" altLang="en-US" dirty="0" smtClean="0">
                <a:solidFill>
                  <a:prstClr val="white"/>
                </a:solidFill>
                <a:latin typeface="微软雅黑" panose="020B0503020204020204" pitchFamily="34" charset="-122"/>
                <a:ea typeface="微软雅黑" panose="020B0503020204020204" pitchFamily="34" charset="-122"/>
              </a:rPr>
              <a:t>可以借助</a:t>
            </a:r>
            <a:r>
              <a:rPr lang="en-US" altLang="zh-CN" dirty="0" err="1" smtClean="0">
                <a:solidFill>
                  <a:prstClr val="white"/>
                </a:solidFill>
                <a:latin typeface="微软雅黑" panose="020B0503020204020204" pitchFamily="34" charset="-122"/>
                <a:ea typeface="微软雅黑" panose="020B0503020204020204" pitchFamily="34" charset="-122"/>
              </a:rPr>
              <a:t>redis</a:t>
            </a:r>
            <a:r>
              <a:rPr lang="zh-CN" altLang="en-US" dirty="0" smtClean="0">
                <a:solidFill>
                  <a:prstClr val="white"/>
                </a:solidFill>
                <a:latin typeface="微软雅黑" panose="020B0503020204020204" pitchFamily="34" charset="-122"/>
                <a:ea typeface="微软雅黑" panose="020B0503020204020204" pitchFamily="34" charset="-122"/>
              </a:rPr>
              <a:t>提供的位图数据结构，把一年分为</a:t>
            </a:r>
            <a:r>
              <a:rPr lang="en-US" altLang="zh-CN" dirty="0" smtClean="0">
                <a:solidFill>
                  <a:prstClr val="white"/>
                </a:solidFill>
                <a:latin typeface="微软雅黑" panose="020B0503020204020204" pitchFamily="34" charset="-122"/>
                <a:ea typeface="微软雅黑" panose="020B0503020204020204" pitchFamily="34" charset="-122"/>
              </a:rPr>
              <a:t>365</a:t>
            </a:r>
            <a:r>
              <a:rPr lang="zh-CN" altLang="en-US" dirty="0" smtClean="0">
                <a:solidFill>
                  <a:prstClr val="white"/>
                </a:solidFill>
                <a:latin typeface="微软雅黑" panose="020B0503020204020204" pitchFamily="34" charset="-122"/>
                <a:ea typeface="微软雅黑" panose="020B0503020204020204" pitchFamily="34" charset="-122"/>
              </a:rPr>
              <a:t>天，每天的存储签到记录用一个</a:t>
            </a:r>
            <a:r>
              <a:rPr lang="en-US" altLang="zh-CN" dirty="0" smtClean="0">
                <a:solidFill>
                  <a:prstClr val="white"/>
                </a:solidFill>
                <a:latin typeface="微软雅黑" panose="020B0503020204020204" pitchFamily="34" charset="-122"/>
                <a:ea typeface="微软雅黑" panose="020B0503020204020204" pitchFamily="34" charset="-122"/>
              </a:rPr>
              <a:t>bit</a:t>
            </a:r>
            <a:r>
              <a:rPr lang="zh-CN" altLang="en-US" dirty="0" smtClean="0">
                <a:solidFill>
                  <a:prstClr val="white"/>
                </a:solidFill>
                <a:latin typeface="微软雅黑" panose="020B0503020204020204" pitchFamily="34" charset="-122"/>
                <a:ea typeface="微软雅黑" panose="020B0503020204020204" pitchFamily="34" charset="-122"/>
              </a:rPr>
              <a:t>位保存，这样</a:t>
            </a:r>
            <a:r>
              <a:rPr lang="en-US" altLang="zh-CN" dirty="0" smtClean="0">
                <a:solidFill>
                  <a:prstClr val="white"/>
                </a:solidFill>
                <a:latin typeface="微软雅黑" panose="020B0503020204020204" pitchFamily="34" charset="-122"/>
                <a:ea typeface="微软雅黑" panose="020B0503020204020204" pitchFamily="34" charset="-122"/>
              </a:rPr>
              <a:t>46</a:t>
            </a:r>
            <a:r>
              <a:rPr lang="zh-CN" altLang="en-US" dirty="0" smtClean="0">
                <a:solidFill>
                  <a:prstClr val="white"/>
                </a:solidFill>
                <a:latin typeface="微软雅黑" panose="020B0503020204020204" pitchFamily="34" charset="-122"/>
                <a:ea typeface="微软雅黑" panose="020B0503020204020204" pitchFamily="34" charset="-122"/>
              </a:rPr>
              <a:t>个字节就可以保存用户一年的签到数据。</a:t>
            </a:r>
            <a:endParaRPr lang="en-US" altLang="zh-CN" dirty="0">
              <a:solidFill>
                <a:prstClr val="white"/>
              </a:solidFill>
              <a:latin typeface="微软雅黑" panose="020B0503020204020204" pitchFamily="34" charset="-122"/>
              <a:ea typeface="微软雅黑" panose="020B0503020204020204" pitchFamily="34" charset="-122"/>
            </a:endParaRPr>
          </a:p>
          <a:p>
            <a:pPr indent="457200">
              <a:lnSpc>
                <a:spcPct val="150000"/>
              </a:lnSpc>
            </a:pPr>
            <a:r>
              <a:rPr lang="zh-CN" altLang="en-US" dirty="0" smtClean="0">
                <a:solidFill>
                  <a:prstClr val="white"/>
                </a:solidFill>
                <a:latin typeface="微软雅黑" panose="020B0503020204020204" pitchFamily="34" charset="-122"/>
                <a:ea typeface="微软雅黑" panose="020B0503020204020204" pitchFamily="34" charset="-122"/>
              </a:rPr>
              <a:t>位图内部</a:t>
            </a:r>
            <a:r>
              <a:rPr lang="zh-CN" altLang="en-US" dirty="0">
                <a:solidFill>
                  <a:prstClr val="white"/>
                </a:solidFill>
                <a:latin typeface="微软雅黑" panose="020B0503020204020204" pitchFamily="34" charset="-122"/>
                <a:ea typeface="微软雅黑" panose="020B0503020204020204" pitchFamily="34" charset="-122"/>
              </a:rPr>
              <a:t>是</a:t>
            </a:r>
            <a:r>
              <a:rPr lang="en-US" altLang="zh-CN" dirty="0" err="1" smtClean="0">
                <a:solidFill>
                  <a:prstClr val="white"/>
                </a:solidFill>
                <a:latin typeface="微软雅黑" panose="020B0503020204020204" pitchFamily="34" charset="-122"/>
                <a:ea typeface="微软雅黑" panose="020B0503020204020204" pitchFamily="34" charset="-122"/>
              </a:rPr>
              <a:t>redis</a:t>
            </a:r>
            <a:r>
              <a:rPr lang="zh-CN" altLang="en-US" dirty="0" smtClean="0">
                <a:solidFill>
                  <a:prstClr val="white"/>
                </a:solidFill>
                <a:latin typeface="微软雅黑" panose="020B0503020204020204" pitchFamily="34" charset="-122"/>
                <a:ea typeface="微软雅黑" panose="020B0503020204020204" pitchFamily="34" charset="-122"/>
              </a:rPr>
              <a:t>的普通数据结构</a:t>
            </a:r>
            <a:r>
              <a:rPr lang="en-US" altLang="zh-CN" dirty="0" smtClean="0">
                <a:solidFill>
                  <a:prstClr val="white"/>
                </a:solidFill>
                <a:latin typeface="微软雅黑" panose="020B0503020204020204" pitchFamily="34" charset="-122"/>
                <a:ea typeface="微软雅黑" panose="020B0503020204020204" pitchFamily="34" charset="-122"/>
              </a:rPr>
              <a:t>string</a:t>
            </a:r>
            <a:r>
              <a:rPr lang="zh-CN" altLang="en-US" dirty="0" smtClean="0">
                <a:solidFill>
                  <a:prstClr val="white"/>
                </a:solidFill>
                <a:latin typeface="微软雅黑" panose="020B0503020204020204" pitchFamily="34" charset="-122"/>
                <a:ea typeface="微软雅黑" panose="020B0503020204020204" pitchFamily="34" charset="-122"/>
              </a:rPr>
              <a:t>。可以使用普通的</a:t>
            </a:r>
            <a:r>
              <a:rPr lang="en-US" altLang="zh-CN" dirty="0" smtClean="0">
                <a:solidFill>
                  <a:prstClr val="white"/>
                </a:solidFill>
                <a:latin typeface="微软雅黑" panose="020B0503020204020204" pitchFamily="34" charset="-122"/>
                <a:ea typeface="微软雅黑" panose="020B0503020204020204" pitchFamily="34" charset="-122"/>
              </a:rPr>
              <a:t>set/get</a:t>
            </a:r>
            <a:r>
              <a:rPr lang="zh-CN" altLang="en-US" dirty="0">
                <a:solidFill>
                  <a:prstClr val="white"/>
                </a:solidFill>
                <a:latin typeface="微软雅黑" panose="020B0503020204020204" pitchFamily="34" charset="-122"/>
                <a:ea typeface="微软雅黑" panose="020B0503020204020204" pitchFamily="34" charset="-122"/>
              </a:rPr>
              <a:t>设</a:t>
            </a:r>
            <a:r>
              <a:rPr lang="zh-CN" altLang="en-US" dirty="0" smtClean="0">
                <a:solidFill>
                  <a:prstClr val="white"/>
                </a:solidFill>
                <a:latin typeface="微软雅黑" panose="020B0503020204020204" pitchFamily="34" charset="-122"/>
                <a:ea typeface="微软雅黑" panose="020B0503020204020204" pitchFamily="34" charset="-122"/>
              </a:rPr>
              <a:t>置整个位图的内容，也可以使用</a:t>
            </a:r>
            <a:r>
              <a:rPr lang="en-US" altLang="zh-CN" dirty="0" err="1" smtClean="0">
                <a:solidFill>
                  <a:prstClr val="white"/>
                </a:solidFill>
                <a:latin typeface="微软雅黑" panose="020B0503020204020204" pitchFamily="34" charset="-122"/>
                <a:ea typeface="微软雅黑" panose="020B0503020204020204" pitchFamily="34" charset="-122"/>
              </a:rPr>
              <a:t>getbit</a:t>
            </a:r>
            <a:r>
              <a:rPr lang="en-US" altLang="zh-CN" dirty="0" smtClean="0">
                <a:solidFill>
                  <a:prstClr val="white"/>
                </a:solidFill>
                <a:latin typeface="微软雅黑" panose="020B0503020204020204" pitchFamily="34" charset="-122"/>
                <a:ea typeface="微软雅黑" panose="020B0503020204020204" pitchFamily="34" charset="-122"/>
              </a:rPr>
              <a:t>/</a:t>
            </a:r>
            <a:r>
              <a:rPr lang="en-US" altLang="zh-CN" dirty="0" err="1" smtClean="0">
                <a:solidFill>
                  <a:prstClr val="white"/>
                </a:solidFill>
                <a:latin typeface="微软雅黑" panose="020B0503020204020204" pitchFamily="34" charset="-122"/>
                <a:ea typeface="微软雅黑" panose="020B0503020204020204" pitchFamily="34" charset="-122"/>
              </a:rPr>
              <a:t>setbit</a:t>
            </a:r>
            <a:r>
              <a:rPr lang="zh-CN" altLang="en-US" dirty="0" smtClean="0">
                <a:solidFill>
                  <a:prstClr val="white"/>
                </a:solidFill>
                <a:latin typeface="微软雅黑" panose="020B0503020204020204" pitchFamily="34" charset="-122"/>
                <a:ea typeface="微软雅黑" panose="020B0503020204020204" pitchFamily="34" charset="-122"/>
              </a:rPr>
              <a:t>等方法操作具体的</a:t>
            </a:r>
            <a:r>
              <a:rPr lang="en-US" altLang="zh-CN" dirty="0" smtClean="0">
                <a:solidFill>
                  <a:prstClr val="white"/>
                </a:solidFill>
                <a:latin typeface="微软雅黑" panose="020B0503020204020204" pitchFamily="34" charset="-122"/>
                <a:ea typeface="微软雅黑" panose="020B0503020204020204" pitchFamily="34" charset="-122"/>
              </a:rPr>
              <a:t>bit</a:t>
            </a:r>
            <a:r>
              <a:rPr lang="zh-CN" altLang="en-US" dirty="0" smtClean="0">
                <a:solidFill>
                  <a:prstClr val="white"/>
                </a:solidFill>
                <a:latin typeface="微软雅黑" panose="020B0503020204020204" pitchFamily="34" charset="-122"/>
                <a:ea typeface="微软雅黑" panose="020B0503020204020204" pitchFamily="34" charset="-122"/>
              </a:rPr>
              <a:t>位。每个</a:t>
            </a:r>
            <a:r>
              <a:rPr lang="en-US" altLang="zh-CN" dirty="0" smtClean="0">
                <a:solidFill>
                  <a:prstClr val="white"/>
                </a:solidFill>
                <a:latin typeface="微软雅黑" panose="020B0503020204020204" pitchFamily="34" charset="-122"/>
                <a:ea typeface="微软雅黑" panose="020B0503020204020204" pitchFamily="34" charset="-122"/>
              </a:rPr>
              <a:t>bit</a:t>
            </a:r>
            <a:r>
              <a:rPr lang="zh-CN" altLang="en-US" dirty="0" smtClean="0">
                <a:solidFill>
                  <a:prstClr val="white"/>
                </a:solidFill>
                <a:latin typeface="微软雅黑" panose="020B0503020204020204" pitchFamily="34" charset="-122"/>
                <a:ea typeface="微软雅黑" panose="020B0503020204020204" pitchFamily="34" charset="-122"/>
              </a:rPr>
              <a:t>位的取值只能是</a:t>
            </a:r>
            <a:r>
              <a:rPr lang="en-US" altLang="zh-CN" dirty="0" smtClean="0">
                <a:solidFill>
                  <a:prstClr val="white"/>
                </a:solidFill>
                <a:latin typeface="微软雅黑" panose="020B0503020204020204" pitchFamily="34" charset="-122"/>
                <a:ea typeface="微软雅黑" panose="020B0503020204020204" pitchFamily="34" charset="-122"/>
              </a:rPr>
              <a:t>1</a:t>
            </a:r>
            <a:r>
              <a:rPr lang="zh-CN" altLang="en-US" dirty="0" smtClean="0">
                <a:solidFill>
                  <a:prstClr val="white"/>
                </a:solidFill>
                <a:latin typeface="微软雅黑" panose="020B0503020204020204" pitchFamily="34" charset="-122"/>
                <a:ea typeface="微软雅黑" panose="020B0503020204020204" pitchFamily="34" charset="-122"/>
              </a:rPr>
              <a:t>或</a:t>
            </a:r>
            <a:r>
              <a:rPr lang="en-US" altLang="zh-CN" dirty="0" smtClean="0">
                <a:solidFill>
                  <a:prstClr val="white"/>
                </a:solidFill>
                <a:latin typeface="微软雅黑" panose="020B0503020204020204" pitchFamily="34" charset="-122"/>
                <a:ea typeface="微软雅黑" panose="020B0503020204020204" pitchFamily="34" charset="-122"/>
              </a:rPr>
              <a:t>0</a:t>
            </a:r>
            <a:r>
              <a:rPr lang="zh-CN" altLang="en-US" dirty="0" smtClean="0">
                <a:solidFill>
                  <a:prstClr val="white"/>
                </a:solidFill>
                <a:latin typeface="微软雅黑" panose="020B0503020204020204" pitchFamily="34" charset="-122"/>
                <a:ea typeface="微软雅黑" panose="020B0503020204020204" pitchFamily="34" charset="-122"/>
              </a:rPr>
              <a:t>，如图</a:t>
            </a:r>
            <a:r>
              <a:rPr lang="en-US" altLang="zh-CN" dirty="0" smtClean="0">
                <a:solidFill>
                  <a:prstClr val="white"/>
                </a:solidFill>
                <a:latin typeface="微软雅黑" panose="020B0503020204020204" pitchFamily="34" charset="-122"/>
                <a:ea typeface="微软雅黑" panose="020B0503020204020204" pitchFamily="34" charset="-122"/>
              </a:rPr>
              <a:t>3.1.1 - 1</a:t>
            </a:r>
          </a:p>
          <a:p>
            <a:r>
              <a:rPr lang="en-US" altLang="zh-CN" sz="1600" dirty="0">
                <a:solidFill>
                  <a:prstClr val="white"/>
                </a:solidFill>
                <a:latin typeface="微软雅黑" panose="020B0503020204020204" pitchFamily="34" charset="-122"/>
                <a:ea typeface="微软雅黑" panose="020B0503020204020204" pitchFamily="34" charset="-122"/>
              </a:rPr>
              <a:t> </a:t>
            </a:r>
            <a:r>
              <a:rPr lang="en-US" altLang="zh-CN" sz="1600" dirty="0" smtClean="0">
                <a:solidFill>
                  <a:prstClr val="white"/>
                </a:solidFill>
                <a:latin typeface="微软雅黑" panose="020B0503020204020204" pitchFamily="34" charset="-122"/>
                <a:ea typeface="微软雅黑" panose="020B0503020204020204" pitchFamily="34" charset="-122"/>
              </a:rPr>
              <a:t>  </a:t>
            </a:r>
            <a:endParaRPr lang="zh-CN" altLang="en-US" sz="1600" dirty="0">
              <a:solidFill>
                <a:prstClr val="white"/>
              </a:solidFill>
              <a:latin typeface="微软雅黑" panose="020B0503020204020204" pitchFamily="34" charset="-122"/>
              <a:ea typeface="微软雅黑" panose="020B0503020204020204" pitchFamily="34" charset="-122"/>
            </a:endParaRPr>
          </a:p>
        </p:txBody>
      </p:sp>
      <p:sp>
        <p:nvSpPr>
          <p:cNvPr id="10" name="TextBox 9"/>
          <p:cNvSpPr txBox="1"/>
          <p:nvPr/>
        </p:nvSpPr>
        <p:spPr>
          <a:xfrm>
            <a:off x="704850" y="605109"/>
            <a:ext cx="7651750" cy="584775"/>
          </a:xfrm>
          <a:prstGeom prst="rect">
            <a:avLst/>
          </a:prstGeom>
          <a:noFill/>
        </p:spPr>
        <p:txBody>
          <a:bodyPr wrap="square" rtlCol="0">
            <a:spAutoFit/>
          </a:bodyPr>
          <a:lstStyle/>
          <a:p>
            <a:pPr>
              <a:defRPr/>
            </a:pPr>
            <a:r>
              <a:rPr lang="en-US" altLang="zh-CN" sz="32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3.1</a:t>
            </a:r>
            <a:r>
              <a:rPr lang="zh-CN" altLang="en-US" sz="32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、签到功能 </a:t>
            </a:r>
            <a:r>
              <a:rPr lang="en-US" altLang="zh-CN" sz="32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 </a:t>
            </a:r>
            <a:r>
              <a:rPr lang="zh-CN" altLang="en-US" sz="32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位图应用</a:t>
            </a:r>
          </a:p>
        </p:txBody>
      </p:sp>
      <p:sp>
        <p:nvSpPr>
          <p:cNvPr id="8" name="TextBox 9"/>
          <p:cNvSpPr txBox="1"/>
          <p:nvPr/>
        </p:nvSpPr>
        <p:spPr>
          <a:xfrm>
            <a:off x="704850" y="1432421"/>
            <a:ext cx="4038600" cy="523220"/>
          </a:xfrm>
          <a:prstGeom prst="rect">
            <a:avLst/>
          </a:prstGeom>
          <a:noFill/>
        </p:spPr>
        <p:txBody>
          <a:bodyPr wrap="square" rtlCol="0">
            <a:spAutoFit/>
          </a:bodyPr>
          <a:lstStyle/>
          <a:p>
            <a:pPr>
              <a:defRPr/>
            </a:pPr>
            <a:r>
              <a:rPr lang="en-US" altLang="zh-CN"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3.1.1 </a:t>
            </a:r>
            <a:r>
              <a:rPr lang="zh-CN" altLang="en-US"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功能描述</a:t>
            </a:r>
          </a:p>
        </p:txBody>
      </p:sp>
      <p:grpSp>
        <p:nvGrpSpPr>
          <p:cNvPr id="4" name="组合 3"/>
          <p:cNvGrpSpPr/>
          <p:nvPr/>
        </p:nvGrpSpPr>
        <p:grpSpPr>
          <a:xfrm>
            <a:off x="2830285" y="5165941"/>
            <a:ext cx="5692136" cy="1105090"/>
            <a:chOff x="2830285" y="4840637"/>
            <a:chExt cx="5692136" cy="1105090"/>
          </a:xfrm>
        </p:grpSpPr>
        <p:sp>
          <p:nvSpPr>
            <p:cNvPr id="2" name="矩形 1"/>
            <p:cNvSpPr/>
            <p:nvPr/>
          </p:nvSpPr>
          <p:spPr>
            <a:xfrm>
              <a:off x="2830285" y="4847770"/>
              <a:ext cx="638628" cy="377372"/>
            </a:xfrm>
            <a:prstGeom prst="rect">
              <a:avLst/>
            </a:prstGeom>
            <a:solidFill>
              <a:schemeClr val="accent4">
                <a:lumMod val="75000"/>
              </a:schemeClr>
            </a:solidFill>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dirty="0" smtClean="0">
                  <a:solidFill>
                    <a:schemeClr val="bg1"/>
                  </a:solidFill>
                </a:rPr>
                <a:t>1</a:t>
              </a:r>
              <a:endParaRPr lang="zh-CN" altLang="en-US" dirty="0">
                <a:solidFill>
                  <a:schemeClr val="bg1"/>
                </a:solidFill>
              </a:endParaRPr>
            </a:p>
          </p:txBody>
        </p:sp>
        <p:sp>
          <p:nvSpPr>
            <p:cNvPr id="12" name="矩形 11"/>
            <p:cNvSpPr/>
            <p:nvPr/>
          </p:nvSpPr>
          <p:spPr>
            <a:xfrm>
              <a:off x="3466706" y="4847770"/>
              <a:ext cx="638628" cy="377372"/>
            </a:xfrm>
            <a:prstGeom prst="rect">
              <a:avLst/>
            </a:prstGeom>
            <a:solidFill>
              <a:schemeClr val="accent4">
                <a:lumMod val="75000"/>
              </a:schemeClr>
            </a:solidFill>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dirty="0">
                  <a:solidFill>
                    <a:schemeClr val="bg1"/>
                  </a:solidFill>
                </a:rPr>
                <a:t>0</a:t>
              </a:r>
              <a:endParaRPr lang="zh-CN" altLang="en-US" dirty="0">
                <a:solidFill>
                  <a:schemeClr val="bg1"/>
                </a:solidFill>
              </a:endParaRPr>
            </a:p>
          </p:txBody>
        </p:sp>
        <p:sp>
          <p:nvSpPr>
            <p:cNvPr id="16" name="矩形 15"/>
            <p:cNvSpPr/>
            <p:nvPr/>
          </p:nvSpPr>
          <p:spPr>
            <a:xfrm>
              <a:off x="4103127" y="4845406"/>
              <a:ext cx="638628" cy="377372"/>
            </a:xfrm>
            <a:prstGeom prst="rect">
              <a:avLst/>
            </a:prstGeom>
            <a:solidFill>
              <a:schemeClr val="accent4">
                <a:lumMod val="75000"/>
              </a:schemeClr>
            </a:solidFill>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dirty="0">
                  <a:solidFill>
                    <a:schemeClr val="bg1"/>
                  </a:solidFill>
                </a:rPr>
                <a:t>0</a:t>
              </a:r>
              <a:endParaRPr lang="zh-CN" altLang="en-US" dirty="0">
                <a:solidFill>
                  <a:schemeClr val="bg1"/>
                </a:solidFill>
              </a:endParaRPr>
            </a:p>
          </p:txBody>
        </p:sp>
        <p:sp>
          <p:nvSpPr>
            <p:cNvPr id="17" name="矩形 16"/>
            <p:cNvSpPr/>
            <p:nvPr/>
          </p:nvSpPr>
          <p:spPr>
            <a:xfrm>
              <a:off x="4720618" y="4841342"/>
              <a:ext cx="638628" cy="377372"/>
            </a:xfrm>
            <a:prstGeom prst="rect">
              <a:avLst/>
            </a:prstGeom>
            <a:solidFill>
              <a:schemeClr val="accent4">
                <a:lumMod val="75000"/>
              </a:schemeClr>
            </a:solidFill>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dirty="0" smtClean="0">
                  <a:solidFill>
                    <a:schemeClr val="bg1"/>
                  </a:solidFill>
                </a:rPr>
                <a:t>1</a:t>
              </a:r>
              <a:endParaRPr lang="zh-CN" altLang="en-US" dirty="0">
                <a:solidFill>
                  <a:schemeClr val="bg1"/>
                </a:solidFill>
              </a:endParaRPr>
            </a:p>
          </p:txBody>
        </p:sp>
        <p:sp>
          <p:nvSpPr>
            <p:cNvPr id="18" name="矩形 17"/>
            <p:cNvSpPr/>
            <p:nvPr/>
          </p:nvSpPr>
          <p:spPr>
            <a:xfrm>
              <a:off x="5357039" y="4841342"/>
              <a:ext cx="638628" cy="377372"/>
            </a:xfrm>
            <a:prstGeom prst="rect">
              <a:avLst/>
            </a:prstGeom>
            <a:solidFill>
              <a:schemeClr val="accent4">
                <a:lumMod val="75000"/>
              </a:schemeClr>
            </a:solidFill>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dirty="0" smtClean="0">
                  <a:solidFill>
                    <a:schemeClr val="bg1"/>
                  </a:solidFill>
                </a:rPr>
                <a:t>1</a:t>
              </a:r>
              <a:endParaRPr lang="zh-CN" altLang="en-US" dirty="0">
                <a:solidFill>
                  <a:schemeClr val="bg1"/>
                </a:solidFill>
              </a:endParaRPr>
            </a:p>
          </p:txBody>
        </p:sp>
        <p:sp>
          <p:nvSpPr>
            <p:cNvPr id="19" name="矩形 18"/>
            <p:cNvSpPr/>
            <p:nvPr/>
          </p:nvSpPr>
          <p:spPr>
            <a:xfrm>
              <a:off x="5993460" y="4847770"/>
              <a:ext cx="638628" cy="377372"/>
            </a:xfrm>
            <a:prstGeom prst="rect">
              <a:avLst/>
            </a:prstGeom>
            <a:solidFill>
              <a:schemeClr val="accent4">
                <a:lumMod val="75000"/>
              </a:schemeClr>
            </a:solidFill>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dirty="0">
                  <a:solidFill>
                    <a:schemeClr val="bg1"/>
                  </a:solidFill>
                </a:rPr>
                <a:t>0</a:t>
              </a:r>
              <a:endParaRPr lang="zh-CN" altLang="en-US" dirty="0">
                <a:solidFill>
                  <a:schemeClr val="bg1"/>
                </a:solidFill>
              </a:endParaRPr>
            </a:p>
          </p:txBody>
        </p:sp>
        <p:sp>
          <p:nvSpPr>
            <p:cNvPr id="20" name="矩形 19"/>
            <p:cNvSpPr/>
            <p:nvPr/>
          </p:nvSpPr>
          <p:spPr>
            <a:xfrm>
              <a:off x="6610951" y="4843001"/>
              <a:ext cx="638628" cy="377372"/>
            </a:xfrm>
            <a:prstGeom prst="rect">
              <a:avLst/>
            </a:prstGeom>
            <a:solidFill>
              <a:schemeClr val="accent4">
                <a:lumMod val="75000"/>
              </a:schemeClr>
            </a:solidFill>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dirty="0" smtClean="0">
                  <a:solidFill>
                    <a:schemeClr val="bg1"/>
                  </a:solidFill>
                </a:rPr>
                <a:t>1</a:t>
              </a:r>
              <a:endParaRPr lang="zh-CN" altLang="en-US" dirty="0">
                <a:solidFill>
                  <a:schemeClr val="bg1"/>
                </a:solidFill>
              </a:endParaRPr>
            </a:p>
          </p:txBody>
        </p:sp>
        <p:sp>
          <p:nvSpPr>
            <p:cNvPr id="21" name="矩形 20"/>
            <p:cNvSpPr/>
            <p:nvPr/>
          </p:nvSpPr>
          <p:spPr>
            <a:xfrm>
              <a:off x="7247372" y="4843001"/>
              <a:ext cx="638628" cy="377372"/>
            </a:xfrm>
            <a:prstGeom prst="rect">
              <a:avLst/>
            </a:prstGeom>
            <a:solidFill>
              <a:schemeClr val="accent4">
                <a:lumMod val="75000"/>
              </a:schemeClr>
            </a:solidFill>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dirty="0">
                  <a:solidFill>
                    <a:schemeClr val="bg1"/>
                  </a:solidFill>
                </a:rPr>
                <a:t>0</a:t>
              </a:r>
              <a:endParaRPr lang="zh-CN" altLang="en-US" dirty="0">
                <a:solidFill>
                  <a:schemeClr val="bg1"/>
                </a:solidFill>
              </a:endParaRPr>
            </a:p>
          </p:txBody>
        </p:sp>
        <p:sp>
          <p:nvSpPr>
            <p:cNvPr id="22" name="矩形 21"/>
            <p:cNvSpPr/>
            <p:nvPr/>
          </p:nvSpPr>
          <p:spPr>
            <a:xfrm>
              <a:off x="7883793" y="4840637"/>
              <a:ext cx="638628" cy="377372"/>
            </a:xfrm>
            <a:prstGeom prst="rect">
              <a:avLst/>
            </a:prstGeom>
            <a:solidFill>
              <a:schemeClr val="accent4">
                <a:lumMod val="75000"/>
              </a:schemeClr>
            </a:solidFill>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dirty="0" smtClean="0">
                  <a:solidFill>
                    <a:schemeClr val="bg1"/>
                  </a:solidFill>
                </a:rPr>
                <a:t>1</a:t>
              </a:r>
              <a:endParaRPr lang="zh-CN" altLang="en-US" dirty="0">
                <a:solidFill>
                  <a:schemeClr val="bg1"/>
                </a:solidFill>
              </a:endParaRPr>
            </a:p>
          </p:txBody>
        </p:sp>
        <p:sp>
          <p:nvSpPr>
            <p:cNvPr id="3" name="文本框 2"/>
            <p:cNvSpPr txBox="1"/>
            <p:nvPr/>
          </p:nvSpPr>
          <p:spPr>
            <a:xfrm>
              <a:off x="4720618" y="5576395"/>
              <a:ext cx="2152531" cy="369332"/>
            </a:xfrm>
            <a:prstGeom prst="rect">
              <a:avLst/>
            </a:prstGeom>
            <a:noFill/>
          </p:spPr>
          <p:txBody>
            <a:bodyPr wrap="square" rtlCol="0">
              <a:spAutoFit/>
            </a:bodyPr>
            <a:lstStyle/>
            <a:p>
              <a:pPr algn="ctr"/>
              <a:r>
                <a:rPr lang="zh-CN" altLang="en-US" dirty="0" smtClean="0">
                  <a:solidFill>
                    <a:schemeClr val="bg1"/>
                  </a:solidFill>
                  <a:latin typeface="微软雅黑" panose="020B0503020204020204" pitchFamily="34" charset="-122"/>
                  <a:ea typeface="微软雅黑" panose="020B0503020204020204" pitchFamily="34" charset="-122"/>
                </a:rPr>
                <a:t>图</a:t>
              </a:r>
              <a:r>
                <a:rPr lang="en-US" altLang="zh-CN" dirty="0" smtClean="0">
                  <a:solidFill>
                    <a:schemeClr val="bg1"/>
                  </a:solidFill>
                  <a:latin typeface="微软雅黑" panose="020B0503020204020204" pitchFamily="34" charset="-122"/>
                  <a:ea typeface="微软雅黑" panose="020B0503020204020204" pitchFamily="34" charset="-122"/>
                </a:rPr>
                <a:t>3.1.1 - 1</a:t>
              </a:r>
              <a:endParaRPr lang="zh-CN" altLang="en-US" dirty="0" smtClean="0">
                <a:solidFill>
                  <a:schemeClr val="bg1"/>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1776103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1000"/>
                                        <p:tgtEl>
                                          <p:spTgt spid="4"/>
                                        </p:tgtEl>
                                      </p:cBhvr>
                                    </p:animEffect>
                                    <p:anim calcmode="lin" valueType="num">
                                      <p:cBhvr>
                                        <p:cTn id="14" dur="1000" fill="hold"/>
                                        <p:tgtEl>
                                          <p:spTgt spid="4"/>
                                        </p:tgtEl>
                                        <p:attrNameLst>
                                          <p:attrName>ppt_x</p:attrName>
                                        </p:attrNameLst>
                                      </p:cBhvr>
                                      <p:tavLst>
                                        <p:tav tm="0">
                                          <p:val>
                                            <p:strVal val="#ppt_x"/>
                                          </p:val>
                                        </p:tav>
                                        <p:tav tm="100000">
                                          <p:val>
                                            <p:strVal val="#ppt_x"/>
                                          </p:val>
                                        </p:tav>
                                      </p:tavLst>
                                    </p:anim>
                                    <p:anim calcmode="lin" valueType="num">
                                      <p:cBhvr>
                                        <p:cTn id="15"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A0F23"/>
        </a:solidFill>
        <a:effectLst/>
      </p:bgPr>
    </p:bg>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xmlns="" id="{CBDC52CD-1D62-48AF-A9DF-9F18AEA2B1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01385" y="-114300"/>
            <a:ext cx="1301859" cy="920356"/>
          </a:xfrm>
          <a:prstGeom prst="rect">
            <a:avLst/>
          </a:prstGeom>
        </p:spPr>
      </p:pic>
      <p:pic>
        <p:nvPicPr>
          <p:cNvPr id="14" name="图片 13">
            <a:extLst>
              <a:ext uri="{FF2B5EF4-FFF2-40B4-BE49-F238E27FC236}">
                <a16:creationId xmlns:a16="http://schemas.microsoft.com/office/drawing/2014/main" xmlns="" id="{F78DA958-9B1B-47DA-A870-8C0B3A7D8866}"/>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b="63537"/>
          <a:stretch/>
        </p:blipFill>
        <p:spPr>
          <a:xfrm>
            <a:off x="11184164" y="217733"/>
            <a:ext cx="572339" cy="337210"/>
          </a:xfrm>
          <a:prstGeom prst="rect">
            <a:avLst/>
          </a:prstGeom>
        </p:spPr>
      </p:pic>
      <p:cxnSp>
        <p:nvCxnSpPr>
          <p:cNvPr id="15" name="直接连接符 14">
            <a:extLst>
              <a:ext uri="{FF2B5EF4-FFF2-40B4-BE49-F238E27FC236}">
                <a16:creationId xmlns:a16="http://schemas.microsoft.com/office/drawing/2014/main" xmlns="" id="{93240A06-D526-4907-A163-94ABB41190CC}"/>
              </a:ext>
            </a:extLst>
          </p:cNvPr>
          <p:cNvCxnSpPr/>
          <p:nvPr/>
        </p:nvCxnSpPr>
        <p:spPr>
          <a:xfrm>
            <a:off x="11103244" y="225825"/>
            <a:ext cx="0" cy="2435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xmlns="" id="{74C59758-12AB-44A5-92FA-DB52904027AE}"/>
              </a:ext>
            </a:extLst>
          </p:cNvPr>
          <p:cNvSpPr/>
          <p:nvPr/>
        </p:nvSpPr>
        <p:spPr>
          <a:xfrm>
            <a:off x="802332" y="1156488"/>
            <a:ext cx="10765483" cy="5521512"/>
          </a:xfrm>
          <a:prstGeom prst="rect">
            <a:avLst/>
          </a:prstGeom>
        </p:spPr>
        <p:txBody>
          <a:bodyPr wrap="square">
            <a:spAutoFit/>
          </a:bodyPr>
          <a:lstStyle/>
          <a:p>
            <a:pPr>
              <a:lnSpc>
                <a:spcPct val="140000"/>
              </a:lnSpc>
            </a:pPr>
            <a:r>
              <a:rPr lang="zh-CN" altLang="en-US" dirty="0">
                <a:solidFill>
                  <a:prstClr val="white"/>
                </a:solidFill>
                <a:latin typeface="微软雅黑" panose="020B0503020204020204" pitchFamily="34" charset="-122"/>
                <a:ea typeface="微软雅黑" panose="020B0503020204020204" pitchFamily="34" charset="-122"/>
              </a:rPr>
              <a:t>实</a:t>
            </a:r>
            <a:r>
              <a:rPr lang="zh-CN" altLang="en-US" dirty="0" smtClean="0">
                <a:solidFill>
                  <a:prstClr val="white"/>
                </a:solidFill>
                <a:latin typeface="微软雅黑" panose="020B0503020204020204" pitchFamily="34" charset="-122"/>
                <a:ea typeface="微软雅黑" panose="020B0503020204020204" pitchFamily="34" charset="-122"/>
              </a:rPr>
              <a:t>现签到主要需解决以下三个问题</a:t>
            </a:r>
            <a:endParaRPr lang="en-US" altLang="zh-CN" dirty="0" smtClean="0">
              <a:solidFill>
                <a:prstClr val="white"/>
              </a:solidFill>
              <a:latin typeface="微软雅黑" panose="020B0503020204020204" pitchFamily="34" charset="-122"/>
              <a:ea typeface="微软雅黑" panose="020B0503020204020204" pitchFamily="34" charset="-122"/>
            </a:endParaRPr>
          </a:p>
          <a:p>
            <a:pPr>
              <a:lnSpc>
                <a:spcPct val="140000"/>
              </a:lnSpc>
            </a:pPr>
            <a:r>
              <a:rPr lang="zh-CN" altLang="en-US" dirty="0">
                <a:solidFill>
                  <a:prstClr val="white"/>
                </a:solidFill>
                <a:latin typeface="微软雅黑" panose="020B0503020204020204" pitchFamily="34" charset="-122"/>
                <a:ea typeface="微软雅黑" panose="020B0503020204020204" pitchFamily="34" charset="-122"/>
              </a:rPr>
              <a:t>一</a:t>
            </a:r>
            <a:r>
              <a:rPr lang="zh-CN" altLang="en-US" dirty="0" smtClean="0">
                <a:solidFill>
                  <a:prstClr val="white"/>
                </a:solidFill>
                <a:latin typeface="微软雅黑" panose="020B0503020204020204" pitchFamily="34" charset="-122"/>
                <a:ea typeface="微软雅黑" panose="020B0503020204020204" pitchFamily="34" charset="-122"/>
              </a:rPr>
              <a:t>、如何保存当天签到数据？</a:t>
            </a:r>
            <a:endParaRPr lang="en-US" altLang="zh-CN" dirty="0" smtClean="0">
              <a:solidFill>
                <a:prstClr val="white"/>
              </a:solidFill>
              <a:latin typeface="微软雅黑" panose="020B0503020204020204" pitchFamily="34" charset="-122"/>
              <a:ea typeface="微软雅黑" panose="020B0503020204020204" pitchFamily="34" charset="-122"/>
            </a:endParaRPr>
          </a:p>
          <a:p>
            <a:pPr marL="800100" lvl="1" indent="-342900">
              <a:lnSpc>
                <a:spcPct val="140000"/>
              </a:lnSpc>
              <a:buFont typeface="+mj-lt"/>
              <a:buAutoNum type="arabicPeriod"/>
            </a:pPr>
            <a:r>
              <a:rPr lang="zh-CN" altLang="en-US" dirty="0">
                <a:solidFill>
                  <a:prstClr val="white"/>
                </a:solidFill>
                <a:latin typeface="微软雅黑" panose="020B0503020204020204" pitchFamily="34" charset="-122"/>
                <a:ea typeface="微软雅黑" panose="020B0503020204020204" pitchFamily="34" charset="-122"/>
              </a:rPr>
              <a:t>计算签到的日期</a:t>
            </a:r>
            <a:r>
              <a:rPr lang="zh-CN" altLang="en-US" dirty="0" smtClean="0">
                <a:solidFill>
                  <a:prstClr val="white"/>
                </a:solidFill>
                <a:latin typeface="微软雅黑" panose="020B0503020204020204" pitchFamily="34" charset="-122"/>
                <a:ea typeface="微软雅黑" panose="020B0503020204020204" pitchFamily="34" charset="-122"/>
              </a:rPr>
              <a:t>是</a:t>
            </a:r>
            <a:r>
              <a:rPr lang="zh-CN" altLang="en-US" dirty="0">
                <a:solidFill>
                  <a:prstClr val="white"/>
                </a:solidFill>
                <a:latin typeface="微软雅黑" panose="020B0503020204020204" pitchFamily="34" charset="-122"/>
                <a:ea typeface="微软雅黑" panose="020B0503020204020204" pitchFamily="34" charset="-122"/>
              </a:rPr>
              <a:t>今年</a:t>
            </a:r>
            <a:r>
              <a:rPr lang="zh-CN" altLang="en-US" dirty="0" smtClean="0">
                <a:solidFill>
                  <a:prstClr val="white"/>
                </a:solidFill>
                <a:latin typeface="微软雅黑" panose="020B0503020204020204" pitchFamily="34" charset="-122"/>
                <a:ea typeface="微软雅黑" panose="020B0503020204020204" pitchFamily="34" charset="-122"/>
              </a:rPr>
              <a:t>的</a:t>
            </a:r>
            <a:r>
              <a:rPr lang="zh-CN" altLang="en-US" dirty="0">
                <a:solidFill>
                  <a:prstClr val="white"/>
                </a:solidFill>
                <a:latin typeface="微软雅黑" panose="020B0503020204020204" pitchFamily="34" charset="-122"/>
                <a:ea typeface="微软雅黑" panose="020B0503020204020204" pitchFamily="34" charset="-122"/>
              </a:rPr>
              <a:t>第几天（用</a:t>
            </a:r>
            <a:r>
              <a:rPr lang="en-US" altLang="zh-CN" dirty="0">
                <a:solidFill>
                  <a:prstClr val="white"/>
                </a:solidFill>
                <a:latin typeface="微软雅黑" panose="020B0503020204020204" pitchFamily="34" charset="-122"/>
                <a:ea typeface="微软雅黑" panose="020B0503020204020204" pitchFamily="34" charset="-122"/>
              </a:rPr>
              <a:t>n</a:t>
            </a:r>
            <a:r>
              <a:rPr lang="zh-CN" altLang="en-US" dirty="0">
                <a:solidFill>
                  <a:prstClr val="white"/>
                </a:solidFill>
                <a:latin typeface="微软雅黑" panose="020B0503020204020204" pitchFamily="34" charset="-122"/>
                <a:ea typeface="微软雅黑" panose="020B0503020204020204" pitchFamily="34" charset="-122"/>
              </a:rPr>
              <a:t>表示）</a:t>
            </a:r>
            <a:endParaRPr lang="en-US" altLang="zh-CN" dirty="0">
              <a:solidFill>
                <a:prstClr val="white"/>
              </a:solidFill>
              <a:latin typeface="微软雅黑" panose="020B0503020204020204" pitchFamily="34" charset="-122"/>
              <a:ea typeface="微软雅黑" panose="020B0503020204020204" pitchFamily="34" charset="-122"/>
            </a:endParaRPr>
          </a:p>
          <a:p>
            <a:pPr marL="800100" lvl="1" indent="-342900">
              <a:lnSpc>
                <a:spcPct val="140000"/>
              </a:lnSpc>
              <a:buFont typeface="+mj-lt"/>
              <a:buAutoNum type="arabicPeriod"/>
            </a:pPr>
            <a:r>
              <a:rPr lang="zh-CN" altLang="en-US" dirty="0">
                <a:solidFill>
                  <a:prstClr val="white"/>
                </a:solidFill>
                <a:latin typeface="微软雅黑" panose="020B0503020204020204" pitchFamily="34" charset="-122"/>
                <a:ea typeface="微软雅黑" panose="020B0503020204020204" pitchFamily="34" charset="-122"/>
              </a:rPr>
              <a:t>获取用户</a:t>
            </a:r>
            <a:r>
              <a:rPr lang="en-US" altLang="zh-CN" dirty="0">
                <a:solidFill>
                  <a:prstClr val="white"/>
                </a:solidFill>
                <a:latin typeface="微软雅黑" panose="020B0503020204020204" pitchFamily="34" charset="-122"/>
                <a:ea typeface="微软雅黑" panose="020B0503020204020204" pitchFamily="34" charset="-122"/>
              </a:rPr>
              <a:t>id</a:t>
            </a:r>
            <a:r>
              <a:rPr lang="zh-CN" altLang="en-US" dirty="0">
                <a:solidFill>
                  <a:prstClr val="white"/>
                </a:solidFill>
                <a:latin typeface="微软雅黑" panose="020B0503020204020204" pitchFamily="34" charset="-122"/>
                <a:ea typeface="微软雅黑" panose="020B0503020204020204" pitchFamily="34" charset="-122"/>
              </a:rPr>
              <a:t>（用</a:t>
            </a:r>
            <a:r>
              <a:rPr lang="en-US" altLang="zh-CN" dirty="0" err="1">
                <a:solidFill>
                  <a:prstClr val="white"/>
                </a:solidFill>
                <a:latin typeface="微软雅黑" panose="020B0503020204020204" pitchFamily="34" charset="-122"/>
                <a:ea typeface="微软雅黑" panose="020B0503020204020204" pitchFamily="34" charset="-122"/>
              </a:rPr>
              <a:t>userid</a:t>
            </a:r>
            <a:r>
              <a:rPr lang="zh-CN" altLang="en-US" dirty="0">
                <a:solidFill>
                  <a:prstClr val="white"/>
                </a:solidFill>
                <a:latin typeface="微软雅黑" panose="020B0503020204020204" pitchFamily="34" charset="-122"/>
                <a:ea typeface="微软雅黑" panose="020B0503020204020204" pitchFamily="34" charset="-122"/>
              </a:rPr>
              <a:t>表示）</a:t>
            </a:r>
            <a:endParaRPr lang="en-US" altLang="zh-CN" dirty="0">
              <a:solidFill>
                <a:prstClr val="white"/>
              </a:solidFill>
              <a:latin typeface="微软雅黑" panose="020B0503020204020204" pitchFamily="34" charset="-122"/>
              <a:ea typeface="微软雅黑" panose="020B0503020204020204" pitchFamily="34" charset="-122"/>
            </a:endParaRPr>
          </a:p>
          <a:p>
            <a:pPr marL="800100" lvl="1" indent="-342900">
              <a:lnSpc>
                <a:spcPct val="140000"/>
              </a:lnSpc>
              <a:buFont typeface="+mj-lt"/>
              <a:buAutoNum type="arabicPeriod"/>
            </a:pPr>
            <a:r>
              <a:rPr lang="zh-CN" altLang="en-US" dirty="0">
                <a:solidFill>
                  <a:prstClr val="white"/>
                </a:solidFill>
                <a:latin typeface="微软雅黑" panose="020B0503020204020204" pitchFamily="34" charset="-122"/>
                <a:ea typeface="微软雅黑" panose="020B0503020204020204" pitchFamily="34" charset="-122"/>
              </a:rPr>
              <a:t>调</a:t>
            </a:r>
            <a:r>
              <a:rPr lang="zh-CN" altLang="en-US" dirty="0" smtClean="0">
                <a:solidFill>
                  <a:prstClr val="white"/>
                </a:solidFill>
                <a:latin typeface="微软雅黑" panose="020B0503020204020204" pitchFamily="34" charset="-122"/>
                <a:ea typeface="微软雅黑" panose="020B0503020204020204" pitchFamily="34" charset="-122"/>
              </a:rPr>
              <a:t>用</a:t>
            </a:r>
            <a:r>
              <a:rPr lang="en-US" altLang="zh-CN" dirty="0" err="1" smtClean="0">
                <a:solidFill>
                  <a:prstClr val="white"/>
                </a:solidFill>
                <a:latin typeface="微软雅黑" panose="020B0503020204020204" pitchFamily="34" charset="-122"/>
                <a:ea typeface="微软雅黑" panose="020B0503020204020204" pitchFamily="34" charset="-122"/>
              </a:rPr>
              <a:t>setbit</a:t>
            </a:r>
            <a:r>
              <a:rPr lang="zh-CN" altLang="en-US" dirty="0" smtClean="0">
                <a:solidFill>
                  <a:prstClr val="white"/>
                </a:solidFill>
                <a:latin typeface="微软雅黑" panose="020B0503020204020204" pitchFamily="34" charset="-122"/>
                <a:ea typeface="微软雅黑" panose="020B0503020204020204" pitchFamily="34" charset="-122"/>
              </a:rPr>
              <a:t>保存数据</a:t>
            </a:r>
            <a:endParaRPr lang="en-US" altLang="zh-CN" dirty="0" smtClean="0">
              <a:solidFill>
                <a:prstClr val="white"/>
              </a:solidFill>
              <a:latin typeface="微软雅黑" panose="020B0503020204020204" pitchFamily="34" charset="-122"/>
              <a:ea typeface="微软雅黑" panose="020B0503020204020204" pitchFamily="34" charset="-122"/>
            </a:endParaRPr>
          </a:p>
          <a:p>
            <a:pPr lvl="1">
              <a:lnSpc>
                <a:spcPct val="140000"/>
              </a:lnSpc>
            </a:pPr>
            <a:r>
              <a:rPr lang="en-US" altLang="zh-CN" i="1" dirty="0" smtClean="0">
                <a:solidFill>
                  <a:schemeClr val="accent6"/>
                </a:solidFill>
                <a:latin typeface="微软雅黑" panose="020B0503020204020204" pitchFamily="34" charset="-122"/>
                <a:ea typeface="微软雅黑" panose="020B0503020204020204" pitchFamily="34" charset="-122"/>
              </a:rPr>
              <a:t>&gt;</a:t>
            </a:r>
            <a:r>
              <a:rPr lang="zh-CN" altLang="en-US" i="1" dirty="0" smtClean="0">
                <a:solidFill>
                  <a:schemeClr val="accent6"/>
                </a:solidFill>
                <a:latin typeface="微软雅黑" panose="020B0503020204020204" pitchFamily="34" charset="-122"/>
                <a:ea typeface="微软雅黑" panose="020B0503020204020204" pitchFamily="34" charset="-122"/>
              </a:rPr>
              <a:t> </a:t>
            </a:r>
            <a:r>
              <a:rPr lang="en-US" altLang="zh-CN" b="1" dirty="0" err="1">
                <a:solidFill>
                  <a:srgbClr val="FFD343"/>
                </a:solidFill>
                <a:latin typeface="微软雅黑" panose="020B0503020204020204" pitchFamily="34" charset="-122"/>
                <a:ea typeface="微软雅黑" panose="020B0503020204020204" pitchFamily="34" charset="-122"/>
              </a:rPr>
              <a:t>setbit</a:t>
            </a:r>
            <a:r>
              <a:rPr lang="en-US" altLang="zh-CN" i="1" dirty="0" smtClean="0">
                <a:solidFill>
                  <a:srgbClr val="FF0000"/>
                </a:solidFill>
                <a:latin typeface="微软雅黑" panose="020B0503020204020204" pitchFamily="34" charset="-122"/>
                <a:ea typeface="微软雅黑" panose="020B0503020204020204" pitchFamily="34" charset="-122"/>
              </a:rPr>
              <a:t> </a:t>
            </a:r>
            <a:r>
              <a:rPr lang="en-US" altLang="zh-CN" i="1" dirty="0" err="1">
                <a:solidFill>
                  <a:schemeClr val="accent6"/>
                </a:solidFill>
                <a:latin typeface="微软雅黑" panose="020B0503020204020204" pitchFamily="34" charset="-122"/>
                <a:ea typeface="微软雅黑" panose="020B0503020204020204" pitchFamily="34" charset="-122"/>
              </a:rPr>
              <a:t>userid</a:t>
            </a:r>
            <a:r>
              <a:rPr lang="en-US" altLang="zh-CN" i="1" dirty="0">
                <a:solidFill>
                  <a:schemeClr val="accent6"/>
                </a:solidFill>
                <a:latin typeface="微软雅黑" panose="020B0503020204020204" pitchFamily="34" charset="-122"/>
                <a:ea typeface="微软雅黑" panose="020B0503020204020204" pitchFamily="34" charset="-122"/>
              </a:rPr>
              <a:t>  n </a:t>
            </a:r>
            <a:r>
              <a:rPr lang="en-US" altLang="zh-CN" i="1" dirty="0" smtClean="0">
                <a:solidFill>
                  <a:schemeClr val="accent6"/>
                </a:solidFill>
                <a:latin typeface="微软雅黑" panose="020B0503020204020204" pitchFamily="34" charset="-122"/>
                <a:ea typeface="微软雅黑" panose="020B0503020204020204" pitchFamily="34" charset="-122"/>
              </a:rPr>
              <a:t>1</a:t>
            </a:r>
          </a:p>
          <a:p>
            <a:pPr>
              <a:lnSpc>
                <a:spcPct val="140000"/>
              </a:lnSpc>
            </a:pPr>
            <a:r>
              <a:rPr lang="zh-CN" altLang="en-US" dirty="0" smtClean="0">
                <a:solidFill>
                  <a:prstClr val="white"/>
                </a:solidFill>
                <a:latin typeface="微软雅黑" panose="020B0503020204020204" pitchFamily="34" charset="-122"/>
                <a:ea typeface="微软雅黑" panose="020B0503020204020204" pitchFamily="34" charset="-122"/>
              </a:rPr>
              <a:t>二、如何获取某周（</a:t>
            </a:r>
            <a:r>
              <a:rPr lang="zh-CN" altLang="en-US" dirty="0">
                <a:solidFill>
                  <a:prstClr val="white"/>
                </a:solidFill>
                <a:latin typeface="微软雅黑" panose="020B0503020204020204" pitchFamily="34" charset="-122"/>
                <a:ea typeface="微软雅黑" panose="020B0503020204020204" pitchFamily="34" charset="-122"/>
              </a:rPr>
              <a:t>某月</a:t>
            </a:r>
            <a:r>
              <a:rPr lang="zh-CN" altLang="en-US" dirty="0" smtClean="0">
                <a:solidFill>
                  <a:prstClr val="white"/>
                </a:solidFill>
                <a:latin typeface="微软雅黑" panose="020B0503020204020204" pitchFamily="34" charset="-122"/>
                <a:ea typeface="微软雅黑" panose="020B0503020204020204" pitchFamily="34" charset="-122"/>
              </a:rPr>
              <a:t>）签到数据？</a:t>
            </a:r>
            <a:endParaRPr lang="en-US" altLang="zh-CN" dirty="0">
              <a:solidFill>
                <a:prstClr val="white"/>
              </a:solidFill>
              <a:latin typeface="微软雅黑" panose="020B0503020204020204" pitchFamily="34" charset="-122"/>
              <a:ea typeface="微软雅黑" panose="020B0503020204020204" pitchFamily="34" charset="-122"/>
            </a:endParaRPr>
          </a:p>
          <a:p>
            <a:pPr marL="800100" lvl="1" indent="-342900">
              <a:lnSpc>
                <a:spcPct val="140000"/>
              </a:lnSpc>
              <a:buFont typeface="+mj-lt"/>
              <a:buAutoNum type="arabicPeriod"/>
            </a:pPr>
            <a:r>
              <a:rPr lang="zh-CN" altLang="en-US" dirty="0" smtClean="0">
                <a:solidFill>
                  <a:prstClr val="white"/>
                </a:solidFill>
                <a:latin typeface="微软雅黑" panose="020B0503020204020204" pitchFamily="34" charset="-122"/>
                <a:ea typeface="微软雅黑" panose="020B0503020204020204" pitchFamily="34" charset="-122"/>
              </a:rPr>
              <a:t>计算指定的某周（某月）在一年中的序号（第</a:t>
            </a:r>
            <a:r>
              <a:rPr lang="en-US" altLang="zh-CN" dirty="0" smtClean="0">
                <a:solidFill>
                  <a:prstClr val="white"/>
                </a:solidFill>
                <a:latin typeface="微软雅黑" panose="020B0503020204020204" pitchFamily="34" charset="-122"/>
                <a:ea typeface="微软雅黑" panose="020B0503020204020204" pitchFamily="34" charset="-122"/>
              </a:rPr>
              <a:t>n</a:t>
            </a:r>
            <a:r>
              <a:rPr lang="zh-CN" altLang="en-US" dirty="0" smtClean="0">
                <a:solidFill>
                  <a:prstClr val="white"/>
                </a:solidFill>
                <a:latin typeface="微软雅黑" panose="020B0503020204020204" pitchFamily="34" charset="-122"/>
                <a:ea typeface="微软雅黑" panose="020B0503020204020204" pitchFamily="34" charset="-122"/>
              </a:rPr>
              <a:t>天到第</a:t>
            </a:r>
            <a:r>
              <a:rPr lang="en-US" altLang="zh-CN" dirty="0" smtClean="0">
                <a:solidFill>
                  <a:prstClr val="white"/>
                </a:solidFill>
                <a:latin typeface="微软雅黑" panose="020B0503020204020204" pitchFamily="34" charset="-122"/>
                <a:ea typeface="微软雅黑" panose="020B0503020204020204" pitchFamily="34" charset="-122"/>
              </a:rPr>
              <a:t>m</a:t>
            </a:r>
            <a:r>
              <a:rPr lang="zh-CN" altLang="en-US" dirty="0" smtClean="0">
                <a:solidFill>
                  <a:prstClr val="white"/>
                </a:solidFill>
                <a:latin typeface="微软雅黑" panose="020B0503020204020204" pitchFamily="34" charset="-122"/>
                <a:ea typeface="微软雅黑" panose="020B0503020204020204" pitchFamily="34" charset="-122"/>
              </a:rPr>
              <a:t>天）</a:t>
            </a:r>
            <a:endParaRPr lang="en-US" altLang="zh-CN" dirty="0" smtClean="0">
              <a:solidFill>
                <a:prstClr val="white"/>
              </a:solidFill>
              <a:latin typeface="微软雅黑" panose="020B0503020204020204" pitchFamily="34" charset="-122"/>
              <a:ea typeface="微软雅黑" panose="020B0503020204020204" pitchFamily="34" charset="-122"/>
            </a:endParaRPr>
          </a:p>
          <a:p>
            <a:pPr marL="800100" lvl="1" indent="-342900">
              <a:lnSpc>
                <a:spcPct val="140000"/>
              </a:lnSpc>
              <a:buFont typeface="+mj-lt"/>
              <a:buAutoNum type="arabicPeriod"/>
            </a:pPr>
            <a:r>
              <a:rPr lang="en-US" altLang="zh-CN" dirty="0" err="1" smtClean="0">
                <a:solidFill>
                  <a:prstClr val="white"/>
                </a:solidFill>
                <a:latin typeface="微软雅黑" panose="020B0503020204020204" pitchFamily="34" charset="-122"/>
                <a:ea typeface="微软雅黑" panose="020B0503020204020204" pitchFamily="34" charset="-122"/>
              </a:rPr>
              <a:t>redis</a:t>
            </a:r>
            <a:r>
              <a:rPr lang="zh-CN" altLang="en-US" dirty="0" smtClean="0">
                <a:solidFill>
                  <a:prstClr val="white"/>
                </a:solidFill>
                <a:latin typeface="微软雅黑" panose="020B0503020204020204" pitchFamily="34" charset="-122"/>
                <a:ea typeface="微软雅黑" panose="020B0503020204020204" pitchFamily="34" charset="-122"/>
              </a:rPr>
              <a:t>版本低于</a:t>
            </a:r>
            <a:r>
              <a:rPr lang="en-US" altLang="zh-CN" dirty="0" smtClean="0">
                <a:solidFill>
                  <a:prstClr val="white"/>
                </a:solidFill>
                <a:latin typeface="微软雅黑" panose="020B0503020204020204" pitchFamily="34" charset="-122"/>
                <a:ea typeface="微软雅黑" panose="020B0503020204020204" pitchFamily="34" charset="-122"/>
              </a:rPr>
              <a:t>3.2</a:t>
            </a:r>
            <a:r>
              <a:rPr lang="zh-CN" altLang="en-US" dirty="0" smtClean="0">
                <a:solidFill>
                  <a:prstClr val="white"/>
                </a:solidFill>
                <a:latin typeface="微软雅黑" panose="020B0503020204020204" pitchFamily="34" charset="-122"/>
                <a:ea typeface="微软雅黑" panose="020B0503020204020204" pitchFamily="34" charset="-122"/>
              </a:rPr>
              <a:t>，使用管道</a:t>
            </a:r>
            <a:r>
              <a:rPr lang="zh-CN" altLang="en-US" dirty="0">
                <a:solidFill>
                  <a:prstClr val="white"/>
                </a:solidFill>
                <a:latin typeface="微软雅黑" panose="020B0503020204020204" pitchFamily="34" charset="-122"/>
                <a:ea typeface="微软雅黑" panose="020B0503020204020204" pitchFamily="34" charset="-122"/>
              </a:rPr>
              <a:t>调</a:t>
            </a:r>
            <a:r>
              <a:rPr lang="zh-CN" altLang="en-US" dirty="0" smtClean="0">
                <a:solidFill>
                  <a:prstClr val="white"/>
                </a:solidFill>
                <a:latin typeface="微软雅黑" panose="020B0503020204020204" pitchFamily="34" charset="-122"/>
                <a:ea typeface="微软雅黑" panose="020B0503020204020204" pitchFamily="34" charset="-122"/>
              </a:rPr>
              <a:t>用</a:t>
            </a:r>
            <a:r>
              <a:rPr lang="en-US" altLang="zh-CN" dirty="0" err="1" smtClean="0">
                <a:solidFill>
                  <a:prstClr val="white"/>
                </a:solidFill>
                <a:latin typeface="微软雅黑" panose="020B0503020204020204" pitchFamily="34" charset="-122"/>
                <a:ea typeface="微软雅黑" panose="020B0503020204020204" pitchFamily="34" charset="-122"/>
              </a:rPr>
              <a:t>getbit</a:t>
            </a:r>
            <a:r>
              <a:rPr lang="zh-CN" altLang="en-US" dirty="0" smtClean="0">
                <a:solidFill>
                  <a:prstClr val="white"/>
                </a:solidFill>
                <a:latin typeface="微软雅黑" panose="020B0503020204020204" pitchFamily="34" charset="-122"/>
                <a:ea typeface="微软雅黑" panose="020B0503020204020204" pitchFamily="34" charset="-122"/>
              </a:rPr>
              <a:t>一次获取</a:t>
            </a:r>
            <a:r>
              <a:rPr lang="en-US" altLang="zh-CN" dirty="0" smtClean="0">
                <a:solidFill>
                  <a:prstClr val="white"/>
                </a:solidFill>
                <a:latin typeface="微软雅黑" panose="020B0503020204020204" pitchFamily="34" charset="-122"/>
                <a:ea typeface="微软雅黑" panose="020B0503020204020204" pitchFamily="34" charset="-122"/>
              </a:rPr>
              <a:t>n</a:t>
            </a:r>
            <a:r>
              <a:rPr lang="zh-CN" altLang="en-US" dirty="0" smtClean="0">
                <a:solidFill>
                  <a:prstClr val="white"/>
                </a:solidFill>
                <a:latin typeface="微软雅黑" panose="020B0503020204020204" pitchFamily="34" charset="-122"/>
                <a:ea typeface="微软雅黑" panose="020B0503020204020204" pitchFamily="34" charset="-122"/>
              </a:rPr>
              <a:t>到</a:t>
            </a:r>
            <a:r>
              <a:rPr lang="en-US" altLang="zh-CN" dirty="0" smtClean="0">
                <a:solidFill>
                  <a:prstClr val="white"/>
                </a:solidFill>
                <a:latin typeface="微软雅黑" panose="020B0503020204020204" pitchFamily="34" charset="-122"/>
                <a:ea typeface="微软雅黑" panose="020B0503020204020204" pitchFamily="34" charset="-122"/>
              </a:rPr>
              <a:t>m</a:t>
            </a:r>
            <a:r>
              <a:rPr lang="zh-CN" altLang="en-US" dirty="0">
                <a:solidFill>
                  <a:prstClr val="white"/>
                </a:solidFill>
                <a:latin typeface="微软雅黑" panose="020B0503020204020204" pitchFamily="34" charset="-122"/>
                <a:ea typeface="微软雅黑" panose="020B0503020204020204" pitchFamily="34" charset="-122"/>
              </a:rPr>
              <a:t>个</a:t>
            </a:r>
            <a:r>
              <a:rPr lang="en-US" altLang="zh-CN" dirty="0" smtClean="0">
                <a:solidFill>
                  <a:prstClr val="white"/>
                </a:solidFill>
                <a:latin typeface="微软雅黑" panose="020B0503020204020204" pitchFamily="34" charset="-122"/>
                <a:ea typeface="微软雅黑" panose="020B0503020204020204" pitchFamily="34" charset="-122"/>
              </a:rPr>
              <a:t>bit</a:t>
            </a:r>
            <a:r>
              <a:rPr lang="zh-CN" altLang="en-US" dirty="0" smtClean="0">
                <a:solidFill>
                  <a:prstClr val="white"/>
                </a:solidFill>
                <a:latin typeface="微软雅黑" panose="020B0503020204020204" pitchFamily="34" charset="-122"/>
                <a:ea typeface="微软雅黑" panose="020B0503020204020204" pitchFamily="34" charset="-122"/>
              </a:rPr>
              <a:t>位的数据</a:t>
            </a:r>
            <a:endParaRPr lang="en-US" altLang="zh-CN" dirty="0" smtClean="0">
              <a:solidFill>
                <a:prstClr val="white"/>
              </a:solidFill>
              <a:latin typeface="微软雅黑" panose="020B0503020204020204" pitchFamily="34" charset="-122"/>
              <a:ea typeface="微软雅黑" panose="020B0503020204020204" pitchFamily="34" charset="-122"/>
            </a:endParaRPr>
          </a:p>
          <a:p>
            <a:pPr marL="800100" lvl="1" indent="-342900">
              <a:lnSpc>
                <a:spcPct val="140000"/>
              </a:lnSpc>
              <a:buFont typeface="+mj-lt"/>
              <a:buAutoNum type="arabicPeriod"/>
            </a:pPr>
            <a:r>
              <a:rPr lang="en-US" altLang="zh-CN" dirty="0" err="1" smtClean="0">
                <a:solidFill>
                  <a:prstClr val="white"/>
                </a:solidFill>
                <a:latin typeface="微软雅黑" panose="020B0503020204020204" pitchFamily="34" charset="-122"/>
                <a:ea typeface="微软雅黑" panose="020B0503020204020204" pitchFamily="34" charset="-122"/>
              </a:rPr>
              <a:t>redis</a:t>
            </a:r>
            <a:r>
              <a:rPr lang="zh-CN" altLang="en-US" dirty="0" smtClean="0">
                <a:solidFill>
                  <a:prstClr val="white"/>
                </a:solidFill>
                <a:latin typeface="微软雅黑" panose="020B0503020204020204" pitchFamily="34" charset="-122"/>
                <a:ea typeface="微软雅黑" panose="020B0503020204020204" pitchFamily="34" charset="-122"/>
              </a:rPr>
              <a:t>版本</a:t>
            </a:r>
            <a:r>
              <a:rPr lang="en-US" altLang="zh-CN" dirty="0" smtClean="0">
                <a:solidFill>
                  <a:prstClr val="white"/>
                </a:solidFill>
                <a:latin typeface="微软雅黑" panose="020B0503020204020204" pitchFamily="34" charset="-122"/>
                <a:ea typeface="微软雅黑" panose="020B0503020204020204" pitchFamily="34" charset="-122"/>
              </a:rPr>
              <a:t>3.2</a:t>
            </a:r>
            <a:r>
              <a:rPr lang="zh-CN" altLang="en-US" dirty="0" smtClean="0">
                <a:solidFill>
                  <a:prstClr val="white"/>
                </a:solidFill>
                <a:latin typeface="微软雅黑" panose="020B0503020204020204" pitchFamily="34" charset="-122"/>
                <a:ea typeface="微软雅黑" panose="020B0503020204020204" pitchFamily="34" charset="-122"/>
              </a:rPr>
              <a:t>及以后，使用</a:t>
            </a:r>
            <a:r>
              <a:rPr lang="en-US" altLang="zh-CN" dirty="0" err="1" smtClean="0">
                <a:solidFill>
                  <a:prstClr val="white"/>
                </a:solidFill>
                <a:latin typeface="微软雅黑" panose="020B0503020204020204" pitchFamily="34" charset="-122"/>
                <a:ea typeface="微软雅黑" panose="020B0503020204020204" pitchFamily="34" charset="-122"/>
              </a:rPr>
              <a:t>bitfield</a:t>
            </a:r>
            <a:r>
              <a:rPr lang="zh-CN" altLang="en-US" dirty="0" smtClean="0">
                <a:solidFill>
                  <a:prstClr val="white"/>
                </a:solidFill>
                <a:latin typeface="微软雅黑" panose="020B0503020204020204" pitchFamily="34" charset="-122"/>
                <a:ea typeface="微软雅黑" panose="020B0503020204020204" pitchFamily="34" charset="-122"/>
              </a:rPr>
              <a:t>命令获取指定位数</a:t>
            </a:r>
            <a:r>
              <a:rPr lang="en-US" altLang="zh-CN" dirty="0" smtClean="0">
                <a:solidFill>
                  <a:prstClr val="white"/>
                </a:solidFill>
                <a:latin typeface="微软雅黑" panose="020B0503020204020204" pitchFamily="34" charset="-122"/>
                <a:ea typeface="微软雅黑" panose="020B0503020204020204" pitchFamily="34" charset="-122"/>
              </a:rPr>
              <a:t>bit</a:t>
            </a:r>
            <a:r>
              <a:rPr lang="zh-CN" altLang="en-US" dirty="0" smtClean="0">
                <a:solidFill>
                  <a:prstClr val="white"/>
                </a:solidFill>
                <a:latin typeface="微软雅黑" panose="020B0503020204020204" pitchFamily="34" charset="-122"/>
                <a:ea typeface="微软雅黑" panose="020B0503020204020204" pitchFamily="34" charset="-122"/>
              </a:rPr>
              <a:t>数据，作为有符号（无符号）数字返回，再通过内存位</a:t>
            </a:r>
            <a:r>
              <a:rPr lang="zh-CN" altLang="en-US" dirty="0">
                <a:solidFill>
                  <a:prstClr val="white"/>
                </a:solidFill>
                <a:latin typeface="微软雅黑" panose="020B0503020204020204" pitchFamily="34" charset="-122"/>
                <a:ea typeface="微软雅黑" panose="020B0503020204020204" pitchFamily="34" charset="-122"/>
              </a:rPr>
              <a:t>操作</a:t>
            </a:r>
            <a:r>
              <a:rPr lang="zh-CN" altLang="en-US" dirty="0" smtClean="0">
                <a:solidFill>
                  <a:prstClr val="white"/>
                </a:solidFill>
                <a:latin typeface="微软雅黑" panose="020B0503020204020204" pitchFamily="34" charset="-122"/>
                <a:ea typeface="微软雅黑" panose="020B0503020204020204" pitchFamily="34" charset="-122"/>
              </a:rPr>
              <a:t>获取具体某天的签到数据。</a:t>
            </a:r>
            <a:endParaRPr lang="en-US" altLang="zh-CN" dirty="0" smtClean="0">
              <a:solidFill>
                <a:prstClr val="white"/>
              </a:solidFill>
              <a:latin typeface="微软雅黑" panose="020B0503020204020204" pitchFamily="34" charset="-122"/>
              <a:ea typeface="微软雅黑" panose="020B0503020204020204" pitchFamily="34" charset="-122"/>
            </a:endParaRPr>
          </a:p>
          <a:p>
            <a:pPr lvl="1">
              <a:lnSpc>
                <a:spcPct val="140000"/>
              </a:lnSpc>
            </a:pPr>
            <a:r>
              <a:rPr lang="en-US" altLang="zh-CN" i="1" dirty="0" smtClean="0">
                <a:solidFill>
                  <a:schemeClr val="accent6"/>
                </a:solidFill>
                <a:latin typeface="微软雅黑" panose="020B0503020204020204" pitchFamily="34" charset="-122"/>
                <a:ea typeface="微软雅黑" panose="020B0503020204020204" pitchFamily="34" charset="-122"/>
              </a:rPr>
              <a:t>&gt;</a:t>
            </a:r>
            <a:r>
              <a:rPr lang="en-US" altLang="zh-CN" dirty="0" smtClean="0">
                <a:solidFill>
                  <a:schemeClr val="accent6"/>
                </a:solidFill>
                <a:latin typeface="微软雅黑" panose="020B0503020204020204" pitchFamily="34" charset="-122"/>
                <a:ea typeface="微软雅黑" panose="020B0503020204020204" pitchFamily="34" charset="-122"/>
              </a:rPr>
              <a:t> </a:t>
            </a:r>
            <a:r>
              <a:rPr lang="en-US" altLang="zh-CN" b="1" dirty="0" err="1">
                <a:solidFill>
                  <a:srgbClr val="FFD343"/>
                </a:solidFill>
                <a:latin typeface="微软雅黑" panose="020B0503020204020204" pitchFamily="34" charset="-122"/>
                <a:ea typeface="微软雅黑" panose="020B0503020204020204" pitchFamily="34" charset="-122"/>
              </a:rPr>
              <a:t>bitfield</a:t>
            </a:r>
            <a:r>
              <a:rPr lang="en-US" altLang="zh-CN" i="1" dirty="0" smtClean="0">
                <a:solidFill>
                  <a:srgbClr val="FF0000"/>
                </a:solidFill>
                <a:latin typeface="微软雅黑" panose="020B0503020204020204" pitchFamily="34" charset="-122"/>
                <a:ea typeface="微软雅黑" panose="020B0503020204020204" pitchFamily="34" charset="-122"/>
              </a:rPr>
              <a:t> </a:t>
            </a:r>
            <a:r>
              <a:rPr lang="en-US" altLang="zh-CN" i="1" dirty="0" err="1" smtClean="0">
                <a:solidFill>
                  <a:schemeClr val="accent6"/>
                </a:solidFill>
                <a:latin typeface="微软雅黑" panose="020B0503020204020204" pitchFamily="34" charset="-122"/>
                <a:ea typeface="微软雅黑" panose="020B0503020204020204" pitchFamily="34" charset="-122"/>
              </a:rPr>
              <a:t>userid</a:t>
            </a:r>
            <a:r>
              <a:rPr lang="en-US" altLang="zh-CN" i="1" dirty="0" smtClean="0">
                <a:solidFill>
                  <a:schemeClr val="accent6"/>
                </a:solidFill>
                <a:latin typeface="微软雅黑" panose="020B0503020204020204" pitchFamily="34" charset="-122"/>
                <a:ea typeface="微软雅黑" panose="020B0503020204020204" pitchFamily="34" charset="-122"/>
              </a:rPr>
              <a:t> u7 20 </a:t>
            </a:r>
            <a:r>
              <a:rPr lang="en-US" altLang="zh-CN" i="1" dirty="0" smtClean="0">
                <a:solidFill>
                  <a:prstClr val="white"/>
                </a:solidFill>
                <a:latin typeface="微软雅黑" panose="020B0503020204020204" pitchFamily="34" charset="-122"/>
                <a:ea typeface="微软雅黑" panose="020B0503020204020204" pitchFamily="34" charset="-122"/>
              </a:rPr>
              <a:t>  </a:t>
            </a:r>
            <a:r>
              <a:rPr lang="en-US" altLang="zh-CN" dirty="0" smtClean="0">
                <a:solidFill>
                  <a:schemeClr val="accent1"/>
                </a:solidFill>
                <a:latin typeface="微软雅黑" panose="020B0503020204020204" pitchFamily="34" charset="-122"/>
                <a:ea typeface="微软雅黑" panose="020B0503020204020204" pitchFamily="34" charset="-122"/>
              </a:rPr>
              <a:t>#</a:t>
            </a:r>
            <a:r>
              <a:rPr lang="zh-CN" altLang="en-US" dirty="0" smtClean="0">
                <a:solidFill>
                  <a:schemeClr val="accent1"/>
                </a:solidFill>
                <a:latin typeface="微软雅黑" panose="020B0503020204020204" pitchFamily="34" charset="-122"/>
                <a:ea typeface="微软雅黑" panose="020B0503020204020204" pitchFamily="34" charset="-122"/>
              </a:rPr>
              <a:t>从第</a:t>
            </a:r>
            <a:r>
              <a:rPr lang="en-US" altLang="zh-CN" dirty="0" smtClean="0">
                <a:solidFill>
                  <a:schemeClr val="accent1"/>
                </a:solidFill>
                <a:latin typeface="微软雅黑" panose="020B0503020204020204" pitchFamily="34" charset="-122"/>
                <a:ea typeface="微软雅黑" panose="020B0503020204020204" pitchFamily="34" charset="-122"/>
              </a:rPr>
              <a:t>21</a:t>
            </a:r>
            <a:r>
              <a:rPr lang="zh-CN" altLang="en-US" dirty="0" smtClean="0">
                <a:solidFill>
                  <a:schemeClr val="accent1"/>
                </a:solidFill>
                <a:latin typeface="微软雅黑" panose="020B0503020204020204" pitchFamily="34" charset="-122"/>
                <a:ea typeface="微软雅黑" panose="020B0503020204020204" pitchFamily="34" charset="-122"/>
              </a:rPr>
              <a:t>位开始获取</a:t>
            </a:r>
            <a:r>
              <a:rPr lang="en-US" altLang="zh-CN" dirty="0" smtClean="0">
                <a:solidFill>
                  <a:schemeClr val="accent1"/>
                </a:solidFill>
                <a:latin typeface="微软雅黑" panose="020B0503020204020204" pitchFamily="34" charset="-122"/>
                <a:ea typeface="微软雅黑" panose="020B0503020204020204" pitchFamily="34" charset="-122"/>
              </a:rPr>
              <a:t>7</a:t>
            </a:r>
            <a:r>
              <a:rPr lang="zh-CN" altLang="en-US" dirty="0" smtClean="0">
                <a:solidFill>
                  <a:schemeClr val="accent1"/>
                </a:solidFill>
                <a:latin typeface="微软雅黑" panose="020B0503020204020204" pitchFamily="34" charset="-122"/>
                <a:ea typeface="微软雅黑" panose="020B0503020204020204" pitchFamily="34" charset="-122"/>
              </a:rPr>
              <a:t>个位的数据作为无符号数返回（</a:t>
            </a:r>
            <a:r>
              <a:rPr lang="en-US" altLang="zh-CN" dirty="0" smtClean="0">
                <a:solidFill>
                  <a:schemeClr val="accent1"/>
                </a:solidFill>
                <a:latin typeface="微软雅黑" panose="020B0503020204020204" pitchFamily="34" charset="-122"/>
                <a:ea typeface="微软雅黑" panose="020B0503020204020204" pitchFamily="34" charset="-122"/>
              </a:rPr>
              <a:t>u</a:t>
            </a:r>
            <a:r>
              <a:rPr lang="zh-CN" altLang="en-US" dirty="0" smtClean="0">
                <a:solidFill>
                  <a:schemeClr val="accent1"/>
                </a:solidFill>
                <a:latin typeface="微软雅黑" panose="020B0503020204020204" pitchFamily="34" charset="-122"/>
                <a:ea typeface="微软雅黑" panose="020B0503020204020204" pitchFamily="34" charset="-122"/>
              </a:rPr>
              <a:t>表示无符号，</a:t>
            </a:r>
            <a:r>
              <a:rPr lang="en-US" altLang="zh-CN" dirty="0" err="1" smtClean="0">
                <a:solidFill>
                  <a:schemeClr val="accent1"/>
                </a:solidFill>
                <a:latin typeface="微软雅黑" panose="020B0503020204020204" pitchFamily="34" charset="-122"/>
                <a:ea typeface="微软雅黑" panose="020B0503020204020204" pitchFamily="34" charset="-122"/>
              </a:rPr>
              <a:t>i</a:t>
            </a:r>
            <a:r>
              <a:rPr lang="zh-CN" altLang="en-US" dirty="0" smtClean="0">
                <a:solidFill>
                  <a:schemeClr val="accent1"/>
                </a:solidFill>
                <a:latin typeface="微软雅黑" panose="020B0503020204020204" pitchFamily="34" charset="-122"/>
                <a:ea typeface="微软雅黑" panose="020B0503020204020204" pitchFamily="34" charset="-122"/>
              </a:rPr>
              <a:t>表示有符号）</a:t>
            </a:r>
            <a:endParaRPr lang="en-US" altLang="zh-CN" dirty="0" smtClean="0">
              <a:solidFill>
                <a:schemeClr val="accent1"/>
              </a:solidFill>
              <a:latin typeface="微软雅黑" panose="020B0503020204020204" pitchFamily="34" charset="-122"/>
              <a:ea typeface="微软雅黑" panose="020B0503020204020204" pitchFamily="34" charset="-122"/>
            </a:endParaRPr>
          </a:p>
          <a:p>
            <a:pPr lvl="1">
              <a:lnSpc>
                <a:spcPct val="140000"/>
              </a:lnSpc>
            </a:pPr>
            <a:r>
              <a:rPr lang="zh-CN" altLang="en-US" b="1" dirty="0">
                <a:solidFill>
                  <a:srgbClr val="FFD343"/>
                </a:solidFill>
                <a:latin typeface="微软雅黑" panose="020B0503020204020204" pitchFamily="34" charset="-122"/>
                <a:ea typeface="微软雅黑" panose="020B0503020204020204" pitchFamily="34" charset="-122"/>
              </a:rPr>
              <a:t>注意：</a:t>
            </a:r>
            <a:r>
              <a:rPr lang="en-US" altLang="zh-CN" b="1" dirty="0" err="1">
                <a:solidFill>
                  <a:srgbClr val="FFD343"/>
                </a:solidFill>
                <a:latin typeface="微软雅黑" panose="020B0503020204020204" pitchFamily="34" charset="-122"/>
                <a:ea typeface="微软雅黑" panose="020B0503020204020204" pitchFamily="34" charset="-122"/>
              </a:rPr>
              <a:t>bitfield</a:t>
            </a:r>
            <a:r>
              <a:rPr lang="zh-CN" altLang="en-US" b="1" dirty="0">
                <a:solidFill>
                  <a:srgbClr val="FFD343"/>
                </a:solidFill>
                <a:latin typeface="微软雅黑" panose="020B0503020204020204" pitchFamily="34" charset="-122"/>
                <a:ea typeface="微软雅黑" panose="020B0503020204020204" pitchFamily="34" charset="-122"/>
              </a:rPr>
              <a:t>一次最多操作</a:t>
            </a:r>
            <a:r>
              <a:rPr lang="en-US" altLang="zh-CN" b="1" dirty="0">
                <a:solidFill>
                  <a:srgbClr val="FFD343"/>
                </a:solidFill>
                <a:latin typeface="微软雅黑" panose="020B0503020204020204" pitchFamily="34" charset="-122"/>
                <a:ea typeface="微软雅黑" panose="020B0503020204020204" pitchFamily="34" charset="-122"/>
              </a:rPr>
              <a:t>64</a:t>
            </a:r>
            <a:r>
              <a:rPr lang="zh-CN" altLang="en-US" b="1" dirty="0">
                <a:solidFill>
                  <a:srgbClr val="FFD343"/>
                </a:solidFill>
                <a:latin typeface="微软雅黑" panose="020B0503020204020204" pitchFamily="34" charset="-122"/>
                <a:ea typeface="微软雅黑" panose="020B0503020204020204" pitchFamily="34" charset="-122"/>
              </a:rPr>
              <a:t>个连续的位。</a:t>
            </a:r>
            <a:endParaRPr lang="en-US" altLang="zh-CN" b="1" dirty="0">
              <a:solidFill>
                <a:srgbClr val="FFD343"/>
              </a:solidFill>
              <a:latin typeface="微软雅黑" panose="020B0503020204020204" pitchFamily="34" charset="-122"/>
              <a:ea typeface="微软雅黑" panose="020B0503020204020204" pitchFamily="34" charset="-122"/>
            </a:endParaRPr>
          </a:p>
        </p:txBody>
      </p:sp>
      <p:sp>
        <p:nvSpPr>
          <p:cNvPr id="10" name="TextBox 9"/>
          <p:cNvSpPr txBox="1"/>
          <p:nvPr/>
        </p:nvSpPr>
        <p:spPr>
          <a:xfrm>
            <a:off x="704850" y="605109"/>
            <a:ext cx="8883650" cy="523220"/>
          </a:xfrm>
          <a:prstGeom prst="rect">
            <a:avLst/>
          </a:prstGeom>
          <a:noFill/>
        </p:spPr>
        <p:txBody>
          <a:bodyPr wrap="square" rtlCol="0">
            <a:spAutoFit/>
          </a:bodyPr>
          <a:lstStyle/>
          <a:p>
            <a:pPr>
              <a:defRPr/>
            </a:pPr>
            <a:r>
              <a:rPr lang="en-US" altLang="zh-CN"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3.1.2 </a:t>
            </a:r>
            <a:r>
              <a:rPr lang="zh-CN" altLang="en-US"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如何使用位图保存签到数据</a:t>
            </a:r>
          </a:p>
        </p:txBody>
      </p:sp>
    </p:spTree>
    <p:extLst>
      <p:ext uri="{BB962C8B-B14F-4D97-AF65-F5344CB8AC3E}">
        <p14:creationId xmlns:p14="http://schemas.microsoft.com/office/powerpoint/2010/main" val="1463331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heel(1)">
                                      <p:cBhvr>
                                        <p:cTn id="7"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A0F23"/>
        </a:solidFill>
        <a:effectLst/>
      </p:bgPr>
    </p:bg>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xmlns="" id="{CBDC52CD-1D62-48AF-A9DF-9F18AEA2B1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01385" y="-114300"/>
            <a:ext cx="1301859" cy="920356"/>
          </a:xfrm>
          <a:prstGeom prst="rect">
            <a:avLst/>
          </a:prstGeom>
        </p:spPr>
      </p:pic>
      <p:pic>
        <p:nvPicPr>
          <p:cNvPr id="14" name="图片 13">
            <a:extLst>
              <a:ext uri="{FF2B5EF4-FFF2-40B4-BE49-F238E27FC236}">
                <a16:creationId xmlns:a16="http://schemas.microsoft.com/office/drawing/2014/main" xmlns="" id="{F78DA958-9B1B-47DA-A870-8C0B3A7D8866}"/>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b="63537"/>
          <a:stretch/>
        </p:blipFill>
        <p:spPr>
          <a:xfrm>
            <a:off x="11184164" y="217733"/>
            <a:ext cx="572339" cy="337210"/>
          </a:xfrm>
          <a:prstGeom prst="rect">
            <a:avLst/>
          </a:prstGeom>
        </p:spPr>
      </p:pic>
      <p:cxnSp>
        <p:nvCxnSpPr>
          <p:cNvPr id="15" name="直接连接符 14">
            <a:extLst>
              <a:ext uri="{FF2B5EF4-FFF2-40B4-BE49-F238E27FC236}">
                <a16:creationId xmlns:a16="http://schemas.microsoft.com/office/drawing/2014/main" xmlns="" id="{93240A06-D526-4907-A163-94ABB41190CC}"/>
              </a:ext>
            </a:extLst>
          </p:cNvPr>
          <p:cNvCxnSpPr/>
          <p:nvPr/>
        </p:nvCxnSpPr>
        <p:spPr>
          <a:xfrm>
            <a:off x="11103244" y="225825"/>
            <a:ext cx="0" cy="2435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xmlns="" id="{74C59758-12AB-44A5-92FA-DB52904027AE}"/>
              </a:ext>
            </a:extLst>
          </p:cNvPr>
          <p:cNvSpPr/>
          <p:nvPr/>
        </p:nvSpPr>
        <p:spPr>
          <a:xfrm>
            <a:off x="802332" y="1156488"/>
            <a:ext cx="10765483" cy="2665345"/>
          </a:xfrm>
          <a:prstGeom prst="rect">
            <a:avLst/>
          </a:prstGeom>
        </p:spPr>
        <p:txBody>
          <a:bodyPr wrap="square">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zh-CN" altLang="en-US"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rPr>
              <a:t>三、如何统计一年的签到次数？</a:t>
            </a:r>
            <a:endParaRPr kumimoji="0" lang="en-US" altLang="zh-CN"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endParaRPr>
          </a:p>
          <a:p>
            <a:pPr marL="800100" marR="0" lvl="1" indent="-342900" algn="l" defTabSz="914400" rtl="0" eaLnBrk="1" fontAlgn="auto" latinLnBrk="0" hangingPunct="1">
              <a:lnSpc>
                <a:spcPct val="140000"/>
              </a:lnSpc>
              <a:spcBef>
                <a:spcPts val="0"/>
              </a:spcBef>
              <a:spcAft>
                <a:spcPts val="0"/>
              </a:spcAft>
              <a:buClrTx/>
              <a:buSzTx/>
              <a:buFont typeface="+mj-lt"/>
              <a:buAutoNum type="arabicPeriod"/>
              <a:tabLst/>
              <a:defRPr/>
            </a:pPr>
            <a:r>
              <a:rPr kumimoji="0" lang="zh-CN" altLang="en-US"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使</a:t>
            </a:r>
            <a:r>
              <a:rPr kumimoji="0" lang="zh-CN" altLang="en-US"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rPr>
              <a:t>用命令</a:t>
            </a:r>
            <a:r>
              <a:rPr kumimoji="0" lang="en-US" altLang="zh-CN"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rPr>
              <a:t> </a:t>
            </a:r>
            <a:r>
              <a:rPr kumimoji="0" lang="en-US" altLang="zh-CN" b="0" i="0" u="none" strike="noStrike" kern="1200" cap="none" spc="0" normalizeH="0" baseline="0" noProof="0" dirty="0" err="1" smtClean="0">
                <a:ln>
                  <a:noFill/>
                </a:ln>
                <a:solidFill>
                  <a:prstClr val="white"/>
                </a:solidFill>
                <a:effectLst/>
                <a:uLnTx/>
                <a:uFillTx/>
                <a:latin typeface="微软雅黑" panose="020B0503020204020204" pitchFamily="34" charset="-122"/>
                <a:ea typeface="微软雅黑" panose="020B0503020204020204" pitchFamily="34" charset="-122"/>
              </a:rPr>
              <a:t>bitcount</a:t>
            </a:r>
            <a:r>
              <a:rPr kumimoji="0" lang="zh-CN" altLang="en-US"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rPr>
              <a:t>获取位图中</a:t>
            </a:r>
            <a:r>
              <a:rPr kumimoji="0" lang="en-US" altLang="zh-CN"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rPr>
              <a:t>1</a:t>
            </a:r>
            <a:r>
              <a:rPr kumimoji="0" lang="zh-CN" altLang="en-US"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rPr>
              <a:t>的个数</a:t>
            </a:r>
            <a:endParaRPr kumimoji="0" lang="en-US" altLang="zh-CN"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rPr>
              <a:t>         </a:t>
            </a:r>
            <a:r>
              <a:rPr kumimoji="0" lang="en-US" altLang="zh-CN" b="0" i="1" u="none" strike="noStrike" kern="1200" cap="none" spc="0" normalizeH="0" baseline="0" noProof="0" dirty="0" smtClean="0">
                <a:ln>
                  <a:noFill/>
                </a:ln>
                <a:solidFill>
                  <a:srgbClr val="70AD47"/>
                </a:solidFill>
                <a:effectLst/>
                <a:uLnTx/>
                <a:uFillTx/>
                <a:latin typeface="微软雅黑" panose="020B0503020204020204" pitchFamily="34" charset="-122"/>
                <a:ea typeface="微软雅黑" panose="020B0503020204020204" pitchFamily="34" charset="-122"/>
              </a:rPr>
              <a:t>&gt;  </a:t>
            </a:r>
            <a:r>
              <a:rPr lang="en-US" altLang="zh-CN" b="1" dirty="0" err="1">
                <a:solidFill>
                  <a:srgbClr val="FFD343"/>
                </a:solidFill>
                <a:latin typeface="微软雅黑" panose="020B0503020204020204" pitchFamily="34" charset="-122"/>
                <a:ea typeface="微软雅黑" panose="020B0503020204020204" pitchFamily="34" charset="-122"/>
              </a:rPr>
              <a:t>bitcount</a:t>
            </a:r>
            <a:r>
              <a:rPr kumimoji="0" lang="en-US" altLang="zh-CN" b="0" i="1" u="none" strike="noStrike" kern="1200" cap="none" spc="0" normalizeH="0" baseline="0" noProof="0" dirty="0" smtClean="0">
                <a:ln>
                  <a:noFill/>
                </a:ln>
                <a:solidFill>
                  <a:srgbClr val="70AD47"/>
                </a:solidFill>
                <a:effectLst/>
                <a:uLnTx/>
                <a:uFillTx/>
                <a:latin typeface="微软雅黑" panose="020B0503020204020204" pitchFamily="34" charset="-122"/>
                <a:ea typeface="微软雅黑" panose="020B0503020204020204" pitchFamily="34" charset="-122"/>
              </a:rPr>
              <a:t>  </a:t>
            </a:r>
            <a:r>
              <a:rPr kumimoji="0" lang="en-US" altLang="zh-CN" b="0" i="1" u="none" strike="noStrike" kern="1200" cap="none" spc="0" normalizeH="0" baseline="0" noProof="0" dirty="0" err="1" smtClean="0">
                <a:ln>
                  <a:noFill/>
                </a:ln>
                <a:solidFill>
                  <a:srgbClr val="70AD47"/>
                </a:solidFill>
                <a:effectLst/>
                <a:uLnTx/>
                <a:uFillTx/>
                <a:latin typeface="微软雅黑" panose="020B0503020204020204" pitchFamily="34" charset="-122"/>
                <a:ea typeface="微软雅黑" panose="020B0503020204020204" pitchFamily="34" charset="-122"/>
              </a:rPr>
              <a:t>userid</a:t>
            </a:r>
            <a:endParaRPr kumimoji="0" lang="en-US" altLang="zh-CN" b="0" i="1" u="none" strike="noStrike" kern="1200" cap="none" spc="0" normalizeH="0" baseline="0" noProof="0" dirty="0" smtClean="0">
              <a:ln>
                <a:noFill/>
              </a:ln>
              <a:solidFill>
                <a:srgbClr val="70AD47"/>
              </a:solidFill>
              <a:effectLst/>
              <a:uLnTx/>
              <a:uFillTx/>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40000"/>
              </a:lnSpc>
              <a:spcBef>
                <a:spcPts val="0"/>
              </a:spcBef>
              <a:spcAft>
                <a:spcPts val="0"/>
              </a:spcAft>
              <a:buClrTx/>
              <a:buSzTx/>
              <a:buFontTx/>
              <a:buNone/>
              <a:tabLst/>
              <a:defRPr/>
            </a:pPr>
            <a:endParaRPr lang="en-US" altLang="zh-CN" i="1" dirty="0" smtClean="0">
              <a:solidFill>
                <a:srgbClr val="70AD47"/>
              </a:solidFill>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40000"/>
              </a:lnSpc>
              <a:spcBef>
                <a:spcPts val="0"/>
              </a:spcBef>
              <a:spcAft>
                <a:spcPts val="0"/>
              </a:spcAft>
              <a:buClrTx/>
              <a:buSzTx/>
              <a:buFontTx/>
              <a:buNone/>
              <a:tabLst/>
              <a:defRPr/>
            </a:pPr>
            <a:r>
              <a:rPr lang="en-US" altLang="zh-CN" dirty="0">
                <a:solidFill>
                  <a:schemeClr val="bg1"/>
                </a:solidFill>
                <a:latin typeface="微软雅黑" panose="020B0503020204020204" pitchFamily="34" charset="-122"/>
                <a:ea typeface="微软雅黑" panose="020B0503020204020204" pitchFamily="34" charset="-122"/>
              </a:rPr>
              <a:t> </a:t>
            </a:r>
            <a:r>
              <a:rPr lang="en-US" altLang="zh-CN" dirty="0" smtClean="0">
                <a:solidFill>
                  <a:schemeClr val="bg1"/>
                </a:solidFill>
                <a:latin typeface="微软雅黑" panose="020B0503020204020204" pitchFamily="34" charset="-122"/>
                <a:ea typeface="微软雅黑" panose="020B0503020204020204" pitchFamily="34" charset="-122"/>
              </a:rPr>
              <a:t>        </a:t>
            </a:r>
            <a:r>
              <a:rPr lang="zh-CN" altLang="en-US" dirty="0" smtClean="0">
                <a:solidFill>
                  <a:schemeClr val="bg1"/>
                </a:solidFill>
                <a:latin typeface="微软雅黑" panose="020B0503020204020204" pitchFamily="34" charset="-122"/>
                <a:ea typeface="微软雅黑" panose="020B0503020204020204" pitchFamily="34" charset="-122"/>
              </a:rPr>
              <a:t>也可以为该命令指定范围 </a:t>
            </a:r>
            <a:r>
              <a:rPr lang="en-US" altLang="zh-CN" b="1" dirty="0" err="1">
                <a:solidFill>
                  <a:srgbClr val="FFD343"/>
                </a:solidFill>
                <a:latin typeface="微软雅黑" panose="020B0503020204020204" pitchFamily="34" charset="-122"/>
                <a:ea typeface="微软雅黑" panose="020B0503020204020204" pitchFamily="34" charset="-122"/>
              </a:rPr>
              <a:t>bitcont</a:t>
            </a:r>
            <a:r>
              <a:rPr lang="en-US" altLang="zh-CN" dirty="0" smtClean="0">
                <a:solidFill>
                  <a:srgbClr val="FF0000"/>
                </a:solidFill>
                <a:latin typeface="微软雅黑" panose="020B0503020204020204" pitchFamily="34" charset="-122"/>
                <a:ea typeface="微软雅黑" panose="020B0503020204020204" pitchFamily="34" charset="-122"/>
              </a:rPr>
              <a:t> </a:t>
            </a:r>
            <a:r>
              <a:rPr lang="en-US" altLang="zh-CN" dirty="0" err="1" smtClean="0">
                <a:solidFill>
                  <a:schemeClr val="bg1"/>
                </a:solidFill>
                <a:latin typeface="微软雅黑" panose="020B0503020204020204" pitchFamily="34" charset="-122"/>
                <a:ea typeface="微软雅黑" panose="020B0503020204020204" pitchFamily="34" charset="-122"/>
              </a:rPr>
              <a:t>userid</a:t>
            </a:r>
            <a:r>
              <a:rPr lang="en-US" altLang="zh-CN" dirty="0" smtClean="0">
                <a:solidFill>
                  <a:schemeClr val="bg1"/>
                </a:solidFill>
                <a:latin typeface="微软雅黑" panose="020B0503020204020204" pitchFamily="34" charset="-122"/>
                <a:ea typeface="微软雅黑" panose="020B0503020204020204" pitchFamily="34" charset="-122"/>
              </a:rPr>
              <a:t> m  n </a:t>
            </a:r>
            <a:r>
              <a:rPr lang="zh-CN" altLang="en-US" dirty="0" smtClean="0">
                <a:solidFill>
                  <a:schemeClr val="bg1"/>
                </a:solidFill>
                <a:latin typeface="微软雅黑" panose="020B0503020204020204" pitchFamily="34" charset="-122"/>
                <a:ea typeface="微软雅黑" panose="020B0503020204020204" pitchFamily="34" charset="-122"/>
              </a:rPr>
              <a:t>；这个</a:t>
            </a:r>
            <a:r>
              <a:rPr lang="en-US" altLang="zh-CN" dirty="0" smtClean="0">
                <a:solidFill>
                  <a:schemeClr val="bg1"/>
                </a:solidFill>
                <a:latin typeface="微软雅黑" panose="020B0503020204020204" pitchFamily="34" charset="-122"/>
                <a:ea typeface="微软雅黑" panose="020B0503020204020204" pitchFamily="34" charset="-122"/>
              </a:rPr>
              <a:t>m</a:t>
            </a:r>
            <a:r>
              <a:rPr lang="zh-CN" altLang="en-US" dirty="0" smtClean="0">
                <a:solidFill>
                  <a:schemeClr val="bg1"/>
                </a:solidFill>
                <a:latin typeface="微软雅黑" panose="020B0503020204020204" pitchFamily="34" charset="-122"/>
                <a:ea typeface="微软雅黑" panose="020B0503020204020204" pitchFamily="34" charset="-122"/>
              </a:rPr>
              <a:t>，</a:t>
            </a:r>
            <a:r>
              <a:rPr lang="en-US" altLang="zh-CN" dirty="0" smtClean="0">
                <a:solidFill>
                  <a:schemeClr val="bg1"/>
                </a:solidFill>
                <a:latin typeface="微软雅黑" panose="020B0503020204020204" pitchFamily="34" charset="-122"/>
                <a:ea typeface="微软雅黑" panose="020B0503020204020204" pitchFamily="34" charset="-122"/>
              </a:rPr>
              <a:t>n</a:t>
            </a:r>
            <a:r>
              <a:rPr lang="zh-CN" altLang="en-US" dirty="0">
                <a:solidFill>
                  <a:schemeClr val="bg1"/>
                </a:solidFill>
                <a:latin typeface="微软雅黑" panose="020B0503020204020204" pitchFamily="34" charset="-122"/>
                <a:ea typeface="微软雅黑" panose="020B0503020204020204" pitchFamily="34" charset="-122"/>
              </a:rPr>
              <a:t>索</a:t>
            </a:r>
            <a:r>
              <a:rPr lang="zh-CN" altLang="en-US" dirty="0" smtClean="0">
                <a:solidFill>
                  <a:schemeClr val="bg1"/>
                </a:solidFill>
                <a:latin typeface="微软雅黑" panose="020B0503020204020204" pitchFamily="34" charset="-122"/>
                <a:ea typeface="微软雅黑" panose="020B0503020204020204" pitchFamily="34" charset="-122"/>
              </a:rPr>
              <a:t>引以</a:t>
            </a:r>
            <a:r>
              <a:rPr lang="en-US" altLang="zh-CN" dirty="0" smtClean="0">
                <a:solidFill>
                  <a:schemeClr val="bg1"/>
                </a:solidFill>
                <a:latin typeface="微软雅黑" panose="020B0503020204020204" pitchFamily="34" charset="-122"/>
                <a:ea typeface="微软雅黑" panose="020B0503020204020204" pitchFamily="34" charset="-122"/>
              </a:rPr>
              <a:t>0</a:t>
            </a:r>
            <a:r>
              <a:rPr lang="zh-CN" altLang="en-US" dirty="0" smtClean="0">
                <a:solidFill>
                  <a:schemeClr val="bg1"/>
                </a:solidFill>
                <a:latin typeface="微软雅黑" panose="020B0503020204020204" pitchFamily="34" charset="-122"/>
                <a:ea typeface="微软雅黑" panose="020B0503020204020204" pitchFamily="34" charset="-122"/>
              </a:rPr>
              <a:t>开始，但并不是以</a:t>
            </a:r>
            <a:r>
              <a:rPr lang="en-US" altLang="zh-CN" dirty="0" smtClean="0">
                <a:solidFill>
                  <a:schemeClr val="bg1"/>
                </a:solidFill>
                <a:latin typeface="微软雅黑" panose="020B0503020204020204" pitchFamily="34" charset="-122"/>
                <a:ea typeface="微软雅黑" panose="020B0503020204020204" pitchFamily="34" charset="-122"/>
              </a:rPr>
              <a:t>bit</a:t>
            </a:r>
            <a:r>
              <a:rPr lang="zh-CN" altLang="en-US" dirty="0" smtClean="0">
                <a:solidFill>
                  <a:schemeClr val="bg1"/>
                </a:solidFill>
                <a:latin typeface="微软雅黑" panose="020B0503020204020204" pitchFamily="34" charset="-122"/>
                <a:ea typeface="微软雅黑" panose="020B0503020204020204" pitchFamily="34" charset="-122"/>
              </a:rPr>
              <a:t>位为单位，而是以字节为单位，如果指定范围是</a:t>
            </a:r>
            <a:r>
              <a:rPr lang="en-US" altLang="zh-CN" dirty="0" smtClean="0">
                <a:solidFill>
                  <a:schemeClr val="bg1"/>
                </a:solidFill>
                <a:latin typeface="微软雅黑" panose="020B0503020204020204" pitchFamily="34" charset="-122"/>
                <a:ea typeface="微软雅黑" panose="020B0503020204020204" pitchFamily="34" charset="-122"/>
              </a:rPr>
              <a:t>0  1 </a:t>
            </a:r>
            <a:r>
              <a:rPr lang="zh-CN" altLang="en-US" dirty="0" smtClean="0">
                <a:solidFill>
                  <a:schemeClr val="bg1"/>
                </a:solidFill>
                <a:latin typeface="微软雅黑" panose="020B0503020204020204" pitchFamily="34" charset="-122"/>
                <a:ea typeface="微软雅黑" panose="020B0503020204020204" pitchFamily="34" charset="-122"/>
              </a:rPr>
              <a:t>表示统计的范围是第</a:t>
            </a:r>
            <a:r>
              <a:rPr lang="en-US" altLang="zh-CN" dirty="0" smtClean="0">
                <a:solidFill>
                  <a:schemeClr val="bg1"/>
                </a:solidFill>
                <a:latin typeface="微软雅黑" panose="020B0503020204020204" pitchFamily="34" charset="-122"/>
                <a:ea typeface="微软雅黑" panose="020B0503020204020204" pitchFamily="34" charset="-122"/>
              </a:rPr>
              <a:t>1</a:t>
            </a:r>
            <a:r>
              <a:rPr lang="zh-CN" altLang="en-US" dirty="0" smtClean="0">
                <a:solidFill>
                  <a:schemeClr val="bg1"/>
                </a:solidFill>
                <a:latin typeface="微软雅黑" panose="020B0503020204020204" pitchFamily="34" charset="-122"/>
                <a:ea typeface="微软雅黑" panose="020B0503020204020204" pitchFamily="34" charset="-122"/>
              </a:rPr>
              <a:t>个</a:t>
            </a:r>
            <a:r>
              <a:rPr lang="en-US" altLang="zh-CN" dirty="0" smtClean="0">
                <a:solidFill>
                  <a:schemeClr val="bg1"/>
                </a:solidFill>
                <a:latin typeface="微软雅黑" panose="020B0503020204020204" pitchFamily="34" charset="-122"/>
                <a:ea typeface="微软雅黑" panose="020B0503020204020204" pitchFamily="34" charset="-122"/>
              </a:rPr>
              <a:t>bit</a:t>
            </a:r>
            <a:r>
              <a:rPr lang="zh-CN" altLang="en-US" dirty="0" smtClean="0">
                <a:solidFill>
                  <a:schemeClr val="bg1"/>
                </a:solidFill>
                <a:latin typeface="微软雅黑" panose="020B0503020204020204" pitchFamily="34" charset="-122"/>
                <a:ea typeface="微软雅黑" panose="020B0503020204020204" pitchFamily="34" charset="-122"/>
              </a:rPr>
              <a:t>位到第</a:t>
            </a:r>
            <a:r>
              <a:rPr lang="en-US" altLang="zh-CN" dirty="0" smtClean="0">
                <a:solidFill>
                  <a:schemeClr val="bg1"/>
                </a:solidFill>
                <a:latin typeface="微软雅黑" panose="020B0503020204020204" pitchFamily="34" charset="-122"/>
                <a:ea typeface="微软雅黑" panose="020B0503020204020204" pitchFamily="34" charset="-122"/>
              </a:rPr>
              <a:t>8</a:t>
            </a:r>
            <a:r>
              <a:rPr lang="zh-CN" altLang="en-US" dirty="0" smtClean="0">
                <a:solidFill>
                  <a:schemeClr val="bg1"/>
                </a:solidFill>
                <a:latin typeface="微软雅黑" panose="020B0503020204020204" pitchFamily="34" charset="-122"/>
                <a:ea typeface="微软雅黑" panose="020B0503020204020204" pitchFamily="34" charset="-122"/>
              </a:rPr>
              <a:t>个</a:t>
            </a:r>
            <a:r>
              <a:rPr lang="en-US" altLang="zh-CN" dirty="0" smtClean="0">
                <a:solidFill>
                  <a:schemeClr val="bg1"/>
                </a:solidFill>
                <a:latin typeface="微软雅黑" panose="020B0503020204020204" pitchFamily="34" charset="-122"/>
                <a:ea typeface="微软雅黑" panose="020B0503020204020204" pitchFamily="34" charset="-122"/>
              </a:rPr>
              <a:t>bit</a:t>
            </a:r>
            <a:r>
              <a:rPr lang="zh-CN" altLang="en-US" dirty="0" smtClean="0">
                <a:solidFill>
                  <a:schemeClr val="bg1"/>
                </a:solidFill>
                <a:latin typeface="微软雅黑" panose="020B0503020204020204" pitchFamily="34" charset="-122"/>
                <a:ea typeface="微软雅黑" panose="020B0503020204020204" pitchFamily="34" charset="-122"/>
              </a:rPr>
              <a:t>位。</a:t>
            </a:r>
            <a:endParaRPr kumimoji="0" lang="en-US" altLang="zh-CN"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0" name="TextBox 9"/>
          <p:cNvSpPr txBox="1"/>
          <p:nvPr/>
        </p:nvSpPr>
        <p:spPr>
          <a:xfrm>
            <a:off x="704850" y="605109"/>
            <a:ext cx="8883650" cy="523220"/>
          </a:xfrm>
          <a:prstGeom prst="rect">
            <a:avLst/>
          </a:prstGeom>
          <a:noFill/>
        </p:spPr>
        <p:txBody>
          <a:bodyPr wrap="square" rtlCol="0">
            <a:spAutoFit/>
          </a:bodyPr>
          <a:lstStyle/>
          <a:p>
            <a:pPr>
              <a:defRPr/>
            </a:pPr>
            <a:r>
              <a:rPr lang="en-US" altLang="zh-CN"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3.1.2 </a:t>
            </a:r>
            <a:r>
              <a:rPr lang="zh-CN" altLang="en-US"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如何使用位图保存签到数据</a:t>
            </a:r>
          </a:p>
        </p:txBody>
      </p:sp>
    </p:spTree>
    <p:extLst>
      <p:ext uri="{BB962C8B-B14F-4D97-AF65-F5344CB8AC3E}">
        <p14:creationId xmlns:p14="http://schemas.microsoft.com/office/powerpoint/2010/main" val="4080942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A0F23"/>
        </a:solidFill>
        <a:effectLst/>
      </p:bgPr>
    </p:bg>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xmlns="" id="{CBDC52CD-1D62-48AF-A9DF-9F18AEA2B1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01385" y="-114300"/>
            <a:ext cx="1301859" cy="920356"/>
          </a:xfrm>
          <a:prstGeom prst="rect">
            <a:avLst/>
          </a:prstGeom>
        </p:spPr>
      </p:pic>
      <p:pic>
        <p:nvPicPr>
          <p:cNvPr id="14" name="图片 13">
            <a:extLst>
              <a:ext uri="{FF2B5EF4-FFF2-40B4-BE49-F238E27FC236}">
                <a16:creationId xmlns:a16="http://schemas.microsoft.com/office/drawing/2014/main" xmlns="" id="{F78DA958-9B1B-47DA-A870-8C0B3A7D8866}"/>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b="63537"/>
          <a:stretch/>
        </p:blipFill>
        <p:spPr>
          <a:xfrm>
            <a:off x="11184164" y="217733"/>
            <a:ext cx="572339" cy="337210"/>
          </a:xfrm>
          <a:prstGeom prst="rect">
            <a:avLst/>
          </a:prstGeom>
        </p:spPr>
      </p:pic>
      <p:cxnSp>
        <p:nvCxnSpPr>
          <p:cNvPr id="15" name="直接连接符 14">
            <a:extLst>
              <a:ext uri="{FF2B5EF4-FFF2-40B4-BE49-F238E27FC236}">
                <a16:creationId xmlns:a16="http://schemas.microsoft.com/office/drawing/2014/main" xmlns="" id="{93240A06-D526-4907-A163-94ABB41190CC}"/>
              </a:ext>
            </a:extLst>
          </p:cNvPr>
          <p:cNvCxnSpPr/>
          <p:nvPr/>
        </p:nvCxnSpPr>
        <p:spPr>
          <a:xfrm>
            <a:off x="11103244" y="225825"/>
            <a:ext cx="0" cy="2435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xmlns="" id="{74C59758-12AB-44A5-92FA-DB52904027AE}"/>
              </a:ext>
            </a:extLst>
          </p:cNvPr>
          <p:cNvSpPr/>
          <p:nvPr/>
        </p:nvSpPr>
        <p:spPr>
          <a:xfrm>
            <a:off x="802332" y="1954780"/>
            <a:ext cx="10765483" cy="867930"/>
          </a:xfrm>
          <a:prstGeom prst="rect">
            <a:avLst/>
          </a:prstGeom>
        </p:spPr>
        <p:txBody>
          <a:bodyPr wrap="square">
            <a:spAutoFit/>
          </a:bodyPr>
          <a:lstStyle/>
          <a:p>
            <a:pPr indent="457200">
              <a:lnSpc>
                <a:spcPct val="140000"/>
              </a:lnSpc>
            </a:pPr>
            <a:r>
              <a:rPr lang="en-US" altLang="zh-CN" dirty="0" smtClean="0">
                <a:solidFill>
                  <a:prstClr val="white"/>
                </a:solidFill>
                <a:latin typeface="微软雅黑" panose="020B0503020204020204" pitchFamily="34" charset="-122"/>
                <a:ea typeface="微软雅黑" panose="020B0503020204020204" pitchFamily="34" charset="-122"/>
              </a:rPr>
              <a:t>UV</a:t>
            </a:r>
            <a:r>
              <a:rPr lang="zh-CN" altLang="en-US" dirty="0">
                <a:solidFill>
                  <a:prstClr val="white"/>
                </a:solidFill>
                <a:latin typeface="微软雅黑" panose="020B0503020204020204" pitchFamily="34" charset="-122"/>
                <a:ea typeface="微软雅黑" panose="020B0503020204020204" pitchFamily="34" charset="-122"/>
              </a:rPr>
              <a:t>是衡量一个网站流量好坏的一个重要指标</a:t>
            </a:r>
            <a:r>
              <a:rPr lang="zh-CN" altLang="en-US" dirty="0" smtClean="0">
                <a:solidFill>
                  <a:prstClr val="white"/>
                </a:solidFill>
                <a:latin typeface="微软雅黑" panose="020B0503020204020204" pitchFamily="34" charset="-122"/>
                <a:ea typeface="微软雅黑" panose="020B0503020204020204" pitchFamily="34" charset="-122"/>
              </a:rPr>
              <a:t>，</a:t>
            </a:r>
            <a:r>
              <a:rPr lang="en-US" altLang="zh-CN" dirty="0" smtClean="0">
                <a:solidFill>
                  <a:prstClr val="white"/>
                </a:solidFill>
                <a:latin typeface="微软雅黑" panose="020B0503020204020204" pitchFamily="34" charset="-122"/>
                <a:ea typeface="微软雅黑" panose="020B0503020204020204" pitchFamily="34" charset="-122"/>
              </a:rPr>
              <a:t>UV</a:t>
            </a:r>
            <a:r>
              <a:rPr lang="zh-CN" altLang="en-US" dirty="0">
                <a:solidFill>
                  <a:prstClr val="white"/>
                </a:solidFill>
                <a:latin typeface="微软雅黑" panose="020B0503020204020204" pitchFamily="34" charset="-122"/>
                <a:ea typeface="微软雅黑" panose="020B0503020204020204" pitchFamily="34" charset="-122"/>
              </a:rPr>
              <a:t>即网站独立的访客</a:t>
            </a:r>
            <a:r>
              <a:rPr lang="zh-CN" altLang="en-US" dirty="0" smtClean="0">
                <a:solidFill>
                  <a:prstClr val="white"/>
                </a:solidFill>
                <a:latin typeface="微软雅黑" panose="020B0503020204020204" pitchFamily="34" charset="-122"/>
                <a:ea typeface="微软雅黑" panose="020B0503020204020204" pitchFamily="34" charset="-122"/>
              </a:rPr>
              <a:t>数量，是指访问网站资源的独立</a:t>
            </a:r>
            <a:r>
              <a:rPr lang="en-US" altLang="zh-CN" dirty="0" smtClean="0">
                <a:solidFill>
                  <a:prstClr val="white"/>
                </a:solidFill>
                <a:latin typeface="微软雅黑" panose="020B0503020204020204" pitchFamily="34" charset="-122"/>
                <a:ea typeface="微软雅黑" panose="020B0503020204020204" pitchFamily="34" charset="-122"/>
              </a:rPr>
              <a:t>IP</a:t>
            </a:r>
            <a:r>
              <a:rPr lang="zh-CN" altLang="en-US" dirty="0" smtClean="0">
                <a:solidFill>
                  <a:prstClr val="white"/>
                </a:solidFill>
                <a:latin typeface="微软雅黑" panose="020B0503020204020204" pitchFamily="34" charset="-122"/>
                <a:ea typeface="微软雅黑" panose="020B0503020204020204" pitchFamily="34" charset="-122"/>
              </a:rPr>
              <a:t>的访问次数，对某一个资源，同一个</a:t>
            </a:r>
            <a:r>
              <a:rPr lang="en-US" altLang="zh-CN" dirty="0" smtClean="0">
                <a:solidFill>
                  <a:prstClr val="white"/>
                </a:solidFill>
                <a:latin typeface="微软雅黑" panose="020B0503020204020204" pitchFamily="34" charset="-122"/>
                <a:ea typeface="微软雅黑" panose="020B0503020204020204" pitchFamily="34" charset="-122"/>
              </a:rPr>
              <a:t>IP</a:t>
            </a:r>
            <a:r>
              <a:rPr lang="zh-CN" altLang="en-US" dirty="0" smtClean="0">
                <a:solidFill>
                  <a:prstClr val="white"/>
                </a:solidFill>
                <a:latin typeface="微软雅黑" panose="020B0503020204020204" pitchFamily="34" charset="-122"/>
                <a:ea typeface="微软雅黑" panose="020B0503020204020204" pitchFamily="34" charset="-122"/>
              </a:rPr>
              <a:t>的多次访问只算作记录一次。</a:t>
            </a:r>
            <a:endParaRPr lang="en-US" altLang="zh-CN" dirty="0" smtClean="0">
              <a:solidFill>
                <a:prstClr val="white"/>
              </a:solidFill>
              <a:latin typeface="微软雅黑" panose="020B0503020204020204" pitchFamily="34" charset="-122"/>
              <a:ea typeface="微软雅黑" panose="020B0503020204020204" pitchFamily="34" charset="-122"/>
            </a:endParaRPr>
          </a:p>
        </p:txBody>
      </p:sp>
      <p:sp>
        <p:nvSpPr>
          <p:cNvPr id="10" name="TextBox 9"/>
          <p:cNvSpPr txBox="1"/>
          <p:nvPr/>
        </p:nvSpPr>
        <p:spPr>
          <a:xfrm>
            <a:off x="704849" y="605109"/>
            <a:ext cx="10862965" cy="584775"/>
          </a:xfrm>
          <a:prstGeom prst="rect">
            <a:avLst/>
          </a:prstGeom>
          <a:noFill/>
        </p:spPr>
        <p:txBody>
          <a:bodyPr wrap="square" rtlCol="0">
            <a:spAutoFit/>
          </a:bodyPr>
          <a:lstStyle/>
          <a:p>
            <a:pPr>
              <a:defRPr/>
            </a:pPr>
            <a:r>
              <a:rPr lang="en-US" altLang="zh-CN" sz="32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3.2</a:t>
            </a:r>
            <a:r>
              <a:rPr lang="zh-CN" altLang="en-US" sz="32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、网址</a:t>
            </a:r>
            <a:r>
              <a:rPr lang="en-US" altLang="zh-CN" sz="32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UV(Unique Visitor)</a:t>
            </a:r>
            <a:r>
              <a:rPr lang="zh-CN" altLang="en-US" sz="32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统计 </a:t>
            </a:r>
            <a:r>
              <a:rPr lang="en-US" altLang="zh-CN" sz="32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 </a:t>
            </a:r>
            <a:r>
              <a:rPr lang="en-US" altLang="zh-CN" sz="3200" b="1" dirty="0" err="1">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HyperLogLog</a:t>
            </a:r>
            <a:endParaRPr lang="zh-CN" altLang="en-US" sz="32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endParaRPr>
          </a:p>
        </p:txBody>
      </p:sp>
      <p:sp>
        <p:nvSpPr>
          <p:cNvPr id="8" name="TextBox 9"/>
          <p:cNvSpPr txBox="1"/>
          <p:nvPr/>
        </p:nvSpPr>
        <p:spPr>
          <a:xfrm>
            <a:off x="704850" y="1272767"/>
            <a:ext cx="4038600" cy="523220"/>
          </a:xfrm>
          <a:prstGeom prst="rect">
            <a:avLst/>
          </a:prstGeom>
          <a:noFill/>
        </p:spPr>
        <p:txBody>
          <a:bodyPr wrap="square" rtlCol="0">
            <a:spAutoFit/>
          </a:bodyPr>
          <a:lstStyle/>
          <a:p>
            <a:pPr>
              <a:defRPr/>
            </a:pPr>
            <a:r>
              <a:rPr lang="en-US" altLang="zh-CN"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3.2.1 </a:t>
            </a:r>
            <a:r>
              <a:rPr lang="zh-CN" altLang="en-US"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功能描述</a:t>
            </a:r>
          </a:p>
        </p:txBody>
      </p:sp>
    </p:spTree>
    <p:extLst>
      <p:ext uri="{BB962C8B-B14F-4D97-AF65-F5344CB8AC3E}">
        <p14:creationId xmlns:p14="http://schemas.microsoft.com/office/powerpoint/2010/main" val="3243079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4" presetClass="emph" presetSubtype="0" fill="hold" grpId="0" nodeType="clickEffect">
                                  <p:stCondLst>
                                    <p:cond delay="0"/>
                                  </p:stCondLst>
                                  <p:iterate type="lt">
                                    <p:tmPct val="10000"/>
                                  </p:iterate>
                                  <p:childTnLst>
                                    <p:animMotion origin="layout" path="M 0.0 0.0 L 0.0 -0.07213" pathEditMode="relative" ptsTypes="">
                                      <p:cBhvr>
                                        <p:cTn id="6" dur="250" accel="50000" decel="50000" autoRev="1" fill="hold">
                                          <p:stCondLst>
                                            <p:cond delay="0"/>
                                          </p:stCondLst>
                                        </p:cTn>
                                        <p:tgtEl>
                                          <p:spTgt spid="9"/>
                                        </p:tgtEl>
                                        <p:attrNameLst>
                                          <p:attrName>ppt_x</p:attrName>
                                          <p:attrName>ppt_y</p:attrName>
                                        </p:attrNameLst>
                                      </p:cBhvr>
                                    </p:animMotion>
                                    <p:animRot by="1500000">
                                      <p:cBhvr>
                                        <p:cTn id="7" dur="125" fill="hold">
                                          <p:stCondLst>
                                            <p:cond delay="0"/>
                                          </p:stCondLst>
                                        </p:cTn>
                                        <p:tgtEl>
                                          <p:spTgt spid="9"/>
                                        </p:tgtEl>
                                        <p:attrNameLst>
                                          <p:attrName>r</p:attrName>
                                        </p:attrNameLst>
                                      </p:cBhvr>
                                    </p:animRot>
                                    <p:animRot by="-1500000">
                                      <p:cBhvr>
                                        <p:cTn id="8" dur="125" fill="hold">
                                          <p:stCondLst>
                                            <p:cond delay="125"/>
                                          </p:stCondLst>
                                        </p:cTn>
                                        <p:tgtEl>
                                          <p:spTgt spid="9"/>
                                        </p:tgtEl>
                                        <p:attrNameLst>
                                          <p:attrName>r</p:attrName>
                                        </p:attrNameLst>
                                      </p:cBhvr>
                                    </p:animRot>
                                    <p:animRot by="-1500000">
                                      <p:cBhvr>
                                        <p:cTn id="9" dur="125" fill="hold">
                                          <p:stCondLst>
                                            <p:cond delay="250"/>
                                          </p:stCondLst>
                                        </p:cTn>
                                        <p:tgtEl>
                                          <p:spTgt spid="9"/>
                                        </p:tgtEl>
                                        <p:attrNameLst>
                                          <p:attrName>r</p:attrName>
                                        </p:attrNameLst>
                                      </p:cBhvr>
                                    </p:animRot>
                                    <p:animRot by="1500000">
                                      <p:cBhvr>
                                        <p:cTn id="10" dur="125" fill="hold">
                                          <p:stCondLst>
                                            <p:cond delay="375"/>
                                          </p:stCondLst>
                                        </p:cTn>
                                        <p:tgtEl>
                                          <p:spTgt spid="9"/>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A0F23"/>
        </a:solidFill>
        <a:effectLst/>
      </p:bgPr>
    </p:bg>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xmlns="" id="{CBDC52CD-1D62-48AF-A9DF-9F18AEA2B1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01385" y="-114300"/>
            <a:ext cx="1301859" cy="920356"/>
          </a:xfrm>
          <a:prstGeom prst="rect">
            <a:avLst/>
          </a:prstGeom>
        </p:spPr>
      </p:pic>
      <p:pic>
        <p:nvPicPr>
          <p:cNvPr id="14" name="图片 13">
            <a:extLst>
              <a:ext uri="{FF2B5EF4-FFF2-40B4-BE49-F238E27FC236}">
                <a16:creationId xmlns:a16="http://schemas.microsoft.com/office/drawing/2014/main" xmlns="" id="{F78DA958-9B1B-47DA-A870-8C0B3A7D8866}"/>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b="63537"/>
          <a:stretch/>
        </p:blipFill>
        <p:spPr>
          <a:xfrm>
            <a:off x="11184164" y="217733"/>
            <a:ext cx="572339" cy="337210"/>
          </a:xfrm>
          <a:prstGeom prst="rect">
            <a:avLst/>
          </a:prstGeom>
        </p:spPr>
      </p:pic>
      <p:cxnSp>
        <p:nvCxnSpPr>
          <p:cNvPr id="15" name="直接连接符 14">
            <a:extLst>
              <a:ext uri="{FF2B5EF4-FFF2-40B4-BE49-F238E27FC236}">
                <a16:creationId xmlns:a16="http://schemas.microsoft.com/office/drawing/2014/main" xmlns="" id="{93240A06-D526-4907-A163-94ABB41190CC}"/>
              </a:ext>
            </a:extLst>
          </p:cNvPr>
          <p:cNvCxnSpPr/>
          <p:nvPr/>
        </p:nvCxnSpPr>
        <p:spPr>
          <a:xfrm>
            <a:off x="11103244" y="225825"/>
            <a:ext cx="0" cy="2435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TextBox 9"/>
          <p:cNvSpPr txBox="1"/>
          <p:nvPr/>
        </p:nvSpPr>
        <p:spPr>
          <a:xfrm>
            <a:off x="704849" y="806056"/>
            <a:ext cx="8883650" cy="523220"/>
          </a:xfrm>
          <a:prstGeom prst="rect">
            <a:avLst/>
          </a:prstGeom>
          <a:noFill/>
        </p:spPr>
        <p:txBody>
          <a:bodyPr wrap="square" rtlCol="0">
            <a:spAutoFit/>
          </a:bodyPr>
          <a:lstStyle/>
          <a:p>
            <a:pPr>
              <a:defRPr/>
            </a:pPr>
            <a:r>
              <a:rPr lang="en-US" altLang="zh-CN"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3.2.2 </a:t>
            </a:r>
            <a:r>
              <a:rPr lang="zh-CN" altLang="en-US"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 </a:t>
            </a:r>
            <a:r>
              <a:rPr lang="en-US" altLang="zh-CN" sz="2800" b="1" dirty="0" err="1">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HyperLogLog</a:t>
            </a:r>
            <a:r>
              <a:rPr lang="zh-CN" altLang="en-US"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特点及优势</a:t>
            </a:r>
          </a:p>
        </p:txBody>
      </p:sp>
      <p:sp>
        <p:nvSpPr>
          <p:cNvPr id="16" name="矩形 15">
            <a:extLst>
              <a:ext uri="{FF2B5EF4-FFF2-40B4-BE49-F238E27FC236}">
                <a16:creationId xmlns:a16="http://schemas.microsoft.com/office/drawing/2014/main" xmlns="" id="{74C59758-12AB-44A5-92FA-DB52904027AE}"/>
              </a:ext>
            </a:extLst>
          </p:cNvPr>
          <p:cNvSpPr/>
          <p:nvPr/>
        </p:nvSpPr>
        <p:spPr>
          <a:xfrm>
            <a:off x="704850" y="1564168"/>
            <a:ext cx="10765483" cy="3416320"/>
          </a:xfrm>
          <a:prstGeom prst="rect">
            <a:avLst/>
          </a:prstGeom>
        </p:spPr>
        <p:txBody>
          <a:bodyPr wrap="square">
            <a:spAutoFit/>
          </a:bodyPr>
          <a:lstStyle/>
          <a:p>
            <a:pPr indent="457200">
              <a:lnSpc>
                <a:spcPct val="150000"/>
              </a:lnSpc>
            </a:pPr>
            <a:r>
              <a:rPr lang="en-US" altLang="zh-CN" dirty="0" err="1" smtClean="0">
                <a:solidFill>
                  <a:prstClr val="white"/>
                </a:solidFill>
                <a:latin typeface="微软雅黑" panose="020B0503020204020204" pitchFamily="34" charset="-122"/>
                <a:ea typeface="微软雅黑" panose="020B0503020204020204" pitchFamily="34" charset="-122"/>
              </a:rPr>
              <a:t>Redis</a:t>
            </a:r>
            <a:r>
              <a:rPr lang="en-US" altLang="zh-CN" dirty="0" smtClean="0">
                <a:solidFill>
                  <a:prstClr val="white"/>
                </a:solidFill>
                <a:latin typeface="微软雅黑" panose="020B0503020204020204" pitchFamily="34" charset="-122"/>
                <a:ea typeface="微软雅黑" panose="020B0503020204020204" pitchFamily="34" charset="-122"/>
              </a:rPr>
              <a:t> </a:t>
            </a:r>
            <a:r>
              <a:rPr lang="en-US" altLang="zh-CN" dirty="0" err="1">
                <a:solidFill>
                  <a:prstClr val="white"/>
                </a:solidFill>
                <a:latin typeface="微软雅黑" panose="020B0503020204020204" pitchFamily="34" charset="-122"/>
                <a:ea typeface="微软雅黑" panose="020B0503020204020204" pitchFamily="34" charset="-122"/>
              </a:rPr>
              <a:t>HyperLogLog</a:t>
            </a:r>
            <a:r>
              <a:rPr lang="en-US" altLang="zh-CN" dirty="0">
                <a:solidFill>
                  <a:prstClr val="white"/>
                </a:solidFill>
                <a:latin typeface="微软雅黑" panose="020B0503020204020204" pitchFamily="34" charset="-122"/>
                <a:ea typeface="微软雅黑" panose="020B0503020204020204" pitchFamily="34" charset="-122"/>
              </a:rPr>
              <a:t> </a:t>
            </a:r>
            <a:r>
              <a:rPr lang="zh-CN" altLang="en-US" dirty="0" smtClean="0">
                <a:solidFill>
                  <a:prstClr val="white"/>
                </a:solidFill>
                <a:latin typeface="微软雅黑" panose="020B0503020204020204" pitchFamily="34" charset="-122"/>
                <a:ea typeface="微软雅黑" panose="020B0503020204020204" pitchFamily="34" charset="-122"/>
              </a:rPr>
              <a:t>是</a:t>
            </a:r>
            <a:r>
              <a:rPr lang="en-US" altLang="zh-CN" dirty="0" err="1" smtClean="0">
                <a:solidFill>
                  <a:prstClr val="white"/>
                </a:solidFill>
                <a:latin typeface="微软雅黑" panose="020B0503020204020204" pitchFamily="34" charset="-122"/>
                <a:ea typeface="微软雅黑" panose="020B0503020204020204" pitchFamily="34" charset="-122"/>
              </a:rPr>
              <a:t>redis</a:t>
            </a:r>
            <a:r>
              <a:rPr lang="zh-CN" altLang="en-US" dirty="0" smtClean="0">
                <a:solidFill>
                  <a:prstClr val="white"/>
                </a:solidFill>
                <a:latin typeface="微软雅黑" panose="020B0503020204020204" pitchFamily="34" charset="-122"/>
                <a:ea typeface="微软雅黑" panose="020B0503020204020204" pitchFamily="34" charset="-122"/>
              </a:rPr>
              <a:t>的高级数据结构，</a:t>
            </a:r>
            <a:r>
              <a:rPr lang="en-US" altLang="zh-CN" dirty="0" err="1">
                <a:solidFill>
                  <a:prstClr val="white"/>
                </a:solidFill>
                <a:latin typeface="微软雅黑" panose="020B0503020204020204" pitchFamily="34" charset="-122"/>
                <a:ea typeface="微软雅黑" panose="020B0503020204020204" pitchFamily="34" charset="-122"/>
              </a:rPr>
              <a:t>HyperLogLog</a:t>
            </a:r>
            <a:r>
              <a:rPr lang="en-US" altLang="zh-CN" dirty="0">
                <a:solidFill>
                  <a:prstClr val="white"/>
                </a:solidFill>
                <a:latin typeface="微软雅黑" panose="020B0503020204020204" pitchFamily="34" charset="-122"/>
                <a:ea typeface="微软雅黑" panose="020B0503020204020204" pitchFamily="34" charset="-122"/>
              </a:rPr>
              <a:t> </a:t>
            </a:r>
            <a:r>
              <a:rPr lang="zh-CN" altLang="en-US" dirty="0">
                <a:solidFill>
                  <a:prstClr val="white"/>
                </a:solidFill>
                <a:latin typeface="微软雅黑" panose="020B0503020204020204" pitchFamily="34" charset="-122"/>
                <a:ea typeface="微软雅黑" panose="020B0503020204020204" pitchFamily="34" charset="-122"/>
              </a:rPr>
              <a:t>的优点是，在输入元素的数量或者体积非常非常大时，计算基数所需的空间总是固定 的、并且是很小的</a:t>
            </a:r>
            <a:r>
              <a:rPr lang="zh-CN" altLang="en-US" dirty="0" smtClean="0">
                <a:solidFill>
                  <a:prstClr val="white"/>
                </a:solidFill>
                <a:latin typeface="微软雅黑" panose="020B0503020204020204" pitchFamily="34" charset="-122"/>
                <a:ea typeface="微软雅黑" panose="020B0503020204020204" pitchFamily="34" charset="-122"/>
              </a:rPr>
              <a:t>。</a:t>
            </a:r>
            <a:endParaRPr lang="zh-CN" altLang="en-US" dirty="0">
              <a:solidFill>
                <a:prstClr val="white"/>
              </a:solidFill>
              <a:latin typeface="微软雅黑" panose="020B0503020204020204" pitchFamily="34" charset="-122"/>
              <a:ea typeface="微软雅黑" panose="020B0503020204020204" pitchFamily="34" charset="-122"/>
            </a:endParaRPr>
          </a:p>
          <a:p>
            <a:pPr indent="457200">
              <a:lnSpc>
                <a:spcPct val="150000"/>
              </a:lnSpc>
            </a:pPr>
            <a:r>
              <a:rPr lang="zh-CN" altLang="en-US" dirty="0">
                <a:solidFill>
                  <a:prstClr val="white"/>
                </a:solidFill>
                <a:latin typeface="微软雅黑" panose="020B0503020204020204" pitchFamily="34" charset="-122"/>
                <a:ea typeface="微软雅黑" panose="020B0503020204020204" pitchFamily="34" charset="-122"/>
              </a:rPr>
              <a:t>在 </a:t>
            </a:r>
            <a:r>
              <a:rPr lang="en-US" altLang="zh-CN" dirty="0" err="1">
                <a:solidFill>
                  <a:prstClr val="white"/>
                </a:solidFill>
                <a:latin typeface="微软雅黑" panose="020B0503020204020204" pitchFamily="34" charset="-122"/>
                <a:ea typeface="微软雅黑" panose="020B0503020204020204" pitchFamily="34" charset="-122"/>
              </a:rPr>
              <a:t>Redis</a:t>
            </a:r>
            <a:r>
              <a:rPr lang="en-US" altLang="zh-CN" dirty="0">
                <a:solidFill>
                  <a:prstClr val="white"/>
                </a:solidFill>
                <a:latin typeface="微软雅黑" panose="020B0503020204020204" pitchFamily="34" charset="-122"/>
                <a:ea typeface="微软雅黑" panose="020B0503020204020204" pitchFamily="34" charset="-122"/>
              </a:rPr>
              <a:t> </a:t>
            </a:r>
            <a:r>
              <a:rPr lang="zh-CN" altLang="en-US" dirty="0">
                <a:solidFill>
                  <a:prstClr val="white"/>
                </a:solidFill>
                <a:latin typeface="微软雅黑" panose="020B0503020204020204" pitchFamily="34" charset="-122"/>
                <a:ea typeface="微软雅黑" panose="020B0503020204020204" pitchFamily="34" charset="-122"/>
              </a:rPr>
              <a:t>里面，每个 </a:t>
            </a:r>
            <a:r>
              <a:rPr lang="en-US" altLang="zh-CN" dirty="0" err="1">
                <a:solidFill>
                  <a:prstClr val="white"/>
                </a:solidFill>
                <a:latin typeface="微软雅黑" panose="020B0503020204020204" pitchFamily="34" charset="-122"/>
                <a:ea typeface="微软雅黑" panose="020B0503020204020204" pitchFamily="34" charset="-122"/>
              </a:rPr>
              <a:t>HyperLogLog</a:t>
            </a:r>
            <a:r>
              <a:rPr lang="en-US" altLang="zh-CN" dirty="0">
                <a:solidFill>
                  <a:prstClr val="white"/>
                </a:solidFill>
                <a:latin typeface="微软雅黑" panose="020B0503020204020204" pitchFamily="34" charset="-122"/>
                <a:ea typeface="微软雅黑" panose="020B0503020204020204" pitchFamily="34" charset="-122"/>
              </a:rPr>
              <a:t> </a:t>
            </a:r>
            <a:r>
              <a:rPr lang="zh-CN" altLang="en-US" dirty="0">
                <a:solidFill>
                  <a:prstClr val="white"/>
                </a:solidFill>
                <a:latin typeface="微软雅黑" panose="020B0503020204020204" pitchFamily="34" charset="-122"/>
                <a:ea typeface="微软雅黑" panose="020B0503020204020204" pitchFamily="34" charset="-122"/>
              </a:rPr>
              <a:t>键只需要花费 </a:t>
            </a:r>
            <a:r>
              <a:rPr lang="en-US" altLang="zh-CN" dirty="0">
                <a:solidFill>
                  <a:prstClr val="white"/>
                </a:solidFill>
                <a:latin typeface="微软雅黑" panose="020B0503020204020204" pitchFamily="34" charset="-122"/>
                <a:ea typeface="微软雅黑" panose="020B0503020204020204" pitchFamily="34" charset="-122"/>
              </a:rPr>
              <a:t>12 KB </a:t>
            </a:r>
            <a:r>
              <a:rPr lang="zh-CN" altLang="en-US" dirty="0">
                <a:solidFill>
                  <a:prstClr val="white"/>
                </a:solidFill>
                <a:latin typeface="微软雅黑" panose="020B0503020204020204" pitchFamily="34" charset="-122"/>
                <a:ea typeface="微软雅黑" panose="020B0503020204020204" pitchFamily="34" charset="-122"/>
              </a:rPr>
              <a:t>内存，就可以计算接近 </a:t>
            </a:r>
            <a:r>
              <a:rPr lang="en-US" altLang="zh-CN" dirty="0">
                <a:solidFill>
                  <a:prstClr val="white"/>
                </a:solidFill>
                <a:latin typeface="微软雅黑" panose="020B0503020204020204" pitchFamily="34" charset="-122"/>
                <a:ea typeface="微软雅黑" panose="020B0503020204020204" pitchFamily="34" charset="-122"/>
              </a:rPr>
              <a:t>2^64 </a:t>
            </a:r>
            <a:r>
              <a:rPr lang="zh-CN" altLang="en-US" dirty="0">
                <a:solidFill>
                  <a:prstClr val="white"/>
                </a:solidFill>
                <a:latin typeface="微软雅黑" panose="020B0503020204020204" pitchFamily="34" charset="-122"/>
                <a:ea typeface="微软雅黑" panose="020B0503020204020204" pitchFamily="34" charset="-122"/>
              </a:rPr>
              <a:t>个不同元素的</a:t>
            </a:r>
            <a:r>
              <a:rPr lang="zh-CN" altLang="en-US" dirty="0" smtClean="0">
                <a:solidFill>
                  <a:prstClr val="white"/>
                </a:solidFill>
                <a:latin typeface="微软雅黑" panose="020B0503020204020204" pitchFamily="34" charset="-122"/>
                <a:ea typeface="微软雅黑" panose="020B0503020204020204" pitchFamily="34" charset="-122"/>
              </a:rPr>
              <a:t>基数</a:t>
            </a:r>
            <a:r>
              <a:rPr lang="zh-CN" altLang="en-US" dirty="0">
                <a:solidFill>
                  <a:prstClr val="white"/>
                </a:solidFill>
                <a:latin typeface="微软雅黑" panose="020B0503020204020204" pitchFamily="34" charset="-122"/>
                <a:ea typeface="微软雅黑" panose="020B0503020204020204" pitchFamily="34" charset="-122"/>
              </a:rPr>
              <a:t>。这和计算基数时，元素越多耗费内存就越多的集合形成鲜明对比</a:t>
            </a:r>
            <a:r>
              <a:rPr lang="zh-CN" altLang="en-US" dirty="0" smtClean="0">
                <a:solidFill>
                  <a:prstClr val="white"/>
                </a:solidFill>
                <a:latin typeface="微软雅黑" panose="020B0503020204020204" pitchFamily="34" charset="-122"/>
                <a:ea typeface="微软雅黑" panose="020B0503020204020204" pitchFamily="34" charset="-122"/>
              </a:rPr>
              <a:t>。</a:t>
            </a:r>
            <a:endParaRPr lang="en-US" altLang="zh-CN" dirty="0" smtClean="0">
              <a:solidFill>
                <a:prstClr val="white"/>
              </a:solidFill>
              <a:latin typeface="微软雅黑" panose="020B0503020204020204" pitchFamily="34" charset="-122"/>
              <a:ea typeface="微软雅黑" panose="020B0503020204020204" pitchFamily="34" charset="-122"/>
            </a:endParaRPr>
          </a:p>
          <a:p>
            <a:pPr indent="457200">
              <a:lnSpc>
                <a:spcPct val="150000"/>
              </a:lnSpc>
            </a:pPr>
            <a:r>
              <a:rPr lang="zh-CN" altLang="en-US" dirty="0">
                <a:solidFill>
                  <a:prstClr val="white"/>
                </a:solidFill>
                <a:latin typeface="微软雅黑" panose="020B0503020204020204" pitchFamily="34" charset="-122"/>
                <a:ea typeface="微软雅黑" panose="020B0503020204020204" pitchFamily="34" charset="-122"/>
              </a:rPr>
              <a:t>什么是基数</a:t>
            </a:r>
            <a:r>
              <a:rPr lang="en-US" altLang="zh-CN" dirty="0">
                <a:solidFill>
                  <a:prstClr val="white"/>
                </a:solidFill>
                <a:latin typeface="微软雅黑" panose="020B0503020204020204" pitchFamily="34" charset="-122"/>
                <a:ea typeface="微软雅黑" panose="020B0503020204020204" pitchFamily="34" charset="-122"/>
              </a:rPr>
              <a:t>?</a:t>
            </a:r>
          </a:p>
          <a:p>
            <a:pPr indent="457200">
              <a:lnSpc>
                <a:spcPct val="150000"/>
              </a:lnSpc>
            </a:pPr>
            <a:r>
              <a:rPr lang="zh-CN" altLang="en-US" dirty="0">
                <a:solidFill>
                  <a:prstClr val="white"/>
                </a:solidFill>
                <a:latin typeface="微软雅黑" panose="020B0503020204020204" pitchFamily="34" charset="-122"/>
                <a:ea typeface="微软雅黑" panose="020B0503020204020204" pitchFamily="34" charset="-122"/>
              </a:rPr>
              <a:t>比如数据集 </a:t>
            </a:r>
            <a:r>
              <a:rPr lang="en-US" altLang="zh-CN" dirty="0">
                <a:solidFill>
                  <a:prstClr val="white"/>
                </a:solidFill>
                <a:latin typeface="微软雅黑" panose="020B0503020204020204" pitchFamily="34" charset="-122"/>
                <a:ea typeface="微软雅黑" panose="020B0503020204020204" pitchFamily="34" charset="-122"/>
              </a:rPr>
              <a:t>{1, 3, 5, 7, 5, 7, 8}</a:t>
            </a:r>
            <a:r>
              <a:rPr lang="zh-CN" altLang="en-US" dirty="0">
                <a:solidFill>
                  <a:prstClr val="white"/>
                </a:solidFill>
                <a:latin typeface="微软雅黑" panose="020B0503020204020204" pitchFamily="34" charset="-122"/>
                <a:ea typeface="微软雅黑" panose="020B0503020204020204" pitchFamily="34" charset="-122"/>
              </a:rPr>
              <a:t>， 那么这个数据集的基数集为 </a:t>
            </a:r>
            <a:r>
              <a:rPr lang="en-US" altLang="zh-CN" dirty="0">
                <a:solidFill>
                  <a:prstClr val="white"/>
                </a:solidFill>
                <a:latin typeface="微软雅黑" panose="020B0503020204020204" pitchFamily="34" charset="-122"/>
                <a:ea typeface="微软雅黑" panose="020B0503020204020204" pitchFamily="34" charset="-122"/>
              </a:rPr>
              <a:t>{1, 3, 5 ,7, 8}, </a:t>
            </a:r>
            <a:r>
              <a:rPr lang="zh-CN" altLang="en-US" dirty="0">
                <a:solidFill>
                  <a:prstClr val="white"/>
                </a:solidFill>
                <a:latin typeface="微软雅黑" panose="020B0503020204020204" pitchFamily="34" charset="-122"/>
                <a:ea typeface="微软雅黑" panose="020B0503020204020204" pitchFamily="34" charset="-122"/>
              </a:rPr>
              <a:t>基数</a:t>
            </a:r>
            <a:r>
              <a:rPr lang="en-US" altLang="zh-CN" dirty="0">
                <a:solidFill>
                  <a:prstClr val="white"/>
                </a:solidFill>
                <a:latin typeface="微软雅黑" panose="020B0503020204020204" pitchFamily="34" charset="-122"/>
                <a:ea typeface="微软雅黑" panose="020B0503020204020204" pitchFamily="34" charset="-122"/>
              </a:rPr>
              <a:t>(</a:t>
            </a:r>
            <a:r>
              <a:rPr lang="zh-CN" altLang="en-US" dirty="0">
                <a:solidFill>
                  <a:prstClr val="white"/>
                </a:solidFill>
                <a:latin typeface="微软雅黑" panose="020B0503020204020204" pitchFamily="34" charset="-122"/>
                <a:ea typeface="微软雅黑" panose="020B0503020204020204" pitchFamily="34" charset="-122"/>
              </a:rPr>
              <a:t>不重复元素</a:t>
            </a:r>
            <a:r>
              <a:rPr lang="en-US" altLang="zh-CN" dirty="0">
                <a:solidFill>
                  <a:prstClr val="white"/>
                </a:solidFill>
                <a:latin typeface="微软雅黑" panose="020B0503020204020204" pitchFamily="34" charset="-122"/>
                <a:ea typeface="微软雅黑" panose="020B0503020204020204" pitchFamily="34" charset="-122"/>
              </a:rPr>
              <a:t>)</a:t>
            </a:r>
            <a:r>
              <a:rPr lang="zh-CN" altLang="en-US" dirty="0">
                <a:solidFill>
                  <a:prstClr val="white"/>
                </a:solidFill>
                <a:latin typeface="微软雅黑" panose="020B0503020204020204" pitchFamily="34" charset="-122"/>
                <a:ea typeface="微软雅黑" panose="020B0503020204020204" pitchFamily="34" charset="-122"/>
              </a:rPr>
              <a:t>为</a:t>
            </a:r>
            <a:r>
              <a:rPr lang="en-US" altLang="zh-CN" dirty="0">
                <a:solidFill>
                  <a:prstClr val="white"/>
                </a:solidFill>
                <a:latin typeface="微软雅黑" panose="020B0503020204020204" pitchFamily="34" charset="-122"/>
                <a:ea typeface="微软雅黑" panose="020B0503020204020204" pitchFamily="34" charset="-122"/>
              </a:rPr>
              <a:t>5</a:t>
            </a:r>
            <a:r>
              <a:rPr lang="zh-CN" altLang="en-US" dirty="0">
                <a:solidFill>
                  <a:prstClr val="white"/>
                </a:solidFill>
                <a:latin typeface="微软雅黑" panose="020B0503020204020204" pitchFamily="34" charset="-122"/>
                <a:ea typeface="微软雅黑" panose="020B0503020204020204" pitchFamily="34" charset="-122"/>
              </a:rPr>
              <a:t>。 基数估计就是在误差可接受的范围内，快速计算基数</a:t>
            </a:r>
            <a:r>
              <a:rPr lang="zh-CN" altLang="en-US" dirty="0" smtClean="0">
                <a:solidFill>
                  <a:prstClr val="white"/>
                </a:solidFill>
                <a:latin typeface="微软雅黑" panose="020B0503020204020204" pitchFamily="34" charset="-122"/>
                <a:ea typeface="微软雅黑" panose="020B0503020204020204" pitchFamily="34" charset="-122"/>
              </a:rPr>
              <a:t>。</a:t>
            </a:r>
            <a:r>
              <a:rPr lang="en-US" altLang="zh-CN" dirty="0">
                <a:solidFill>
                  <a:prstClr val="white"/>
                </a:solidFill>
                <a:latin typeface="微软雅黑" panose="020B0503020204020204" pitchFamily="34" charset="-122"/>
                <a:ea typeface="微软雅黑" panose="020B0503020204020204" pitchFamily="34" charset="-122"/>
              </a:rPr>
              <a:t> </a:t>
            </a:r>
            <a:r>
              <a:rPr lang="en-US" altLang="zh-CN" dirty="0" err="1" smtClean="0">
                <a:solidFill>
                  <a:prstClr val="white"/>
                </a:solidFill>
                <a:latin typeface="微软雅黑" panose="020B0503020204020204" pitchFamily="34" charset="-122"/>
                <a:ea typeface="微软雅黑" panose="020B0503020204020204" pitchFamily="34" charset="-122"/>
              </a:rPr>
              <a:t>HyperLogLog</a:t>
            </a:r>
            <a:r>
              <a:rPr lang="zh-CN" altLang="en-US" dirty="0" smtClean="0">
                <a:solidFill>
                  <a:prstClr val="white"/>
                </a:solidFill>
                <a:latin typeface="微软雅黑" panose="020B0503020204020204" pitchFamily="34" charset="-122"/>
                <a:ea typeface="微软雅黑" panose="020B0503020204020204" pitchFamily="34" charset="-122"/>
              </a:rPr>
              <a:t>能控制误差范围在</a:t>
            </a:r>
            <a:r>
              <a:rPr lang="en-US" altLang="zh-CN" dirty="0" smtClean="0">
                <a:solidFill>
                  <a:prstClr val="white"/>
                </a:solidFill>
                <a:latin typeface="微软雅黑" panose="020B0503020204020204" pitchFamily="34" charset="-122"/>
                <a:ea typeface="微软雅黑" panose="020B0503020204020204" pitchFamily="34" charset="-122"/>
              </a:rPr>
              <a:t>1%</a:t>
            </a:r>
            <a:r>
              <a:rPr lang="zh-CN" altLang="en-US" dirty="0" smtClean="0">
                <a:solidFill>
                  <a:prstClr val="white"/>
                </a:solidFill>
                <a:latin typeface="微软雅黑" panose="020B0503020204020204" pitchFamily="34" charset="-122"/>
                <a:ea typeface="微软雅黑" panose="020B0503020204020204" pitchFamily="34" charset="-122"/>
              </a:rPr>
              <a:t>以内。统计网址</a:t>
            </a:r>
            <a:r>
              <a:rPr lang="en-US" altLang="zh-CN" dirty="0" smtClean="0">
                <a:solidFill>
                  <a:prstClr val="white"/>
                </a:solidFill>
                <a:latin typeface="微软雅黑" panose="020B0503020204020204" pitchFamily="34" charset="-122"/>
                <a:ea typeface="微软雅黑" panose="020B0503020204020204" pitchFamily="34" charset="-122"/>
              </a:rPr>
              <a:t>UV</a:t>
            </a:r>
            <a:r>
              <a:rPr lang="zh-CN" altLang="en-US" dirty="0" smtClean="0">
                <a:solidFill>
                  <a:prstClr val="white"/>
                </a:solidFill>
                <a:latin typeface="微软雅黑" panose="020B0503020204020204" pitchFamily="34" charset="-122"/>
                <a:ea typeface="微软雅黑" panose="020B0503020204020204" pitchFamily="34" charset="-122"/>
              </a:rPr>
              <a:t>这种业务场景简直就是为</a:t>
            </a:r>
            <a:r>
              <a:rPr lang="en-US" altLang="zh-CN" dirty="0" err="1" smtClean="0">
                <a:solidFill>
                  <a:prstClr val="white"/>
                </a:solidFill>
                <a:latin typeface="微软雅黑" panose="020B0503020204020204" pitchFamily="34" charset="-122"/>
                <a:ea typeface="微软雅黑" panose="020B0503020204020204" pitchFamily="34" charset="-122"/>
              </a:rPr>
              <a:t>HyperLogLog</a:t>
            </a:r>
            <a:r>
              <a:rPr lang="zh-CN" altLang="en-US" dirty="0" smtClean="0">
                <a:solidFill>
                  <a:prstClr val="white"/>
                </a:solidFill>
                <a:latin typeface="微软雅黑" panose="020B0503020204020204" pitchFamily="34" charset="-122"/>
                <a:ea typeface="微软雅黑" panose="020B0503020204020204" pitchFamily="34" charset="-122"/>
              </a:rPr>
              <a:t>量身定做，非常合适。</a:t>
            </a:r>
            <a:endParaRPr lang="zh-CN" altLang="en-US" dirty="0">
              <a:solidFill>
                <a:prstClr val="white"/>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151053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circle(in)">
                                      <p:cBhvr>
                                        <p:cTn id="7" dur="2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A0F23"/>
        </a:solidFill>
        <a:effectLst/>
      </p:bgPr>
    </p:bg>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xmlns="" id="{CBDC52CD-1D62-48AF-A9DF-9F18AEA2B1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01385" y="-114300"/>
            <a:ext cx="1301859" cy="920356"/>
          </a:xfrm>
          <a:prstGeom prst="rect">
            <a:avLst/>
          </a:prstGeom>
        </p:spPr>
      </p:pic>
      <p:pic>
        <p:nvPicPr>
          <p:cNvPr id="14" name="图片 13">
            <a:extLst>
              <a:ext uri="{FF2B5EF4-FFF2-40B4-BE49-F238E27FC236}">
                <a16:creationId xmlns:a16="http://schemas.microsoft.com/office/drawing/2014/main" xmlns="" id="{F78DA958-9B1B-47DA-A870-8C0B3A7D8866}"/>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b="63537"/>
          <a:stretch/>
        </p:blipFill>
        <p:spPr>
          <a:xfrm>
            <a:off x="11184164" y="217733"/>
            <a:ext cx="572339" cy="337210"/>
          </a:xfrm>
          <a:prstGeom prst="rect">
            <a:avLst/>
          </a:prstGeom>
        </p:spPr>
      </p:pic>
      <p:cxnSp>
        <p:nvCxnSpPr>
          <p:cNvPr id="15" name="直接连接符 14">
            <a:extLst>
              <a:ext uri="{FF2B5EF4-FFF2-40B4-BE49-F238E27FC236}">
                <a16:creationId xmlns:a16="http://schemas.microsoft.com/office/drawing/2014/main" xmlns="" id="{93240A06-D526-4907-A163-94ABB41190CC}"/>
              </a:ext>
            </a:extLst>
          </p:cNvPr>
          <p:cNvCxnSpPr/>
          <p:nvPr/>
        </p:nvCxnSpPr>
        <p:spPr>
          <a:xfrm>
            <a:off x="11103244" y="225825"/>
            <a:ext cx="0" cy="2435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xmlns="" id="{74C59758-12AB-44A5-92FA-DB52904027AE}"/>
              </a:ext>
            </a:extLst>
          </p:cNvPr>
          <p:cNvSpPr/>
          <p:nvPr/>
        </p:nvSpPr>
        <p:spPr>
          <a:xfrm>
            <a:off x="802332" y="1287114"/>
            <a:ext cx="10765483" cy="369332"/>
          </a:xfrm>
          <a:prstGeom prst="rect">
            <a:avLst/>
          </a:prstGeom>
        </p:spPr>
        <p:txBody>
          <a:bodyPr wrap="square">
            <a:spAutoFit/>
          </a:bodyPr>
          <a:lstStyle/>
          <a:p>
            <a:r>
              <a:rPr lang="en-US" altLang="zh-CN" dirty="0" err="1" smtClean="0">
                <a:solidFill>
                  <a:prstClr val="white"/>
                </a:solidFill>
                <a:latin typeface="微软雅黑" panose="020B0503020204020204" pitchFamily="34" charset="-122"/>
                <a:ea typeface="微软雅黑" panose="020B0503020204020204" pitchFamily="34" charset="-122"/>
              </a:rPr>
              <a:t>HyperLogLog</a:t>
            </a:r>
            <a:r>
              <a:rPr lang="zh-CN" altLang="en-US" dirty="0" smtClean="0">
                <a:solidFill>
                  <a:prstClr val="white"/>
                </a:solidFill>
                <a:latin typeface="微软雅黑" panose="020B0503020204020204" pitchFamily="34" charset="-122"/>
                <a:ea typeface="微软雅黑" panose="020B0503020204020204" pitchFamily="34" charset="-122"/>
              </a:rPr>
              <a:t>提供了</a:t>
            </a:r>
            <a:r>
              <a:rPr lang="en-US" altLang="zh-CN" dirty="0" err="1" smtClean="0">
                <a:solidFill>
                  <a:prstClr val="white"/>
                </a:solidFill>
                <a:latin typeface="微软雅黑" panose="020B0503020204020204" pitchFamily="34" charset="-122"/>
                <a:ea typeface="微软雅黑" panose="020B0503020204020204" pitchFamily="34" charset="-122"/>
              </a:rPr>
              <a:t>pfadd</a:t>
            </a:r>
            <a:r>
              <a:rPr lang="zh-CN" altLang="en-US" dirty="0" smtClean="0">
                <a:solidFill>
                  <a:prstClr val="white"/>
                </a:solidFill>
                <a:latin typeface="微软雅黑" panose="020B0503020204020204" pitchFamily="34" charset="-122"/>
                <a:ea typeface="微软雅黑" panose="020B0503020204020204" pitchFamily="34" charset="-122"/>
              </a:rPr>
              <a:t>和</a:t>
            </a:r>
            <a:r>
              <a:rPr lang="en-US" altLang="zh-CN" dirty="0" err="1" smtClean="0">
                <a:solidFill>
                  <a:prstClr val="white"/>
                </a:solidFill>
                <a:latin typeface="微软雅黑" panose="020B0503020204020204" pitchFamily="34" charset="-122"/>
                <a:ea typeface="微软雅黑" panose="020B0503020204020204" pitchFamily="34" charset="-122"/>
              </a:rPr>
              <a:t>pfcount</a:t>
            </a:r>
            <a:r>
              <a:rPr lang="zh-CN" altLang="en-US" dirty="0" smtClean="0">
                <a:solidFill>
                  <a:prstClr val="white"/>
                </a:solidFill>
                <a:latin typeface="微软雅黑" panose="020B0503020204020204" pitchFamily="34" charset="-122"/>
                <a:ea typeface="微软雅黑" panose="020B0503020204020204" pitchFamily="34" charset="-122"/>
              </a:rPr>
              <a:t>命令，前者用来增加增加计数，后者用来获取计数。</a:t>
            </a:r>
            <a:endParaRPr lang="en-US" altLang="zh-CN" dirty="0" smtClean="0">
              <a:solidFill>
                <a:prstClr val="white"/>
              </a:solidFill>
              <a:latin typeface="微软雅黑" panose="020B0503020204020204" pitchFamily="34" charset="-122"/>
              <a:ea typeface="微软雅黑" panose="020B0503020204020204" pitchFamily="34" charset="-122"/>
            </a:endParaRPr>
          </a:p>
        </p:txBody>
      </p:sp>
      <p:sp>
        <p:nvSpPr>
          <p:cNvPr id="10" name="TextBox 9"/>
          <p:cNvSpPr txBox="1"/>
          <p:nvPr/>
        </p:nvSpPr>
        <p:spPr>
          <a:xfrm>
            <a:off x="704850" y="605109"/>
            <a:ext cx="8883650" cy="523220"/>
          </a:xfrm>
          <a:prstGeom prst="rect">
            <a:avLst/>
          </a:prstGeom>
          <a:noFill/>
        </p:spPr>
        <p:txBody>
          <a:bodyPr wrap="square" rtlCol="0">
            <a:spAutoFit/>
          </a:bodyPr>
          <a:lstStyle/>
          <a:p>
            <a:pPr>
              <a:defRPr/>
            </a:pPr>
            <a:r>
              <a:rPr lang="en-US" altLang="zh-CN"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3.2.3 </a:t>
            </a:r>
            <a:r>
              <a:rPr lang="zh-CN" altLang="en-US"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如何使用</a:t>
            </a:r>
            <a:r>
              <a:rPr lang="en-US" altLang="zh-CN" sz="2800" b="1" dirty="0" err="1">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HyperLogLog</a:t>
            </a:r>
            <a:r>
              <a:rPr lang="zh-CN" altLang="en-US"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保存数据</a:t>
            </a:r>
          </a:p>
        </p:txBody>
      </p:sp>
      <p:sp>
        <p:nvSpPr>
          <p:cNvPr id="2" name="文本框 1"/>
          <p:cNvSpPr txBox="1"/>
          <p:nvPr/>
        </p:nvSpPr>
        <p:spPr>
          <a:xfrm>
            <a:off x="943429" y="2119087"/>
            <a:ext cx="5268685" cy="4031873"/>
          </a:xfrm>
          <a:prstGeom prst="rect">
            <a:avLst/>
          </a:prstGeom>
          <a:noFill/>
          <a:ln>
            <a:solidFill>
              <a:schemeClr val="bg1"/>
            </a:solidFill>
          </a:ln>
        </p:spPr>
        <p:txBody>
          <a:bodyPr wrap="square" rtlCol="0">
            <a:spAutoFit/>
          </a:bodyPr>
          <a:lstStyle/>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pfadd</a:t>
            </a:r>
            <a:r>
              <a:rPr lang="en-US" altLang="zh-CN" sz="1600" dirty="0">
                <a:solidFill>
                  <a:srgbClr val="FF0000"/>
                </a:solidFill>
                <a:latin typeface="微软雅黑" panose="020B0503020204020204" pitchFamily="34" charset="-122"/>
                <a:ea typeface="微软雅黑" panose="020B0503020204020204" pitchFamily="34" charset="-122"/>
              </a:rPr>
              <a:t> </a:t>
            </a:r>
            <a:r>
              <a:rPr lang="en-US" altLang="zh-CN" sz="1600" dirty="0" err="1">
                <a:solidFill>
                  <a:schemeClr val="accent6"/>
                </a:solidFill>
                <a:latin typeface="微软雅黑" panose="020B0503020204020204" pitchFamily="34" charset="-122"/>
                <a:ea typeface="微软雅黑" panose="020B0503020204020204" pitchFamily="34" charset="-122"/>
              </a:rPr>
              <a:t>home_uv</a:t>
            </a:r>
            <a:r>
              <a:rPr lang="en-US" altLang="zh-CN" sz="1600" dirty="0">
                <a:solidFill>
                  <a:schemeClr val="accent6"/>
                </a:solidFill>
                <a:latin typeface="微软雅黑" panose="020B0503020204020204" pitchFamily="34" charset="-122"/>
                <a:ea typeface="微软雅黑" panose="020B0503020204020204" pitchFamily="34" charset="-122"/>
              </a:rPr>
              <a:t> 192.168.0.1  </a:t>
            </a:r>
            <a:r>
              <a:rPr lang="en-US" altLang="zh-CN" sz="1600" dirty="0">
                <a:solidFill>
                  <a:schemeClr val="accent1"/>
                </a:solidFill>
                <a:latin typeface="微软雅黑" panose="020B0503020204020204" pitchFamily="34" charset="-122"/>
                <a:ea typeface="微软雅黑" panose="020B0503020204020204" pitchFamily="34" charset="-122"/>
              </a:rPr>
              <a:t># </a:t>
            </a:r>
            <a:r>
              <a:rPr lang="zh-CN" altLang="en-US" sz="1600" dirty="0">
                <a:solidFill>
                  <a:schemeClr val="accent1"/>
                </a:solidFill>
                <a:latin typeface="微软雅黑" panose="020B0503020204020204" pitchFamily="34" charset="-122"/>
                <a:ea typeface="微软雅黑" panose="020B0503020204020204" pitchFamily="34" charset="-122"/>
              </a:rPr>
              <a:t>增加主页的访问记录</a:t>
            </a:r>
          </a:p>
          <a:p>
            <a:r>
              <a:rPr lang="en-US" altLang="zh-CN" sz="1600" dirty="0">
                <a:solidFill>
                  <a:schemeClr val="accent6"/>
                </a:solidFill>
                <a:latin typeface="微软雅黑" panose="020B0503020204020204" pitchFamily="34" charset="-122"/>
                <a:ea typeface="微软雅黑" panose="020B0503020204020204" pitchFamily="34" charset="-122"/>
              </a:rPr>
              <a:t>(integer) 1</a:t>
            </a:r>
          </a:p>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pfadd</a:t>
            </a:r>
            <a:r>
              <a:rPr lang="en-US" altLang="zh-CN" sz="1600" dirty="0">
                <a:solidFill>
                  <a:srgbClr val="FF0000"/>
                </a:solidFill>
                <a:latin typeface="微软雅黑" panose="020B0503020204020204" pitchFamily="34" charset="-122"/>
                <a:ea typeface="微软雅黑" panose="020B0503020204020204" pitchFamily="34" charset="-122"/>
              </a:rPr>
              <a:t> </a:t>
            </a:r>
            <a:r>
              <a:rPr lang="en-US" altLang="zh-CN" sz="1600" dirty="0" err="1">
                <a:solidFill>
                  <a:schemeClr val="accent6"/>
                </a:solidFill>
                <a:latin typeface="微软雅黑" panose="020B0503020204020204" pitchFamily="34" charset="-122"/>
                <a:ea typeface="微软雅黑" panose="020B0503020204020204" pitchFamily="34" charset="-122"/>
              </a:rPr>
              <a:t>home_uv</a:t>
            </a:r>
            <a:r>
              <a:rPr lang="en-US" altLang="zh-CN" sz="1600" dirty="0">
                <a:solidFill>
                  <a:schemeClr val="accent6"/>
                </a:solidFill>
                <a:latin typeface="微软雅黑" panose="020B0503020204020204" pitchFamily="34" charset="-122"/>
                <a:ea typeface="微软雅黑" panose="020B0503020204020204" pitchFamily="34" charset="-122"/>
              </a:rPr>
              <a:t> 192.168.0.2</a:t>
            </a:r>
          </a:p>
          <a:p>
            <a:r>
              <a:rPr lang="en-US" altLang="zh-CN" sz="1600" dirty="0">
                <a:solidFill>
                  <a:schemeClr val="accent6"/>
                </a:solidFill>
                <a:latin typeface="微软雅黑" panose="020B0503020204020204" pitchFamily="34" charset="-122"/>
                <a:ea typeface="微软雅黑" panose="020B0503020204020204" pitchFamily="34" charset="-122"/>
              </a:rPr>
              <a:t>(integer) 1</a:t>
            </a:r>
          </a:p>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pfadd</a:t>
            </a:r>
            <a:r>
              <a:rPr lang="en-US" altLang="zh-CN" sz="1600" dirty="0">
                <a:solidFill>
                  <a:srgbClr val="FF0000"/>
                </a:solidFill>
                <a:latin typeface="微软雅黑" panose="020B0503020204020204" pitchFamily="34" charset="-122"/>
                <a:ea typeface="微软雅黑" panose="020B0503020204020204" pitchFamily="34" charset="-122"/>
              </a:rPr>
              <a:t> </a:t>
            </a:r>
            <a:r>
              <a:rPr lang="en-US" altLang="zh-CN" sz="1600" dirty="0" err="1">
                <a:solidFill>
                  <a:schemeClr val="accent6"/>
                </a:solidFill>
                <a:latin typeface="微软雅黑" panose="020B0503020204020204" pitchFamily="34" charset="-122"/>
                <a:ea typeface="微软雅黑" panose="020B0503020204020204" pitchFamily="34" charset="-122"/>
              </a:rPr>
              <a:t>home_uv</a:t>
            </a:r>
            <a:r>
              <a:rPr lang="en-US" altLang="zh-CN" sz="1600" dirty="0">
                <a:solidFill>
                  <a:schemeClr val="accent6"/>
                </a:solidFill>
                <a:latin typeface="微软雅黑" panose="020B0503020204020204" pitchFamily="34" charset="-122"/>
                <a:ea typeface="微软雅黑" panose="020B0503020204020204" pitchFamily="34" charset="-122"/>
              </a:rPr>
              <a:t> 192.168.0.3</a:t>
            </a:r>
          </a:p>
          <a:p>
            <a:r>
              <a:rPr lang="en-US" altLang="zh-CN" sz="1600" dirty="0">
                <a:solidFill>
                  <a:schemeClr val="accent6"/>
                </a:solidFill>
                <a:latin typeface="微软雅黑" panose="020B0503020204020204" pitchFamily="34" charset="-122"/>
                <a:ea typeface="微软雅黑" panose="020B0503020204020204" pitchFamily="34" charset="-122"/>
              </a:rPr>
              <a:t>(integer) 1</a:t>
            </a:r>
          </a:p>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pfadd</a:t>
            </a:r>
            <a:r>
              <a:rPr lang="en-US" altLang="zh-CN" sz="1600" dirty="0">
                <a:solidFill>
                  <a:srgbClr val="FF0000"/>
                </a:solidFill>
                <a:latin typeface="微软雅黑" panose="020B0503020204020204" pitchFamily="34" charset="-122"/>
                <a:ea typeface="微软雅黑" panose="020B0503020204020204" pitchFamily="34" charset="-122"/>
              </a:rPr>
              <a:t> </a:t>
            </a:r>
            <a:r>
              <a:rPr lang="en-US" altLang="zh-CN" sz="1600" dirty="0" err="1">
                <a:solidFill>
                  <a:schemeClr val="accent6"/>
                </a:solidFill>
                <a:latin typeface="微软雅黑" panose="020B0503020204020204" pitchFamily="34" charset="-122"/>
                <a:ea typeface="微软雅黑" panose="020B0503020204020204" pitchFamily="34" charset="-122"/>
              </a:rPr>
              <a:t>home_uv</a:t>
            </a:r>
            <a:r>
              <a:rPr lang="en-US" altLang="zh-CN" sz="1600" dirty="0">
                <a:solidFill>
                  <a:schemeClr val="accent6"/>
                </a:solidFill>
                <a:latin typeface="微软雅黑" panose="020B0503020204020204" pitchFamily="34" charset="-122"/>
                <a:ea typeface="微软雅黑" panose="020B0503020204020204" pitchFamily="34" charset="-122"/>
              </a:rPr>
              <a:t> 192.168.0.4</a:t>
            </a:r>
          </a:p>
          <a:p>
            <a:r>
              <a:rPr lang="en-US" altLang="zh-CN" sz="1600" dirty="0">
                <a:solidFill>
                  <a:schemeClr val="accent6"/>
                </a:solidFill>
                <a:latin typeface="微软雅黑" panose="020B0503020204020204" pitchFamily="34" charset="-122"/>
                <a:ea typeface="微软雅黑" panose="020B0503020204020204" pitchFamily="34" charset="-122"/>
              </a:rPr>
              <a:t>(integer) 1</a:t>
            </a:r>
          </a:p>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pfadd</a:t>
            </a:r>
            <a:r>
              <a:rPr lang="en-US" altLang="zh-CN" sz="1600" dirty="0">
                <a:solidFill>
                  <a:srgbClr val="FF0000"/>
                </a:solidFill>
                <a:latin typeface="微软雅黑" panose="020B0503020204020204" pitchFamily="34" charset="-122"/>
                <a:ea typeface="微软雅黑" panose="020B0503020204020204" pitchFamily="34" charset="-122"/>
              </a:rPr>
              <a:t> </a:t>
            </a:r>
            <a:r>
              <a:rPr lang="en-US" altLang="zh-CN" sz="1600" dirty="0" err="1">
                <a:solidFill>
                  <a:schemeClr val="accent6"/>
                </a:solidFill>
                <a:latin typeface="微软雅黑" panose="020B0503020204020204" pitchFamily="34" charset="-122"/>
                <a:ea typeface="微软雅黑" panose="020B0503020204020204" pitchFamily="34" charset="-122"/>
              </a:rPr>
              <a:t>home_uv</a:t>
            </a:r>
            <a:r>
              <a:rPr lang="en-US" altLang="zh-CN" sz="1600" dirty="0">
                <a:solidFill>
                  <a:schemeClr val="accent6"/>
                </a:solidFill>
                <a:latin typeface="微软雅黑" panose="020B0503020204020204" pitchFamily="34" charset="-122"/>
                <a:ea typeface="微软雅黑" panose="020B0503020204020204" pitchFamily="34" charset="-122"/>
              </a:rPr>
              <a:t> 192.168.0.5</a:t>
            </a:r>
          </a:p>
          <a:p>
            <a:r>
              <a:rPr lang="en-US" altLang="zh-CN" sz="1600" dirty="0">
                <a:solidFill>
                  <a:schemeClr val="accent6"/>
                </a:solidFill>
                <a:latin typeface="微软雅黑" panose="020B0503020204020204" pitchFamily="34" charset="-122"/>
                <a:ea typeface="微软雅黑" panose="020B0503020204020204" pitchFamily="34" charset="-122"/>
              </a:rPr>
              <a:t>(integer) 1</a:t>
            </a:r>
          </a:p>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pfadd</a:t>
            </a:r>
            <a:r>
              <a:rPr lang="en-US" altLang="zh-CN" sz="1600" dirty="0">
                <a:solidFill>
                  <a:srgbClr val="FF0000"/>
                </a:solidFill>
                <a:latin typeface="微软雅黑" panose="020B0503020204020204" pitchFamily="34" charset="-122"/>
                <a:ea typeface="微软雅黑" panose="020B0503020204020204" pitchFamily="34" charset="-122"/>
              </a:rPr>
              <a:t> </a:t>
            </a:r>
            <a:r>
              <a:rPr lang="en-US" altLang="zh-CN" sz="1600" dirty="0" err="1">
                <a:solidFill>
                  <a:schemeClr val="accent6"/>
                </a:solidFill>
                <a:latin typeface="微软雅黑" panose="020B0503020204020204" pitchFamily="34" charset="-122"/>
                <a:ea typeface="微软雅黑" panose="020B0503020204020204" pitchFamily="34" charset="-122"/>
              </a:rPr>
              <a:t>home_uv</a:t>
            </a:r>
            <a:r>
              <a:rPr lang="en-US" altLang="zh-CN" sz="1600" dirty="0">
                <a:solidFill>
                  <a:schemeClr val="accent6"/>
                </a:solidFill>
                <a:latin typeface="微软雅黑" panose="020B0503020204020204" pitchFamily="34" charset="-122"/>
                <a:ea typeface="微软雅黑" panose="020B0503020204020204" pitchFamily="34" charset="-122"/>
              </a:rPr>
              <a:t> 192.68.0.5</a:t>
            </a:r>
          </a:p>
          <a:p>
            <a:r>
              <a:rPr lang="en-US" altLang="zh-CN" sz="1600" dirty="0">
                <a:solidFill>
                  <a:schemeClr val="accent6"/>
                </a:solidFill>
                <a:latin typeface="微软雅黑" panose="020B0503020204020204" pitchFamily="34" charset="-122"/>
                <a:ea typeface="微软雅黑" panose="020B0503020204020204" pitchFamily="34" charset="-122"/>
              </a:rPr>
              <a:t>(integer) 1</a:t>
            </a:r>
          </a:p>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pfadd</a:t>
            </a:r>
            <a:r>
              <a:rPr lang="en-US" altLang="zh-CN" sz="1600" dirty="0">
                <a:solidFill>
                  <a:srgbClr val="FF0000"/>
                </a:solidFill>
                <a:latin typeface="微软雅黑" panose="020B0503020204020204" pitchFamily="34" charset="-122"/>
                <a:ea typeface="微软雅黑" panose="020B0503020204020204" pitchFamily="34" charset="-122"/>
              </a:rPr>
              <a:t> </a:t>
            </a:r>
            <a:r>
              <a:rPr lang="en-US" altLang="zh-CN" sz="1600" dirty="0" err="1">
                <a:solidFill>
                  <a:schemeClr val="accent6"/>
                </a:solidFill>
                <a:latin typeface="微软雅黑" panose="020B0503020204020204" pitchFamily="34" charset="-122"/>
                <a:ea typeface="微软雅黑" panose="020B0503020204020204" pitchFamily="34" charset="-122"/>
              </a:rPr>
              <a:t>home_uv</a:t>
            </a:r>
            <a:r>
              <a:rPr lang="en-US" altLang="zh-CN" sz="1600" dirty="0">
                <a:solidFill>
                  <a:schemeClr val="accent6"/>
                </a:solidFill>
                <a:latin typeface="微软雅黑" panose="020B0503020204020204" pitchFamily="34" charset="-122"/>
                <a:ea typeface="微软雅黑" panose="020B0503020204020204" pitchFamily="34" charset="-122"/>
              </a:rPr>
              <a:t> 192.68.0.4</a:t>
            </a:r>
          </a:p>
          <a:p>
            <a:r>
              <a:rPr lang="en-US" altLang="zh-CN" sz="1600" dirty="0">
                <a:solidFill>
                  <a:schemeClr val="accent6"/>
                </a:solidFill>
                <a:latin typeface="微软雅黑" panose="020B0503020204020204" pitchFamily="34" charset="-122"/>
                <a:ea typeface="微软雅黑" panose="020B0503020204020204" pitchFamily="34" charset="-122"/>
              </a:rPr>
              <a:t>(integer) 1</a:t>
            </a:r>
          </a:p>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pfadd</a:t>
            </a:r>
            <a:r>
              <a:rPr lang="en-US" altLang="zh-CN" sz="1600" dirty="0">
                <a:solidFill>
                  <a:srgbClr val="FF0000"/>
                </a:solidFill>
                <a:latin typeface="微软雅黑" panose="020B0503020204020204" pitchFamily="34" charset="-122"/>
                <a:ea typeface="微软雅黑" panose="020B0503020204020204" pitchFamily="34" charset="-122"/>
              </a:rPr>
              <a:t> </a:t>
            </a:r>
            <a:r>
              <a:rPr lang="en-US" altLang="zh-CN" sz="1600" dirty="0" err="1">
                <a:solidFill>
                  <a:schemeClr val="accent6"/>
                </a:solidFill>
                <a:latin typeface="微软雅黑" panose="020B0503020204020204" pitchFamily="34" charset="-122"/>
                <a:ea typeface="微软雅黑" panose="020B0503020204020204" pitchFamily="34" charset="-122"/>
              </a:rPr>
              <a:t>home_uv</a:t>
            </a:r>
            <a:r>
              <a:rPr lang="en-US" altLang="zh-CN" sz="1600" dirty="0">
                <a:solidFill>
                  <a:schemeClr val="accent6"/>
                </a:solidFill>
                <a:latin typeface="微软雅黑" panose="020B0503020204020204" pitchFamily="34" charset="-122"/>
                <a:ea typeface="微软雅黑" panose="020B0503020204020204" pitchFamily="34" charset="-122"/>
              </a:rPr>
              <a:t> 192.68.0.3</a:t>
            </a:r>
          </a:p>
          <a:p>
            <a:r>
              <a:rPr lang="en-US" altLang="zh-CN" sz="1600" dirty="0">
                <a:solidFill>
                  <a:schemeClr val="accent6"/>
                </a:solidFill>
                <a:latin typeface="微软雅黑" panose="020B0503020204020204" pitchFamily="34" charset="-122"/>
                <a:ea typeface="微软雅黑" panose="020B0503020204020204" pitchFamily="34" charset="-122"/>
              </a:rPr>
              <a:t>(integer) </a:t>
            </a:r>
            <a:r>
              <a:rPr lang="en-US" altLang="zh-CN" sz="1600" dirty="0" smtClean="0">
                <a:solidFill>
                  <a:schemeClr val="accent6"/>
                </a:solidFill>
                <a:latin typeface="微软雅黑" panose="020B0503020204020204" pitchFamily="34" charset="-122"/>
                <a:ea typeface="微软雅黑" panose="020B0503020204020204" pitchFamily="34" charset="-122"/>
              </a:rPr>
              <a:t>1</a:t>
            </a:r>
            <a:endParaRPr lang="en-US" altLang="zh-CN" sz="1600" dirty="0">
              <a:solidFill>
                <a:schemeClr val="accent6"/>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6299130" y="2121240"/>
            <a:ext cx="5268685" cy="1569660"/>
          </a:xfrm>
          <a:prstGeom prst="rect">
            <a:avLst/>
          </a:prstGeom>
          <a:noFill/>
          <a:ln>
            <a:solidFill>
              <a:schemeClr val="bg1"/>
            </a:solidFill>
          </a:ln>
        </p:spPr>
        <p:txBody>
          <a:bodyPr wrap="square" rtlCol="0">
            <a:spAutoFit/>
          </a:bodyPr>
          <a:lstStyle/>
          <a:p>
            <a:r>
              <a:rPr lang="en-US" altLang="zh-CN" sz="1600" dirty="0" smtClean="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pfadd</a:t>
            </a:r>
            <a:r>
              <a:rPr lang="en-US" altLang="zh-CN" sz="1600" dirty="0">
                <a:solidFill>
                  <a:srgbClr val="FF0000"/>
                </a:solidFill>
                <a:latin typeface="微软雅黑" panose="020B0503020204020204" pitchFamily="34" charset="-122"/>
                <a:ea typeface="微软雅黑" panose="020B0503020204020204" pitchFamily="34" charset="-122"/>
              </a:rPr>
              <a:t> </a:t>
            </a:r>
            <a:r>
              <a:rPr lang="en-US" altLang="zh-CN" sz="1600" dirty="0" err="1">
                <a:solidFill>
                  <a:schemeClr val="accent6"/>
                </a:solidFill>
                <a:latin typeface="微软雅黑" panose="020B0503020204020204" pitchFamily="34" charset="-122"/>
                <a:ea typeface="微软雅黑" panose="020B0503020204020204" pitchFamily="34" charset="-122"/>
              </a:rPr>
              <a:t>home_uv</a:t>
            </a:r>
            <a:r>
              <a:rPr lang="en-US" altLang="zh-CN" sz="1600" dirty="0">
                <a:solidFill>
                  <a:schemeClr val="accent6"/>
                </a:solidFill>
                <a:latin typeface="微软雅黑" panose="020B0503020204020204" pitchFamily="34" charset="-122"/>
                <a:ea typeface="微软雅黑" panose="020B0503020204020204" pitchFamily="34" charset="-122"/>
              </a:rPr>
              <a:t> 192.68.0.2</a:t>
            </a:r>
          </a:p>
          <a:p>
            <a:r>
              <a:rPr lang="en-US" altLang="zh-CN" sz="1600" dirty="0">
                <a:solidFill>
                  <a:schemeClr val="accent6"/>
                </a:solidFill>
                <a:latin typeface="微软雅黑" panose="020B0503020204020204" pitchFamily="34" charset="-122"/>
                <a:ea typeface="微软雅黑" panose="020B0503020204020204" pitchFamily="34" charset="-122"/>
              </a:rPr>
              <a:t>(integer) 1</a:t>
            </a:r>
          </a:p>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pfadd</a:t>
            </a:r>
            <a:r>
              <a:rPr lang="en-US" altLang="zh-CN" sz="1600" dirty="0">
                <a:solidFill>
                  <a:srgbClr val="FF0000"/>
                </a:solidFill>
                <a:latin typeface="微软雅黑" panose="020B0503020204020204" pitchFamily="34" charset="-122"/>
                <a:ea typeface="微软雅黑" panose="020B0503020204020204" pitchFamily="34" charset="-122"/>
              </a:rPr>
              <a:t> </a:t>
            </a:r>
            <a:r>
              <a:rPr lang="en-US" altLang="zh-CN" sz="1600" dirty="0" err="1">
                <a:solidFill>
                  <a:schemeClr val="accent6"/>
                </a:solidFill>
                <a:latin typeface="微软雅黑" panose="020B0503020204020204" pitchFamily="34" charset="-122"/>
                <a:ea typeface="微软雅黑" panose="020B0503020204020204" pitchFamily="34" charset="-122"/>
              </a:rPr>
              <a:t>home_uv</a:t>
            </a:r>
            <a:r>
              <a:rPr lang="en-US" altLang="zh-CN" sz="1600" dirty="0">
                <a:solidFill>
                  <a:schemeClr val="accent6"/>
                </a:solidFill>
                <a:latin typeface="微软雅黑" panose="020B0503020204020204" pitchFamily="34" charset="-122"/>
                <a:ea typeface="微软雅黑" panose="020B0503020204020204" pitchFamily="34" charset="-122"/>
              </a:rPr>
              <a:t> 192.68.0.1</a:t>
            </a:r>
          </a:p>
          <a:p>
            <a:r>
              <a:rPr lang="en-US" altLang="zh-CN" sz="1600" dirty="0">
                <a:solidFill>
                  <a:schemeClr val="accent6"/>
                </a:solidFill>
                <a:latin typeface="微软雅黑" panose="020B0503020204020204" pitchFamily="34" charset="-122"/>
                <a:ea typeface="微软雅黑" panose="020B0503020204020204" pitchFamily="34" charset="-122"/>
              </a:rPr>
              <a:t>(integer) 1</a:t>
            </a:r>
          </a:p>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pfcount</a:t>
            </a:r>
            <a:r>
              <a:rPr lang="en-US" altLang="zh-CN" sz="1600" dirty="0">
                <a:solidFill>
                  <a:srgbClr val="FF0000"/>
                </a:solidFill>
                <a:latin typeface="微软雅黑" panose="020B0503020204020204" pitchFamily="34" charset="-122"/>
                <a:ea typeface="微软雅黑" panose="020B0503020204020204" pitchFamily="34" charset="-122"/>
              </a:rPr>
              <a:t> </a:t>
            </a:r>
            <a:r>
              <a:rPr lang="en-US" altLang="zh-CN" sz="1600" dirty="0" err="1">
                <a:solidFill>
                  <a:schemeClr val="accent6"/>
                </a:solidFill>
                <a:latin typeface="微软雅黑" panose="020B0503020204020204" pitchFamily="34" charset="-122"/>
                <a:ea typeface="微软雅黑" panose="020B0503020204020204" pitchFamily="34" charset="-122"/>
              </a:rPr>
              <a:t>home_uv</a:t>
            </a:r>
            <a:r>
              <a:rPr lang="en-US" altLang="zh-CN" sz="1600" dirty="0">
                <a:solidFill>
                  <a:schemeClr val="accent6"/>
                </a:solidFill>
                <a:latin typeface="微软雅黑" panose="020B0503020204020204" pitchFamily="34" charset="-122"/>
                <a:ea typeface="微软雅黑" panose="020B0503020204020204" pitchFamily="34" charset="-122"/>
              </a:rPr>
              <a:t>    </a:t>
            </a:r>
            <a:r>
              <a:rPr lang="en-US" altLang="zh-CN" sz="1600" dirty="0">
                <a:solidFill>
                  <a:schemeClr val="accent1"/>
                </a:solidFill>
                <a:latin typeface="微软雅黑" panose="020B0503020204020204" pitchFamily="34" charset="-122"/>
                <a:ea typeface="微软雅黑" panose="020B0503020204020204" pitchFamily="34" charset="-122"/>
              </a:rPr>
              <a:t># </a:t>
            </a:r>
            <a:r>
              <a:rPr lang="zh-CN" altLang="en-US" sz="1600" dirty="0">
                <a:solidFill>
                  <a:schemeClr val="accent1"/>
                </a:solidFill>
                <a:latin typeface="微软雅黑" panose="020B0503020204020204" pitchFamily="34" charset="-122"/>
                <a:ea typeface="微软雅黑" panose="020B0503020204020204" pitchFamily="34" charset="-122"/>
              </a:rPr>
              <a:t>获取主页的</a:t>
            </a:r>
            <a:r>
              <a:rPr lang="en-US" altLang="zh-CN" sz="1600" dirty="0" err="1">
                <a:solidFill>
                  <a:schemeClr val="accent1"/>
                </a:solidFill>
                <a:latin typeface="微软雅黑" panose="020B0503020204020204" pitchFamily="34" charset="-122"/>
                <a:ea typeface="微软雅黑" panose="020B0503020204020204" pitchFamily="34" charset="-122"/>
              </a:rPr>
              <a:t>uv</a:t>
            </a:r>
            <a:endParaRPr lang="en-US" altLang="zh-CN" sz="1600" dirty="0">
              <a:solidFill>
                <a:schemeClr val="accent1"/>
              </a:solidFill>
              <a:latin typeface="微软雅黑" panose="020B0503020204020204" pitchFamily="34" charset="-122"/>
              <a:ea typeface="微软雅黑" panose="020B0503020204020204" pitchFamily="34" charset="-122"/>
            </a:endParaRPr>
          </a:p>
          <a:p>
            <a:r>
              <a:rPr lang="en-US" altLang="zh-CN" sz="1600" dirty="0">
                <a:solidFill>
                  <a:schemeClr val="accent6"/>
                </a:solidFill>
                <a:latin typeface="微软雅黑" panose="020B0503020204020204" pitchFamily="34" charset="-122"/>
                <a:ea typeface="微软雅黑" panose="020B0503020204020204" pitchFamily="34" charset="-122"/>
              </a:rPr>
              <a:t>(integer) 10</a:t>
            </a:r>
            <a:endParaRPr lang="zh-CN" altLang="en-US" sz="1600" dirty="0" smtClean="0">
              <a:solidFill>
                <a:schemeClr val="accent6"/>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595001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1" presetClass="entr" presetSubtype="1"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wheel(1)">
                                      <p:cBhvr>
                                        <p:cTn id="14" dur="2000"/>
                                        <p:tgtEl>
                                          <p:spTgt spid="2"/>
                                        </p:tgtEl>
                                      </p:cBhvr>
                                    </p:animEffect>
                                  </p:childTnLst>
                                </p:cTn>
                              </p:par>
                              <p:par>
                                <p:cTn id="15" presetID="21" presetClass="entr" presetSubtype="1"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heel(1)">
                                      <p:cBhvr>
                                        <p:cTn id="17"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animBg="1"/>
      <p:bldP spid="12"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A0F23"/>
        </a:solidFill>
        <a:effectLst/>
      </p:bgPr>
    </p:bg>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xmlns="" id="{CBDC52CD-1D62-48AF-A9DF-9F18AEA2B1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01385" y="-114300"/>
            <a:ext cx="1301859" cy="920356"/>
          </a:xfrm>
          <a:prstGeom prst="rect">
            <a:avLst/>
          </a:prstGeom>
        </p:spPr>
      </p:pic>
      <p:pic>
        <p:nvPicPr>
          <p:cNvPr id="14" name="图片 13">
            <a:extLst>
              <a:ext uri="{FF2B5EF4-FFF2-40B4-BE49-F238E27FC236}">
                <a16:creationId xmlns:a16="http://schemas.microsoft.com/office/drawing/2014/main" xmlns="" id="{F78DA958-9B1B-47DA-A870-8C0B3A7D8866}"/>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b="63537"/>
          <a:stretch/>
        </p:blipFill>
        <p:spPr>
          <a:xfrm>
            <a:off x="11184164" y="217733"/>
            <a:ext cx="572339" cy="337210"/>
          </a:xfrm>
          <a:prstGeom prst="rect">
            <a:avLst/>
          </a:prstGeom>
        </p:spPr>
      </p:pic>
      <p:cxnSp>
        <p:nvCxnSpPr>
          <p:cNvPr id="15" name="直接连接符 14">
            <a:extLst>
              <a:ext uri="{FF2B5EF4-FFF2-40B4-BE49-F238E27FC236}">
                <a16:creationId xmlns:a16="http://schemas.microsoft.com/office/drawing/2014/main" xmlns="" id="{93240A06-D526-4907-A163-94ABB41190CC}"/>
              </a:ext>
            </a:extLst>
          </p:cNvPr>
          <p:cNvCxnSpPr/>
          <p:nvPr/>
        </p:nvCxnSpPr>
        <p:spPr>
          <a:xfrm>
            <a:off x="11103244" y="225825"/>
            <a:ext cx="0" cy="2435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xmlns="" id="{74C59758-12AB-44A5-92FA-DB52904027AE}"/>
              </a:ext>
            </a:extLst>
          </p:cNvPr>
          <p:cNvSpPr/>
          <p:nvPr/>
        </p:nvSpPr>
        <p:spPr>
          <a:xfrm>
            <a:off x="802332" y="1983800"/>
            <a:ext cx="10765483" cy="2031325"/>
          </a:xfrm>
          <a:prstGeom prst="rect">
            <a:avLst/>
          </a:prstGeom>
        </p:spPr>
        <p:txBody>
          <a:bodyPr wrap="square">
            <a:spAutoFit/>
          </a:bodyPr>
          <a:lstStyle/>
          <a:p>
            <a:pPr indent="457200">
              <a:lnSpc>
                <a:spcPct val="140000"/>
              </a:lnSpc>
            </a:pPr>
            <a:r>
              <a:rPr lang="zh-CN" altLang="en-US" dirty="0" smtClean="0">
                <a:solidFill>
                  <a:prstClr val="white"/>
                </a:solidFill>
                <a:latin typeface="微软雅黑" panose="020B0503020204020204" pitchFamily="34" charset="-122"/>
                <a:ea typeface="微软雅黑" panose="020B0503020204020204" pitchFamily="34" charset="-122"/>
              </a:rPr>
              <a:t>网点是指快递网点，假设现在要为用户提供查找附近的网点的功能，以便用户判断选择哪个网点寄快递是他所在位置最方便的。则系统需要能够根据用户的定位信息，查找其附近指定范围内的网点位置信息。</a:t>
            </a:r>
            <a:endParaRPr lang="en-US" altLang="zh-CN" dirty="0">
              <a:solidFill>
                <a:prstClr val="white"/>
              </a:solidFill>
              <a:latin typeface="微软雅黑" panose="020B0503020204020204" pitchFamily="34" charset="-122"/>
              <a:ea typeface="微软雅黑" panose="020B0503020204020204" pitchFamily="34" charset="-122"/>
            </a:endParaRPr>
          </a:p>
          <a:p>
            <a:pPr indent="457200">
              <a:lnSpc>
                <a:spcPct val="140000"/>
              </a:lnSpc>
            </a:pPr>
            <a:r>
              <a:rPr lang="zh-CN" altLang="en-US" dirty="0" smtClean="0">
                <a:solidFill>
                  <a:prstClr val="white"/>
                </a:solidFill>
                <a:latin typeface="微软雅黑" panose="020B0503020204020204" pitchFamily="34" charset="-122"/>
                <a:ea typeface="微软雅黑" panose="020B0503020204020204" pitchFamily="34" charset="-122"/>
              </a:rPr>
              <a:t>需求简化如下：</a:t>
            </a:r>
            <a:endParaRPr lang="en-US" altLang="zh-CN" dirty="0">
              <a:solidFill>
                <a:prstClr val="white"/>
              </a:solidFill>
              <a:latin typeface="微软雅黑" panose="020B0503020204020204" pitchFamily="34" charset="-122"/>
              <a:ea typeface="微软雅黑" panose="020B0503020204020204" pitchFamily="34" charset="-122"/>
            </a:endParaRPr>
          </a:p>
          <a:p>
            <a:pPr indent="457200">
              <a:lnSpc>
                <a:spcPct val="140000"/>
              </a:lnSpc>
            </a:pPr>
            <a:r>
              <a:rPr lang="zh-CN" altLang="en-US" dirty="0" smtClean="0">
                <a:solidFill>
                  <a:prstClr val="white"/>
                </a:solidFill>
                <a:latin typeface="微软雅黑" panose="020B0503020204020204" pitchFamily="34" charset="-122"/>
                <a:ea typeface="微软雅黑" panose="020B0503020204020204" pitchFamily="34" charset="-122"/>
              </a:rPr>
              <a:t>系统输入 </a:t>
            </a:r>
            <a:r>
              <a:rPr lang="en-US" altLang="zh-CN" dirty="0" smtClean="0">
                <a:solidFill>
                  <a:prstClr val="white"/>
                </a:solidFill>
                <a:latin typeface="微软雅黑" panose="020B0503020204020204" pitchFamily="34" charset="-122"/>
                <a:ea typeface="微软雅黑" panose="020B0503020204020204" pitchFamily="34" charset="-122"/>
                <a:sym typeface="Wingdings" panose="05000000000000000000" pitchFamily="2" charset="2"/>
              </a:rPr>
              <a:t>--&gt;</a:t>
            </a:r>
            <a:r>
              <a:rPr lang="en-US" altLang="zh-CN" dirty="0" smtClean="0">
                <a:solidFill>
                  <a:prstClr val="white"/>
                </a:solidFill>
                <a:latin typeface="微软雅黑" panose="020B0503020204020204" pitchFamily="34" charset="-122"/>
                <a:ea typeface="微软雅黑" panose="020B0503020204020204" pitchFamily="34" charset="-122"/>
              </a:rPr>
              <a:t> </a:t>
            </a:r>
            <a:r>
              <a:rPr lang="zh-CN" altLang="en-US" dirty="0" smtClean="0">
                <a:solidFill>
                  <a:prstClr val="white"/>
                </a:solidFill>
                <a:latin typeface="微软雅黑" panose="020B0503020204020204" pitchFamily="34" charset="-122"/>
                <a:ea typeface="微软雅黑" panose="020B0503020204020204" pitchFamily="34" charset="-122"/>
              </a:rPr>
              <a:t>用户定位信息</a:t>
            </a:r>
            <a:endParaRPr lang="en-US" altLang="zh-CN" dirty="0" smtClean="0">
              <a:solidFill>
                <a:prstClr val="white"/>
              </a:solidFill>
              <a:latin typeface="微软雅黑" panose="020B0503020204020204" pitchFamily="34" charset="-122"/>
              <a:ea typeface="微软雅黑" panose="020B0503020204020204" pitchFamily="34" charset="-122"/>
            </a:endParaRPr>
          </a:p>
          <a:p>
            <a:pPr indent="457200">
              <a:lnSpc>
                <a:spcPct val="140000"/>
              </a:lnSpc>
            </a:pPr>
            <a:r>
              <a:rPr lang="zh-CN" altLang="en-US" dirty="0" smtClean="0">
                <a:solidFill>
                  <a:prstClr val="white"/>
                </a:solidFill>
                <a:latin typeface="微软雅黑" panose="020B0503020204020204" pitchFamily="34" charset="-122"/>
                <a:ea typeface="微软雅黑" panose="020B0503020204020204" pitchFamily="34" charset="-122"/>
              </a:rPr>
              <a:t>系统输出 </a:t>
            </a:r>
            <a:r>
              <a:rPr lang="en-US" altLang="zh-CN" dirty="0" smtClean="0">
                <a:solidFill>
                  <a:prstClr val="white"/>
                </a:solidFill>
                <a:latin typeface="微软雅黑" panose="020B0503020204020204" pitchFamily="34" charset="-122"/>
                <a:ea typeface="微软雅黑" panose="020B0503020204020204" pitchFamily="34" charset="-122"/>
                <a:sym typeface="Wingdings" panose="05000000000000000000" pitchFamily="2" charset="2"/>
              </a:rPr>
              <a:t>--&gt;</a:t>
            </a:r>
            <a:r>
              <a:rPr lang="en-US" altLang="zh-CN" dirty="0" smtClean="0">
                <a:solidFill>
                  <a:prstClr val="white"/>
                </a:solidFill>
                <a:latin typeface="微软雅黑" panose="020B0503020204020204" pitchFamily="34" charset="-122"/>
                <a:ea typeface="微软雅黑" panose="020B0503020204020204" pitchFamily="34" charset="-122"/>
              </a:rPr>
              <a:t> </a:t>
            </a:r>
            <a:r>
              <a:rPr lang="zh-CN" altLang="en-US" dirty="0" smtClean="0">
                <a:solidFill>
                  <a:prstClr val="white"/>
                </a:solidFill>
                <a:latin typeface="微软雅黑" panose="020B0503020204020204" pitchFamily="34" charset="-122"/>
                <a:ea typeface="微软雅黑" panose="020B0503020204020204" pitchFamily="34" charset="-122"/>
              </a:rPr>
              <a:t>指定范围内，一定数量的网点信息</a:t>
            </a:r>
            <a:endParaRPr lang="zh-CN" altLang="en-US" dirty="0">
              <a:solidFill>
                <a:prstClr val="white"/>
              </a:solidFill>
              <a:latin typeface="微软雅黑" panose="020B0503020204020204" pitchFamily="34" charset="-122"/>
              <a:ea typeface="微软雅黑" panose="020B0503020204020204" pitchFamily="34" charset="-122"/>
            </a:endParaRPr>
          </a:p>
        </p:txBody>
      </p:sp>
      <p:sp>
        <p:nvSpPr>
          <p:cNvPr id="10" name="TextBox 9"/>
          <p:cNvSpPr txBox="1"/>
          <p:nvPr/>
        </p:nvSpPr>
        <p:spPr>
          <a:xfrm>
            <a:off x="704849" y="605109"/>
            <a:ext cx="10862965" cy="584775"/>
          </a:xfrm>
          <a:prstGeom prst="rect">
            <a:avLst/>
          </a:prstGeom>
          <a:noFill/>
        </p:spPr>
        <p:txBody>
          <a:bodyPr wrap="square" rtlCol="0">
            <a:spAutoFit/>
          </a:bodyPr>
          <a:lstStyle/>
          <a:p>
            <a:pPr>
              <a:defRPr/>
            </a:pPr>
            <a:r>
              <a:rPr lang="en-US" altLang="zh-CN" sz="32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3.3</a:t>
            </a:r>
            <a:r>
              <a:rPr lang="zh-CN" altLang="en-US" sz="32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、附近的网点 </a:t>
            </a:r>
            <a:r>
              <a:rPr lang="en-US" altLang="zh-CN" sz="32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 GEO</a:t>
            </a:r>
            <a:r>
              <a:rPr lang="zh-CN" altLang="en-US" sz="32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地理信息</a:t>
            </a:r>
          </a:p>
        </p:txBody>
      </p:sp>
      <p:sp>
        <p:nvSpPr>
          <p:cNvPr id="8" name="TextBox 9"/>
          <p:cNvSpPr txBox="1"/>
          <p:nvPr/>
        </p:nvSpPr>
        <p:spPr>
          <a:xfrm>
            <a:off x="704850" y="1301793"/>
            <a:ext cx="4038600" cy="523220"/>
          </a:xfrm>
          <a:prstGeom prst="rect">
            <a:avLst/>
          </a:prstGeom>
          <a:noFill/>
        </p:spPr>
        <p:txBody>
          <a:bodyPr wrap="square" rtlCol="0">
            <a:spAutoFit/>
          </a:bodyPr>
          <a:lstStyle/>
          <a:p>
            <a:pPr>
              <a:defRPr/>
            </a:pPr>
            <a:r>
              <a:rPr lang="en-US" altLang="zh-CN"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3.3.1 </a:t>
            </a:r>
            <a:r>
              <a:rPr lang="zh-CN" altLang="en-US"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功能描述</a:t>
            </a:r>
          </a:p>
        </p:txBody>
      </p:sp>
    </p:spTree>
    <p:extLst>
      <p:ext uri="{BB962C8B-B14F-4D97-AF65-F5344CB8AC3E}">
        <p14:creationId xmlns:p14="http://schemas.microsoft.com/office/powerpoint/2010/main" val="1545634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A0F23"/>
        </a:solidFill>
        <a:effectLst/>
      </p:bgPr>
    </p:bg>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xmlns="" id="{CBDC52CD-1D62-48AF-A9DF-9F18AEA2B1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01385" y="-114300"/>
            <a:ext cx="1301859" cy="920356"/>
          </a:xfrm>
          <a:prstGeom prst="rect">
            <a:avLst/>
          </a:prstGeom>
        </p:spPr>
      </p:pic>
      <p:pic>
        <p:nvPicPr>
          <p:cNvPr id="14" name="图片 13">
            <a:extLst>
              <a:ext uri="{FF2B5EF4-FFF2-40B4-BE49-F238E27FC236}">
                <a16:creationId xmlns:a16="http://schemas.microsoft.com/office/drawing/2014/main" xmlns="" id="{F78DA958-9B1B-47DA-A870-8C0B3A7D8866}"/>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b="63537"/>
          <a:stretch/>
        </p:blipFill>
        <p:spPr>
          <a:xfrm>
            <a:off x="11184164" y="217733"/>
            <a:ext cx="572339" cy="337210"/>
          </a:xfrm>
          <a:prstGeom prst="rect">
            <a:avLst/>
          </a:prstGeom>
        </p:spPr>
      </p:pic>
      <p:cxnSp>
        <p:nvCxnSpPr>
          <p:cNvPr id="15" name="直接连接符 14">
            <a:extLst>
              <a:ext uri="{FF2B5EF4-FFF2-40B4-BE49-F238E27FC236}">
                <a16:creationId xmlns:a16="http://schemas.microsoft.com/office/drawing/2014/main" xmlns="" id="{93240A06-D526-4907-A163-94ABB41190CC}"/>
              </a:ext>
            </a:extLst>
          </p:cNvPr>
          <p:cNvCxnSpPr/>
          <p:nvPr/>
        </p:nvCxnSpPr>
        <p:spPr>
          <a:xfrm>
            <a:off x="11103244" y="225825"/>
            <a:ext cx="0" cy="2435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TextBox 9"/>
          <p:cNvSpPr txBox="1"/>
          <p:nvPr/>
        </p:nvSpPr>
        <p:spPr>
          <a:xfrm>
            <a:off x="809592" y="806056"/>
            <a:ext cx="8883650" cy="523220"/>
          </a:xfrm>
          <a:prstGeom prst="rect">
            <a:avLst/>
          </a:prstGeom>
          <a:noFill/>
        </p:spPr>
        <p:txBody>
          <a:bodyPr wrap="square" rtlCol="0">
            <a:spAutoFit/>
          </a:bodyPr>
          <a:lstStyle/>
          <a:p>
            <a:pPr>
              <a:defRPr/>
            </a:pPr>
            <a:r>
              <a:rPr lang="en-US" altLang="zh-CN"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3.3.2 </a:t>
            </a:r>
            <a:r>
              <a:rPr lang="zh-CN" altLang="en-US"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如何使用</a:t>
            </a:r>
            <a:r>
              <a:rPr lang="en-US" altLang="zh-CN"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GEO</a:t>
            </a:r>
            <a:r>
              <a:rPr lang="zh-CN" altLang="en-US"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实现查找附近的网点</a:t>
            </a:r>
          </a:p>
        </p:txBody>
      </p:sp>
      <p:sp>
        <p:nvSpPr>
          <p:cNvPr id="16" name="矩形 15">
            <a:extLst>
              <a:ext uri="{FF2B5EF4-FFF2-40B4-BE49-F238E27FC236}">
                <a16:creationId xmlns:a16="http://schemas.microsoft.com/office/drawing/2014/main" xmlns="" id="{74C59758-12AB-44A5-92FA-DB52904027AE}"/>
              </a:ext>
            </a:extLst>
          </p:cNvPr>
          <p:cNvSpPr/>
          <p:nvPr/>
        </p:nvSpPr>
        <p:spPr>
          <a:xfrm>
            <a:off x="809592" y="1566649"/>
            <a:ext cx="10765483" cy="2419124"/>
          </a:xfrm>
          <a:prstGeom prst="rect">
            <a:avLst/>
          </a:prstGeom>
        </p:spPr>
        <p:txBody>
          <a:bodyPr wrap="square">
            <a:spAutoFit/>
          </a:bodyPr>
          <a:lstStyle/>
          <a:p>
            <a:pPr indent="457200">
              <a:lnSpc>
                <a:spcPct val="140000"/>
              </a:lnSpc>
            </a:pPr>
            <a:r>
              <a:rPr lang="en-US" altLang="zh-CN" dirty="0" err="1" smtClean="0">
                <a:solidFill>
                  <a:prstClr val="white"/>
                </a:solidFill>
                <a:latin typeface="微软雅黑" panose="020B0503020204020204" pitchFamily="34" charset="-122"/>
                <a:ea typeface="微软雅黑" panose="020B0503020204020204" pitchFamily="34" charset="-122"/>
              </a:rPr>
              <a:t>Redis</a:t>
            </a:r>
            <a:r>
              <a:rPr lang="en-US" altLang="zh-CN" dirty="0" smtClean="0">
                <a:solidFill>
                  <a:prstClr val="white"/>
                </a:solidFill>
                <a:latin typeface="微软雅黑" panose="020B0503020204020204" pitchFamily="34" charset="-122"/>
                <a:ea typeface="微软雅黑" panose="020B0503020204020204" pitchFamily="34" charset="-122"/>
              </a:rPr>
              <a:t> </a:t>
            </a:r>
            <a:r>
              <a:rPr lang="zh-CN" altLang="en-US" dirty="0" smtClean="0">
                <a:solidFill>
                  <a:prstClr val="white"/>
                </a:solidFill>
                <a:latin typeface="微软雅黑" panose="020B0503020204020204" pitchFamily="34" charset="-122"/>
                <a:ea typeface="微软雅黑" panose="020B0503020204020204" pitchFamily="34" charset="-122"/>
              </a:rPr>
              <a:t>在 </a:t>
            </a:r>
            <a:r>
              <a:rPr lang="en-US" altLang="zh-CN" dirty="0" smtClean="0">
                <a:solidFill>
                  <a:prstClr val="white"/>
                </a:solidFill>
                <a:latin typeface="微软雅黑" panose="020B0503020204020204" pitchFamily="34" charset="-122"/>
                <a:ea typeface="微软雅黑" panose="020B0503020204020204" pitchFamily="34" charset="-122"/>
              </a:rPr>
              <a:t>3.2 </a:t>
            </a:r>
            <a:r>
              <a:rPr lang="zh-CN" altLang="en-US" dirty="0" smtClean="0">
                <a:solidFill>
                  <a:prstClr val="white"/>
                </a:solidFill>
                <a:latin typeface="微软雅黑" panose="020B0503020204020204" pitchFamily="34" charset="-122"/>
                <a:ea typeface="微软雅黑" panose="020B0503020204020204" pitchFamily="34" charset="-122"/>
              </a:rPr>
              <a:t>版本以后增加了地理位置 </a:t>
            </a:r>
            <a:r>
              <a:rPr lang="en-US" altLang="zh-CN" dirty="0" smtClean="0">
                <a:solidFill>
                  <a:prstClr val="white"/>
                </a:solidFill>
                <a:latin typeface="微软雅黑" panose="020B0503020204020204" pitchFamily="34" charset="-122"/>
                <a:ea typeface="微软雅黑" panose="020B0503020204020204" pitchFamily="34" charset="-122"/>
              </a:rPr>
              <a:t>GEO </a:t>
            </a:r>
            <a:r>
              <a:rPr lang="zh-CN" altLang="en-US" dirty="0">
                <a:solidFill>
                  <a:prstClr val="white"/>
                </a:solidFill>
                <a:latin typeface="微软雅黑" panose="020B0503020204020204" pitchFamily="34" charset="-122"/>
                <a:ea typeface="微软雅黑" panose="020B0503020204020204" pitchFamily="34" charset="-122"/>
              </a:rPr>
              <a:t>模</a:t>
            </a:r>
            <a:r>
              <a:rPr lang="zh-CN" altLang="en-US" dirty="0" smtClean="0">
                <a:solidFill>
                  <a:prstClr val="white"/>
                </a:solidFill>
                <a:latin typeface="微软雅黑" panose="020B0503020204020204" pitchFamily="34" charset="-122"/>
                <a:ea typeface="微软雅黑" panose="020B0503020204020204" pitchFamily="34" charset="-122"/>
              </a:rPr>
              <a:t>块。业</a:t>
            </a:r>
            <a:r>
              <a:rPr lang="zh-CN" altLang="en-US" dirty="0">
                <a:solidFill>
                  <a:prstClr val="white"/>
                </a:solidFill>
                <a:latin typeface="微软雅黑" panose="020B0503020204020204" pitchFamily="34" charset="-122"/>
                <a:ea typeface="微软雅黑" panose="020B0503020204020204" pitchFamily="34" charset="-122"/>
              </a:rPr>
              <a:t>界比较通用的地理位置距离排序</a:t>
            </a:r>
            <a:r>
              <a:rPr lang="zh-CN" altLang="en-US" dirty="0" smtClean="0">
                <a:solidFill>
                  <a:prstClr val="white"/>
                </a:solidFill>
                <a:latin typeface="微软雅黑" panose="020B0503020204020204" pitchFamily="34" charset="-122"/>
                <a:ea typeface="微软雅黑" panose="020B0503020204020204" pitchFamily="34" charset="-122"/>
              </a:rPr>
              <a:t>算法是</a:t>
            </a:r>
            <a:r>
              <a:rPr lang="en-US" altLang="zh-CN" dirty="0" err="1" smtClean="0">
                <a:solidFill>
                  <a:prstClr val="white"/>
                </a:solidFill>
                <a:latin typeface="微软雅黑" panose="020B0503020204020204" pitchFamily="34" charset="-122"/>
                <a:ea typeface="微软雅黑" panose="020B0503020204020204" pitchFamily="34" charset="-122"/>
              </a:rPr>
              <a:t>GeoHash</a:t>
            </a:r>
            <a:r>
              <a:rPr lang="en-US" altLang="zh-CN" dirty="0" smtClean="0">
                <a:solidFill>
                  <a:prstClr val="white"/>
                </a:solidFill>
                <a:latin typeface="微软雅黑" panose="020B0503020204020204" pitchFamily="34" charset="-122"/>
                <a:ea typeface="微软雅黑" panose="020B0503020204020204" pitchFamily="34" charset="-122"/>
              </a:rPr>
              <a:t> </a:t>
            </a:r>
            <a:r>
              <a:rPr lang="zh-CN" altLang="en-US" dirty="0">
                <a:solidFill>
                  <a:prstClr val="white"/>
                </a:solidFill>
                <a:latin typeface="微软雅黑" panose="020B0503020204020204" pitchFamily="34" charset="-122"/>
                <a:ea typeface="微软雅黑" panose="020B0503020204020204" pitchFamily="34" charset="-122"/>
              </a:rPr>
              <a:t>算法，</a:t>
            </a:r>
            <a:r>
              <a:rPr lang="en-US" altLang="zh-CN" dirty="0" err="1">
                <a:solidFill>
                  <a:prstClr val="white"/>
                </a:solidFill>
                <a:latin typeface="微软雅黑" panose="020B0503020204020204" pitchFamily="34" charset="-122"/>
                <a:ea typeface="微软雅黑" panose="020B0503020204020204" pitchFamily="34" charset="-122"/>
              </a:rPr>
              <a:t>Redis</a:t>
            </a:r>
            <a:r>
              <a:rPr lang="en-US" altLang="zh-CN" dirty="0">
                <a:solidFill>
                  <a:prstClr val="white"/>
                </a:solidFill>
                <a:latin typeface="微软雅黑" panose="020B0503020204020204" pitchFamily="34" charset="-122"/>
                <a:ea typeface="微软雅黑" panose="020B0503020204020204" pitchFamily="34" charset="-122"/>
              </a:rPr>
              <a:t> </a:t>
            </a:r>
            <a:r>
              <a:rPr lang="zh-CN" altLang="en-US" dirty="0">
                <a:solidFill>
                  <a:prstClr val="white"/>
                </a:solidFill>
                <a:latin typeface="微软雅黑" panose="020B0503020204020204" pitchFamily="34" charset="-122"/>
                <a:ea typeface="微软雅黑" panose="020B0503020204020204" pitchFamily="34" charset="-122"/>
              </a:rPr>
              <a:t>也使用 </a:t>
            </a:r>
            <a:r>
              <a:rPr lang="en-US" altLang="zh-CN" dirty="0" err="1">
                <a:solidFill>
                  <a:prstClr val="white"/>
                </a:solidFill>
                <a:latin typeface="微软雅黑" panose="020B0503020204020204" pitchFamily="34" charset="-122"/>
                <a:ea typeface="微软雅黑" panose="020B0503020204020204" pitchFamily="34" charset="-122"/>
              </a:rPr>
              <a:t>GeoHash</a:t>
            </a:r>
            <a:r>
              <a:rPr lang="en-US" altLang="zh-CN" dirty="0">
                <a:solidFill>
                  <a:prstClr val="white"/>
                </a:solidFill>
                <a:latin typeface="微软雅黑" panose="020B0503020204020204" pitchFamily="34" charset="-122"/>
                <a:ea typeface="微软雅黑" panose="020B0503020204020204" pitchFamily="34" charset="-122"/>
              </a:rPr>
              <a:t> </a:t>
            </a:r>
            <a:r>
              <a:rPr lang="zh-CN" altLang="en-US" dirty="0">
                <a:solidFill>
                  <a:prstClr val="white"/>
                </a:solidFill>
                <a:latin typeface="微软雅黑" panose="020B0503020204020204" pitchFamily="34" charset="-122"/>
                <a:ea typeface="微软雅黑" panose="020B0503020204020204" pitchFamily="34" charset="-122"/>
              </a:rPr>
              <a:t>算法</a:t>
            </a:r>
            <a:r>
              <a:rPr lang="zh-CN" altLang="en-US" dirty="0" smtClean="0">
                <a:solidFill>
                  <a:prstClr val="white"/>
                </a:solidFill>
                <a:latin typeface="微软雅黑" panose="020B0503020204020204" pitchFamily="34" charset="-122"/>
                <a:ea typeface="微软雅黑" panose="020B0503020204020204" pitchFamily="34" charset="-122"/>
              </a:rPr>
              <a:t>。简单的说：</a:t>
            </a:r>
            <a:r>
              <a:rPr lang="en-US" altLang="zh-CN" dirty="0" err="1" smtClean="0">
                <a:solidFill>
                  <a:prstClr val="white"/>
                </a:solidFill>
                <a:latin typeface="微软雅黑" panose="020B0503020204020204" pitchFamily="34" charset="-122"/>
                <a:ea typeface="微软雅黑" panose="020B0503020204020204" pitchFamily="34" charset="-122"/>
              </a:rPr>
              <a:t>GeoHash</a:t>
            </a:r>
            <a:r>
              <a:rPr lang="en-US" altLang="zh-CN" dirty="0" smtClean="0">
                <a:solidFill>
                  <a:prstClr val="white"/>
                </a:solidFill>
                <a:latin typeface="微软雅黑" panose="020B0503020204020204" pitchFamily="34" charset="-122"/>
                <a:ea typeface="微软雅黑" panose="020B0503020204020204" pitchFamily="34" charset="-122"/>
              </a:rPr>
              <a:t> </a:t>
            </a:r>
            <a:r>
              <a:rPr lang="zh-CN" altLang="en-US" dirty="0">
                <a:solidFill>
                  <a:prstClr val="white"/>
                </a:solidFill>
                <a:latin typeface="微软雅黑" panose="020B0503020204020204" pitchFamily="34" charset="-122"/>
                <a:ea typeface="微软雅黑" panose="020B0503020204020204" pitchFamily="34" charset="-122"/>
              </a:rPr>
              <a:t>算</a:t>
            </a:r>
            <a:r>
              <a:rPr lang="zh-CN" altLang="en-US" dirty="0" smtClean="0">
                <a:solidFill>
                  <a:prstClr val="white"/>
                </a:solidFill>
                <a:latin typeface="微软雅黑" panose="020B0503020204020204" pitchFamily="34" charset="-122"/>
                <a:ea typeface="微软雅黑" panose="020B0503020204020204" pitchFamily="34" charset="-122"/>
              </a:rPr>
              <a:t>法是将</a:t>
            </a:r>
            <a:r>
              <a:rPr lang="zh-CN" altLang="en-US" dirty="0">
                <a:solidFill>
                  <a:prstClr val="white"/>
                </a:solidFill>
                <a:latin typeface="微软雅黑" panose="020B0503020204020204" pitchFamily="34" charset="-122"/>
                <a:ea typeface="微软雅黑" panose="020B0503020204020204" pitchFamily="34" charset="-122"/>
              </a:rPr>
              <a:t>二维的经纬度数据映射到一维的整数，这样所有的元素都将</a:t>
            </a:r>
            <a:r>
              <a:rPr lang="zh-CN" altLang="en-US" dirty="0" smtClean="0">
                <a:solidFill>
                  <a:prstClr val="white"/>
                </a:solidFill>
                <a:latin typeface="微软雅黑" panose="020B0503020204020204" pitchFamily="34" charset="-122"/>
                <a:ea typeface="微软雅黑" panose="020B0503020204020204" pitchFamily="34" charset="-122"/>
              </a:rPr>
              <a:t>在出现到</a:t>
            </a:r>
            <a:r>
              <a:rPr lang="zh-CN" altLang="en-US" dirty="0">
                <a:solidFill>
                  <a:prstClr val="white"/>
                </a:solidFill>
                <a:latin typeface="微软雅黑" panose="020B0503020204020204" pitchFamily="34" charset="-122"/>
                <a:ea typeface="微软雅黑" panose="020B0503020204020204" pitchFamily="34" charset="-122"/>
              </a:rPr>
              <a:t>一条线上，距离靠近的二维坐标映射到一维后的点之间距离也会很接近。当我们想</a:t>
            </a:r>
            <a:r>
              <a:rPr lang="zh-CN" altLang="en-US" dirty="0" smtClean="0">
                <a:solidFill>
                  <a:prstClr val="white"/>
                </a:solidFill>
                <a:latin typeface="微软雅黑" panose="020B0503020204020204" pitchFamily="34" charset="-122"/>
                <a:ea typeface="微软雅黑" panose="020B0503020204020204" pitchFamily="34" charset="-122"/>
              </a:rPr>
              <a:t>要</a:t>
            </a:r>
            <a:r>
              <a:rPr lang="zh-CN" altLang="en-US" dirty="0">
                <a:solidFill>
                  <a:prstClr val="white"/>
                </a:solidFill>
                <a:latin typeface="微软雅黑" panose="020B0503020204020204" pitchFamily="34" charset="-122"/>
                <a:ea typeface="微软雅黑" panose="020B0503020204020204" pitchFamily="34" charset="-122"/>
              </a:rPr>
              <a:t>获</a:t>
            </a:r>
            <a:r>
              <a:rPr lang="zh-CN" altLang="en-US" dirty="0" smtClean="0">
                <a:solidFill>
                  <a:prstClr val="white"/>
                </a:solidFill>
                <a:latin typeface="微软雅黑" panose="020B0503020204020204" pitchFamily="34" charset="-122"/>
                <a:ea typeface="微软雅黑" panose="020B0503020204020204" pitchFamily="34" charset="-122"/>
              </a:rPr>
              <a:t>取附近的网点，</a:t>
            </a:r>
            <a:r>
              <a:rPr lang="zh-CN" altLang="en-US" dirty="0">
                <a:solidFill>
                  <a:prstClr val="white"/>
                </a:solidFill>
                <a:latin typeface="微软雅黑" panose="020B0503020204020204" pitchFamily="34" charset="-122"/>
                <a:ea typeface="微软雅黑" panose="020B0503020204020204" pitchFamily="34" charset="-122"/>
              </a:rPr>
              <a:t>首先将目标位置映射到这条线上，然后在这个一维的线上获取附近的</a:t>
            </a:r>
            <a:r>
              <a:rPr lang="zh-CN" altLang="en-US" dirty="0" smtClean="0">
                <a:solidFill>
                  <a:prstClr val="white"/>
                </a:solidFill>
                <a:latin typeface="微软雅黑" panose="020B0503020204020204" pitchFamily="34" charset="-122"/>
                <a:ea typeface="微软雅黑" panose="020B0503020204020204" pitchFamily="34" charset="-122"/>
              </a:rPr>
              <a:t>点</a:t>
            </a:r>
            <a:r>
              <a:rPr lang="zh-CN" altLang="en-US" dirty="0">
                <a:solidFill>
                  <a:prstClr val="white"/>
                </a:solidFill>
                <a:latin typeface="微软雅黑" panose="020B0503020204020204" pitchFamily="34" charset="-122"/>
                <a:ea typeface="微软雅黑" panose="020B0503020204020204" pitchFamily="34" charset="-122"/>
              </a:rPr>
              <a:t>即可</a:t>
            </a:r>
            <a:r>
              <a:rPr lang="zh-CN" altLang="en-US" dirty="0" smtClean="0">
                <a:solidFill>
                  <a:prstClr val="white"/>
                </a:solidFill>
                <a:latin typeface="微软雅黑" panose="020B0503020204020204" pitchFamily="34" charset="-122"/>
                <a:ea typeface="微软雅黑" panose="020B0503020204020204" pitchFamily="34" charset="-122"/>
              </a:rPr>
              <a:t>。</a:t>
            </a:r>
            <a:r>
              <a:rPr lang="en-US" altLang="zh-CN" dirty="0" smtClean="0">
                <a:solidFill>
                  <a:prstClr val="white"/>
                </a:solidFill>
                <a:latin typeface="微软雅黑" panose="020B0503020204020204" pitchFamily="34" charset="-122"/>
                <a:ea typeface="微软雅黑" panose="020B0503020204020204" pitchFamily="34" charset="-122"/>
              </a:rPr>
              <a:t>GEO</a:t>
            </a:r>
            <a:r>
              <a:rPr lang="zh-CN" altLang="en-US" dirty="0" smtClean="0">
                <a:solidFill>
                  <a:prstClr val="white"/>
                </a:solidFill>
                <a:latin typeface="微软雅黑" panose="020B0503020204020204" pitchFamily="34" charset="-122"/>
                <a:ea typeface="微软雅黑" panose="020B0503020204020204" pitchFamily="34" charset="-122"/>
              </a:rPr>
              <a:t>内部使用</a:t>
            </a:r>
            <a:r>
              <a:rPr lang="en-US" altLang="zh-CN" dirty="0" err="1" smtClean="0">
                <a:solidFill>
                  <a:prstClr val="white"/>
                </a:solidFill>
                <a:latin typeface="微软雅黑" panose="020B0503020204020204" pitchFamily="34" charset="-122"/>
                <a:ea typeface="微软雅黑" panose="020B0503020204020204" pitchFamily="34" charset="-122"/>
              </a:rPr>
              <a:t>zset</a:t>
            </a:r>
            <a:r>
              <a:rPr lang="zh-CN" altLang="en-US" dirty="0" smtClean="0">
                <a:solidFill>
                  <a:prstClr val="white"/>
                </a:solidFill>
                <a:latin typeface="微软雅黑" panose="020B0503020204020204" pitchFamily="34" charset="-122"/>
                <a:ea typeface="微软雅黑" panose="020B0503020204020204" pitchFamily="34" charset="-122"/>
              </a:rPr>
              <a:t>数据结构。</a:t>
            </a:r>
            <a:endParaRPr lang="en-US" altLang="zh-CN" dirty="0" smtClean="0">
              <a:solidFill>
                <a:prstClr val="white"/>
              </a:solidFill>
              <a:latin typeface="微软雅黑" panose="020B0503020204020204" pitchFamily="34" charset="-122"/>
              <a:ea typeface="微软雅黑" panose="020B0503020204020204" pitchFamily="34" charset="-122"/>
            </a:endParaRPr>
          </a:p>
          <a:p>
            <a:pPr indent="457200">
              <a:lnSpc>
                <a:spcPct val="140000"/>
              </a:lnSpc>
            </a:pPr>
            <a:r>
              <a:rPr lang="zh-CN" altLang="en-US" dirty="0" smtClean="0">
                <a:solidFill>
                  <a:prstClr val="white"/>
                </a:solidFill>
                <a:latin typeface="微软雅黑" panose="020B0503020204020204" pitchFamily="34" charset="-122"/>
                <a:ea typeface="微软雅黑" panose="020B0503020204020204" pitchFamily="34" charset="-122"/>
              </a:rPr>
              <a:t>关于具体算法，请自行查阅资料，这里只介绍如何使用</a:t>
            </a:r>
            <a:r>
              <a:rPr lang="en-US" altLang="zh-CN" dirty="0" err="1" smtClean="0">
                <a:solidFill>
                  <a:prstClr val="white"/>
                </a:solidFill>
                <a:latin typeface="微软雅黑" panose="020B0503020204020204" pitchFamily="34" charset="-122"/>
                <a:ea typeface="微软雅黑" panose="020B0503020204020204" pitchFamily="34" charset="-122"/>
              </a:rPr>
              <a:t>redis</a:t>
            </a:r>
            <a:r>
              <a:rPr lang="zh-CN" altLang="en-US" dirty="0" smtClean="0">
                <a:solidFill>
                  <a:prstClr val="white"/>
                </a:solidFill>
                <a:latin typeface="微软雅黑" panose="020B0503020204020204" pitchFamily="34" charset="-122"/>
                <a:ea typeface="微软雅黑" panose="020B0503020204020204" pitchFamily="34" charset="-122"/>
              </a:rPr>
              <a:t>的</a:t>
            </a:r>
            <a:r>
              <a:rPr lang="en-US" altLang="zh-CN" dirty="0" smtClean="0">
                <a:solidFill>
                  <a:prstClr val="white"/>
                </a:solidFill>
                <a:latin typeface="微软雅黑" panose="020B0503020204020204" pitchFamily="34" charset="-122"/>
                <a:ea typeface="微软雅黑" panose="020B0503020204020204" pitchFamily="34" charset="-122"/>
              </a:rPr>
              <a:t>GEO</a:t>
            </a:r>
            <a:r>
              <a:rPr lang="zh-CN" altLang="en-US" dirty="0" smtClean="0">
                <a:solidFill>
                  <a:prstClr val="white"/>
                </a:solidFill>
                <a:latin typeface="微软雅黑" panose="020B0503020204020204" pitchFamily="34" charset="-122"/>
                <a:ea typeface="微软雅黑" panose="020B0503020204020204" pitchFamily="34" charset="-122"/>
              </a:rPr>
              <a:t>命令</a:t>
            </a:r>
            <a:endParaRPr lang="zh-CN" altLang="en-US" dirty="0">
              <a:solidFill>
                <a:prstClr val="white"/>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678084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randombar(horizontal)">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A0F23"/>
        </a:solidFill>
        <a:effectLst/>
      </p:bgPr>
    </p:bg>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xmlns="" id="{CBDC52CD-1D62-48AF-A9DF-9F18AEA2B1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01385" y="-114300"/>
            <a:ext cx="1301859" cy="920356"/>
          </a:xfrm>
          <a:prstGeom prst="rect">
            <a:avLst/>
          </a:prstGeom>
        </p:spPr>
      </p:pic>
      <p:pic>
        <p:nvPicPr>
          <p:cNvPr id="14" name="图片 13">
            <a:extLst>
              <a:ext uri="{FF2B5EF4-FFF2-40B4-BE49-F238E27FC236}">
                <a16:creationId xmlns:a16="http://schemas.microsoft.com/office/drawing/2014/main" xmlns="" id="{F78DA958-9B1B-47DA-A870-8C0B3A7D8866}"/>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b="63537"/>
          <a:stretch/>
        </p:blipFill>
        <p:spPr>
          <a:xfrm>
            <a:off x="11184164" y="217733"/>
            <a:ext cx="572339" cy="337210"/>
          </a:xfrm>
          <a:prstGeom prst="rect">
            <a:avLst/>
          </a:prstGeom>
        </p:spPr>
      </p:pic>
      <p:cxnSp>
        <p:nvCxnSpPr>
          <p:cNvPr id="15" name="直接连接符 14">
            <a:extLst>
              <a:ext uri="{FF2B5EF4-FFF2-40B4-BE49-F238E27FC236}">
                <a16:creationId xmlns:a16="http://schemas.microsoft.com/office/drawing/2014/main" xmlns="" id="{93240A06-D526-4907-A163-94ABB41190CC}"/>
              </a:ext>
            </a:extLst>
          </p:cNvPr>
          <p:cNvCxnSpPr/>
          <p:nvPr/>
        </p:nvCxnSpPr>
        <p:spPr>
          <a:xfrm>
            <a:off x="11103244" y="225825"/>
            <a:ext cx="0" cy="2435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xmlns="" id="{74C59758-12AB-44A5-92FA-DB52904027AE}"/>
              </a:ext>
            </a:extLst>
          </p:cNvPr>
          <p:cNvSpPr/>
          <p:nvPr/>
        </p:nvSpPr>
        <p:spPr>
          <a:xfrm>
            <a:off x="802333" y="1316142"/>
            <a:ext cx="5380754" cy="4770537"/>
          </a:xfrm>
          <a:prstGeom prst="rect">
            <a:avLst/>
          </a:prstGeom>
          <a:ln>
            <a:solidFill>
              <a:schemeClr val="bg1"/>
            </a:solidFill>
          </a:ln>
        </p:spPr>
        <p:txBody>
          <a:bodyPr wrap="square">
            <a:spAutoFit/>
          </a:bodyPr>
          <a:lstStyle/>
          <a:p>
            <a:r>
              <a:rPr lang="en-US" altLang="zh-CN" sz="1600" dirty="0" smtClean="0">
                <a:solidFill>
                  <a:schemeClr val="accent1"/>
                </a:solidFill>
                <a:latin typeface="微软雅黑" panose="020B0503020204020204" pitchFamily="34" charset="-122"/>
                <a:ea typeface="微软雅黑" panose="020B0503020204020204" pitchFamily="34" charset="-122"/>
              </a:rPr>
              <a:t>#  1</a:t>
            </a:r>
            <a:r>
              <a:rPr lang="zh-CN" altLang="en-US" sz="1600" dirty="0" smtClean="0">
                <a:solidFill>
                  <a:schemeClr val="accent1"/>
                </a:solidFill>
                <a:latin typeface="微软雅黑" panose="020B0503020204020204" pitchFamily="34" charset="-122"/>
                <a:ea typeface="微软雅黑" panose="020B0503020204020204" pitchFamily="34" charset="-122"/>
              </a:rPr>
              <a:t>、初始化网点位置到</a:t>
            </a:r>
            <a:r>
              <a:rPr lang="en-US" altLang="zh-CN" sz="1600" dirty="0" err="1" smtClean="0">
                <a:solidFill>
                  <a:schemeClr val="accent1"/>
                </a:solidFill>
                <a:latin typeface="微软雅黑" panose="020B0503020204020204" pitchFamily="34" charset="-122"/>
                <a:ea typeface="微软雅黑" panose="020B0503020204020204" pitchFamily="34" charset="-122"/>
              </a:rPr>
              <a:t>redis</a:t>
            </a:r>
            <a:r>
              <a:rPr lang="zh-CN" altLang="en-US" sz="1600" dirty="0" smtClean="0">
                <a:solidFill>
                  <a:schemeClr val="accent1"/>
                </a:solidFill>
                <a:latin typeface="微软雅黑" panose="020B0503020204020204" pitchFamily="34" charset="-122"/>
                <a:ea typeface="微软雅黑" panose="020B0503020204020204" pitchFamily="34" charset="-122"/>
              </a:rPr>
              <a:t>，</a:t>
            </a:r>
            <a:r>
              <a:rPr lang="en-US" altLang="zh-CN" sz="1600" dirty="0" smtClean="0">
                <a:solidFill>
                  <a:schemeClr val="accent1"/>
                </a:solidFill>
                <a:latin typeface="微软雅黑" panose="020B0503020204020204" pitchFamily="34" charset="-122"/>
                <a:ea typeface="微软雅黑" panose="020B0503020204020204" pitchFamily="34" charset="-122"/>
              </a:rPr>
              <a:t>sites</a:t>
            </a:r>
            <a:r>
              <a:rPr lang="zh-CN" altLang="en-US" sz="1600" dirty="0" smtClean="0">
                <a:solidFill>
                  <a:schemeClr val="accent1"/>
                </a:solidFill>
                <a:latin typeface="微软雅黑" panose="020B0503020204020204" pitchFamily="34" charset="-122"/>
                <a:ea typeface="微软雅黑" panose="020B0503020204020204" pitchFamily="34" charset="-122"/>
              </a:rPr>
              <a:t>为</a:t>
            </a:r>
            <a:r>
              <a:rPr lang="en-US" altLang="zh-CN" sz="1600" dirty="0" smtClean="0">
                <a:solidFill>
                  <a:schemeClr val="accent1"/>
                </a:solidFill>
                <a:latin typeface="微软雅黑" panose="020B0503020204020204" pitchFamily="34" charset="-122"/>
                <a:ea typeface="微软雅黑" panose="020B0503020204020204" pitchFamily="34" charset="-122"/>
              </a:rPr>
              <a:t>key</a:t>
            </a:r>
            <a:r>
              <a:rPr lang="zh-CN" altLang="en-US" sz="1600" dirty="0" smtClean="0">
                <a:solidFill>
                  <a:schemeClr val="accent1"/>
                </a:solidFill>
                <a:latin typeface="微软雅黑" panose="020B0503020204020204" pitchFamily="34" charset="-122"/>
                <a:ea typeface="微软雅黑" panose="020B0503020204020204" pitchFamily="34" charset="-122"/>
              </a:rPr>
              <a:t>，接着两个值为网点的经纬度，最后是网点名</a:t>
            </a:r>
            <a:endParaRPr lang="en-US" altLang="zh-CN" sz="1600" dirty="0" smtClean="0">
              <a:solidFill>
                <a:schemeClr val="accent1"/>
              </a:solidFill>
              <a:latin typeface="微软雅黑" panose="020B0503020204020204" pitchFamily="34" charset="-122"/>
              <a:ea typeface="微软雅黑" panose="020B0503020204020204" pitchFamily="34" charset="-122"/>
            </a:endParaRPr>
          </a:p>
          <a:p>
            <a:r>
              <a:rPr lang="en-US" altLang="zh-CN" sz="1600" dirty="0" smtClean="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geoadd</a:t>
            </a:r>
            <a:r>
              <a:rPr lang="en-US" altLang="zh-CN" sz="1600" dirty="0">
                <a:solidFill>
                  <a:srgbClr val="FF0000"/>
                </a:solidFill>
                <a:latin typeface="微软雅黑" panose="020B0503020204020204" pitchFamily="34" charset="-122"/>
                <a:ea typeface="微软雅黑" panose="020B0503020204020204" pitchFamily="34" charset="-122"/>
              </a:rPr>
              <a:t> </a:t>
            </a:r>
            <a:r>
              <a:rPr lang="en-US" altLang="zh-CN" sz="1600" dirty="0">
                <a:solidFill>
                  <a:schemeClr val="accent6"/>
                </a:solidFill>
                <a:latin typeface="微软雅黑" panose="020B0503020204020204" pitchFamily="34" charset="-122"/>
                <a:ea typeface="微软雅黑" panose="020B0503020204020204" pitchFamily="34" charset="-122"/>
              </a:rPr>
              <a:t>sites 112.39432 39.098934 site_nanshan01</a:t>
            </a:r>
          </a:p>
          <a:p>
            <a:r>
              <a:rPr lang="en-US" altLang="zh-CN" sz="1600" dirty="0">
                <a:solidFill>
                  <a:schemeClr val="accent6"/>
                </a:solidFill>
                <a:latin typeface="微软雅黑" panose="020B0503020204020204" pitchFamily="34" charset="-122"/>
                <a:ea typeface="微软雅黑" panose="020B0503020204020204" pitchFamily="34" charset="-122"/>
              </a:rPr>
              <a:t>(integer) 1</a:t>
            </a:r>
          </a:p>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geoadd</a:t>
            </a:r>
            <a:r>
              <a:rPr lang="en-US" altLang="zh-CN" sz="1600" dirty="0">
                <a:solidFill>
                  <a:srgbClr val="FF0000"/>
                </a:solidFill>
                <a:latin typeface="微软雅黑" panose="020B0503020204020204" pitchFamily="34" charset="-122"/>
                <a:ea typeface="微软雅黑" panose="020B0503020204020204" pitchFamily="34" charset="-122"/>
              </a:rPr>
              <a:t> </a:t>
            </a:r>
            <a:r>
              <a:rPr lang="en-US" altLang="zh-CN" sz="1600" dirty="0">
                <a:solidFill>
                  <a:schemeClr val="accent6"/>
                </a:solidFill>
                <a:latin typeface="微软雅黑" panose="020B0503020204020204" pitchFamily="34" charset="-122"/>
                <a:ea typeface="微软雅黑" panose="020B0503020204020204" pitchFamily="34" charset="-122"/>
              </a:rPr>
              <a:t>sites 112.39122 39.090938 site_nanshan02</a:t>
            </a:r>
          </a:p>
          <a:p>
            <a:r>
              <a:rPr lang="en-US" altLang="zh-CN" sz="1600" dirty="0">
                <a:solidFill>
                  <a:schemeClr val="accent6"/>
                </a:solidFill>
                <a:latin typeface="微软雅黑" panose="020B0503020204020204" pitchFamily="34" charset="-122"/>
                <a:ea typeface="微软雅黑" panose="020B0503020204020204" pitchFamily="34" charset="-122"/>
              </a:rPr>
              <a:t>(integer) 1</a:t>
            </a:r>
          </a:p>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geoadd</a:t>
            </a:r>
            <a:r>
              <a:rPr lang="en-US" altLang="zh-CN" sz="1600" dirty="0">
                <a:solidFill>
                  <a:srgbClr val="FF0000"/>
                </a:solidFill>
                <a:latin typeface="微软雅黑" panose="020B0503020204020204" pitchFamily="34" charset="-122"/>
                <a:ea typeface="微软雅黑" panose="020B0503020204020204" pitchFamily="34" charset="-122"/>
              </a:rPr>
              <a:t> </a:t>
            </a:r>
            <a:r>
              <a:rPr lang="en-US" altLang="zh-CN" sz="1600" dirty="0">
                <a:solidFill>
                  <a:schemeClr val="accent6"/>
                </a:solidFill>
                <a:latin typeface="微软雅黑" panose="020B0503020204020204" pitchFamily="34" charset="-122"/>
                <a:ea typeface="微软雅黑" panose="020B0503020204020204" pitchFamily="34" charset="-122"/>
              </a:rPr>
              <a:t>sites 112.39232 39.098882 site_nanshan03</a:t>
            </a:r>
          </a:p>
          <a:p>
            <a:r>
              <a:rPr lang="en-US" altLang="zh-CN" sz="1600" dirty="0">
                <a:solidFill>
                  <a:schemeClr val="accent6"/>
                </a:solidFill>
                <a:latin typeface="微软雅黑" panose="020B0503020204020204" pitchFamily="34" charset="-122"/>
                <a:ea typeface="微软雅黑" panose="020B0503020204020204" pitchFamily="34" charset="-122"/>
              </a:rPr>
              <a:t>(integer) 1</a:t>
            </a:r>
          </a:p>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geoadd</a:t>
            </a:r>
            <a:r>
              <a:rPr lang="en-US" altLang="zh-CN" sz="1600" dirty="0">
                <a:solidFill>
                  <a:srgbClr val="FF0000"/>
                </a:solidFill>
                <a:latin typeface="微软雅黑" panose="020B0503020204020204" pitchFamily="34" charset="-122"/>
                <a:ea typeface="微软雅黑" panose="020B0503020204020204" pitchFamily="34" charset="-122"/>
              </a:rPr>
              <a:t> </a:t>
            </a:r>
            <a:r>
              <a:rPr lang="en-US" altLang="zh-CN" sz="1600" dirty="0">
                <a:solidFill>
                  <a:schemeClr val="accent6"/>
                </a:solidFill>
                <a:latin typeface="微软雅黑" panose="020B0503020204020204" pitchFamily="34" charset="-122"/>
                <a:ea typeface="微软雅黑" panose="020B0503020204020204" pitchFamily="34" charset="-122"/>
              </a:rPr>
              <a:t>sites 112.39423 39.098786 site_nanshan04</a:t>
            </a:r>
          </a:p>
          <a:p>
            <a:r>
              <a:rPr lang="en-US" altLang="zh-CN" sz="1600" dirty="0">
                <a:solidFill>
                  <a:schemeClr val="accent6"/>
                </a:solidFill>
                <a:latin typeface="微软雅黑" panose="020B0503020204020204" pitchFamily="34" charset="-122"/>
                <a:ea typeface="微软雅黑" panose="020B0503020204020204" pitchFamily="34" charset="-122"/>
              </a:rPr>
              <a:t>(integer) 1</a:t>
            </a:r>
          </a:p>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geoadd</a:t>
            </a:r>
            <a:r>
              <a:rPr lang="en-US" altLang="zh-CN" sz="1600" dirty="0">
                <a:solidFill>
                  <a:srgbClr val="FF0000"/>
                </a:solidFill>
                <a:latin typeface="微软雅黑" panose="020B0503020204020204" pitchFamily="34" charset="-122"/>
                <a:ea typeface="微软雅黑" panose="020B0503020204020204" pitchFamily="34" charset="-122"/>
              </a:rPr>
              <a:t> </a:t>
            </a:r>
            <a:r>
              <a:rPr lang="en-US" altLang="zh-CN" sz="1600" dirty="0">
                <a:solidFill>
                  <a:schemeClr val="accent6"/>
                </a:solidFill>
                <a:latin typeface="微软雅黑" panose="020B0503020204020204" pitchFamily="34" charset="-122"/>
                <a:ea typeface="微软雅黑" panose="020B0503020204020204" pitchFamily="34" charset="-122"/>
              </a:rPr>
              <a:t>sites 112.39512 39.098799 site_nanshan05</a:t>
            </a:r>
          </a:p>
          <a:p>
            <a:r>
              <a:rPr lang="en-US" altLang="zh-CN" sz="1600" dirty="0">
                <a:solidFill>
                  <a:schemeClr val="accent6"/>
                </a:solidFill>
                <a:latin typeface="微软雅黑" panose="020B0503020204020204" pitchFamily="34" charset="-122"/>
                <a:ea typeface="微软雅黑" panose="020B0503020204020204" pitchFamily="34" charset="-122"/>
              </a:rPr>
              <a:t>(integer) 1</a:t>
            </a:r>
          </a:p>
          <a:p>
            <a:r>
              <a:rPr lang="en-US" altLang="zh-CN" sz="1600" dirty="0">
                <a:solidFill>
                  <a:schemeClr val="accent1"/>
                </a:solidFill>
                <a:latin typeface="微软雅黑" panose="020B0503020204020204" pitchFamily="34" charset="-122"/>
                <a:ea typeface="微软雅黑" panose="020B0503020204020204" pitchFamily="34" charset="-122"/>
              </a:rPr>
              <a:t># </a:t>
            </a:r>
            <a:r>
              <a:rPr lang="en-US" altLang="zh-CN" sz="1600" dirty="0" smtClean="0">
                <a:solidFill>
                  <a:schemeClr val="accent1"/>
                </a:solidFill>
                <a:latin typeface="微软雅黑" panose="020B0503020204020204" pitchFamily="34" charset="-122"/>
                <a:ea typeface="微软雅黑" panose="020B0503020204020204" pitchFamily="34" charset="-122"/>
              </a:rPr>
              <a:t>2</a:t>
            </a:r>
            <a:r>
              <a:rPr lang="zh-CN" altLang="en-US" sz="1600" dirty="0" smtClean="0">
                <a:solidFill>
                  <a:schemeClr val="accent1"/>
                </a:solidFill>
                <a:latin typeface="微软雅黑" panose="020B0503020204020204" pitchFamily="34" charset="-122"/>
                <a:ea typeface="微软雅黑" panose="020B0503020204020204" pitchFamily="34" charset="-122"/>
              </a:rPr>
              <a:t>、根据用户经纬度坐标，查找附近</a:t>
            </a:r>
            <a:r>
              <a:rPr lang="en-US" altLang="zh-CN" sz="1600" dirty="0" smtClean="0">
                <a:solidFill>
                  <a:schemeClr val="accent1"/>
                </a:solidFill>
                <a:latin typeface="微软雅黑" panose="020B0503020204020204" pitchFamily="34" charset="-122"/>
                <a:ea typeface="微软雅黑" panose="020B0503020204020204" pitchFamily="34" charset="-122"/>
              </a:rPr>
              <a:t>10</a:t>
            </a:r>
            <a:r>
              <a:rPr lang="zh-CN" altLang="en-US" sz="1600" dirty="0">
                <a:solidFill>
                  <a:schemeClr val="accent1"/>
                </a:solidFill>
                <a:latin typeface="微软雅黑" panose="020B0503020204020204" pitchFamily="34" charset="-122"/>
                <a:ea typeface="微软雅黑" panose="020B0503020204020204" pitchFamily="34" charset="-122"/>
              </a:rPr>
              <a:t>公</a:t>
            </a:r>
            <a:r>
              <a:rPr lang="zh-CN" altLang="en-US" sz="1600" dirty="0" smtClean="0">
                <a:solidFill>
                  <a:schemeClr val="accent1"/>
                </a:solidFill>
                <a:latin typeface="微软雅黑" panose="020B0503020204020204" pitchFamily="34" charset="-122"/>
                <a:ea typeface="微软雅黑" panose="020B0503020204020204" pitchFamily="34" charset="-122"/>
              </a:rPr>
              <a:t>里内最近的</a:t>
            </a:r>
            <a:r>
              <a:rPr lang="en-US" altLang="zh-CN" sz="1600" dirty="0" smtClean="0">
                <a:solidFill>
                  <a:schemeClr val="accent1"/>
                </a:solidFill>
                <a:latin typeface="微软雅黑" panose="020B0503020204020204" pitchFamily="34" charset="-122"/>
                <a:ea typeface="微软雅黑" panose="020B0503020204020204" pitchFamily="34" charset="-122"/>
              </a:rPr>
              <a:t>3</a:t>
            </a:r>
            <a:r>
              <a:rPr lang="zh-CN" altLang="en-US" sz="1600" dirty="0" smtClean="0">
                <a:solidFill>
                  <a:schemeClr val="accent1"/>
                </a:solidFill>
                <a:latin typeface="微软雅黑" panose="020B0503020204020204" pitchFamily="34" charset="-122"/>
                <a:ea typeface="微软雅黑" panose="020B0503020204020204" pitchFamily="34" charset="-122"/>
              </a:rPr>
              <a:t>个网点，</a:t>
            </a:r>
            <a:endParaRPr lang="zh-CN" altLang="en-US" sz="1600" dirty="0">
              <a:solidFill>
                <a:schemeClr val="accent1"/>
              </a:solidFill>
              <a:latin typeface="微软雅黑" panose="020B0503020204020204" pitchFamily="34" charset="-122"/>
              <a:ea typeface="微软雅黑" panose="020B0503020204020204" pitchFamily="34" charset="-122"/>
            </a:endParaRPr>
          </a:p>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georadius</a:t>
            </a:r>
            <a:r>
              <a:rPr lang="en-US" altLang="zh-CN" sz="1600" dirty="0" smtClean="0">
                <a:solidFill>
                  <a:srgbClr val="FF0000"/>
                </a:solidFill>
                <a:latin typeface="微软雅黑" panose="020B0503020204020204" pitchFamily="34" charset="-122"/>
                <a:ea typeface="微软雅黑" panose="020B0503020204020204" pitchFamily="34" charset="-122"/>
              </a:rPr>
              <a:t> </a:t>
            </a:r>
            <a:r>
              <a:rPr lang="en-US" altLang="zh-CN" sz="1600" dirty="0" smtClean="0">
                <a:solidFill>
                  <a:schemeClr val="accent6"/>
                </a:solidFill>
                <a:latin typeface="微软雅黑" panose="020B0503020204020204" pitchFamily="34" charset="-122"/>
                <a:ea typeface="微软雅黑" panose="020B0503020204020204" pitchFamily="34" charset="-122"/>
              </a:rPr>
              <a:t>sites 112.39128 39.090933 </a:t>
            </a:r>
            <a:r>
              <a:rPr lang="en-US" altLang="zh-CN" sz="1600" dirty="0">
                <a:solidFill>
                  <a:schemeClr val="accent6"/>
                </a:solidFill>
                <a:latin typeface="微软雅黑" panose="020B0503020204020204" pitchFamily="34" charset="-122"/>
                <a:ea typeface="微软雅黑" panose="020B0503020204020204" pitchFamily="34" charset="-122"/>
              </a:rPr>
              <a:t>10 </a:t>
            </a:r>
            <a:r>
              <a:rPr lang="en-US" altLang="zh-CN" sz="1600" b="1" dirty="0">
                <a:solidFill>
                  <a:srgbClr val="FFD343"/>
                </a:solidFill>
                <a:latin typeface="微软雅黑" panose="020B0503020204020204" pitchFamily="34" charset="-122"/>
                <a:ea typeface="微软雅黑" panose="020B0503020204020204" pitchFamily="34" charset="-122"/>
              </a:rPr>
              <a:t>km</a:t>
            </a:r>
            <a:r>
              <a:rPr lang="en-US" altLang="zh-CN" sz="1600" dirty="0" smtClean="0">
                <a:solidFill>
                  <a:schemeClr val="accent6"/>
                </a:solidFill>
                <a:latin typeface="微软雅黑" panose="020B0503020204020204" pitchFamily="34" charset="-122"/>
                <a:ea typeface="微软雅黑" panose="020B0503020204020204" pitchFamily="34" charset="-122"/>
              </a:rPr>
              <a:t> </a:t>
            </a:r>
            <a:r>
              <a:rPr lang="en-US" altLang="zh-CN" sz="1600" b="1" dirty="0">
                <a:solidFill>
                  <a:srgbClr val="FFD343"/>
                </a:solidFill>
                <a:latin typeface="微软雅黑" panose="020B0503020204020204" pitchFamily="34" charset="-122"/>
                <a:ea typeface="微软雅黑" panose="020B0503020204020204" pitchFamily="34" charset="-122"/>
              </a:rPr>
              <a:t>count</a:t>
            </a:r>
            <a:r>
              <a:rPr lang="en-US" altLang="zh-CN" sz="1600" dirty="0" smtClean="0">
                <a:solidFill>
                  <a:schemeClr val="accent6"/>
                </a:solidFill>
                <a:latin typeface="微软雅黑" panose="020B0503020204020204" pitchFamily="34" charset="-122"/>
                <a:ea typeface="微软雅黑" panose="020B0503020204020204" pitchFamily="34" charset="-122"/>
              </a:rPr>
              <a:t> 3 </a:t>
            </a:r>
            <a:endParaRPr lang="en-US" altLang="zh-CN" sz="1600" dirty="0">
              <a:solidFill>
                <a:schemeClr val="accent6"/>
              </a:solidFill>
              <a:latin typeface="微软雅黑" panose="020B0503020204020204" pitchFamily="34" charset="-122"/>
              <a:ea typeface="微软雅黑" panose="020B0503020204020204" pitchFamily="34" charset="-122"/>
            </a:endParaRPr>
          </a:p>
          <a:p>
            <a:r>
              <a:rPr lang="en-US" altLang="zh-CN" sz="1600" dirty="0">
                <a:solidFill>
                  <a:schemeClr val="accent6"/>
                </a:solidFill>
                <a:latin typeface="微软雅黑" panose="020B0503020204020204" pitchFamily="34" charset="-122"/>
                <a:ea typeface="微软雅黑" panose="020B0503020204020204" pitchFamily="34" charset="-122"/>
              </a:rPr>
              <a:t>1) 1  site_nanshan01</a:t>
            </a:r>
          </a:p>
          <a:p>
            <a:r>
              <a:rPr lang="en-US" altLang="zh-CN" sz="1600" dirty="0">
                <a:solidFill>
                  <a:schemeClr val="accent6"/>
                </a:solidFill>
                <a:latin typeface="微软雅黑" panose="020B0503020204020204" pitchFamily="34" charset="-122"/>
                <a:ea typeface="微软雅黑" panose="020B0503020204020204" pitchFamily="34" charset="-122"/>
              </a:rPr>
              <a:t>2) 2  site_nanshan05</a:t>
            </a:r>
          </a:p>
          <a:p>
            <a:r>
              <a:rPr lang="en-US" altLang="zh-CN" sz="1600" dirty="0">
                <a:solidFill>
                  <a:schemeClr val="accent6"/>
                </a:solidFill>
                <a:latin typeface="微软雅黑" panose="020B0503020204020204" pitchFamily="34" charset="-122"/>
                <a:ea typeface="微软雅黑" panose="020B0503020204020204" pitchFamily="34" charset="-122"/>
              </a:rPr>
              <a:t>3) 3  site_nanshan03</a:t>
            </a:r>
            <a:endParaRPr lang="zh-CN" altLang="en-US" sz="1600" dirty="0">
              <a:solidFill>
                <a:schemeClr val="accent6"/>
              </a:solidFill>
              <a:latin typeface="微软雅黑" panose="020B0503020204020204" pitchFamily="34" charset="-122"/>
              <a:ea typeface="微软雅黑" panose="020B0503020204020204" pitchFamily="34" charset="-122"/>
            </a:endParaRPr>
          </a:p>
        </p:txBody>
      </p:sp>
      <p:sp>
        <p:nvSpPr>
          <p:cNvPr id="10" name="TextBox 9"/>
          <p:cNvSpPr txBox="1"/>
          <p:nvPr/>
        </p:nvSpPr>
        <p:spPr>
          <a:xfrm>
            <a:off x="704850" y="605109"/>
            <a:ext cx="8883650" cy="523220"/>
          </a:xfrm>
          <a:prstGeom prst="rect">
            <a:avLst/>
          </a:prstGeom>
          <a:noFill/>
        </p:spPr>
        <p:txBody>
          <a:bodyPr wrap="square" rtlCol="0">
            <a:spAutoFit/>
          </a:bodyPr>
          <a:lstStyle/>
          <a:p>
            <a:pPr>
              <a:defRPr/>
            </a:pPr>
            <a:r>
              <a:rPr lang="en-US" altLang="zh-CN"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3.3.2 </a:t>
            </a:r>
            <a:r>
              <a:rPr lang="zh-CN" altLang="en-US"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如何使用</a:t>
            </a:r>
            <a:r>
              <a:rPr lang="en-US" altLang="zh-CN"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GEO</a:t>
            </a:r>
            <a:r>
              <a:rPr lang="zh-CN" altLang="en-US"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实现查找附近的网点</a:t>
            </a:r>
          </a:p>
        </p:txBody>
      </p:sp>
      <p:sp>
        <p:nvSpPr>
          <p:cNvPr id="16" name="矩形 15">
            <a:extLst>
              <a:ext uri="{FF2B5EF4-FFF2-40B4-BE49-F238E27FC236}">
                <a16:creationId xmlns:a16="http://schemas.microsoft.com/office/drawing/2014/main" xmlns="" id="{74C59758-12AB-44A5-92FA-DB52904027AE}"/>
              </a:ext>
            </a:extLst>
          </p:cNvPr>
          <p:cNvSpPr/>
          <p:nvPr/>
        </p:nvSpPr>
        <p:spPr>
          <a:xfrm>
            <a:off x="6375749" y="1316483"/>
            <a:ext cx="5380754" cy="4031873"/>
          </a:xfrm>
          <a:prstGeom prst="rect">
            <a:avLst/>
          </a:prstGeom>
          <a:ln>
            <a:solidFill>
              <a:schemeClr val="bg1"/>
            </a:solidFill>
          </a:ln>
        </p:spPr>
        <p:txBody>
          <a:bodyPr wrap="square">
            <a:spAutoFit/>
          </a:bodyPr>
          <a:lstStyle/>
          <a:p>
            <a:r>
              <a:rPr lang="en-US" altLang="zh-CN" sz="1600" dirty="0" smtClean="0">
                <a:solidFill>
                  <a:schemeClr val="accent1"/>
                </a:solidFill>
                <a:latin typeface="微软雅黑" panose="020B0503020204020204" pitchFamily="34" charset="-122"/>
                <a:ea typeface="微软雅黑" panose="020B0503020204020204" pitchFamily="34" charset="-122"/>
              </a:rPr>
              <a:t># </a:t>
            </a:r>
            <a:r>
              <a:rPr lang="zh-CN" altLang="en-US" sz="1600" dirty="0" smtClean="0">
                <a:solidFill>
                  <a:schemeClr val="accent1"/>
                </a:solidFill>
                <a:latin typeface="微软雅黑" panose="020B0503020204020204" pitchFamily="34" charset="-122"/>
                <a:ea typeface="微软雅黑" panose="020B0503020204020204" pitchFamily="34" charset="-122"/>
              </a:rPr>
              <a:t>其它命令</a:t>
            </a:r>
            <a:endParaRPr lang="en-US" altLang="zh-CN" sz="1600" dirty="0" smtClean="0">
              <a:solidFill>
                <a:schemeClr val="accent1"/>
              </a:solidFill>
              <a:latin typeface="微软雅黑" panose="020B0503020204020204" pitchFamily="34" charset="-122"/>
              <a:ea typeface="微软雅黑" panose="020B0503020204020204" pitchFamily="34" charset="-122"/>
            </a:endParaRPr>
          </a:p>
          <a:p>
            <a:r>
              <a:rPr lang="en-US" altLang="zh-CN" sz="1600" dirty="0" smtClean="0">
                <a:solidFill>
                  <a:schemeClr val="accent1"/>
                </a:solidFill>
                <a:latin typeface="微软雅黑" panose="020B0503020204020204" pitchFamily="34" charset="-122"/>
                <a:ea typeface="微软雅黑" panose="020B0503020204020204" pitchFamily="34" charset="-122"/>
              </a:rPr>
              <a:t># </a:t>
            </a:r>
            <a:r>
              <a:rPr lang="zh-CN" altLang="en-US" sz="1600" dirty="0">
                <a:solidFill>
                  <a:schemeClr val="accent1"/>
                </a:solidFill>
                <a:latin typeface="微软雅黑" panose="020B0503020204020204" pitchFamily="34" charset="-122"/>
                <a:ea typeface="微软雅黑" panose="020B0503020204020204" pitchFamily="34" charset="-122"/>
              </a:rPr>
              <a:t>范围</a:t>
            </a:r>
            <a:r>
              <a:rPr lang="en-US" altLang="zh-CN" sz="1600" dirty="0">
                <a:solidFill>
                  <a:schemeClr val="accent1"/>
                </a:solidFill>
                <a:latin typeface="微软雅黑" panose="020B0503020204020204" pitchFamily="34" charset="-122"/>
                <a:ea typeface="微软雅黑" panose="020B0503020204020204" pitchFamily="34" charset="-122"/>
              </a:rPr>
              <a:t>10</a:t>
            </a:r>
            <a:r>
              <a:rPr lang="zh-CN" altLang="en-US" sz="1600" dirty="0">
                <a:solidFill>
                  <a:schemeClr val="accent1"/>
                </a:solidFill>
                <a:latin typeface="微软雅黑" panose="020B0503020204020204" pitchFamily="34" charset="-122"/>
                <a:ea typeface="微软雅黑" panose="020B0503020204020204" pitchFamily="34" charset="-122"/>
              </a:rPr>
              <a:t>公里以内最</a:t>
            </a:r>
            <a:r>
              <a:rPr lang="zh-CN" altLang="en-US" sz="1600" dirty="0" smtClean="0">
                <a:solidFill>
                  <a:schemeClr val="accent1"/>
                </a:solidFill>
                <a:latin typeface="微软雅黑" panose="020B0503020204020204" pitchFamily="34" charset="-122"/>
                <a:ea typeface="微软雅黑" panose="020B0503020204020204" pitchFamily="34" charset="-122"/>
              </a:rPr>
              <a:t>多</a:t>
            </a:r>
            <a:r>
              <a:rPr lang="en-US" altLang="zh-CN" sz="1600" dirty="0" smtClean="0">
                <a:solidFill>
                  <a:schemeClr val="accent1"/>
                </a:solidFill>
                <a:latin typeface="微软雅黑" panose="020B0503020204020204" pitchFamily="34" charset="-122"/>
                <a:ea typeface="微软雅黑" panose="020B0503020204020204" pitchFamily="34" charset="-122"/>
              </a:rPr>
              <a:t>3</a:t>
            </a:r>
            <a:r>
              <a:rPr lang="zh-CN" altLang="en-US" sz="1600" dirty="0" smtClean="0">
                <a:solidFill>
                  <a:schemeClr val="accent1"/>
                </a:solidFill>
                <a:latin typeface="微软雅黑" panose="020B0503020204020204" pitchFamily="34" charset="-122"/>
                <a:ea typeface="微软雅黑" panose="020B0503020204020204" pitchFamily="34" charset="-122"/>
              </a:rPr>
              <a:t>个</a:t>
            </a:r>
            <a:r>
              <a:rPr lang="zh-CN" altLang="en-US" sz="1600" dirty="0">
                <a:solidFill>
                  <a:schemeClr val="accent1"/>
                </a:solidFill>
                <a:latin typeface="微软雅黑" panose="020B0503020204020204" pitchFamily="34" charset="-122"/>
                <a:ea typeface="微软雅黑" panose="020B0503020204020204" pitchFamily="34" charset="-122"/>
              </a:rPr>
              <a:t>元素按距离正序排序</a:t>
            </a:r>
            <a:r>
              <a:rPr lang="zh-CN" altLang="en-US" sz="1600" dirty="0" smtClean="0">
                <a:solidFill>
                  <a:schemeClr val="accent1"/>
                </a:solidFill>
                <a:latin typeface="微软雅黑" panose="020B0503020204020204" pitchFamily="34" charset="-122"/>
                <a:ea typeface="微软雅黑" panose="020B0503020204020204" pitchFamily="34" charset="-122"/>
              </a:rPr>
              <a:t>（</a:t>
            </a:r>
            <a:r>
              <a:rPr lang="zh-CN" altLang="en-US" sz="1600" dirty="0">
                <a:solidFill>
                  <a:schemeClr val="accent1"/>
                </a:solidFill>
                <a:latin typeface="微软雅黑" panose="020B0503020204020204" pitchFamily="34" charset="-122"/>
                <a:ea typeface="微软雅黑" panose="020B0503020204020204" pitchFamily="34" charset="-122"/>
              </a:rPr>
              <a:t>其</a:t>
            </a:r>
            <a:r>
              <a:rPr lang="zh-CN" altLang="en-US" sz="1600" dirty="0" smtClean="0">
                <a:solidFill>
                  <a:schemeClr val="accent1"/>
                </a:solidFill>
                <a:latin typeface="微软雅黑" panose="020B0503020204020204" pitchFamily="34" charset="-122"/>
                <a:ea typeface="微软雅黑" panose="020B0503020204020204" pitchFamily="34" charset="-122"/>
              </a:rPr>
              <a:t>中</a:t>
            </a:r>
            <a:r>
              <a:rPr lang="en-US" altLang="zh-CN" sz="1600" dirty="0" smtClean="0">
                <a:solidFill>
                  <a:schemeClr val="accent1"/>
                </a:solidFill>
                <a:latin typeface="微软雅黑" panose="020B0503020204020204" pitchFamily="34" charset="-122"/>
                <a:ea typeface="微软雅黑" panose="020B0503020204020204" pitchFamily="34" charset="-122"/>
              </a:rPr>
              <a:t>3</a:t>
            </a:r>
            <a:r>
              <a:rPr lang="zh-CN" altLang="en-US" sz="1600" dirty="0" smtClean="0">
                <a:solidFill>
                  <a:schemeClr val="accent1"/>
                </a:solidFill>
                <a:latin typeface="微软雅黑" panose="020B0503020204020204" pitchFamily="34" charset="-122"/>
                <a:ea typeface="微软雅黑" panose="020B0503020204020204" pitchFamily="34" charset="-122"/>
              </a:rPr>
              <a:t>包括自身）</a:t>
            </a:r>
            <a:endParaRPr lang="zh-CN" altLang="en-US" sz="1600" dirty="0">
              <a:solidFill>
                <a:schemeClr val="accent1"/>
              </a:solidFill>
              <a:latin typeface="微软雅黑" panose="020B0503020204020204" pitchFamily="34" charset="-122"/>
              <a:ea typeface="微软雅黑" panose="020B0503020204020204" pitchFamily="34" charset="-122"/>
            </a:endParaRPr>
          </a:p>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georadiusbymember</a:t>
            </a:r>
            <a:r>
              <a:rPr lang="en-US" altLang="zh-CN" sz="1600" dirty="0">
                <a:solidFill>
                  <a:srgbClr val="FF0000"/>
                </a:solidFill>
                <a:latin typeface="微软雅黑" panose="020B0503020204020204" pitchFamily="34" charset="-122"/>
                <a:ea typeface="微软雅黑" panose="020B0503020204020204" pitchFamily="34" charset="-122"/>
              </a:rPr>
              <a:t> </a:t>
            </a:r>
            <a:r>
              <a:rPr lang="en-US" altLang="zh-CN" sz="1600" dirty="0">
                <a:solidFill>
                  <a:schemeClr val="accent6"/>
                </a:solidFill>
                <a:latin typeface="微软雅黑" panose="020B0503020204020204" pitchFamily="34" charset="-122"/>
                <a:ea typeface="微软雅黑" panose="020B0503020204020204" pitchFamily="34" charset="-122"/>
              </a:rPr>
              <a:t>sites  site_nanshan01 10 </a:t>
            </a:r>
            <a:r>
              <a:rPr lang="en-US" altLang="zh-CN" sz="1600" b="1" dirty="0">
                <a:solidFill>
                  <a:srgbClr val="FFD343"/>
                </a:solidFill>
                <a:latin typeface="微软雅黑" panose="020B0503020204020204" pitchFamily="34" charset="-122"/>
                <a:ea typeface="微软雅黑" panose="020B0503020204020204" pitchFamily="34" charset="-122"/>
              </a:rPr>
              <a:t>km</a:t>
            </a:r>
            <a:r>
              <a:rPr lang="en-US" altLang="zh-CN" sz="1600" dirty="0">
                <a:solidFill>
                  <a:schemeClr val="accent6"/>
                </a:solidFill>
                <a:latin typeface="微软雅黑" panose="020B0503020204020204" pitchFamily="34" charset="-122"/>
                <a:ea typeface="微软雅黑" panose="020B0503020204020204" pitchFamily="34" charset="-122"/>
              </a:rPr>
              <a:t> </a:t>
            </a:r>
            <a:r>
              <a:rPr lang="en-US" altLang="zh-CN" sz="1600" b="1" dirty="0">
                <a:solidFill>
                  <a:srgbClr val="FFD343"/>
                </a:solidFill>
                <a:latin typeface="微软雅黑" panose="020B0503020204020204" pitchFamily="34" charset="-122"/>
                <a:ea typeface="微软雅黑" panose="020B0503020204020204" pitchFamily="34" charset="-122"/>
              </a:rPr>
              <a:t>count</a:t>
            </a:r>
            <a:r>
              <a:rPr lang="en-US" altLang="zh-CN" sz="1600" dirty="0">
                <a:solidFill>
                  <a:schemeClr val="accent6"/>
                </a:solidFill>
                <a:latin typeface="微软雅黑" panose="020B0503020204020204" pitchFamily="34" charset="-122"/>
                <a:ea typeface="微软雅黑" panose="020B0503020204020204" pitchFamily="34" charset="-122"/>
              </a:rPr>
              <a:t> 3</a:t>
            </a:r>
          </a:p>
          <a:p>
            <a:r>
              <a:rPr lang="en-US" altLang="zh-CN" sz="1600" dirty="0">
                <a:solidFill>
                  <a:schemeClr val="accent6"/>
                </a:solidFill>
                <a:latin typeface="微软雅黑" panose="020B0503020204020204" pitchFamily="34" charset="-122"/>
                <a:ea typeface="微软雅黑" panose="020B0503020204020204" pitchFamily="34" charset="-122"/>
              </a:rPr>
              <a:t>1) 1  site_nanshan01</a:t>
            </a:r>
          </a:p>
          <a:p>
            <a:r>
              <a:rPr lang="en-US" altLang="zh-CN" sz="1600" dirty="0">
                <a:solidFill>
                  <a:schemeClr val="accent6"/>
                </a:solidFill>
                <a:latin typeface="微软雅黑" panose="020B0503020204020204" pitchFamily="34" charset="-122"/>
                <a:ea typeface="微软雅黑" panose="020B0503020204020204" pitchFamily="34" charset="-122"/>
              </a:rPr>
              <a:t>2) 2  site_nanshan05</a:t>
            </a:r>
          </a:p>
          <a:p>
            <a:r>
              <a:rPr lang="en-US" altLang="zh-CN" sz="1600" dirty="0">
                <a:solidFill>
                  <a:schemeClr val="accent6"/>
                </a:solidFill>
                <a:latin typeface="微软雅黑" panose="020B0503020204020204" pitchFamily="34" charset="-122"/>
                <a:ea typeface="微软雅黑" panose="020B0503020204020204" pitchFamily="34" charset="-122"/>
              </a:rPr>
              <a:t>3) 3  </a:t>
            </a:r>
            <a:r>
              <a:rPr lang="en-US" altLang="zh-CN" sz="1600" dirty="0" smtClean="0">
                <a:solidFill>
                  <a:schemeClr val="accent6"/>
                </a:solidFill>
                <a:latin typeface="微软雅黑" panose="020B0503020204020204" pitchFamily="34" charset="-122"/>
                <a:ea typeface="微软雅黑" panose="020B0503020204020204" pitchFamily="34" charset="-122"/>
              </a:rPr>
              <a:t>site_nanshan03</a:t>
            </a:r>
            <a:endParaRPr lang="en-US" altLang="zh-CN" sz="1600" dirty="0" smtClean="0">
              <a:solidFill>
                <a:schemeClr val="accent1"/>
              </a:solidFill>
              <a:latin typeface="微软雅黑" panose="020B0503020204020204" pitchFamily="34" charset="-122"/>
              <a:ea typeface="微软雅黑" panose="020B0503020204020204" pitchFamily="34" charset="-122"/>
            </a:endParaRPr>
          </a:p>
          <a:p>
            <a:r>
              <a:rPr lang="en-US" altLang="zh-CN" sz="1600" dirty="0" smtClean="0">
                <a:solidFill>
                  <a:schemeClr val="accent1"/>
                </a:solidFill>
                <a:latin typeface="微软雅黑" panose="020B0503020204020204" pitchFamily="34" charset="-122"/>
                <a:ea typeface="微软雅黑" panose="020B0503020204020204" pitchFamily="34" charset="-122"/>
              </a:rPr>
              <a:t># </a:t>
            </a:r>
            <a:r>
              <a:rPr lang="zh-CN" altLang="en-US" sz="1600" dirty="0">
                <a:solidFill>
                  <a:schemeClr val="accent1"/>
                </a:solidFill>
                <a:latin typeface="微软雅黑" panose="020B0503020204020204" pitchFamily="34" charset="-122"/>
                <a:ea typeface="微软雅黑" panose="020B0503020204020204" pitchFamily="34" charset="-122"/>
              </a:rPr>
              <a:t>获取网点</a:t>
            </a:r>
            <a:r>
              <a:rPr lang="en-US" altLang="zh-CN" sz="1600" dirty="0">
                <a:solidFill>
                  <a:schemeClr val="accent1"/>
                </a:solidFill>
                <a:latin typeface="微软雅黑" panose="020B0503020204020204" pitchFamily="34" charset="-122"/>
                <a:ea typeface="微软雅黑" panose="020B0503020204020204" pitchFamily="34" charset="-122"/>
              </a:rPr>
              <a:t>site_nanshan03</a:t>
            </a:r>
            <a:r>
              <a:rPr lang="zh-CN" altLang="en-US" sz="1600" dirty="0">
                <a:solidFill>
                  <a:schemeClr val="accent1"/>
                </a:solidFill>
                <a:latin typeface="微软雅黑" panose="020B0503020204020204" pitchFamily="34" charset="-122"/>
                <a:ea typeface="微软雅黑" panose="020B0503020204020204" pitchFamily="34" charset="-122"/>
              </a:rPr>
              <a:t>的经纬度坐标</a:t>
            </a:r>
          </a:p>
          <a:p>
            <a:r>
              <a:rPr lang="en-US" altLang="zh-CN" sz="1600" dirty="0" smtClean="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geopos</a:t>
            </a:r>
            <a:r>
              <a:rPr lang="en-US" altLang="zh-CN" sz="1600" dirty="0">
                <a:solidFill>
                  <a:srgbClr val="FF0000"/>
                </a:solidFill>
                <a:latin typeface="微软雅黑" panose="020B0503020204020204" pitchFamily="34" charset="-122"/>
                <a:ea typeface="微软雅黑" panose="020B0503020204020204" pitchFamily="34" charset="-122"/>
              </a:rPr>
              <a:t> </a:t>
            </a:r>
            <a:r>
              <a:rPr lang="en-US" altLang="zh-CN" sz="1600" dirty="0">
                <a:solidFill>
                  <a:schemeClr val="accent6"/>
                </a:solidFill>
                <a:latin typeface="微软雅黑" panose="020B0503020204020204" pitchFamily="34" charset="-122"/>
                <a:ea typeface="微软雅黑" panose="020B0503020204020204" pitchFamily="34" charset="-122"/>
              </a:rPr>
              <a:t>sites site_nanshan03</a:t>
            </a:r>
          </a:p>
          <a:p>
            <a:r>
              <a:rPr lang="en-US" altLang="zh-CN" sz="1600" dirty="0">
                <a:solidFill>
                  <a:schemeClr val="accent6"/>
                </a:solidFill>
                <a:latin typeface="微软雅黑" panose="020B0503020204020204" pitchFamily="34" charset="-122"/>
                <a:ea typeface="微软雅黑" panose="020B0503020204020204" pitchFamily="34" charset="-122"/>
              </a:rPr>
              <a:t>1) 1  112.39232</a:t>
            </a:r>
          </a:p>
          <a:p>
            <a:r>
              <a:rPr lang="en-US" altLang="zh-CN" sz="1600" dirty="0">
                <a:solidFill>
                  <a:schemeClr val="accent6"/>
                </a:solidFill>
                <a:latin typeface="微软雅黑" panose="020B0503020204020204" pitchFamily="34" charset="-122"/>
                <a:ea typeface="微软雅黑" panose="020B0503020204020204" pitchFamily="34" charset="-122"/>
              </a:rPr>
              <a:t>2) 2  39.098882</a:t>
            </a:r>
          </a:p>
          <a:p>
            <a:r>
              <a:rPr lang="en-US" altLang="zh-CN" sz="1600" dirty="0">
                <a:solidFill>
                  <a:schemeClr val="accent6"/>
                </a:solidFill>
                <a:latin typeface="微软雅黑" panose="020B0503020204020204" pitchFamily="34" charset="-122"/>
                <a:ea typeface="微软雅黑" panose="020B0503020204020204" pitchFamily="34" charset="-122"/>
              </a:rPr>
              <a:t># </a:t>
            </a:r>
            <a:r>
              <a:rPr lang="zh-CN" altLang="en-US" sz="1600" dirty="0">
                <a:solidFill>
                  <a:schemeClr val="accent6"/>
                </a:solidFill>
                <a:latin typeface="微软雅黑" panose="020B0503020204020204" pitchFamily="34" charset="-122"/>
                <a:ea typeface="微软雅黑" panose="020B0503020204020204" pitchFamily="34" charset="-122"/>
              </a:rPr>
              <a:t>获取网点</a:t>
            </a:r>
            <a:r>
              <a:rPr lang="en-US" altLang="zh-CN" sz="1600" dirty="0">
                <a:solidFill>
                  <a:schemeClr val="accent6"/>
                </a:solidFill>
                <a:latin typeface="微软雅黑" panose="020B0503020204020204" pitchFamily="34" charset="-122"/>
                <a:ea typeface="微软雅黑" panose="020B0503020204020204" pitchFamily="34" charset="-122"/>
              </a:rPr>
              <a:t>site_nanshan02 </a:t>
            </a:r>
            <a:r>
              <a:rPr lang="zh-CN" altLang="en-US" sz="1600" dirty="0">
                <a:solidFill>
                  <a:schemeClr val="accent6"/>
                </a:solidFill>
                <a:latin typeface="微软雅黑" panose="020B0503020204020204" pitchFamily="34" charset="-122"/>
                <a:ea typeface="微软雅黑" panose="020B0503020204020204" pitchFamily="34" charset="-122"/>
              </a:rPr>
              <a:t>和</a:t>
            </a:r>
            <a:r>
              <a:rPr lang="en-US" altLang="zh-CN" sz="1600" dirty="0">
                <a:solidFill>
                  <a:schemeClr val="accent6"/>
                </a:solidFill>
                <a:latin typeface="微软雅黑" panose="020B0503020204020204" pitchFamily="34" charset="-122"/>
                <a:ea typeface="微软雅黑" panose="020B0503020204020204" pitchFamily="34" charset="-122"/>
              </a:rPr>
              <a:t>site_nanshan04</a:t>
            </a:r>
            <a:r>
              <a:rPr lang="zh-CN" altLang="en-US" sz="1600" dirty="0">
                <a:solidFill>
                  <a:schemeClr val="accent6"/>
                </a:solidFill>
                <a:latin typeface="微软雅黑" panose="020B0503020204020204" pitchFamily="34" charset="-122"/>
                <a:ea typeface="微软雅黑" panose="020B0503020204020204" pitchFamily="34" charset="-122"/>
              </a:rPr>
              <a:t>的距离，单位</a:t>
            </a:r>
            <a:r>
              <a:rPr lang="en-US" altLang="zh-CN" sz="1600" dirty="0">
                <a:solidFill>
                  <a:schemeClr val="accent6"/>
                </a:solidFill>
                <a:latin typeface="微软雅黑" panose="020B0503020204020204" pitchFamily="34" charset="-122"/>
                <a:ea typeface="微软雅黑" panose="020B0503020204020204" pitchFamily="34" charset="-122"/>
              </a:rPr>
              <a:t>:km</a:t>
            </a:r>
          </a:p>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geodist</a:t>
            </a:r>
            <a:r>
              <a:rPr lang="en-US" altLang="zh-CN" sz="1600" dirty="0">
                <a:solidFill>
                  <a:srgbClr val="FF0000"/>
                </a:solidFill>
                <a:latin typeface="微软雅黑" panose="020B0503020204020204" pitchFamily="34" charset="-122"/>
                <a:ea typeface="微软雅黑" panose="020B0503020204020204" pitchFamily="34" charset="-122"/>
              </a:rPr>
              <a:t> </a:t>
            </a:r>
            <a:r>
              <a:rPr lang="en-US" altLang="zh-CN" sz="1600" dirty="0">
                <a:solidFill>
                  <a:schemeClr val="accent6"/>
                </a:solidFill>
                <a:latin typeface="微软雅黑" panose="020B0503020204020204" pitchFamily="34" charset="-122"/>
                <a:ea typeface="微软雅黑" panose="020B0503020204020204" pitchFamily="34" charset="-122"/>
              </a:rPr>
              <a:t>sites  site_nanshan02 site_nanshan04 </a:t>
            </a:r>
            <a:r>
              <a:rPr lang="en-US" altLang="zh-CN" sz="1600" b="1" dirty="0">
                <a:solidFill>
                  <a:srgbClr val="FFD343"/>
                </a:solidFill>
                <a:latin typeface="微软雅黑" panose="020B0503020204020204" pitchFamily="34" charset="-122"/>
                <a:ea typeface="微软雅黑" panose="020B0503020204020204" pitchFamily="34" charset="-122"/>
              </a:rPr>
              <a:t>km</a:t>
            </a:r>
          </a:p>
          <a:p>
            <a:r>
              <a:rPr lang="en-US" altLang="zh-CN" sz="1600" dirty="0">
                <a:solidFill>
                  <a:schemeClr val="accent6"/>
                </a:solidFill>
                <a:latin typeface="微软雅黑" panose="020B0503020204020204" pitchFamily="34" charset="-122"/>
                <a:ea typeface="微软雅黑" panose="020B0503020204020204" pitchFamily="34" charset="-122"/>
              </a:rPr>
              <a:t>8.0193</a:t>
            </a:r>
            <a:endParaRPr lang="zh-CN" altLang="en-US" sz="1600" dirty="0">
              <a:solidFill>
                <a:schemeClr val="accent6"/>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6375750" y="5549170"/>
            <a:ext cx="5380753" cy="744435"/>
          </a:xfrm>
          <a:prstGeom prst="rect">
            <a:avLst/>
          </a:prstGeom>
          <a:noFill/>
        </p:spPr>
        <p:txBody>
          <a:bodyPr wrap="square" rtlCol="0">
            <a:spAutoFit/>
          </a:bodyPr>
          <a:lstStyle/>
          <a:p>
            <a:pPr algn="l">
              <a:lnSpc>
                <a:spcPct val="140000"/>
              </a:lnSpc>
            </a:pPr>
            <a:r>
              <a:rPr lang="zh-CN" altLang="en-US" sz="1600" i="1" dirty="0">
                <a:solidFill>
                  <a:schemeClr val="bg1"/>
                </a:solidFill>
                <a:latin typeface="微软雅黑" panose="020B0503020204020204" pitchFamily="34" charset="-122"/>
                <a:ea typeface="微软雅黑" panose="020B0503020204020204" pitchFamily="34" charset="-122"/>
              </a:rPr>
              <a:t>说</a:t>
            </a:r>
            <a:r>
              <a:rPr lang="zh-CN" altLang="en-US" sz="1600" i="1" dirty="0" smtClean="0">
                <a:solidFill>
                  <a:schemeClr val="bg1"/>
                </a:solidFill>
                <a:latin typeface="微软雅黑" panose="020B0503020204020204" pitchFamily="34" charset="-122"/>
                <a:ea typeface="微软雅黑" panose="020B0503020204020204" pitchFamily="34" charset="-122"/>
              </a:rPr>
              <a:t>明：可以使用</a:t>
            </a:r>
            <a:r>
              <a:rPr lang="zh-CN" altLang="en-US" sz="1600" i="1" dirty="0">
                <a:solidFill>
                  <a:schemeClr val="bg1"/>
                </a:solidFill>
                <a:latin typeface="微软雅黑" panose="020B0503020204020204" pitchFamily="34" charset="-122"/>
                <a:ea typeface="微软雅黑" panose="020B0503020204020204" pitchFamily="34" charset="-122"/>
              </a:rPr>
              <a:t>可</a:t>
            </a:r>
            <a:r>
              <a:rPr lang="zh-CN" altLang="en-US" sz="1600" i="1" dirty="0" smtClean="0">
                <a:solidFill>
                  <a:schemeClr val="bg1"/>
                </a:solidFill>
                <a:latin typeface="微软雅黑" panose="020B0503020204020204" pitchFamily="34" charset="-122"/>
                <a:ea typeface="微软雅黑" panose="020B0503020204020204" pitchFamily="34" charset="-122"/>
              </a:rPr>
              <a:t>选参数 </a:t>
            </a:r>
            <a:r>
              <a:rPr lang="en-US" altLang="zh-CN" sz="1600" i="1" dirty="0" err="1" smtClean="0">
                <a:solidFill>
                  <a:schemeClr val="bg1"/>
                </a:solidFill>
                <a:latin typeface="微软雅黑" panose="020B0503020204020204" pitchFamily="34" charset="-122"/>
                <a:ea typeface="微软雅黑" panose="020B0503020204020204" pitchFamily="34" charset="-122"/>
              </a:rPr>
              <a:t>withdist</a:t>
            </a:r>
            <a:r>
              <a:rPr lang="en-US" altLang="zh-CN" sz="1600" i="1" dirty="0" smtClean="0">
                <a:solidFill>
                  <a:schemeClr val="bg1"/>
                </a:solidFill>
                <a:latin typeface="微软雅黑" panose="020B0503020204020204" pitchFamily="34" charset="-122"/>
                <a:ea typeface="微软雅黑" panose="020B0503020204020204" pitchFamily="34" charset="-122"/>
              </a:rPr>
              <a:t> </a:t>
            </a:r>
            <a:r>
              <a:rPr lang="zh-CN" altLang="en-US" sz="1600" i="1" dirty="0" smtClean="0">
                <a:solidFill>
                  <a:schemeClr val="bg1"/>
                </a:solidFill>
                <a:latin typeface="微软雅黑" panose="020B0503020204020204" pitchFamily="34" charset="-122"/>
                <a:ea typeface="微软雅黑" panose="020B0503020204020204" pitchFamily="34" charset="-122"/>
              </a:rPr>
              <a:t>返回距离；</a:t>
            </a:r>
            <a:r>
              <a:rPr lang="en-US" altLang="zh-CN" sz="1600" i="1" dirty="0" err="1" smtClean="0">
                <a:solidFill>
                  <a:schemeClr val="bg1"/>
                </a:solidFill>
                <a:latin typeface="微软雅黑" panose="020B0503020204020204" pitchFamily="34" charset="-122"/>
                <a:ea typeface="微软雅黑" panose="020B0503020204020204" pitchFamily="34" charset="-122"/>
              </a:rPr>
              <a:t>asc</a:t>
            </a:r>
            <a:r>
              <a:rPr lang="en-US" altLang="zh-CN" sz="1600" i="1" dirty="0" smtClean="0">
                <a:solidFill>
                  <a:schemeClr val="bg1"/>
                </a:solidFill>
                <a:latin typeface="微软雅黑" panose="020B0503020204020204" pitchFamily="34" charset="-122"/>
                <a:ea typeface="微软雅黑" panose="020B0503020204020204" pitchFamily="34" charset="-122"/>
              </a:rPr>
              <a:t> </a:t>
            </a:r>
            <a:r>
              <a:rPr lang="zh-CN" altLang="en-US" sz="1600" i="1" dirty="0" smtClean="0">
                <a:solidFill>
                  <a:schemeClr val="bg1"/>
                </a:solidFill>
                <a:latin typeface="微软雅黑" panose="020B0503020204020204" pitchFamily="34" charset="-122"/>
                <a:ea typeface="微软雅黑" panose="020B0503020204020204" pitchFamily="34" charset="-122"/>
              </a:rPr>
              <a:t>正序排序，</a:t>
            </a:r>
            <a:r>
              <a:rPr lang="en-US" altLang="zh-CN" sz="1600" i="1" dirty="0" err="1" smtClean="0">
                <a:solidFill>
                  <a:schemeClr val="bg1"/>
                </a:solidFill>
                <a:latin typeface="微软雅黑" panose="020B0503020204020204" pitchFamily="34" charset="-122"/>
                <a:ea typeface="微软雅黑" panose="020B0503020204020204" pitchFamily="34" charset="-122"/>
              </a:rPr>
              <a:t>desc</a:t>
            </a:r>
            <a:r>
              <a:rPr lang="zh-CN" altLang="en-US" sz="1600" i="1" dirty="0" smtClean="0">
                <a:solidFill>
                  <a:schemeClr val="bg1"/>
                </a:solidFill>
                <a:latin typeface="微软雅黑" panose="020B0503020204020204" pitchFamily="34" charset="-122"/>
                <a:ea typeface="微软雅黑" panose="020B0503020204020204" pitchFamily="34" charset="-122"/>
              </a:rPr>
              <a:t>逆序排序</a:t>
            </a:r>
          </a:p>
        </p:txBody>
      </p:sp>
    </p:spTree>
    <p:extLst>
      <p:ext uri="{BB962C8B-B14F-4D97-AF65-F5344CB8AC3E}">
        <p14:creationId xmlns:p14="http://schemas.microsoft.com/office/powerpoint/2010/main" val="4027380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1000"/>
                                        <p:tgtEl>
                                          <p:spTgt spid="16"/>
                                        </p:tgtEl>
                                      </p:cBhvr>
                                    </p:animEffect>
                                    <p:anim calcmode="lin" valueType="num">
                                      <p:cBhvr>
                                        <p:cTn id="13" dur="1000" fill="hold"/>
                                        <p:tgtEl>
                                          <p:spTgt spid="16"/>
                                        </p:tgtEl>
                                        <p:attrNameLst>
                                          <p:attrName>ppt_x</p:attrName>
                                        </p:attrNameLst>
                                      </p:cBhvr>
                                      <p:tavLst>
                                        <p:tav tm="0">
                                          <p:val>
                                            <p:strVal val="#ppt_x"/>
                                          </p:val>
                                        </p:tav>
                                        <p:tav tm="100000">
                                          <p:val>
                                            <p:strVal val="#ppt_x"/>
                                          </p:val>
                                        </p:tav>
                                      </p:tavLst>
                                    </p:anim>
                                    <p:anim calcmode="lin" valueType="num">
                                      <p:cBhvr>
                                        <p:cTn id="14"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1000"/>
                                        <p:tgtEl>
                                          <p:spTgt spid="2"/>
                                        </p:tgtEl>
                                      </p:cBhvr>
                                    </p:animEffect>
                                    <p:anim calcmode="lin" valueType="num">
                                      <p:cBhvr>
                                        <p:cTn id="20" dur="1000" fill="hold"/>
                                        <p:tgtEl>
                                          <p:spTgt spid="2"/>
                                        </p:tgtEl>
                                        <p:attrNameLst>
                                          <p:attrName>ppt_x</p:attrName>
                                        </p:attrNameLst>
                                      </p:cBhvr>
                                      <p:tavLst>
                                        <p:tav tm="0">
                                          <p:val>
                                            <p:strVal val="#ppt_x"/>
                                          </p:val>
                                        </p:tav>
                                        <p:tav tm="100000">
                                          <p:val>
                                            <p:strVal val="#ppt_x"/>
                                          </p:val>
                                        </p:tav>
                                      </p:tavLst>
                                    </p:anim>
                                    <p:anim calcmode="lin" valueType="num">
                                      <p:cBhvr>
                                        <p:cTn id="21"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6" grpId="0" animBg="1"/>
      <p:bldP spid="2" grpId="0"/>
    </p:bld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A0F23"/>
        </a:solidFill>
        <a:effectLst/>
      </p:bgPr>
    </p:bg>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xmlns="" id="{CBDC52CD-1D62-48AF-A9DF-9F18AEA2B1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01385" y="-114300"/>
            <a:ext cx="1301859" cy="920356"/>
          </a:xfrm>
          <a:prstGeom prst="rect">
            <a:avLst/>
          </a:prstGeom>
        </p:spPr>
      </p:pic>
      <p:pic>
        <p:nvPicPr>
          <p:cNvPr id="14" name="图片 13">
            <a:extLst>
              <a:ext uri="{FF2B5EF4-FFF2-40B4-BE49-F238E27FC236}">
                <a16:creationId xmlns:a16="http://schemas.microsoft.com/office/drawing/2014/main" xmlns="" id="{F78DA958-9B1B-47DA-A870-8C0B3A7D8866}"/>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b="63537"/>
          <a:stretch/>
        </p:blipFill>
        <p:spPr>
          <a:xfrm>
            <a:off x="11184164" y="217733"/>
            <a:ext cx="572339" cy="337210"/>
          </a:xfrm>
          <a:prstGeom prst="rect">
            <a:avLst/>
          </a:prstGeom>
        </p:spPr>
      </p:pic>
      <p:cxnSp>
        <p:nvCxnSpPr>
          <p:cNvPr id="15" name="直接连接符 14">
            <a:extLst>
              <a:ext uri="{FF2B5EF4-FFF2-40B4-BE49-F238E27FC236}">
                <a16:creationId xmlns:a16="http://schemas.microsoft.com/office/drawing/2014/main" xmlns="" id="{93240A06-D526-4907-A163-94ABB41190CC}"/>
              </a:ext>
            </a:extLst>
          </p:cNvPr>
          <p:cNvCxnSpPr/>
          <p:nvPr/>
        </p:nvCxnSpPr>
        <p:spPr>
          <a:xfrm>
            <a:off x="11103244" y="225825"/>
            <a:ext cx="0" cy="2435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xmlns="" id="{74C59758-12AB-44A5-92FA-DB52904027AE}"/>
              </a:ext>
            </a:extLst>
          </p:cNvPr>
          <p:cNvSpPr/>
          <p:nvPr/>
        </p:nvSpPr>
        <p:spPr>
          <a:xfrm>
            <a:off x="802332" y="1287114"/>
            <a:ext cx="10765483" cy="1754326"/>
          </a:xfrm>
          <a:prstGeom prst="rect">
            <a:avLst/>
          </a:prstGeom>
        </p:spPr>
        <p:txBody>
          <a:bodyPr wrap="square">
            <a:spAutoFit/>
          </a:bodyPr>
          <a:lstStyle/>
          <a:p>
            <a:pPr indent="457200">
              <a:lnSpc>
                <a:spcPct val="150000"/>
              </a:lnSpc>
            </a:pPr>
            <a:r>
              <a:rPr lang="zh-CN" altLang="en-US" dirty="0" smtClean="0">
                <a:solidFill>
                  <a:prstClr val="white"/>
                </a:solidFill>
                <a:latin typeface="微软雅黑" panose="020B0503020204020204" pitchFamily="34" charset="-122"/>
                <a:ea typeface="微软雅黑" panose="020B0503020204020204" pitchFamily="34" charset="-122"/>
              </a:rPr>
              <a:t>在地图应用中，保存的数据往往达到几百万甚至几千万条。如果使用</a:t>
            </a:r>
            <a:r>
              <a:rPr lang="en-US" altLang="zh-CN" dirty="0" err="1" smtClean="0">
                <a:solidFill>
                  <a:prstClr val="white"/>
                </a:solidFill>
                <a:latin typeface="微软雅黑" panose="020B0503020204020204" pitchFamily="34" charset="-122"/>
                <a:ea typeface="微软雅黑" panose="020B0503020204020204" pitchFamily="34" charset="-122"/>
              </a:rPr>
              <a:t>redis</a:t>
            </a:r>
            <a:r>
              <a:rPr lang="zh-CN" altLang="en-US" dirty="0" smtClean="0">
                <a:solidFill>
                  <a:prstClr val="white"/>
                </a:solidFill>
                <a:latin typeface="微软雅黑" panose="020B0503020204020204" pitchFamily="34" charset="-122"/>
                <a:ea typeface="微软雅黑" panose="020B0503020204020204" pitchFamily="34" charset="-122"/>
              </a:rPr>
              <a:t>的</a:t>
            </a:r>
            <a:r>
              <a:rPr lang="en-US" altLang="zh-CN" dirty="0" smtClean="0">
                <a:solidFill>
                  <a:prstClr val="white"/>
                </a:solidFill>
                <a:latin typeface="微软雅黑" panose="020B0503020204020204" pitchFamily="34" charset="-122"/>
                <a:ea typeface="微软雅黑" panose="020B0503020204020204" pitchFamily="34" charset="-122"/>
              </a:rPr>
              <a:t>GEO</a:t>
            </a:r>
            <a:r>
              <a:rPr lang="zh-CN" altLang="en-US" dirty="0" smtClean="0">
                <a:solidFill>
                  <a:prstClr val="white"/>
                </a:solidFill>
                <a:latin typeface="微软雅黑" panose="020B0503020204020204" pitchFamily="34" charset="-122"/>
                <a:ea typeface="微软雅黑" panose="020B0503020204020204" pitchFamily="34" charset="-122"/>
              </a:rPr>
              <a:t>数据结构，这些数据将全部放在一个</a:t>
            </a:r>
            <a:r>
              <a:rPr lang="en-US" altLang="zh-CN" dirty="0" err="1" smtClean="0">
                <a:solidFill>
                  <a:prstClr val="white"/>
                </a:solidFill>
                <a:latin typeface="微软雅黑" panose="020B0503020204020204" pitchFamily="34" charset="-122"/>
                <a:ea typeface="微软雅黑" panose="020B0503020204020204" pitchFamily="34" charset="-122"/>
              </a:rPr>
              <a:t>zset</a:t>
            </a:r>
            <a:r>
              <a:rPr lang="zh-CN" altLang="en-US" dirty="0">
                <a:solidFill>
                  <a:prstClr val="white"/>
                </a:solidFill>
                <a:latin typeface="微软雅黑" panose="020B0503020204020204" pitchFamily="34" charset="-122"/>
                <a:ea typeface="微软雅黑" panose="020B0503020204020204" pitchFamily="34" charset="-122"/>
              </a:rPr>
              <a:t>集</a:t>
            </a:r>
            <a:r>
              <a:rPr lang="zh-CN" altLang="en-US" dirty="0" smtClean="0">
                <a:solidFill>
                  <a:prstClr val="white"/>
                </a:solidFill>
                <a:latin typeface="微软雅黑" panose="020B0503020204020204" pitchFamily="34" charset="-122"/>
                <a:ea typeface="微软雅黑" panose="020B0503020204020204" pitchFamily="34" charset="-122"/>
              </a:rPr>
              <a:t>合中。这样单个</a:t>
            </a:r>
            <a:r>
              <a:rPr lang="en-US" altLang="zh-CN" dirty="0" smtClean="0">
                <a:solidFill>
                  <a:prstClr val="white"/>
                </a:solidFill>
                <a:latin typeface="微软雅黑" panose="020B0503020204020204" pitchFamily="34" charset="-122"/>
                <a:ea typeface="微软雅黑" panose="020B0503020204020204" pitchFamily="34" charset="-122"/>
              </a:rPr>
              <a:t>key</a:t>
            </a:r>
            <a:r>
              <a:rPr lang="zh-CN" altLang="en-US" dirty="0" smtClean="0">
                <a:solidFill>
                  <a:prstClr val="white"/>
                </a:solidFill>
                <a:latin typeface="微软雅黑" panose="020B0503020204020204" pitchFamily="34" charset="-122"/>
                <a:ea typeface="微软雅黑" panose="020B0503020204020204" pitchFamily="34" charset="-122"/>
              </a:rPr>
              <a:t>保存的数据过大，会影响到集群数据的同步，数据迁移。因此</a:t>
            </a:r>
            <a:r>
              <a:rPr lang="zh-CN" altLang="en-US" dirty="0">
                <a:solidFill>
                  <a:prstClr val="white"/>
                </a:solidFill>
                <a:latin typeface="微软雅黑" panose="020B0503020204020204" pitchFamily="34" charset="-122"/>
                <a:ea typeface="微软雅黑" panose="020B0503020204020204" pitchFamily="34" charset="-122"/>
              </a:rPr>
              <a:t>建议</a:t>
            </a:r>
            <a:r>
              <a:rPr lang="en-US" altLang="zh-CN" dirty="0" smtClean="0">
                <a:solidFill>
                  <a:prstClr val="white"/>
                </a:solidFill>
                <a:latin typeface="微软雅黑" panose="020B0503020204020204" pitchFamily="34" charset="-122"/>
                <a:ea typeface="微软雅黑" panose="020B0503020204020204" pitchFamily="34" charset="-122"/>
              </a:rPr>
              <a:t>GEO</a:t>
            </a:r>
            <a:r>
              <a:rPr lang="zh-CN" altLang="en-US" dirty="0" smtClean="0">
                <a:solidFill>
                  <a:prstClr val="white"/>
                </a:solidFill>
                <a:latin typeface="微软雅黑" panose="020B0503020204020204" pitchFamily="34" charset="-122"/>
                <a:ea typeface="微软雅黑" panose="020B0503020204020204" pitchFamily="34" charset="-122"/>
              </a:rPr>
              <a:t>的数据使用单独的</a:t>
            </a:r>
            <a:r>
              <a:rPr lang="en-US" altLang="zh-CN" dirty="0" err="1" smtClean="0">
                <a:solidFill>
                  <a:prstClr val="white"/>
                </a:solidFill>
                <a:latin typeface="微软雅黑" panose="020B0503020204020204" pitchFamily="34" charset="-122"/>
                <a:ea typeface="微软雅黑" panose="020B0503020204020204" pitchFamily="34" charset="-122"/>
              </a:rPr>
              <a:t>redis</a:t>
            </a:r>
            <a:r>
              <a:rPr lang="zh-CN" altLang="en-US" dirty="0" smtClean="0">
                <a:solidFill>
                  <a:prstClr val="white"/>
                </a:solidFill>
                <a:latin typeface="微软雅黑" panose="020B0503020204020204" pitchFamily="34" charset="-122"/>
                <a:ea typeface="微软雅黑" panose="020B0503020204020204" pitchFamily="34" charset="-122"/>
              </a:rPr>
              <a:t>实例部署。</a:t>
            </a:r>
            <a:endParaRPr lang="en-US" altLang="zh-CN" dirty="0" smtClean="0">
              <a:solidFill>
                <a:prstClr val="white"/>
              </a:solidFill>
              <a:latin typeface="微软雅黑" panose="020B0503020204020204" pitchFamily="34" charset="-122"/>
              <a:ea typeface="微软雅黑" panose="020B0503020204020204" pitchFamily="34" charset="-122"/>
            </a:endParaRPr>
          </a:p>
          <a:p>
            <a:pPr indent="457200">
              <a:lnSpc>
                <a:spcPct val="150000"/>
              </a:lnSpc>
            </a:pPr>
            <a:r>
              <a:rPr lang="zh-CN" altLang="en-US" dirty="0">
                <a:solidFill>
                  <a:prstClr val="white"/>
                </a:solidFill>
                <a:latin typeface="微软雅黑" panose="020B0503020204020204" pitchFamily="34" charset="-122"/>
                <a:ea typeface="微软雅黑" panose="020B0503020204020204" pitchFamily="34" charset="-122"/>
              </a:rPr>
              <a:t>如</a:t>
            </a:r>
            <a:r>
              <a:rPr lang="zh-CN" altLang="en-US" dirty="0" smtClean="0">
                <a:solidFill>
                  <a:prstClr val="white"/>
                </a:solidFill>
                <a:latin typeface="微软雅黑" panose="020B0503020204020204" pitchFamily="34" charset="-122"/>
                <a:ea typeface="微软雅黑" panose="020B0503020204020204" pitchFamily="34" charset="-122"/>
              </a:rPr>
              <a:t>果数据量过大，可以根据业务按国家，省，市，区来拆分数据。</a:t>
            </a:r>
            <a:endParaRPr lang="zh-CN" altLang="en-US" dirty="0">
              <a:solidFill>
                <a:prstClr val="white"/>
              </a:solidFill>
              <a:latin typeface="微软雅黑" panose="020B0503020204020204" pitchFamily="34" charset="-122"/>
              <a:ea typeface="微软雅黑" panose="020B0503020204020204" pitchFamily="34" charset="-122"/>
            </a:endParaRPr>
          </a:p>
        </p:txBody>
      </p:sp>
      <p:sp>
        <p:nvSpPr>
          <p:cNvPr id="10" name="TextBox 9"/>
          <p:cNvSpPr txBox="1"/>
          <p:nvPr/>
        </p:nvSpPr>
        <p:spPr>
          <a:xfrm>
            <a:off x="704850" y="605109"/>
            <a:ext cx="8883650" cy="523220"/>
          </a:xfrm>
          <a:prstGeom prst="rect">
            <a:avLst/>
          </a:prstGeom>
          <a:noFill/>
        </p:spPr>
        <p:txBody>
          <a:bodyPr wrap="square" rtlCol="0">
            <a:spAutoFit/>
          </a:bodyPr>
          <a:lstStyle/>
          <a:p>
            <a:pPr>
              <a:defRPr/>
            </a:pPr>
            <a:r>
              <a:rPr lang="en-US" altLang="zh-CN"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3.3.3 </a:t>
            </a:r>
            <a:r>
              <a:rPr lang="zh-CN" altLang="en-US"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使用注意事项</a:t>
            </a:r>
          </a:p>
        </p:txBody>
      </p:sp>
    </p:spTree>
    <p:extLst>
      <p:ext uri="{BB962C8B-B14F-4D97-AF65-F5344CB8AC3E}">
        <p14:creationId xmlns:p14="http://schemas.microsoft.com/office/powerpoint/2010/main" val="294111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1000" fill="hold"/>
                                        <p:tgtEl>
                                          <p:spTgt spid="9"/>
                                        </p:tgtEl>
                                        <p:attrNameLst>
                                          <p:attrName>ppt_w</p:attrName>
                                        </p:attrNameLst>
                                      </p:cBhvr>
                                      <p:tavLst>
                                        <p:tav tm="0">
                                          <p:val>
                                            <p:fltVal val="0"/>
                                          </p:val>
                                        </p:tav>
                                        <p:tav tm="100000">
                                          <p:val>
                                            <p:strVal val="#ppt_w"/>
                                          </p:val>
                                        </p:tav>
                                      </p:tavLst>
                                    </p:anim>
                                    <p:anim calcmode="lin" valueType="num">
                                      <p:cBhvr>
                                        <p:cTn id="8" dur="1000" fill="hold"/>
                                        <p:tgtEl>
                                          <p:spTgt spid="9"/>
                                        </p:tgtEl>
                                        <p:attrNameLst>
                                          <p:attrName>ppt_h</p:attrName>
                                        </p:attrNameLst>
                                      </p:cBhvr>
                                      <p:tavLst>
                                        <p:tav tm="0">
                                          <p:val>
                                            <p:fltVal val="0"/>
                                          </p:val>
                                        </p:tav>
                                        <p:tav tm="100000">
                                          <p:val>
                                            <p:strVal val="#ppt_h"/>
                                          </p:val>
                                        </p:tav>
                                      </p:tavLst>
                                    </p:anim>
                                    <p:anim calcmode="lin" valueType="num">
                                      <p:cBhvr>
                                        <p:cTn id="9" dur="1000" fill="hold"/>
                                        <p:tgtEl>
                                          <p:spTgt spid="9"/>
                                        </p:tgtEl>
                                        <p:attrNameLst>
                                          <p:attrName>style.rotation</p:attrName>
                                        </p:attrNameLst>
                                      </p:cBhvr>
                                      <p:tavLst>
                                        <p:tav tm="0">
                                          <p:val>
                                            <p:fltVal val="90"/>
                                          </p:val>
                                        </p:tav>
                                        <p:tav tm="100000">
                                          <p:val>
                                            <p:fltVal val="0"/>
                                          </p:val>
                                        </p:tav>
                                      </p:tavLst>
                                    </p:anim>
                                    <p:animEffect transition="in" filter="fade">
                                      <p:cBhvr>
                                        <p:cTn id="10"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A0F23"/>
        </a:solidFill>
        <a:effectLst/>
      </p:bgPr>
    </p:bg>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xmlns="" id="{62500BA0-5435-4394-A67D-935D06E8473D}"/>
              </a:ext>
            </a:extLst>
          </p:cNvPr>
          <p:cNvPicPr>
            <a:picLocks noChangeAspect="1"/>
          </p:cNvPicPr>
          <p:nvPr/>
        </p:nvPicPr>
        <p:blipFill rotWithShape="1">
          <a:blip r:embed="rId2"/>
          <a:srcRect l="60878"/>
          <a:stretch/>
        </p:blipFill>
        <p:spPr>
          <a:xfrm>
            <a:off x="6096000" y="652085"/>
            <a:ext cx="6269207" cy="5314808"/>
          </a:xfrm>
          <a:prstGeom prst="rect">
            <a:avLst/>
          </a:prstGeom>
          <a:solidFill>
            <a:srgbClr val="0A0F23"/>
          </a:solidFill>
          <a:effectLst>
            <a:softEdge rad="927100"/>
          </a:effectLst>
        </p:spPr>
      </p:pic>
      <p:sp>
        <p:nvSpPr>
          <p:cNvPr id="11" name="文本框 10">
            <a:extLst>
              <a:ext uri="{FF2B5EF4-FFF2-40B4-BE49-F238E27FC236}">
                <a16:creationId xmlns:a16="http://schemas.microsoft.com/office/drawing/2014/main" xmlns="" id="{070AA53B-EE7D-407A-93E5-ACCD74BA7C5C}"/>
              </a:ext>
            </a:extLst>
          </p:cNvPr>
          <p:cNvSpPr txBox="1"/>
          <p:nvPr/>
        </p:nvSpPr>
        <p:spPr>
          <a:xfrm>
            <a:off x="487679" y="2604821"/>
            <a:ext cx="3722371" cy="1200329"/>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72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pitchFamily="2" charset="-122"/>
                <a:cs typeface="+mn-cs"/>
              </a:rPr>
              <a:t>PART 04</a:t>
            </a:r>
            <a:endParaRPr kumimoji="0" lang="zh-CN" altLang="en-US" sz="72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pitchFamily="2" charset="-122"/>
              <a:cs typeface="+mn-cs"/>
            </a:endParaRPr>
          </a:p>
        </p:txBody>
      </p:sp>
      <p:sp>
        <p:nvSpPr>
          <p:cNvPr id="12" name="矩形 11">
            <a:extLst>
              <a:ext uri="{FF2B5EF4-FFF2-40B4-BE49-F238E27FC236}">
                <a16:creationId xmlns:a16="http://schemas.microsoft.com/office/drawing/2014/main" xmlns="" id="{1365D9B2-CE2D-4820-B0DA-C0FD3C575F5F}"/>
              </a:ext>
            </a:extLst>
          </p:cNvPr>
          <p:cNvSpPr/>
          <p:nvPr/>
        </p:nvSpPr>
        <p:spPr>
          <a:xfrm>
            <a:off x="487679" y="3837807"/>
            <a:ext cx="4232366" cy="6362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 </a:t>
            </a:r>
            <a:r>
              <a:rPr lang="en-US" altLang="zh-CN" sz="2000" b="1" dirty="0" err="1" smtClean="0">
                <a:solidFill>
                  <a:prstClr val="black">
                    <a:lumMod val="85000"/>
                    <a:lumOff val="15000"/>
                  </a:prstClr>
                </a:solidFill>
                <a:latin typeface="微软雅黑" panose="020B0503020204020204" pitchFamily="34" charset="-122"/>
                <a:ea typeface="微软雅黑" panose="020B0503020204020204" pitchFamily="34" charset="-122"/>
              </a:rPr>
              <a:t>redis</a:t>
            </a:r>
            <a:r>
              <a:rPr lang="zh-CN" altLang="en-US" sz="2000" b="1" dirty="0" smtClean="0">
                <a:solidFill>
                  <a:prstClr val="black">
                    <a:lumMod val="85000"/>
                    <a:lumOff val="15000"/>
                  </a:prstClr>
                </a:solidFill>
                <a:latin typeface="微软雅黑" panose="020B0503020204020204" pitchFamily="34" charset="-122"/>
                <a:ea typeface="微软雅黑" panose="020B0503020204020204" pitchFamily="34" charset="-122"/>
              </a:rPr>
              <a:t>高级功能</a:t>
            </a:r>
            <a:endParaRPr kumimoji="0" lang="zh-CN" altLang="en-US" sz="20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p:txBody>
      </p:sp>
      <p:pic>
        <p:nvPicPr>
          <p:cNvPr id="13" name="图片 12">
            <a:extLst>
              <a:ext uri="{FF2B5EF4-FFF2-40B4-BE49-F238E27FC236}">
                <a16:creationId xmlns:a16="http://schemas.microsoft.com/office/drawing/2014/main" xmlns="" id="{CBDC52CD-1D62-48AF-A9DF-9F18AEA2B1F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801385" y="-114300"/>
            <a:ext cx="1301859" cy="920356"/>
          </a:xfrm>
          <a:prstGeom prst="rect">
            <a:avLst/>
          </a:prstGeom>
        </p:spPr>
      </p:pic>
      <p:pic>
        <p:nvPicPr>
          <p:cNvPr id="14" name="图片 13">
            <a:extLst>
              <a:ext uri="{FF2B5EF4-FFF2-40B4-BE49-F238E27FC236}">
                <a16:creationId xmlns:a16="http://schemas.microsoft.com/office/drawing/2014/main" xmlns="" id="{F78DA958-9B1B-47DA-A870-8C0B3A7D8866}"/>
              </a:ext>
            </a:extLst>
          </p:cNvPr>
          <p:cNvPicPr>
            <a:picLocks noChangeAspect="1"/>
          </p:cNvPicPr>
          <p:nvPr/>
        </p:nvPicPr>
        <p:blipFill rotWithShape="1">
          <a:blip r:embed="rId4" cstate="print">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rcRect b="63537"/>
          <a:stretch/>
        </p:blipFill>
        <p:spPr>
          <a:xfrm>
            <a:off x="11184164" y="217733"/>
            <a:ext cx="572339" cy="337210"/>
          </a:xfrm>
          <a:prstGeom prst="rect">
            <a:avLst/>
          </a:prstGeom>
        </p:spPr>
      </p:pic>
      <p:cxnSp>
        <p:nvCxnSpPr>
          <p:cNvPr id="15" name="直接连接符 14">
            <a:extLst>
              <a:ext uri="{FF2B5EF4-FFF2-40B4-BE49-F238E27FC236}">
                <a16:creationId xmlns:a16="http://schemas.microsoft.com/office/drawing/2014/main" xmlns="" id="{93240A06-D526-4907-A163-94ABB41190CC}"/>
              </a:ext>
            </a:extLst>
          </p:cNvPr>
          <p:cNvCxnSpPr/>
          <p:nvPr/>
        </p:nvCxnSpPr>
        <p:spPr>
          <a:xfrm>
            <a:off x="11103244" y="225825"/>
            <a:ext cx="0" cy="2435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16" name="图片 15">
            <a:extLst>
              <a:ext uri="{FF2B5EF4-FFF2-40B4-BE49-F238E27FC236}">
                <a16:creationId xmlns:a16="http://schemas.microsoft.com/office/drawing/2014/main" xmlns="" id="{9D9CC490-11D4-4019-960D-2E0BA57F3E51}"/>
              </a:ext>
            </a:extLst>
          </p:cNvPr>
          <p:cNvPicPr>
            <a:picLocks noChangeAspect="1"/>
          </p:cNvPicPr>
          <p:nvPr/>
        </p:nvPicPr>
        <p:blipFill rotWithShape="1">
          <a:blip r:embed="rId2"/>
          <a:srcRect l="60878"/>
          <a:stretch/>
        </p:blipFill>
        <p:spPr>
          <a:xfrm>
            <a:off x="-5153300" y="547581"/>
            <a:ext cx="6269207" cy="5314808"/>
          </a:xfrm>
          <a:prstGeom prst="rect">
            <a:avLst/>
          </a:prstGeom>
          <a:solidFill>
            <a:srgbClr val="0A0F23"/>
          </a:solidFill>
          <a:effectLst>
            <a:softEdge rad="927100"/>
          </a:effectLst>
        </p:spPr>
      </p:pic>
    </p:spTree>
    <p:extLst>
      <p:ext uri="{BB962C8B-B14F-4D97-AF65-F5344CB8AC3E}">
        <p14:creationId xmlns:p14="http://schemas.microsoft.com/office/powerpoint/2010/main" val="3077107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A0F23"/>
        </a:solidFill>
        <a:effectLst/>
      </p:bgPr>
    </p:bg>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xmlns="" id="{CBDC52CD-1D62-48AF-A9DF-9F18AEA2B1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01385" y="-114300"/>
            <a:ext cx="1301859" cy="920356"/>
          </a:xfrm>
          <a:prstGeom prst="rect">
            <a:avLst/>
          </a:prstGeom>
        </p:spPr>
      </p:pic>
      <p:pic>
        <p:nvPicPr>
          <p:cNvPr id="14" name="图片 13">
            <a:extLst>
              <a:ext uri="{FF2B5EF4-FFF2-40B4-BE49-F238E27FC236}">
                <a16:creationId xmlns:a16="http://schemas.microsoft.com/office/drawing/2014/main" xmlns="" id="{F78DA958-9B1B-47DA-A870-8C0B3A7D8866}"/>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b="63537"/>
          <a:stretch/>
        </p:blipFill>
        <p:spPr>
          <a:xfrm>
            <a:off x="11184164" y="217733"/>
            <a:ext cx="572339" cy="337210"/>
          </a:xfrm>
          <a:prstGeom prst="rect">
            <a:avLst/>
          </a:prstGeom>
        </p:spPr>
      </p:pic>
      <p:cxnSp>
        <p:nvCxnSpPr>
          <p:cNvPr id="15" name="直接连接符 14">
            <a:extLst>
              <a:ext uri="{FF2B5EF4-FFF2-40B4-BE49-F238E27FC236}">
                <a16:creationId xmlns:a16="http://schemas.microsoft.com/office/drawing/2014/main" xmlns="" id="{93240A06-D526-4907-A163-94ABB41190CC}"/>
              </a:ext>
            </a:extLst>
          </p:cNvPr>
          <p:cNvCxnSpPr/>
          <p:nvPr/>
        </p:nvCxnSpPr>
        <p:spPr>
          <a:xfrm>
            <a:off x="11103244" y="225825"/>
            <a:ext cx="0" cy="2435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xmlns="" id="{74C59758-12AB-44A5-92FA-DB52904027AE}"/>
              </a:ext>
            </a:extLst>
          </p:cNvPr>
          <p:cNvSpPr/>
          <p:nvPr/>
        </p:nvSpPr>
        <p:spPr>
          <a:xfrm>
            <a:off x="802332" y="1853170"/>
            <a:ext cx="10765483" cy="1643527"/>
          </a:xfrm>
          <a:prstGeom prst="rect">
            <a:avLst/>
          </a:prstGeom>
        </p:spPr>
        <p:txBody>
          <a:bodyPr wrap="square">
            <a:spAutoFit/>
          </a:bodyPr>
          <a:lstStyle/>
          <a:p>
            <a:pPr indent="457200">
              <a:lnSpc>
                <a:spcPct val="140000"/>
              </a:lnSpc>
            </a:pPr>
            <a:r>
              <a:rPr lang="en-US" altLang="zh-CN" dirty="0" err="1">
                <a:solidFill>
                  <a:prstClr val="white"/>
                </a:solidFill>
                <a:latin typeface="微软雅黑" panose="020B0503020204020204" pitchFamily="34" charset="-122"/>
                <a:ea typeface="微软雅黑" panose="020B0503020204020204" pitchFamily="34" charset="-122"/>
              </a:rPr>
              <a:t>Redis</a:t>
            </a:r>
            <a:r>
              <a:rPr lang="zh-CN" altLang="en-US" dirty="0">
                <a:solidFill>
                  <a:prstClr val="white"/>
                </a:solidFill>
                <a:latin typeface="微软雅黑" panose="020B0503020204020204" pitchFamily="34" charset="-122"/>
                <a:ea typeface="微软雅黑" panose="020B0503020204020204" pitchFamily="34" charset="-122"/>
              </a:rPr>
              <a:t>是一种基于客户端</a:t>
            </a:r>
            <a:r>
              <a:rPr lang="en-US" altLang="zh-CN" dirty="0">
                <a:solidFill>
                  <a:prstClr val="white"/>
                </a:solidFill>
                <a:latin typeface="微软雅黑" panose="020B0503020204020204" pitchFamily="34" charset="-122"/>
                <a:ea typeface="微软雅黑" panose="020B0503020204020204" pitchFamily="34" charset="-122"/>
              </a:rPr>
              <a:t>-</a:t>
            </a:r>
            <a:r>
              <a:rPr lang="zh-CN" altLang="en-US" dirty="0">
                <a:solidFill>
                  <a:prstClr val="white"/>
                </a:solidFill>
                <a:latin typeface="微软雅黑" panose="020B0503020204020204" pitchFamily="34" charset="-122"/>
                <a:ea typeface="微软雅黑" panose="020B0503020204020204" pitchFamily="34" charset="-122"/>
              </a:rPr>
              <a:t>服务端模型以及请求</a:t>
            </a:r>
            <a:r>
              <a:rPr lang="en-US" altLang="zh-CN" dirty="0">
                <a:solidFill>
                  <a:prstClr val="white"/>
                </a:solidFill>
                <a:latin typeface="微软雅黑" panose="020B0503020204020204" pitchFamily="34" charset="-122"/>
                <a:ea typeface="微软雅黑" panose="020B0503020204020204" pitchFamily="34" charset="-122"/>
              </a:rPr>
              <a:t>/</a:t>
            </a:r>
            <a:r>
              <a:rPr lang="zh-CN" altLang="en-US" dirty="0">
                <a:solidFill>
                  <a:prstClr val="white"/>
                </a:solidFill>
                <a:latin typeface="微软雅黑" panose="020B0503020204020204" pitchFamily="34" charset="-122"/>
                <a:ea typeface="微软雅黑" panose="020B0503020204020204" pitchFamily="34" charset="-122"/>
              </a:rPr>
              <a:t>响应协议的</a:t>
            </a:r>
            <a:r>
              <a:rPr lang="en-US" altLang="zh-CN" dirty="0">
                <a:solidFill>
                  <a:prstClr val="white"/>
                </a:solidFill>
                <a:latin typeface="微软雅黑" panose="020B0503020204020204" pitchFamily="34" charset="-122"/>
                <a:ea typeface="微软雅黑" panose="020B0503020204020204" pitchFamily="34" charset="-122"/>
              </a:rPr>
              <a:t>TCP</a:t>
            </a:r>
            <a:r>
              <a:rPr lang="zh-CN" altLang="en-US" dirty="0">
                <a:solidFill>
                  <a:prstClr val="white"/>
                </a:solidFill>
                <a:latin typeface="微软雅黑" panose="020B0503020204020204" pitchFamily="34" charset="-122"/>
                <a:ea typeface="微软雅黑" panose="020B0503020204020204" pitchFamily="34" charset="-122"/>
              </a:rPr>
              <a:t>服务。这意味着通常情况下一个请求会遵循以下步骤</a:t>
            </a:r>
            <a:r>
              <a:rPr lang="zh-CN" altLang="en-US" dirty="0" smtClean="0">
                <a:solidFill>
                  <a:prstClr val="white"/>
                </a:solidFill>
                <a:latin typeface="微软雅黑" panose="020B0503020204020204" pitchFamily="34" charset="-122"/>
                <a:ea typeface="微软雅黑" panose="020B0503020204020204" pitchFamily="34" charset="-122"/>
              </a:rPr>
              <a:t>：</a:t>
            </a:r>
            <a:endParaRPr lang="zh-CN" altLang="en-US" dirty="0">
              <a:solidFill>
                <a:prstClr val="white"/>
              </a:solidFill>
              <a:latin typeface="微软雅黑" panose="020B0503020204020204" pitchFamily="34" charset="-122"/>
              <a:ea typeface="微软雅黑" panose="020B0503020204020204" pitchFamily="34" charset="-122"/>
            </a:endParaRPr>
          </a:p>
          <a:p>
            <a:pPr indent="457200">
              <a:lnSpc>
                <a:spcPct val="140000"/>
              </a:lnSpc>
            </a:pPr>
            <a:r>
              <a:rPr lang="zh-CN" altLang="en-US" dirty="0">
                <a:solidFill>
                  <a:prstClr val="white"/>
                </a:solidFill>
                <a:latin typeface="微软雅黑" panose="020B0503020204020204" pitchFamily="34" charset="-122"/>
                <a:ea typeface="微软雅黑" panose="020B0503020204020204" pitchFamily="34" charset="-122"/>
              </a:rPr>
              <a:t>客户端向服务端发送一个查询请求，并监听</a:t>
            </a:r>
            <a:r>
              <a:rPr lang="en-US" altLang="zh-CN" dirty="0">
                <a:solidFill>
                  <a:prstClr val="white"/>
                </a:solidFill>
                <a:latin typeface="微软雅黑" panose="020B0503020204020204" pitchFamily="34" charset="-122"/>
                <a:ea typeface="微软雅黑" panose="020B0503020204020204" pitchFamily="34" charset="-122"/>
              </a:rPr>
              <a:t>Socket</a:t>
            </a:r>
            <a:r>
              <a:rPr lang="zh-CN" altLang="en-US" dirty="0">
                <a:solidFill>
                  <a:prstClr val="white"/>
                </a:solidFill>
                <a:latin typeface="微软雅黑" panose="020B0503020204020204" pitchFamily="34" charset="-122"/>
                <a:ea typeface="微软雅黑" panose="020B0503020204020204" pitchFamily="34" charset="-122"/>
              </a:rPr>
              <a:t>返回，通常是以阻塞模式，等待服务端响应</a:t>
            </a:r>
            <a:r>
              <a:rPr lang="zh-CN" altLang="en-US" dirty="0" smtClean="0">
                <a:solidFill>
                  <a:prstClr val="white"/>
                </a:solidFill>
                <a:latin typeface="微软雅黑" panose="020B0503020204020204" pitchFamily="34" charset="-122"/>
                <a:ea typeface="微软雅黑" panose="020B0503020204020204" pitchFamily="34" charset="-122"/>
              </a:rPr>
              <a:t>。服</a:t>
            </a:r>
            <a:r>
              <a:rPr lang="zh-CN" altLang="en-US" dirty="0">
                <a:solidFill>
                  <a:prstClr val="white"/>
                </a:solidFill>
                <a:latin typeface="微软雅黑" panose="020B0503020204020204" pitchFamily="34" charset="-122"/>
                <a:ea typeface="微软雅黑" panose="020B0503020204020204" pitchFamily="34" charset="-122"/>
              </a:rPr>
              <a:t>务端处理命令，并将结果返回给客户端</a:t>
            </a:r>
            <a:r>
              <a:rPr lang="zh-CN" altLang="en-US" dirty="0" smtClean="0">
                <a:solidFill>
                  <a:prstClr val="white"/>
                </a:solidFill>
                <a:latin typeface="微软雅黑" panose="020B0503020204020204" pitchFamily="34" charset="-122"/>
                <a:ea typeface="微软雅黑" panose="020B0503020204020204" pitchFamily="34" charset="-122"/>
              </a:rPr>
              <a:t>。整个流程可以抽象为图</a:t>
            </a:r>
            <a:r>
              <a:rPr lang="en-US" altLang="zh-CN" dirty="0" smtClean="0">
                <a:solidFill>
                  <a:prstClr val="white"/>
                </a:solidFill>
                <a:latin typeface="微软雅黑" panose="020B0503020204020204" pitchFamily="34" charset="-122"/>
                <a:ea typeface="微软雅黑" panose="020B0503020204020204" pitchFamily="34" charset="-122"/>
              </a:rPr>
              <a:t>4.1.1 – 1</a:t>
            </a:r>
            <a:r>
              <a:rPr lang="zh-CN" altLang="en-US" dirty="0" smtClean="0">
                <a:solidFill>
                  <a:prstClr val="white"/>
                </a:solidFill>
                <a:latin typeface="微软雅黑" panose="020B0503020204020204" pitchFamily="34" charset="-122"/>
                <a:ea typeface="微软雅黑" panose="020B0503020204020204" pitchFamily="34" charset="-122"/>
              </a:rPr>
              <a:t>所示。</a:t>
            </a:r>
            <a:endParaRPr lang="en-US" altLang="zh-CN" dirty="0" smtClean="0">
              <a:solidFill>
                <a:prstClr val="white"/>
              </a:solidFill>
              <a:latin typeface="微软雅黑" panose="020B0503020204020204" pitchFamily="34" charset="-122"/>
              <a:ea typeface="微软雅黑" panose="020B0503020204020204" pitchFamily="34" charset="-122"/>
            </a:endParaRPr>
          </a:p>
        </p:txBody>
      </p:sp>
      <p:sp>
        <p:nvSpPr>
          <p:cNvPr id="10" name="TextBox 9"/>
          <p:cNvSpPr txBox="1"/>
          <p:nvPr/>
        </p:nvSpPr>
        <p:spPr>
          <a:xfrm>
            <a:off x="704849" y="605109"/>
            <a:ext cx="10862965" cy="584775"/>
          </a:xfrm>
          <a:prstGeom prst="rect">
            <a:avLst/>
          </a:prstGeom>
          <a:noFill/>
        </p:spPr>
        <p:txBody>
          <a:bodyPr wrap="square" rtlCol="0">
            <a:spAutoFit/>
          </a:bodyPr>
          <a:lstStyle/>
          <a:p>
            <a:pPr>
              <a:defRPr/>
            </a:pPr>
            <a:r>
              <a:rPr lang="en-US" altLang="zh-CN" sz="32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4.1</a:t>
            </a:r>
            <a:r>
              <a:rPr lang="zh-CN" altLang="en-US" sz="32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a:t>
            </a:r>
            <a:r>
              <a:rPr lang="en-US" altLang="zh-CN" sz="32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Pipeline</a:t>
            </a:r>
            <a:r>
              <a:rPr lang="zh-CN" altLang="en-US" sz="32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（管道）</a:t>
            </a:r>
          </a:p>
        </p:txBody>
      </p:sp>
      <p:sp>
        <p:nvSpPr>
          <p:cNvPr id="8" name="TextBox 9"/>
          <p:cNvSpPr txBox="1"/>
          <p:nvPr/>
        </p:nvSpPr>
        <p:spPr>
          <a:xfrm>
            <a:off x="704850" y="1243735"/>
            <a:ext cx="7689850" cy="523220"/>
          </a:xfrm>
          <a:prstGeom prst="rect">
            <a:avLst/>
          </a:prstGeom>
          <a:noFill/>
        </p:spPr>
        <p:txBody>
          <a:bodyPr wrap="square" rtlCol="0">
            <a:spAutoFit/>
          </a:bodyPr>
          <a:lstStyle/>
          <a:p>
            <a:pPr>
              <a:defRPr/>
            </a:pPr>
            <a:r>
              <a:rPr lang="en-US" altLang="zh-CN"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4.1.1 </a:t>
            </a:r>
            <a:r>
              <a:rPr lang="zh-CN" altLang="en-US"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管道存在的意义</a:t>
            </a:r>
          </a:p>
        </p:txBody>
      </p:sp>
      <p:grpSp>
        <p:nvGrpSpPr>
          <p:cNvPr id="54" name="组合 53"/>
          <p:cNvGrpSpPr/>
          <p:nvPr/>
        </p:nvGrpSpPr>
        <p:grpSpPr>
          <a:xfrm>
            <a:off x="1291773" y="3670729"/>
            <a:ext cx="10276042" cy="2732351"/>
            <a:chOff x="1291773" y="3670729"/>
            <a:chExt cx="10276042" cy="2732351"/>
          </a:xfrm>
        </p:grpSpPr>
        <p:grpSp>
          <p:nvGrpSpPr>
            <p:cNvPr id="52" name="组合 51"/>
            <p:cNvGrpSpPr/>
            <p:nvPr/>
          </p:nvGrpSpPr>
          <p:grpSpPr>
            <a:xfrm>
              <a:off x="1291773" y="3670729"/>
              <a:ext cx="10276042" cy="2570085"/>
              <a:chOff x="1480458" y="3670729"/>
              <a:chExt cx="10276042" cy="2570085"/>
            </a:xfrm>
          </p:grpSpPr>
          <p:sp>
            <p:nvSpPr>
              <p:cNvPr id="2" name="矩形 1"/>
              <p:cNvSpPr/>
              <p:nvPr/>
            </p:nvSpPr>
            <p:spPr>
              <a:xfrm>
                <a:off x="1480458" y="4527763"/>
                <a:ext cx="3120572" cy="1423092"/>
              </a:xfrm>
              <a:prstGeom prst="rect">
                <a:avLst/>
              </a:prstGeom>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400"/>
              </a:p>
            </p:txBody>
          </p:sp>
          <p:sp>
            <p:nvSpPr>
              <p:cNvPr id="4" name="椭圆 3"/>
              <p:cNvSpPr/>
              <p:nvPr/>
            </p:nvSpPr>
            <p:spPr>
              <a:xfrm>
                <a:off x="1727202" y="5109026"/>
                <a:ext cx="1103086" cy="564675"/>
              </a:xfrm>
              <a:prstGeom prst="ellipse">
                <a:avLst/>
              </a:prstGeom>
              <a:solidFill>
                <a:schemeClr val="accent1"/>
              </a:solidFill>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400" dirty="0" smtClean="0">
                    <a:solidFill>
                      <a:schemeClr val="bg1"/>
                    </a:solidFill>
                  </a:rPr>
                  <a:t>send buffer</a:t>
                </a:r>
                <a:endParaRPr lang="zh-CN" altLang="en-US" sz="1400" dirty="0">
                  <a:solidFill>
                    <a:schemeClr val="bg1"/>
                  </a:solidFill>
                </a:endParaRPr>
              </a:p>
            </p:txBody>
          </p:sp>
          <p:sp>
            <p:nvSpPr>
              <p:cNvPr id="12" name="椭圆 11"/>
              <p:cNvSpPr/>
              <p:nvPr/>
            </p:nvSpPr>
            <p:spPr>
              <a:xfrm>
                <a:off x="3330577" y="5095203"/>
                <a:ext cx="1103086" cy="564675"/>
              </a:xfrm>
              <a:prstGeom prst="ellipse">
                <a:avLst/>
              </a:prstGeom>
              <a:solidFill>
                <a:srgbClr val="00B050"/>
              </a:solidFill>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400" dirty="0" err="1" smtClean="0">
                    <a:solidFill>
                      <a:schemeClr val="bg1"/>
                    </a:solidFill>
                  </a:rPr>
                  <a:t>recv</a:t>
                </a:r>
                <a:r>
                  <a:rPr lang="en-US" altLang="zh-CN" sz="1400" dirty="0" smtClean="0">
                    <a:solidFill>
                      <a:schemeClr val="bg1"/>
                    </a:solidFill>
                  </a:rPr>
                  <a:t> buffer</a:t>
                </a:r>
                <a:endParaRPr lang="zh-CN" altLang="en-US" sz="1400" dirty="0">
                  <a:solidFill>
                    <a:schemeClr val="bg1"/>
                  </a:solidFill>
                </a:endParaRPr>
              </a:p>
            </p:txBody>
          </p:sp>
          <p:sp>
            <p:nvSpPr>
              <p:cNvPr id="16" name="矩形 15"/>
              <p:cNvSpPr/>
              <p:nvPr/>
            </p:nvSpPr>
            <p:spPr>
              <a:xfrm>
                <a:off x="8134804" y="4513940"/>
                <a:ext cx="3120572" cy="1436915"/>
              </a:xfrm>
              <a:prstGeom prst="rect">
                <a:avLst/>
              </a:prstGeom>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400"/>
              </a:p>
            </p:txBody>
          </p:sp>
          <p:sp>
            <p:nvSpPr>
              <p:cNvPr id="17" name="椭圆 16"/>
              <p:cNvSpPr/>
              <p:nvPr/>
            </p:nvSpPr>
            <p:spPr>
              <a:xfrm>
                <a:off x="8405916" y="5109026"/>
                <a:ext cx="1103086" cy="564675"/>
              </a:xfrm>
              <a:prstGeom prst="ellipse">
                <a:avLst/>
              </a:prstGeom>
              <a:solidFill>
                <a:schemeClr val="accent1"/>
              </a:solidFill>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400" dirty="0" smtClean="0">
                    <a:solidFill>
                      <a:schemeClr val="bg1"/>
                    </a:solidFill>
                  </a:rPr>
                  <a:t>send buffer</a:t>
                </a:r>
                <a:endParaRPr lang="zh-CN" altLang="en-US" sz="1400" dirty="0">
                  <a:solidFill>
                    <a:schemeClr val="bg1"/>
                  </a:solidFill>
                </a:endParaRPr>
              </a:p>
            </p:txBody>
          </p:sp>
          <p:sp>
            <p:nvSpPr>
              <p:cNvPr id="18" name="椭圆 17"/>
              <p:cNvSpPr/>
              <p:nvPr/>
            </p:nvSpPr>
            <p:spPr>
              <a:xfrm>
                <a:off x="10009291" y="5095203"/>
                <a:ext cx="1103086" cy="564675"/>
              </a:xfrm>
              <a:prstGeom prst="ellipse">
                <a:avLst/>
              </a:prstGeom>
              <a:solidFill>
                <a:srgbClr val="00B050"/>
              </a:solidFill>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400" dirty="0" err="1" smtClean="0">
                    <a:solidFill>
                      <a:schemeClr val="bg1"/>
                    </a:solidFill>
                  </a:rPr>
                  <a:t>recv</a:t>
                </a:r>
                <a:r>
                  <a:rPr lang="en-US" altLang="zh-CN" sz="1400" dirty="0" smtClean="0">
                    <a:solidFill>
                      <a:schemeClr val="bg1"/>
                    </a:solidFill>
                  </a:rPr>
                  <a:t> buffer</a:t>
                </a:r>
                <a:endParaRPr lang="zh-CN" altLang="en-US" sz="1400" dirty="0">
                  <a:solidFill>
                    <a:schemeClr val="bg1"/>
                  </a:solidFill>
                </a:endParaRPr>
              </a:p>
            </p:txBody>
          </p:sp>
          <p:sp>
            <p:nvSpPr>
              <p:cNvPr id="5" name="云形标注 4"/>
              <p:cNvSpPr/>
              <p:nvPr/>
            </p:nvSpPr>
            <p:spPr>
              <a:xfrm>
                <a:off x="5764934" y="5010252"/>
                <a:ext cx="1071914" cy="649626"/>
              </a:xfrm>
              <a:prstGeom prst="cloudCallout">
                <a:avLst/>
              </a:prstGeom>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r>
                  <a:rPr lang="zh-CN" altLang="en-US" sz="1400" dirty="0">
                    <a:solidFill>
                      <a:schemeClr val="bg1"/>
                    </a:solidFill>
                  </a:rPr>
                  <a:t>网络</a:t>
                </a:r>
              </a:p>
            </p:txBody>
          </p:sp>
          <p:sp>
            <p:nvSpPr>
              <p:cNvPr id="6" name="文本框 5"/>
              <p:cNvSpPr txBox="1"/>
              <p:nvPr/>
            </p:nvSpPr>
            <p:spPr>
              <a:xfrm>
                <a:off x="1516105" y="4539101"/>
                <a:ext cx="1814472" cy="307777"/>
              </a:xfrm>
              <a:prstGeom prst="rect">
                <a:avLst/>
              </a:prstGeom>
              <a:noFill/>
            </p:spPr>
            <p:txBody>
              <a:bodyPr wrap="square" rtlCol="0">
                <a:spAutoFit/>
              </a:bodyPr>
              <a:lstStyle/>
              <a:p>
                <a:pPr algn="l"/>
                <a:r>
                  <a:rPr lang="zh-CN" altLang="en-US" sz="1400" i="1" dirty="0" smtClean="0">
                    <a:solidFill>
                      <a:schemeClr val="accent6">
                        <a:lumMod val="75000"/>
                      </a:schemeClr>
                    </a:solidFill>
                    <a:latin typeface="微软雅黑" panose="020B0503020204020204" pitchFamily="34" charset="-122"/>
                    <a:ea typeface="微软雅黑" panose="020B0503020204020204" pitchFamily="34" charset="-122"/>
                  </a:rPr>
                  <a:t>客户端操作系统内核</a:t>
                </a:r>
              </a:p>
            </p:txBody>
          </p:sp>
          <p:sp>
            <p:nvSpPr>
              <p:cNvPr id="19" name="文本框 18"/>
              <p:cNvSpPr txBox="1"/>
              <p:nvPr/>
            </p:nvSpPr>
            <p:spPr>
              <a:xfrm>
                <a:off x="8147525" y="4527763"/>
                <a:ext cx="1814472" cy="307777"/>
              </a:xfrm>
              <a:prstGeom prst="rect">
                <a:avLst/>
              </a:prstGeom>
              <a:noFill/>
            </p:spPr>
            <p:txBody>
              <a:bodyPr wrap="square" rtlCol="0">
                <a:spAutoFit/>
              </a:bodyPr>
              <a:lstStyle/>
              <a:p>
                <a:pPr algn="l"/>
                <a:r>
                  <a:rPr lang="zh-CN" altLang="en-US" sz="1400" i="1" dirty="0">
                    <a:solidFill>
                      <a:schemeClr val="accent6">
                        <a:lumMod val="75000"/>
                      </a:schemeClr>
                    </a:solidFill>
                    <a:latin typeface="微软雅黑" panose="020B0503020204020204" pitchFamily="34" charset="-122"/>
                    <a:ea typeface="微软雅黑" panose="020B0503020204020204" pitchFamily="34" charset="-122"/>
                  </a:rPr>
                  <a:t>服务器</a:t>
                </a:r>
                <a:r>
                  <a:rPr lang="zh-CN" altLang="en-US" sz="1400" i="1" dirty="0" smtClean="0">
                    <a:solidFill>
                      <a:schemeClr val="accent6">
                        <a:lumMod val="75000"/>
                      </a:schemeClr>
                    </a:solidFill>
                    <a:latin typeface="微软雅黑" panose="020B0503020204020204" pitchFamily="34" charset="-122"/>
                    <a:ea typeface="微软雅黑" panose="020B0503020204020204" pitchFamily="34" charset="-122"/>
                  </a:rPr>
                  <a:t>操作系统内核</a:t>
                </a:r>
              </a:p>
            </p:txBody>
          </p:sp>
          <p:sp>
            <p:nvSpPr>
              <p:cNvPr id="7" name="椭圆 6"/>
              <p:cNvSpPr/>
              <p:nvPr/>
            </p:nvSpPr>
            <p:spPr>
              <a:xfrm>
                <a:off x="2423341" y="3670730"/>
                <a:ext cx="1118147" cy="406400"/>
              </a:xfrm>
              <a:prstGeom prst="ellipse">
                <a:avLst/>
              </a:prstGeom>
              <a:solidFill>
                <a:schemeClr val="accent4">
                  <a:lumMod val="50000"/>
                </a:schemeClr>
              </a:solidFill>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400" dirty="0" smtClean="0">
                    <a:solidFill>
                      <a:schemeClr val="bg1"/>
                    </a:solidFill>
                  </a:rPr>
                  <a:t>client</a:t>
                </a:r>
                <a:endParaRPr lang="zh-CN" altLang="en-US" sz="1400" dirty="0">
                  <a:solidFill>
                    <a:schemeClr val="bg1"/>
                  </a:solidFill>
                </a:endParaRPr>
              </a:p>
            </p:txBody>
          </p:sp>
          <p:sp>
            <p:nvSpPr>
              <p:cNvPr id="20" name="椭圆 19"/>
              <p:cNvSpPr/>
              <p:nvPr/>
            </p:nvSpPr>
            <p:spPr>
              <a:xfrm>
                <a:off x="9009063" y="3670729"/>
                <a:ext cx="1194479" cy="406400"/>
              </a:xfrm>
              <a:prstGeom prst="ellipse">
                <a:avLst/>
              </a:prstGeom>
              <a:solidFill>
                <a:schemeClr val="accent4">
                  <a:lumMod val="50000"/>
                </a:schemeClr>
              </a:solidFill>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400" dirty="0" smtClean="0">
                    <a:solidFill>
                      <a:schemeClr val="bg1"/>
                    </a:solidFill>
                  </a:rPr>
                  <a:t>server</a:t>
                </a:r>
                <a:endParaRPr lang="zh-CN" altLang="en-US" sz="1400" dirty="0">
                  <a:solidFill>
                    <a:schemeClr val="bg1"/>
                  </a:solidFill>
                </a:endParaRPr>
              </a:p>
            </p:txBody>
          </p:sp>
          <p:cxnSp>
            <p:nvCxnSpPr>
              <p:cNvPr id="24" name="曲线连接符 23"/>
              <p:cNvCxnSpPr>
                <a:stCxn id="4" idx="4"/>
                <a:endCxn id="5" idx="1"/>
              </p:cNvCxnSpPr>
              <p:nvPr/>
            </p:nvCxnSpPr>
            <p:spPr>
              <a:xfrm rot="5400000" flipH="1" flipV="1">
                <a:off x="4282560" y="3655371"/>
                <a:ext cx="14515" cy="4022146"/>
              </a:xfrm>
              <a:prstGeom prst="curvedConnector3">
                <a:avLst>
                  <a:gd name="adj1" fmla="val -1574922"/>
                </a:avLst>
              </a:prstGeom>
              <a:ln w="19050" cmpd="sng">
                <a:solidFill>
                  <a:srgbClr val="00B050"/>
                </a:solidFill>
                <a:prstDash val="solid"/>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6" name="曲线连接符 25"/>
              <p:cNvCxnSpPr>
                <a:stCxn id="5" idx="1"/>
                <a:endCxn id="18" idx="4"/>
              </p:cNvCxnSpPr>
              <p:nvPr/>
            </p:nvCxnSpPr>
            <p:spPr>
              <a:xfrm rot="16200000" flipH="1">
                <a:off x="8430516" y="3529560"/>
                <a:ext cx="692" cy="4259943"/>
              </a:xfrm>
              <a:prstGeom prst="curvedConnector3">
                <a:avLst>
                  <a:gd name="adj1" fmla="val 33134682"/>
                </a:avLst>
              </a:prstGeom>
              <a:ln w="19050" cmpd="sng">
                <a:solidFill>
                  <a:srgbClr val="00B050"/>
                </a:solidFill>
                <a:prstDash val="solid"/>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8" name="曲线连接符 27"/>
              <p:cNvCxnSpPr>
                <a:stCxn id="18" idx="0"/>
                <a:endCxn id="20" idx="4"/>
              </p:cNvCxnSpPr>
              <p:nvPr/>
            </p:nvCxnSpPr>
            <p:spPr>
              <a:xfrm rot="16200000" flipV="1">
                <a:off x="9574532" y="4108900"/>
                <a:ext cx="1018074" cy="954531"/>
              </a:xfrm>
              <a:prstGeom prst="curvedConnector3">
                <a:avLst/>
              </a:prstGeom>
              <a:ln w="19050" cmpd="sng">
                <a:solidFill>
                  <a:srgbClr val="00B050"/>
                </a:solidFill>
                <a:prstDash val="solid"/>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0" name="曲线连接符 29"/>
              <p:cNvCxnSpPr>
                <a:stCxn id="20" idx="3"/>
                <a:endCxn id="17" idx="0"/>
              </p:cNvCxnSpPr>
              <p:nvPr/>
            </p:nvCxnSpPr>
            <p:spPr>
              <a:xfrm rot="5400000">
                <a:off x="8525019" y="4450054"/>
                <a:ext cx="1091413" cy="226531"/>
              </a:xfrm>
              <a:prstGeom prst="curvedConnector3">
                <a:avLst>
                  <a:gd name="adj1" fmla="val 50000"/>
                </a:avLst>
              </a:prstGeom>
              <a:ln w="19050" cmpd="sng">
                <a:solidFill>
                  <a:srgbClr val="FFC000"/>
                </a:solidFill>
                <a:prstDash val="solid"/>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2" name="曲线连接符 31"/>
              <p:cNvCxnSpPr>
                <a:stCxn id="17" idx="2"/>
                <a:endCxn id="5" idx="2"/>
              </p:cNvCxnSpPr>
              <p:nvPr/>
            </p:nvCxnSpPr>
            <p:spPr>
              <a:xfrm rot="10800000">
                <a:off x="6835956" y="5335066"/>
                <a:ext cx="1569961" cy="56299"/>
              </a:xfrm>
              <a:prstGeom prst="curvedConnector3">
                <a:avLst/>
              </a:prstGeom>
              <a:ln w="19050" cmpd="sng">
                <a:solidFill>
                  <a:srgbClr val="FFC000"/>
                </a:solidFill>
                <a:prstDash val="solid"/>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4" name="曲线连接符 33"/>
              <p:cNvCxnSpPr>
                <a:stCxn id="5" idx="0"/>
                <a:endCxn id="12" idx="6"/>
              </p:cNvCxnSpPr>
              <p:nvPr/>
            </p:nvCxnSpPr>
            <p:spPr>
              <a:xfrm rot="10800000" flipV="1">
                <a:off x="4433663" y="5335065"/>
                <a:ext cx="1334596" cy="42476"/>
              </a:xfrm>
              <a:prstGeom prst="curvedConnector3">
                <a:avLst/>
              </a:prstGeom>
              <a:ln w="19050" cmpd="sng">
                <a:solidFill>
                  <a:srgbClr val="FFC000"/>
                </a:solidFill>
                <a:prstDash val="solid"/>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6" name="曲线连接符 35"/>
              <p:cNvCxnSpPr>
                <a:stCxn id="12" idx="0"/>
                <a:endCxn id="7" idx="5"/>
              </p:cNvCxnSpPr>
              <p:nvPr/>
            </p:nvCxnSpPr>
            <p:spPr>
              <a:xfrm rot="16200000" flipV="1">
                <a:off x="3091136" y="4304218"/>
                <a:ext cx="1077589" cy="504381"/>
              </a:xfrm>
              <a:prstGeom prst="curvedConnector3">
                <a:avLst/>
              </a:prstGeom>
              <a:ln w="19050" cmpd="sng">
                <a:solidFill>
                  <a:srgbClr val="FFC000"/>
                </a:solidFill>
                <a:prstDash val="solid"/>
                <a:headEnd type="none"/>
                <a:tailEnd type="triangle"/>
              </a:ln>
            </p:spPr>
            <p:style>
              <a:lnRef idx="1">
                <a:schemeClr val="accent1"/>
              </a:lnRef>
              <a:fillRef idx="0">
                <a:schemeClr val="accent1"/>
              </a:fillRef>
              <a:effectRef idx="0">
                <a:schemeClr val="accent1"/>
              </a:effectRef>
              <a:fontRef idx="minor">
                <a:schemeClr val="tx1"/>
              </a:fontRef>
            </p:style>
          </p:cxnSp>
          <p:grpSp>
            <p:nvGrpSpPr>
              <p:cNvPr id="39" name="组合 38"/>
              <p:cNvGrpSpPr/>
              <p:nvPr/>
            </p:nvGrpSpPr>
            <p:grpSpPr>
              <a:xfrm>
                <a:off x="1888746" y="4077129"/>
                <a:ext cx="1255213" cy="1114591"/>
                <a:chOff x="2556401" y="4556103"/>
                <a:chExt cx="1255213" cy="1114591"/>
              </a:xfrm>
            </p:grpSpPr>
            <p:cxnSp>
              <p:nvCxnSpPr>
                <p:cNvPr id="22" name="曲线连接符 21"/>
                <p:cNvCxnSpPr>
                  <a:stCxn id="7" idx="4"/>
                  <a:endCxn id="4" idx="1"/>
                </p:cNvCxnSpPr>
                <p:nvPr/>
              </p:nvCxnSpPr>
              <p:spPr>
                <a:xfrm rot="5400000">
                  <a:off x="2545940" y="4566564"/>
                  <a:ext cx="1114591" cy="1093670"/>
                </a:xfrm>
                <a:prstGeom prst="curvedConnector3">
                  <a:avLst>
                    <a:gd name="adj1" fmla="val 50000"/>
                  </a:avLst>
                </a:prstGeom>
                <a:ln w="19050" cmpd="sng">
                  <a:solidFill>
                    <a:srgbClr val="00B050"/>
                  </a:solidFill>
                  <a:prstDash val="solid"/>
                  <a:headEnd type="none"/>
                  <a:tailEnd type="stealth"/>
                </a:ln>
              </p:spPr>
              <p:style>
                <a:lnRef idx="1">
                  <a:schemeClr val="accent1"/>
                </a:lnRef>
                <a:fillRef idx="0">
                  <a:schemeClr val="accent1"/>
                </a:fillRef>
                <a:effectRef idx="0">
                  <a:schemeClr val="accent1"/>
                </a:effectRef>
                <a:fontRef idx="minor">
                  <a:schemeClr val="tx1"/>
                </a:fontRef>
              </p:style>
            </p:cxnSp>
            <p:sp>
              <p:nvSpPr>
                <p:cNvPr id="38" name="文本框 37"/>
                <p:cNvSpPr txBox="1"/>
                <p:nvPr/>
              </p:nvSpPr>
              <p:spPr>
                <a:xfrm>
                  <a:off x="2590708" y="4715761"/>
                  <a:ext cx="1220906" cy="307777"/>
                </a:xfrm>
                <a:prstGeom prst="rect">
                  <a:avLst/>
                </a:prstGeom>
                <a:noFill/>
              </p:spPr>
              <p:txBody>
                <a:bodyPr wrap="square" rtlCol="0">
                  <a:spAutoFit/>
                </a:bodyPr>
                <a:lstStyle/>
                <a:p>
                  <a:pPr algn="l"/>
                  <a:r>
                    <a:rPr lang="en-US" altLang="zh-CN" sz="1400" dirty="0" smtClean="0">
                      <a:solidFill>
                        <a:srgbClr val="FFFF00"/>
                      </a:solidFill>
                      <a:latin typeface="微软雅黑" panose="020B0503020204020204" pitchFamily="34" charset="-122"/>
                      <a:ea typeface="微软雅黑" panose="020B0503020204020204" pitchFamily="34" charset="-122"/>
                    </a:rPr>
                    <a:t>1</a:t>
                  </a:r>
                  <a:r>
                    <a:rPr lang="zh-CN" altLang="en-US" sz="1400" dirty="0" smtClean="0">
                      <a:solidFill>
                        <a:srgbClr val="FFFF00"/>
                      </a:solidFill>
                      <a:latin typeface="微软雅黑" panose="020B0503020204020204" pitchFamily="34" charset="-122"/>
                      <a:ea typeface="微软雅黑" panose="020B0503020204020204" pitchFamily="34" charset="-122"/>
                    </a:rPr>
                    <a:t>、</a:t>
                  </a:r>
                  <a:r>
                    <a:rPr lang="en-US" altLang="zh-CN" sz="1400" dirty="0" smtClean="0">
                      <a:solidFill>
                        <a:srgbClr val="FFFF00"/>
                      </a:solidFill>
                      <a:latin typeface="微软雅黑" panose="020B0503020204020204" pitchFamily="34" charset="-122"/>
                      <a:ea typeface="微软雅黑" panose="020B0503020204020204" pitchFamily="34" charset="-122"/>
                    </a:rPr>
                    <a:t>request</a:t>
                  </a:r>
                  <a:endParaRPr lang="zh-CN" altLang="en-US" sz="1400" dirty="0" smtClean="0">
                    <a:solidFill>
                      <a:srgbClr val="FFFF00"/>
                    </a:solidFill>
                    <a:latin typeface="微软雅黑" panose="020B0503020204020204" pitchFamily="34" charset="-122"/>
                    <a:ea typeface="微软雅黑" panose="020B0503020204020204" pitchFamily="34" charset="-122"/>
                  </a:endParaRPr>
                </a:p>
              </p:txBody>
            </p:sp>
          </p:grpSp>
          <p:sp>
            <p:nvSpPr>
              <p:cNvPr id="40" name="文本框 39"/>
              <p:cNvSpPr txBox="1"/>
              <p:nvPr/>
            </p:nvSpPr>
            <p:spPr>
              <a:xfrm>
                <a:off x="3092636" y="5917995"/>
                <a:ext cx="1194667" cy="307777"/>
              </a:xfrm>
              <a:prstGeom prst="rect">
                <a:avLst/>
              </a:prstGeom>
              <a:noFill/>
            </p:spPr>
            <p:txBody>
              <a:bodyPr wrap="square" rtlCol="0">
                <a:spAutoFit/>
              </a:bodyPr>
              <a:lstStyle/>
              <a:p>
                <a:pPr algn="l"/>
                <a:r>
                  <a:rPr lang="en-US" altLang="zh-CN" sz="1400" dirty="0" smtClean="0">
                    <a:solidFill>
                      <a:srgbClr val="FFFF00"/>
                    </a:solidFill>
                    <a:latin typeface="微软雅黑" panose="020B0503020204020204" pitchFamily="34" charset="-122"/>
                    <a:ea typeface="微软雅黑" panose="020B0503020204020204" pitchFamily="34" charset="-122"/>
                  </a:rPr>
                  <a:t>2</a:t>
                </a:r>
                <a:r>
                  <a:rPr lang="zh-CN" altLang="en-US" sz="1400" dirty="0" smtClean="0">
                    <a:solidFill>
                      <a:srgbClr val="FFFF00"/>
                    </a:solidFill>
                    <a:latin typeface="微软雅黑" panose="020B0503020204020204" pitchFamily="34" charset="-122"/>
                    <a:ea typeface="微软雅黑" panose="020B0503020204020204" pitchFamily="34" charset="-122"/>
                  </a:rPr>
                  <a:t>、网络传输</a:t>
                </a:r>
              </a:p>
            </p:txBody>
          </p:sp>
          <p:sp>
            <p:nvSpPr>
              <p:cNvPr id="41" name="文本框 40"/>
              <p:cNvSpPr txBox="1"/>
              <p:nvPr/>
            </p:nvSpPr>
            <p:spPr>
              <a:xfrm>
                <a:off x="7565467" y="5933037"/>
                <a:ext cx="2233209" cy="307777"/>
              </a:xfrm>
              <a:prstGeom prst="rect">
                <a:avLst/>
              </a:prstGeom>
              <a:noFill/>
            </p:spPr>
            <p:txBody>
              <a:bodyPr wrap="square" rtlCol="0">
                <a:spAutoFit/>
              </a:bodyPr>
              <a:lstStyle/>
              <a:p>
                <a:pPr algn="l"/>
                <a:r>
                  <a:rPr lang="en-US" altLang="zh-CN" sz="1400" dirty="0">
                    <a:solidFill>
                      <a:srgbClr val="FFFF00"/>
                    </a:solidFill>
                    <a:latin typeface="微软雅黑" panose="020B0503020204020204" pitchFamily="34" charset="-122"/>
                    <a:ea typeface="微软雅黑" panose="020B0503020204020204" pitchFamily="34" charset="-122"/>
                  </a:rPr>
                  <a:t>3</a:t>
                </a:r>
                <a:r>
                  <a:rPr lang="zh-CN" altLang="en-US" sz="1400" dirty="0" smtClean="0">
                    <a:solidFill>
                      <a:srgbClr val="FFFF00"/>
                    </a:solidFill>
                    <a:latin typeface="微软雅黑" panose="020B0503020204020204" pitchFamily="34" charset="-122"/>
                    <a:ea typeface="微软雅黑" panose="020B0503020204020204" pitchFamily="34" charset="-122"/>
                  </a:rPr>
                  <a:t>、内核接收请求数据</a:t>
                </a:r>
              </a:p>
            </p:txBody>
          </p:sp>
          <p:sp>
            <p:nvSpPr>
              <p:cNvPr id="42" name="文本框 41"/>
              <p:cNvSpPr txBox="1"/>
              <p:nvPr/>
            </p:nvSpPr>
            <p:spPr>
              <a:xfrm>
                <a:off x="9609988" y="4703797"/>
                <a:ext cx="2146512" cy="307777"/>
              </a:xfrm>
              <a:prstGeom prst="rect">
                <a:avLst/>
              </a:prstGeom>
              <a:noFill/>
            </p:spPr>
            <p:txBody>
              <a:bodyPr wrap="square" rtlCol="0">
                <a:spAutoFit/>
              </a:bodyPr>
              <a:lstStyle/>
              <a:p>
                <a:pPr algn="l"/>
                <a:r>
                  <a:rPr lang="en-US" altLang="zh-CN" sz="1400" dirty="0" smtClean="0">
                    <a:solidFill>
                      <a:srgbClr val="FFFF00"/>
                    </a:solidFill>
                    <a:latin typeface="微软雅黑" panose="020B0503020204020204" pitchFamily="34" charset="-122"/>
                    <a:ea typeface="微软雅黑" panose="020B0503020204020204" pitchFamily="34" charset="-122"/>
                  </a:rPr>
                  <a:t>4</a:t>
                </a:r>
                <a:r>
                  <a:rPr lang="zh-CN" altLang="en-US" sz="1400" dirty="0" smtClean="0">
                    <a:solidFill>
                      <a:srgbClr val="FFFF00"/>
                    </a:solidFill>
                    <a:latin typeface="微软雅黑" panose="020B0503020204020204" pitchFamily="34" charset="-122"/>
                    <a:ea typeface="微软雅黑" panose="020B0503020204020204" pitchFamily="34" charset="-122"/>
                  </a:rPr>
                  <a:t>、</a:t>
                </a:r>
                <a:r>
                  <a:rPr lang="en-US" altLang="zh-CN" sz="1400" dirty="0" err="1" smtClean="0">
                    <a:solidFill>
                      <a:srgbClr val="FFFF00"/>
                    </a:solidFill>
                    <a:latin typeface="微软雅黑" panose="020B0503020204020204" pitchFamily="34" charset="-122"/>
                    <a:ea typeface="微软雅黑" panose="020B0503020204020204" pitchFamily="34" charset="-122"/>
                  </a:rPr>
                  <a:t>redis</a:t>
                </a:r>
                <a:r>
                  <a:rPr lang="zh-CN" altLang="en-US" sz="1400" dirty="0" smtClean="0">
                    <a:solidFill>
                      <a:srgbClr val="FFFF00"/>
                    </a:solidFill>
                    <a:latin typeface="微软雅黑" panose="020B0503020204020204" pitchFamily="34" charset="-122"/>
                    <a:ea typeface="微软雅黑" panose="020B0503020204020204" pitchFamily="34" charset="-122"/>
                  </a:rPr>
                  <a:t>接收数据并处理</a:t>
                </a:r>
              </a:p>
            </p:txBody>
          </p:sp>
          <p:sp>
            <p:nvSpPr>
              <p:cNvPr id="45" name="文本框 44"/>
              <p:cNvSpPr txBox="1"/>
              <p:nvPr/>
            </p:nvSpPr>
            <p:spPr>
              <a:xfrm>
                <a:off x="8015592" y="4204311"/>
                <a:ext cx="1378639" cy="307777"/>
              </a:xfrm>
              <a:prstGeom prst="rect">
                <a:avLst/>
              </a:prstGeom>
              <a:noFill/>
            </p:spPr>
            <p:txBody>
              <a:bodyPr wrap="square" rtlCol="0">
                <a:spAutoFit/>
              </a:bodyPr>
              <a:lstStyle/>
              <a:p>
                <a:pPr algn="l"/>
                <a:r>
                  <a:rPr lang="en-US" altLang="zh-CN" sz="1400" dirty="0">
                    <a:solidFill>
                      <a:srgbClr val="00B050"/>
                    </a:solidFill>
                    <a:latin typeface="微软雅黑" panose="020B0503020204020204" pitchFamily="34" charset="-122"/>
                    <a:ea typeface="微软雅黑" panose="020B0503020204020204" pitchFamily="34" charset="-122"/>
                  </a:rPr>
                  <a:t>5</a:t>
                </a:r>
                <a:r>
                  <a:rPr lang="zh-CN" altLang="en-US" sz="1400" dirty="0" smtClean="0">
                    <a:solidFill>
                      <a:srgbClr val="00B050"/>
                    </a:solidFill>
                    <a:latin typeface="微软雅黑" panose="020B0503020204020204" pitchFamily="34" charset="-122"/>
                    <a:ea typeface="微软雅黑" panose="020B0503020204020204" pitchFamily="34" charset="-122"/>
                  </a:rPr>
                  <a:t>、</a:t>
                </a:r>
                <a:r>
                  <a:rPr lang="en-US" altLang="zh-CN" sz="1400" dirty="0" smtClean="0">
                    <a:solidFill>
                      <a:srgbClr val="00B050"/>
                    </a:solidFill>
                    <a:latin typeface="微软雅黑" panose="020B0503020204020204" pitchFamily="34" charset="-122"/>
                    <a:ea typeface="微软雅黑" panose="020B0503020204020204" pitchFamily="34" charset="-122"/>
                  </a:rPr>
                  <a:t>response</a:t>
                </a:r>
                <a:endParaRPr lang="zh-CN" altLang="en-US" sz="1400" dirty="0" smtClean="0">
                  <a:solidFill>
                    <a:srgbClr val="00B050"/>
                  </a:solidFill>
                  <a:latin typeface="微软雅黑" panose="020B0503020204020204" pitchFamily="34" charset="-122"/>
                  <a:ea typeface="微软雅黑" panose="020B0503020204020204" pitchFamily="34" charset="-122"/>
                </a:endParaRPr>
              </a:p>
            </p:txBody>
          </p:sp>
          <p:sp>
            <p:nvSpPr>
              <p:cNvPr id="46" name="文本框 45"/>
              <p:cNvSpPr txBox="1"/>
              <p:nvPr/>
            </p:nvSpPr>
            <p:spPr>
              <a:xfrm>
                <a:off x="6853964" y="4994659"/>
                <a:ext cx="1652244" cy="307777"/>
              </a:xfrm>
              <a:prstGeom prst="rect">
                <a:avLst/>
              </a:prstGeom>
              <a:noFill/>
            </p:spPr>
            <p:txBody>
              <a:bodyPr wrap="square" rtlCol="0">
                <a:spAutoFit/>
              </a:bodyPr>
              <a:lstStyle/>
              <a:p>
                <a:pPr algn="l"/>
                <a:r>
                  <a:rPr lang="en-US" altLang="zh-CN" sz="1400" dirty="0" smtClean="0">
                    <a:solidFill>
                      <a:srgbClr val="00B050"/>
                    </a:solidFill>
                    <a:latin typeface="微软雅黑" panose="020B0503020204020204" pitchFamily="34" charset="-122"/>
                    <a:ea typeface="微软雅黑" panose="020B0503020204020204" pitchFamily="34" charset="-122"/>
                  </a:rPr>
                  <a:t>6</a:t>
                </a:r>
                <a:r>
                  <a:rPr lang="zh-CN" altLang="en-US" sz="1400" dirty="0" smtClean="0">
                    <a:solidFill>
                      <a:srgbClr val="00B050"/>
                    </a:solidFill>
                    <a:latin typeface="微软雅黑" panose="020B0503020204020204" pitchFamily="34" charset="-122"/>
                    <a:ea typeface="微软雅黑" panose="020B0503020204020204" pitchFamily="34" charset="-122"/>
                  </a:rPr>
                  <a:t>、数据网络传输</a:t>
                </a:r>
              </a:p>
            </p:txBody>
          </p:sp>
          <p:sp>
            <p:nvSpPr>
              <p:cNvPr id="48" name="文本框 47"/>
              <p:cNvSpPr txBox="1"/>
              <p:nvPr/>
            </p:nvSpPr>
            <p:spPr>
              <a:xfrm>
                <a:off x="4506699" y="4945595"/>
                <a:ext cx="1616793" cy="523220"/>
              </a:xfrm>
              <a:prstGeom prst="rect">
                <a:avLst/>
              </a:prstGeom>
              <a:noFill/>
            </p:spPr>
            <p:txBody>
              <a:bodyPr wrap="square" rtlCol="0">
                <a:spAutoFit/>
              </a:bodyPr>
              <a:lstStyle/>
              <a:p>
                <a:pPr algn="l"/>
                <a:r>
                  <a:rPr lang="en-US" altLang="zh-CN" sz="1400" dirty="0">
                    <a:solidFill>
                      <a:srgbClr val="00B050"/>
                    </a:solidFill>
                    <a:latin typeface="微软雅黑" panose="020B0503020204020204" pitchFamily="34" charset="-122"/>
                    <a:ea typeface="微软雅黑" panose="020B0503020204020204" pitchFamily="34" charset="-122"/>
                  </a:rPr>
                  <a:t>7</a:t>
                </a:r>
                <a:r>
                  <a:rPr lang="zh-CN" altLang="en-US" sz="1400" dirty="0" smtClean="0">
                    <a:solidFill>
                      <a:srgbClr val="00B050"/>
                    </a:solidFill>
                    <a:latin typeface="微软雅黑" panose="020B0503020204020204" pitchFamily="34" charset="-122"/>
                    <a:ea typeface="微软雅黑" panose="020B0503020204020204" pitchFamily="34" charset="-122"/>
                  </a:rPr>
                  <a:t>、内核接收响应数据</a:t>
                </a:r>
              </a:p>
            </p:txBody>
          </p:sp>
          <p:sp>
            <p:nvSpPr>
              <p:cNvPr id="49" name="文本框 48"/>
              <p:cNvSpPr txBox="1"/>
              <p:nvPr/>
            </p:nvSpPr>
            <p:spPr>
              <a:xfrm>
                <a:off x="3457731" y="4256745"/>
                <a:ext cx="2041508" cy="307777"/>
              </a:xfrm>
              <a:prstGeom prst="rect">
                <a:avLst/>
              </a:prstGeom>
              <a:noFill/>
            </p:spPr>
            <p:txBody>
              <a:bodyPr wrap="square" rtlCol="0">
                <a:spAutoFit/>
              </a:bodyPr>
              <a:lstStyle/>
              <a:p>
                <a:pPr algn="l"/>
                <a:r>
                  <a:rPr lang="en-US" altLang="zh-CN" sz="1400" dirty="0" smtClean="0">
                    <a:solidFill>
                      <a:srgbClr val="00B050"/>
                    </a:solidFill>
                    <a:latin typeface="微软雅黑" panose="020B0503020204020204" pitchFamily="34" charset="-122"/>
                    <a:ea typeface="微软雅黑" panose="020B0503020204020204" pitchFamily="34" charset="-122"/>
                  </a:rPr>
                  <a:t>8</a:t>
                </a:r>
                <a:r>
                  <a:rPr lang="zh-CN" altLang="en-US" sz="1400" dirty="0" smtClean="0">
                    <a:solidFill>
                      <a:srgbClr val="00B050"/>
                    </a:solidFill>
                    <a:latin typeface="微软雅黑" panose="020B0503020204020204" pitchFamily="34" charset="-122"/>
                    <a:ea typeface="微软雅黑" panose="020B0503020204020204" pitchFamily="34" charset="-122"/>
                  </a:rPr>
                  <a:t>、客户端读取结果</a:t>
                </a:r>
              </a:p>
            </p:txBody>
          </p:sp>
        </p:grpSp>
        <p:sp>
          <p:nvSpPr>
            <p:cNvPr id="53" name="文本框 52"/>
            <p:cNvSpPr txBox="1"/>
            <p:nvPr/>
          </p:nvSpPr>
          <p:spPr>
            <a:xfrm>
              <a:off x="5441669" y="6095303"/>
              <a:ext cx="1486807" cy="307777"/>
            </a:xfrm>
            <a:prstGeom prst="rect">
              <a:avLst/>
            </a:prstGeom>
            <a:noFill/>
          </p:spPr>
          <p:txBody>
            <a:bodyPr wrap="square" rtlCol="0">
              <a:spAutoFit/>
            </a:bodyPr>
            <a:lstStyle/>
            <a:p>
              <a:pPr algn="l"/>
              <a:r>
                <a:rPr lang="zh-CN" altLang="en-US" sz="1400" dirty="0" smtClean="0">
                  <a:solidFill>
                    <a:schemeClr val="bg1"/>
                  </a:solidFill>
                  <a:latin typeface="微软雅黑" panose="020B0503020204020204" pitchFamily="34" charset="-122"/>
                  <a:ea typeface="微软雅黑" panose="020B0503020204020204" pitchFamily="34" charset="-122"/>
                </a:rPr>
                <a:t>图</a:t>
              </a:r>
              <a:r>
                <a:rPr lang="en-US" altLang="zh-CN" sz="1400" dirty="0" smtClean="0">
                  <a:solidFill>
                    <a:schemeClr val="bg1"/>
                  </a:solidFill>
                  <a:latin typeface="微软雅黑" panose="020B0503020204020204" pitchFamily="34" charset="-122"/>
                  <a:ea typeface="微软雅黑" panose="020B0503020204020204" pitchFamily="34" charset="-122"/>
                </a:rPr>
                <a:t>4.1.1 - 1</a:t>
              </a:r>
              <a:endParaRPr lang="zh-CN" altLang="en-US" sz="1400" dirty="0" smtClean="0">
                <a:solidFill>
                  <a:schemeClr val="bg1"/>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2806068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nodeType="clickEffect">
                                  <p:stCondLst>
                                    <p:cond delay="0"/>
                                  </p:stCondLst>
                                  <p:childTnLst>
                                    <p:set>
                                      <p:cBhvr>
                                        <p:cTn id="11" dur="1" fill="hold">
                                          <p:stCondLst>
                                            <p:cond delay="0"/>
                                          </p:stCondLst>
                                        </p:cTn>
                                        <p:tgtEl>
                                          <p:spTgt spid="54"/>
                                        </p:tgtEl>
                                        <p:attrNameLst>
                                          <p:attrName>style.visibility</p:attrName>
                                        </p:attrNameLst>
                                      </p:cBhvr>
                                      <p:to>
                                        <p:strVal val="visible"/>
                                      </p:to>
                                    </p:set>
                                    <p:anim calcmode="lin" valueType="num">
                                      <p:cBhvr>
                                        <p:cTn id="12" dur="1000" fill="hold"/>
                                        <p:tgtEl>
                                          <p:spTgt spid="54"/>
                                        </p:tgtEl>
                                        <p:attrNameLst>
                                          <p:attrName>ppt_w</p:attrName>
                                        </p:attrNameLst>
                                      </p:cBhvr>
                                      <p:tavLst>
                                        <p:tav tm="0">
                                          <p:val>
                                            <p:fltVal val="0"/>
                                          </p:val>
                                        </p:tav>
                                        <p:tav tm="100000">
                                          <p:val>
                                            <p:strVal val="#ppt_w"/>
                                          </p:val>
                                        </p:tav>
                                      </p:tavLst>
                                    </p:anim>
                                    <p:anim calcmode="lin" valueType="num">
                                      <p:cBhvr>
                                        <p:cTn id="13" dur="1000" fill="hold"/>
                                        <p:tgtEl>
                                          <p:spTgt spid="54"/>
                                        </p:tgtEl>
                                        <p:attrNameLst>
                                          <p:attrName>ppt_h</p:attrName>
                                        </p:attrNameLst>
                                      </p:cBhvr>
                                      <p:tavLst>
                                        <p:tav tm="0">
                                          <p:val>
                                            <p:fltVal val="0"/>
                                          </p:val>
                                        </p:tav>
                                        <p:tav tm="100000">
                                          <p:val>
                                            <p:strVal val="#ppt_h"/>
                                          </p:val>
                                        </p:tav>
                                      </p:tavLst>
                                    </p:anim>
                                    <p:anim calcmode="lin" valueType="num">
                                      <p:cBhvr>
                                        <p:cTn id="14" dur="1000" fill="hold"/>
                                        <p:tgtEl>
                                          <p:spTgt spid="54"/>
                                        </p:tgtEl>
                                        <p:attrNameLst>
                                          <p:attrName>style.rotation</p:attrName>
                                        </p:attrNameLst>
                                      </p:cBhvr>
                                      <p:tavLst>
                                        <p:tav tm="0">
                                          <p:val>
                                            <p:fltVal val="90"/>
                                          </p:val>
                                        </p:tav>
                                        <p:tav tm="100000">
                                          <p:val>
                                            <p:fltVal val="0"/>
                                          </p:val>
                                        </p:tav>
                                      </p:tavLst>
                                    </p:anim>
                                    <p:animEffect transition="in" filter="fade">
                                      <p:cBhvr>
                                        <p:cTn id="15" dur="10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A0F23"/>
        </a:solidFill>
        <a:effectLst/>
      </p:bgPr>
    </p:bg>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xmlns="" id="{CBDC52CD-1D62-48AF-A9DF-9F18AEA2B1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01385" y="-114300"/>
            <a:ext cx="1301859" cy="920356"/>
          </a:xfrm>
          <a:prstGeom prst="rect">
            <a:avLst/>
          </a:prstGeom>
        </p:spPr>
      </p:pic>
      <p:pic>
        <p:nvPicPr>
          <p:cNvPr id="14" name="图片 13">
            <a:extLst>
              <a:ext uri="{FF2B5EF4-FFF2-40B4-BE49-F238E27FC236}">
                <a16:creationId xmlns:a16="http://schemas.microsoft.com/office/drawing/2014/main" xmlns="" id="{F78DA958-9B1B-47DA-A870-8C0B3A7D8866}"/>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b="63537"/>
          <a:stretch/>
        </p:blipFill>
        <p:spPr>
          <a:xfrm>
            <a:off x="11184164" y="217733"/>
            <a:ext cx="572339" cy="337210"/>
          </a:xfrm>
          <a:prstGeom prst="rect">
            <a:avLst/>
          </a:prstGeom>
        </p:spPr>
      </p:pic>
      <p:cxnSp>
        <p:nvCxnSpPr>
          <p:cNvPr id="15" name="直接连接符 14">
            <a:extLst>
              <a:ext uri="{FF2B5EF4-FFF2-40B4-BE49-F238E27FC236}">
                <a16:creationId xmlns:a16="http://schemas.microsoft.com/office/drawing/2014/main" xmlns="" id="{93240A06-D526-4907-A163-94ABB41190CC}"/>
              </a:ext>
            </a:extLst>
          </p:cNvPr>
          <p:cNvCxnSpPr/>
          <p:nvPr/>
        </p:nvCxnSpPr>
        <p:spPr>
          <a:xfrm>
            <a:off x="11103244" y="225825"/>
            <a:ext cx="0" cy="2435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xmlns="" id="{74C59758-12AB-44A5-92FA-DB52904027AE}"/>
              </a:ext>
            </a:extLst>
          </p:cNvPr>
          <p:cNvSpPr/>
          <p:nvPr/>
        </p:nvSpPr>
        <p:spPr>
          <a:xfrm>
            <a:off x="802332" y="1329276"/>
            <a:ext cx="10765483" cy="2031325"/>
          </a:xfrm>
          <a:prstGeom prst="rect">
            <a:avLst/>
          </a:prstGeom>
        </p:spPr>
        <p:txBody>
          <a:bodyPr wrap="square">
            <a:spAutoFit/>
          </a:bodyPr>
          <a:lstStyle/>
          <a:p>
            <a:pPr marL="0" marR="0" lvl="0" indent="457200" algn="l" defTabSz="914400" rtl="0" eaLnBrk="1" fontAlgn="auto" latinLnBrk="0" hangingPunct="1">
              <a:lnSpc>
                <a:spcPct val="140000"/>
              </a:lnSpc>
              <a:spcBef>
                <a:spcPts val="0"/>
              </a:spcBef>
              <a:spcAft>
                <a:spcPts val="0"/>
              </a:spcAft>
              <a:buClrTx/>
              <a:buSzTx/>
              <a:buFontTx/>
              <a:buNone/>
              <a:tabLst/>
              <a:defRPr/>
            </a:pPr>
            <a:r>
              <a:rPr kumimoji="0" lang="zh-CN" altLang="en-US"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rPr>
              <a:t>在整个请求响应的时间消耗中，客户端等待服务器响应结果占了很大比重。</a:t>
            </a:r>
            <a:r>
              <a:rPr kumimoji="0" lang="en-US" altLang="zh-CN" b="0" i="0" u="none" strike="noStrike" kern="1200" cap="none" spc="0" normalizeH="0" baseline="0" noProof="0" dirty="0" err="1" smtClean="0">
                <a:ln>
                  <a:noFill/>
                </a:ln>
                <a:solidFill>
                  <a:prstClr val="white"/>
                </a:solidFill>
                <a:effectLst/>
                <a:uLnTx/>
                <a:uFillTx/>
                <a:latin typeface="微软雅黑" panose="020B0503020204020204" pitchFamily="34" charset="-122"/>
                <a:ea typeface="微软雅黑" panose="020B0503020204020204" pitchFamily="34" charset="-122"/>
              </a:rPr>
              <a:t>redis</a:t>
            </a:r>
            <a:r>
              <a:rPr kumimoji="0" lang="zh-CN" altLang="en-US"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rPr>
              <a:t>管道技术提供</a:t>
            </a:r>
            <a:r>
              <a:rPr lang="zh-CN" altLang="en-US" dirty="0" smtClean="0">
                <a:solidFill>
                  <a:prstClr val="white"/>
                </a:solidFill>
                <a:latin typeface="微软雅黑" panose="020B0503020204020204" pitchFamily="34" charset="-122"/>
                <a:ea typeface="微软雅黑" panose="020B0503020204020204" pitchFamily="34" charset="-122"/>
              </a:rPr>
              <a:t>了无需等待</a:t>
            </a:r>
            <a:r>
              <a:rPr kumimoji="0" lang="zh-CN" altLang="en-US"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rPr>
              <a:t>服</a:t>
            </a:r>
            <a:r>
              <a:rPr kumimoji="0" lang="zh-CN" altLang="en-US"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务</a:t>
            </a:r>
            <a:r>
              <a:rPr kumimoji="0" lang="zh-CN" altLang="en-US"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rPr>
              <a:t>端</a:t>
            </a:r>
            <a:r>
              <a:rPr lang="zh-CN" altLang="en-US" dirty="0" smtClean="0">
                <a:solidFill>
                  <a:prstClr val="white"/>
                </a:solidFill>
                <a:latin typeface="微软雅黑" panose="020B0503020204020204" pitchFamily="34" charset="-122"/>
                <a:ea typeface="微软雅黑" panose="020B0503020204020204" pitchFamily="34" charset="-122"/>
              </a:rPr>
              <a:t>响应请求</a:t>
            </a:r>
            <a:r>
              <a:rPr kumimoji="0" lang="zh-CN" altLang="en-US"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rPr>
              <a:t>，</a:t>
            </a:r>
            <a:r>
              <a:rPr kumimoji="0" lang="zh-CN" altLang="en-US"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客户端可以继续向服务端发送请求，并最终一次性读取所有服务端的响应</a:t>
            </a:r>
            <a:r>
              <a:rPr kumimoji="0" lang="zh-CN" altLang="en-US"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rPr>
              <a:t>。</a:t>
            </a:r>
            <a:r>
              <a:rPr lang="zh-CN" altLang="en-US" dirty="0">
                <a:solidFill>
                  <a:prstClr val="white"/>
                </a:solidFill>
                <a:latin typeface="微软雅黑" panose="020B0503020204020204" pitchFamily="34" charset="-122"/>
                <a:ea typeface="微软雅黑" panose="020B0503020204020204" pitchFamily="34" charset="-122"/>
              </a:rPr>
              <a:t>这</a:t>
            </a:r>
            <a:r>
              <a:rPr lang="zh-CN" altLang="en-US" dirty="0" smtClean="0">
                <a:solidFill>
                  <a:prstClr val="white"/>
                </a:solidFill>
                <a:latin typeface="微软雅黑" panose="020B0503020204020204" pitchFamily="34" charset="-122"/>
                <a:ea typeface="微软雅黑" panose="020B0503020204020204" pitchFamily="34" charset="-122"/>
              </a:rPr>
              <a:t>样免去了多次的</a:t>
            </a:r>
            <a:r>
              <a:rPr lang="en-US" altLang="zh-CN" dirty="0" smtClean="0">
                <a:solidFill>
                  <a:prstClr val="white"/>
                </a:solidFill>
                <a:latin typeface="微软雅黑" panose="020B0503020204020204" pitchFamily="34" charset="-122"/>
                <a:ea typeface="微软雅黑" panose="020B0503020204020204" pitchFamily="34" charset="-122"/>
              </a:rPr>
              <a:t>IO</a:t>
            </a:r>
            <a:r>
              <a:rPr lang="zh-CN" altLang="en-US" dirty="0" smtClean="0">
                <a:solidFill>
                  <a:prstClr val="white"/>
                </a:solidFill>
                <a:latin typeface="微软雅黑" panose="020B0503020204020204" pitchFamily="34" charset="-122"/>
                <a:ea typeface="微软雅黑" panose="020B0503020204020204" pitchFamily="34" charset="-122"/>
              </a:rPr>
              <a:t>等待时间，提高效率。</a:t>
            </a:r>
            <a:r>
              <a:rPr lang="zh-CN" altLang="en-US" b="1" dirty="0">
                <a:solidFill>
                  <a:srgbClr val="FFD343"/>
                </a:solidFill>
                <a:latin typeface="微软雅黑" panose="020B0503020204020204" pitchFamily="34" charset="-122"/>
                <a:ea typeface="微软雅黑" panose="020B0503020204020204" pitchFamily="34" charset="-122"/>
              </a:rPr>
              <a:t>管道技术并不是</a:t>
            </a:r>
            <a:r>
              <a:rPr lang="en-US" altLang="zh-CN" b="1" dirty="0" err="1">
                <a:solidFill>
                  <a:srgbClr val="FFD343"/>
                </a:solidFill>
                <a:latin typeface="微软雅黑" panose="020B0503020204020204" pitchFamily="34" charset="-122"/>
                <a:ea typeface="微软雅黑" panose="020B0503020204020204" pitchFamily="34" charset="-122"/>
              </a:rPr>
              <a:t>redis</a:t>
            </a:r>
            <a:r>
              <a:rPr lang="zh-CN" altLang="en-US" b="1" dirty="0">
                <a:solidFill>
                  <a:srgbClr val="FFD343"/>
                </a:solidFill>
                <a:latin typeface="微软雅黑" panose="020B0503020204020204" pitchFamily="34" charset="-122"/>
                <a:ea typeface="微软雅黑" panose="020B0503020204020204" pitchFamily="34" charset="-122"/>
              </a:rPr>
              <a:t>服务器具有的特性</a:t>
            </a:r>
            <a:r>
              <a:rPr kumimoji="0" lang="zh-CN" altLang="en-US"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rPr>
              <a:t>，对应</a:t>
            </a:r>
            <a:r>
              <a:rPr kumimoji="0" lang="en-US" altLang="zh-CN" b="0" i="0" u="none" strike="noStrike" kern="1200" cap="none" spc="0" normalizeH="0" baseline="0" noProof="0" dirty="0" err="1" smtClean="0">
                <a:ln>
                  <a:noFill/>
                </a:ln>
                <a:solidFill>
                  <a:prstClr val="white"/>
                </a:solidFill>
                <a:effectLst/>
                <a:uLnTx/>
                <a:uFillTx/>
                <a:latin typeface="微软雅黑" panose="020B0503020204020204" pitchFamily="34" charset="-122"/>
                <a:ea typeface="微软雅黑" panose="020B0503020204020204" pitchFamily="34" charset="-122"/>
              </a:rPr>
              <a:t>redis</a:t>
            </a:r>
            <a:r>
              <a:rPr kumimoji="0" lang="zh-CN" altLang="en-US"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rPr>
              <a:t>服务器来说，永远都是收到一条命令，执行一条命令并返回结果。管道技术是客户端改变了网络请求的读写顺序。把默认的写</a:t>
            </a:r>
            <a:r>
              <a:rPr kumimoji="0" lang="en-US" altLang="zh-CN"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rPr>
              <a:t>-</a:t>
            </a:r>
            <a:r>
              <a:rPr lang="zh-CN" altLang="en-US" dirty="0">
                <a:solidFill>
                  <a:prstClr val="white"/>
                </a:solidFill>
                <a:latin typeface="微软雅黑" panose="020B0503020204020204" pitchFamily="34" charset="-122"/>
                <a:ea typeface="微软雅黑" panose="020B0503020204020204" pitchFamily="34" charset="-122"/>
              </a:rPr>
              <a:t>阻</a:t>
            </a:r>
            <a:r>
              <a:rPr lang="zh-CN" altLang="en-US" dirty="0" smtClean="0">
                <a:solidFill>
                  <a:prstClr val="white"/>
                </a:solidFill>
                <a:latin typeface="微软雅黑" panose="020B0503020204020204" pitchFamily="34" charset="-122"/>
                <a:ea typeface="微软雅黑" panose="020B0503020204020204" pitchFamily="34" charset="-122"/>
              </a:rPr>
              <a:t>塞读变为多个写 </a:t>
            </a:r>
            <a:r>
              <a:rPr lang="en-US" altLang="zh-CN" dirty="0" smtClean="0">
                <a:solidFill>
                  <a:prstClr val="white"/>
                </a:solidFill>
                <a:latin typeface="微软雅黑" panose="020B0503020204020204" pitchFamily="34" charset="-122"/>
                <a:ea typeface="微软雅黑" panose="020B0503020204020204" pitchFamily="34" charset="-122"/>
              </a:rPr>
              <a:t>– </a:t>
            </a:r>
            <a:r>
              <a:rPr lang="zh-CN" altLang="en-US" dirty="0" smtClean="0">
                <a:solidFill>
                  <a:prstClr val="white"/>
                </a:solidFill>
                <a:latin typeface="微软雅黑" panose="020B0503020204020204" pitchFamily="34" charset="-122"/>
                <a:ea typeface="微软雅黑" panose="020B0503020204020204" pitchFamily="34" charset="-122"/>
              </a:rPr>
              <a:t>阻塞读</a:t>
            </a:r>
            <a:r>
              <a:rPr lang="zh-CN" altLang="en-US" dirty="0">
                <a:solidFill>
                  <a:prstClr val="white"/>
                </a:solidFill>
                <a:latin typeface="微软雅黑" panose="020B0503020204020204" pitchFamily="34" charset="-122"/>
                <a:ea typeface="微软雅黑" panose="020B0503020204020204" pitchFamily="34" charset="-122"/>
              </a:rPr>
              <a:t>。</a:t>
            </a:r>
            <a:endParaRPr kumimoji="0" lang="zh-CN" altLang="en-US"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8" name="TextBox 9"/>
          <p:cNvSpPr txBox="1"/>
          <p:nvPr/>
        </p:nvSpPr>
        <p:spPr>
          <a:xfrm>
            <a:off x="704850" y="806056"/>
            <a:ext cx="7689850" cy="523220"/>
          </a:xfrm>
          <a:prstGeom prst="rect">
            <a:avLst/>
          </a:prstGeom>
          <a:noFill/>
        </p:spPr>
        <p:txBody>
          <a:bodyPr wrap="square" rtlCol="0">
            <a:spAutoFit/>
          </a:bodyPr>
          <a:lstStyle/>
          <a:p>
            <a:pPr>
              <a:defRPr/>
            </a:pPr>
            <a:r>
              <a:rPr lang="en-US" altLang="zh-CN"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4.1.1 </a:t>
            </a:r>
            <a:r>
              <a:rPr lang="zh-CN" altLang="en-US"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管道存在的意义</a:t>
            </a:r>
          </a:p>
        </p:txBody>
      </p:sp>
    </p:spTree>
    <p:extLst>
      <p:ext uri="{BB962C8B-B14F-4D97-AF65-F5344CB8AC3E}">
        <p14:creationId xmlns:p14="http://schemas.microsoft.com/office/powerpoint/2010/main" val="42948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A0F23"/>
        </a:solidFill>
        <a:effectLst/>
      </p:bgPr>
    </p:bg>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xmlns="" id="{CBDC52CD-1D62-48AF-A9DF-9F18AEA2B1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01385" y="-114300"/>
            <a:ext cx="1301859" cy="920356"/>
          </a:xfrm>
          <a:prstGeom prst="rect">
            <a:avLst/>
          </a:prstGeom>
        </p:spPr>
      </p:pic>
      <p:pic>
        <p:nvPicPr>
          <p:cNvPr id="14" name="图片 13">
            <a:extLst>
              <a:ext uri="{FF2B5EF4-FFF2-40B4-BE49-F238E27FC236}">
                <a16:creationId xmlns:a16="http://schemas.microsoft.com/office/drawing/2014/main" xmlns="" id="{F78DA958-9B1B-47DA-A870-8C0B3A7D8866}"/>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b="63537"/>
          <a:stretch/>
        </p:blipFill>
        <p:spPr>
          <a:xfrm>
            <a:off x="11184164" y="217733"/>
            <a:ext cx="572339" cy="337210"/>
          </a:xfrm>
          <a:prstGeom prst="rect">
            <a:avLst/>
          </a:prstGeom>
        </p:spPr>
      </p:pic>
      <p:cxnSp>
        <p:nvCxnSpPr>
          <p:cNvPr id="15" name="直接连接符 14">
            <a:extLst>
              <a:ext uri="{FF2B5EF4-FFF2-40B4-BE49-F238E27FC236}">
                <a16:creationId xmlns:a16="http://schemas.microsoft.com/office/drawing/2014/main" xmlns="" id="{93240A06-D526-4907-A163-94ABB41190CC}"/>
              </a:ext>
            </a:extLst>
          </p:cNvPr>
          <p:cNvCxnSpPr/>
          <p:nvPr/>
        </p:nvCxnSpPr>
        <p:spPr>
          <a:xfrm>
            <a:off x="11103244" y="225825"/>
            <a:ext cx="0" cy="2435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7" name="TextBox 9"/>
          <p:cNvSpPr txBox="1"/>
          <p:nvPr/>
        </p:nvSpPr>
        <p:spPr>
          <a:xfrm>
            <a:off x="704850" y="956656"/>
            <a:ext cx="8883650" cy="523220"/>
          </a:xfrm>
          <a:prstGeom prst="rect">
            <a:avLst/>
          </a:prstGeom>
          <a:noFill/>
        </p:spPr>
        <p:txBody>
          <a:bodyPr wrap="square" rtlCol="0">
            <a:spAutoFit/>
          </a:bodyPr>
          <a:lstStyle/>
          <a:p>
            <a:pPr>
              <a:defRPr/>
            </a:pPr>
            <a:r>
              <a:rPr lang="en-US" altLang="zh-CN"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4.1.2 </a:t>
            </a:r>
            <a:r>
              <a:rPr lang="zh-CN" altLang="en-US"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管道的使用方法</a:t>
            </a:r>
          </a:p>
        </p:txBody>
      </p:sp>
      <p:sp>
        <p:nvSpPr>
          <p:cNvPr id="43" name="矩形 42">
            <a:extLst>
              <a:ext uri="{FF2B5EF4-FFF2-40B4-BE49-F238E27FC236}">
                <a16:creationId xmlns:a16="http://schemas.microsoft.com/office/drawing/2014/main" xmlns="" id="{74C59758-12AB-44A5-92FA-DB52904027AE}"/>
              </a:ext>
            </a:extLst>
          </p:cNvPr>
          <p:cNvSpPr/>
          <p:nvPr/>
        </p:nvSpPr>
        <p:spPr>
          <a:xfrm>
            <a:off x="704850" y="1670959"/>
            <a:ext cx="10765483" cy="2062103"/>
          </a:xfrm>
          <a:prstGeom prst="rect">
            <a:avLst/>
          </a:prstGeom>
        </p:spPr>
        <p:txBody>
          <a:bodyPr wrap="square">
            <a:spAutoFit/>
          </a:bodyPr>
          <a:lstStyle/>
          <a:p>
            <a:r>
              <a:rPr lang="zh-CN" altLang="en-US" sz="1600" dirty="0" smtClean="0">
                <a:solidFill>
                  <a:prstClr val="white"/>
                </a:solidFill>
                <a:latin typeface="微软雅黑" panose="020B0503020204020204" pitchFamily="34" charset="-122"/>
                <a:ea typeface="微软雅黑" panose="020B0503020204020204" pitchFamily="34" charset="-122"/>
              </a:rPr>
              <a:t>下面使用</a:t>
            </a:r>
            <a:r>
              <a:rPr lang="en-US" altLang="zh-CN" sz="1600" dirty="0" err="1" smtClean="0">
                <a:solidFill>
                  <a:prstClr val="white"/>
                </a:solidFill>
                <a:latin typeface="微软雅黑" panose="020B0503020204020204" pitchFamily="34" charset="-122"/>
                <a:ea typeface="微软雅黑" panose="020B0503020204020204" pitchFamily="34" charset="-122"/>
              </a:rPr>
              <a:t>jedis</a:t>
            </a:r>
            <a:r>
              <a:rPr lang="zh-CN" altLang="en-US" sz="1600" dirty="0" smtClean="0">
                <a:solidFill>
                  <a:prstClr val="white"/>
                </a:solidFill>
                <a:latin typeface="微软雅黑" panose="020B0503020204020204" pitchFamily="34" charset="-122"/>
                <a:ea typeface="微软雅黑" panose="020B0503020204020204" pitchFamily="34" charset="-122"/>
              </a:rPr>
              <a:t>客户端演示管道的用法</a:t>
            </a:r>
            <a:endParaRPr lang="en-US" altLang="zh-CN" sz="1600" dirty="0" smtClean="0">
              <a:solidFill>
                <a:prstClr val="white"/>
              </a:solidFill>
              <a:latin typeface="微软雅黑" panose="020B0503020204020204" pitchFamily="34" charset="-122"/>
              <a:ea typeface="微软雅黑" panose="020B0503020204020204" pitchFamily="34" charset="-122"/>
            </a:endParaRPr>
          </a:p>
          <a:p>
            <a:endParaRPr lang="en-US" altLang="zh-CN" sz="1600" dirty="0">
              <a:solidFill>
                <a:prstClr val="white"/>
              </a:solidFill>
              <a:latin typeface="微软雅黑" panose="020B0503020204020204" pitchFamily="34" charset="-122"/>
              <a:ea typeface="微软雅黑" panose="020B0503020204020204" pitchFamily="34" charset="-122"/>
            </a:endParaRPr>
          </a:p>
          <a:p>
            <a:r>
              <a:rPr lang="en-US" altLang="zh-CN" sz="1600" dirty="0" smtClean="0">
                <a:solidFill>
                  <a:prstClr val="white"/>
                </a:solidFill>
                <a:latin typeface="微软雅黑" panose="020B0503020204020204" pitchFamily="34" charset="-122"/>
                <a:ea typeface="微软雅黑" panose="020B0503020204020204" pitchFamily="34" charset="-122"/>
              </a:rPr>
              <a:t>maven</a:t>
            </a:r>
            <a:r>
              <a:rPr lang="zh-CN" altLang="en-US" sz="1600" dirty="0" smtClean="0">
                <a:solidFill>
                  <a:prstClr val="white"/>
                </a:solidFill>
                <a:latin typeface="微软雅黑" panose="020B0503020204020204" pitchFamily="34" charset="-122"/>
                <a:ea typeface="微软雅黑" panose="020B0503020204020204" pitchFamily="34" charset="-122"/>
              </a:rPr>
              <a:t>工程引入</a:t>
            </a:r>
            <a:r>
              <a:rPr lang="en-US" altLang="zh-CN" sz="1600" dirty="0" err="1" smtClean="0">
                <a:solidFill>
                  <a:prstClr val="white"/>
                </a:solidFill>
                <a:latin typeface="微软雅黑" panose="020B0503020204020204" pitchFamily="34" charset="-122"/>
                <a:ea typeface="微软雅黑" panose="020B0503020204020204" pitchFamily="34" charset="-122"/>
              </a:rPr>
              <a:t>jedis</a:t>
            </a:r>
            <a:r>
              <a:rPr lang="zh-CN" altLang="en-US" sz="1600" dirty="0" smtClean="0">
                <a:solidFill>
                  <a:prstClr val="white"/>
                </a:solidFill>
                <a:latin typeface="微软雅黑" panose="020B0503020204020204" pitchFamily="34" charset="-122"/>
                <a:ea typeface="微软雅黑" panose="020B0503020204020204" pitchFamily="34" charset="-122"/>
              </a:rPr>
              <a:t>的依赖</a:t>
            </a:r>
            <a:endParaRPr lang="en-US" altLang="zh-CN" sz="1600" dirty="0">
              <a:solidFill>
                <a:prstClr val="white"/>
              </a:solidFill>
              <a:latin typeface="微软雅黑" panose="020B0503020204020204" pitchFamily="34" charset="-122"/>
              <a:ea typeface="微软雅黑" panose="020B0503020204020204" pitchFamily="34" charset="-122"/>
            </a:endParaRPr>
          </a:p>
          <a:p>
            <a:r>
              <a:rPr lang="en-US" altLang="zh-CN" sz="1600" dirty="0">
                <a:solidFill>
                  <a:srgbClr val="0080FF"/>
                </a:solidFill>
                <a:latin typeface="Consolas" panose="020B0609020204030204" pitchFamily="49" charset="0"/>
              </a:rPr>
              <a:t>&lt;</a:t>
            </a:r>
            <a:r>
              <a:rPr lang="en-US" altLang="zh-CN" sz="1600" b="1" dirty="0">
                <a:solidFill>
                  <a:srgbClr val="03A8D8"/>
                </a:solidFill>
                <a:latin typeface="Consolas" panose="020B0609020204030204" pitchFamily="49" charset="0"/>
              </a:rPr>
              <a:t>dependency</a:t>
            </a:r>
            <a:r>
              <a:rPr lang="en-US" altLang="zh-CN" sz="1600" b="1" dirty="0">
                <a:solidFill>
                  <a:srgbClr val="0080FF"/>
                </a:solidFill>
                <a:latin typeface="Consolas" panose="020B0609020204030204" pitchFamily="49" charset="0"/>
              </a:rPr>
              <a:t>&gt;</a:t>
            </a:r>
          </a:p>
          <a:p>
            <a:r>
              <a:rPr lang="en-US" altLang="zh-CN" sz="1600" dirty="0">
                <a:solidFill>
                  <a:srgbClr val="D9E8F7"/>
                </a:solidFill>
                <a:latin typeface="Consolas" panose="020B0609020204030204" pitchFamily="49" charset="0"/>
              </a:rPr>
              <a:t>    </a:t>
            </a:r>
            <a:r>
              <a:rPr lang="en-US" altLang="zh-CN" sz="1600" dirty="0">
                <a:solidFill>
                  <a:srgbClr val="6FC5EE"/>
                </a:solidFill>
                <a:latin typeface="Consolas" panose="020B0609020204030204" pitchFamily="49" charset="0"/>
              </a:rPr>
              <a:t>&lt;</a:t>
            </a:r>
            <a:r>
              <a:rPr lang="en-US" altLang="zh-CN" sz="1600" b="1" dirty="0" err="1">
                <a:solidFill>
                  <a:srgbClr val="6FC5EE"/>
                </a:solidFill>
                <a:latin typeface="Consolas" panose="020B0609020204030204" pitchFamily="49" charset="0"/>
              </a:rPr>
              <a:t>groupId</a:t>
            </a:r>
            <a:r>
              <a:rPr lang="en-US" altLang="zh-CN" sz="1600" b="1" dirty="0">
                <a:solidFill>
                  <a:srgbClr val="6FC5EE"/>
                </a:solidFill>
                <a:latin typeface="Consolas" panose="020B0609020204030204" pitchFamily="49" charset="0"/>
              </a:rPr>
              <a:t>&gt;</a:t>
            </a:r>
            <a:r>
              <a:rPr lang="en-US" altLang="zh-CN" sz="1600" b="1" dirty="0" err="1">
                <a:solidFill>
                  <a:srgbClr val="6FC5EE"/>
                </a:solidFill>
                <a:latin typeface="Consolas" panose="020B0609020204030204" pitchFamily="49" charset="0"/>
              </a:rPr>
              <a:t>redis.clients</a:t>
            </a:r>
            <a:r>
              <a:rPr lang="en-US" altLang="zh-CN" sz="1600" b="1" dirty="0">
                <a:solidFill>
                  <a:srgbClr val="6FC5EE"/>
                </a:solidFill>
                <a:latin typeface="Consolas" panose="020B0609020204030204" pitchFamily="49" charset="0"/>
              </a:rPr>
              <a:t>&lt;/</a:t>
            </a:r>
            <a:r>
              <a:rPr lang="en-US" altLang="zh-CN" sz="1600" b="1" dirty="0" err="1">
                <a:solidFill>
                  <a:srgbClr val="6FC5EE"/>
                </a:solidFill>
                <a:latin typeface="Consolas" panose="020B0609020204030204" pitchFamily="49" charset="0"/>
              </a:rPr>
              <a:t>groupId</a:t>
            </a:r>
            <a:r>
              <a:rPr lang="en-US" altLang="zh-CN" sz="1600" b="1" dirty="0">
                <a:solidFill>
                  <a:srgbClr val="6FC5EE"/>
                </a:solidFill>
                <a:latin typeface="Consolas" panose="020B0609020204030204" pitchFamily="49" charset="0"/>
              </a:rPr>
              <a:t>&gt;</a:t>
            </a:r>
          </a:p>
          <a:p>
            <a:r>
              <a:rPr lang="en-US" altLang="zh-CN" sz="1600" dirty="0">
                <a:solidFill>
                  <a:srgbClr val="6FC5EE"/>
                </a:solidFill>
                <a:latin typeface="Consolas" panose="020B0609020204030204" pitchFamily="49" charset="0"/>
              </a:rPr>
              <a:t>    &lt;</a:t>
            </a:r>
            <a:r>
              <a:rPr lang="en-US" altLang="zh-CN" sz="1600" b="1" dirty="0" err="1">
                <a:solidFill>
                  <a:srgbClr val="6FC5EE"/>
                </a:solidFill>
                <a:latin typeface="Consolas" panose="020B0609020204030204" pitchFamily="49" charset="0"/>
              </a:rPr>
              <a:t>artifactId</a:t>
            </a:r>
            <a:r>
              <a:rPr lang="en-US" altLang="zh-CN" sz="1600" b="1" dirty="0">
                <a:solidFill>
                  <a:srgbClr val="6FC5EE"/>
                </a:solidFill>
                <a:latin typeface="Consolas" panose="020B0609020204030204" pitchFamily="49" charset="0"/>
              </a:rPr>
              <a:t>&gt;</a:t>
            </a:r>
            <a:r>
              <a:rPr lang="en-US" altLang="zh-CN" sz="1600" b="1" dirty="0" err="1">
                <a:solidFill>
                  <a:srgbClr val="6FC5EE"/>
                </a:solidFill>
                <a:latin typeface="Consolas" panose="020B0609020204030204" pitchFamily="49" charset="0"/>
              </a:rPr>
              <a:t>jedis</a:t>
            </a:r>
            <a:r>
              <a:rPr lang="en-US" altLang="zh-CN" sz="1600" b="1" dirty="0">
                <a:solidFill>
                  <a:srgbClr val="6FC5EE"/>
                </a:solidFill>
                <a:latin typeface="Consolas" panose="020B0609020204030204" pitchFamily="49" charset="0"/>
              </a:rPr>
              <a:t>&lt;/</a:t>
            </a:r>
            <a:r>
              <a:rPr lang="en-US" altLang="zh-CN" sz="1600" b="1" dirty="0" err="1">
                <a:solidFill>
                  <a:srgbClr val="6FC5EE"/>
                </a:solidFill>
                <a:latin typeface="Consolas" panose="020B0609020204030204" pitchFamily="49" charset="0"/>
              </a:rPr>
              <a:t>artifactId</a:t>
            </a:r>
            <a:r>
              <a:rPr lang="en-US" altLang="zh-CN" sz="1600" b="1" dirty="0">
                <a:solidFill>
                  <a:srgbClr val="6FC5EE"/>
                </a:solidFill>
                <a:latin typeface="Consolas" panose="020B0609020204030204" pitchFamily="49" charset="0"/>
              </a:rPr>
              <a:t>&gt;</a:t>
            </a:r>
          </a:p>
          <a:p>
            <a:r>
              <a:rPr lang="en-US" altLang="zh-CN" sz="1600" dirty="0">
                <a:solidFill>
                  <a:srgbClr val="6FC5EE"/>
                </a:solidFill>
                <a:latin typeface="Consolas" panose="020B0609020204030204" pitchFamily="49" charset="0"/>
              </a:rPr>
              <a:t>    &lt;</a:t>
            </a:r>
            <a:r>
              <a:rPr lang="en-US" altLang="zh-CN" sz="1600" b="1" dirty="0">
                <a:solidFill>
                  <a:srgbClr val="6FC5EE"/>
                </a:solidFill>
                <a:latin typeface="Consolas" panose="020B0609020204030204" pitchFamily="49" charset="0"/>
              </a:rPr>
              <a:t>version&gt;3.0.1&lt;/version&gt;</a:t>
            </a:r>
          </a:p>
          <a:p>
            <a:r>
              <a:rPr lang="en-US" altLang="zh-CN" sz="1600" dirty="0">
                <a:solidFill>
                  <a:srgbClr val="0080FF"/>
                </a:solidFill>
                <a:latin typeface="Consolas" panose="020B0609020204030204" pitchFamily="49" charset="0"/>
              </a:rPr>
              <a:t>&lt;/</a:t>
            </a:r>
            <a:r>
              <a:rPr lang="en-US" altLang="zh-CN" sz="1600" b="1" dirty="0">
                <a:solidFill>
                  <a:srgbClr val="03A8D8"/>
                </a:solidFill>
                <a:latin typeface="Consolas" panose="020B0609020204030204" pitchFamily="49" charset="0"/>
              </a:rPr>
              <a:t>dependency</a:t>
            </a:r>
            <a:r>
              <a:rPr lang="en-US" altLang="zh-CN" sz="1600" b="1" dirty="0" smtClean="0">
                <a:solidFill>
                  <a:srgbClr val="0080FF"/>
                </a:solidFill>
                <a:latin typeface="Consolas" panose="020B0609020204030204" pitchFamily="49" charset="0"/>
              </a:rPr>
              <a:t>&gt;</a:t>
            </a:r>
            <a:endParaRPr lang="en-US" altLang="zh-CN" sz="1600" dirty="0" smtClean="0">
              <a:solidFill>
                <a:prstClr val="white"/>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5215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fade">
                                      <p:cBhvr>
                                        <p:cTn id="7" dur="1000"/>
                                        <p:tgtEl>
                                          <p:spTgt spid="43"/>
                                        </p:tgtEl>
                                      </p:cBhvr>
                                    </p:animEffect>
                                    <p:anim calcmode="lin" valueType="num">
                                      <p:cBhvr>
                                        <p:cTn id="8" dur="1000" fill="hold"/>
                                        <p:tgtEl>
                                          <p:spTgt spid="43"/>
                                        </p:tgtEl>
                                        <p:attrNameLst>
                                          <p:attrName>ppt_x</p:attrName>
                                        </p:attrNameLst>
                                      </p:cBhvr>
                                      <p:tavLst>
                                        <p:tav tm="0">
                                          <p:val>
                                            <p:strVal val="#ppt_x"/>
                                          </p:val>
                                        </p:tav>
                                        <p:tav tm="100000">
                                          <p:val>
                                            <p:strVal val="#ppt_x"/>
                                          </p:val>
                                        </p:tav>
                                      </p:tavLst>
                                    </p:anim>
                                    <p:anim calcmode="lin" valueType="num">
                                      <p:cBhvr>
                                        <p:cTn id="9" dur="1000" fill="hold"/>
                                        <p:tgtEl>
                                          <p:spTgt spid="4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A0F23"/>
        </a:solidFill>
        <a:effectLst/>
      </p:bgPr>
    </p:bg>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xmlns="" id="{CBDC52CD-1D62-48AF-A9DF-9F18AEA2B1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01385" y="-114300"/>
            <a:ext cx="1301859" cy="920356"/>
          </a:xfrm>
          <a:prstGeom prst="rect">
            <a:avLst/>
          </a:prstGeom>
        </p:spPr>
      </p:pic>
      <p:pic>
        <p:nvPicPr>
          <p:cNvPr id="14" name="图片 13">
            <a:extLst>
              <a:ext uri="{FF2B5EF4-FFF2-40B4-BE49-F238E27FC236}">
                <a16:creationId xmlns:a16="http://schemas.microsoft.com/office/drawing/2014/main" xmlns="" id="{F78DA958-9B1B-47DA-A870-8C0B3A7D8866}"/>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b="63537"/>
          <a:stretch/>
        </p:blipFill>
        <p:spPr>
          <a:xfrm>
            <a:off x="11184164" y="217733"/>
            <a:ext cx="572339" cy="337210"/>
          </a:xfrm>
          <a:prstGeom prst="rect">
            <a:avLst/>
          </a:prstGeom>
        </p:spPr>
      </p:pic>
      <p:cxnSp>
        <p:nvCxnSpPr>
          <p:cNvPr id="15" name="直接连接符 14">
            <a:extLst>
              <a:ext uri="{FF2B5EF4-FFF2-40B4-BE49-F238E27FC236}">
                <a16:creationId xmlns:a16="http://schemas.microsoft.com/office/drawing/2014/main" xmlns="" id="{93240A06-D526-4907-A163-94ABB41190CC}"/>
              </a:ext>
            </a:extLst>
          </p:cNvPr>
          <p:cNvCxnSpPr/>
          <p:nvPr/>
        </p:nvCxnSpPr>
        <p:spPr>
          <a:xfrm>
            <a:off x="11103244" y="225825"/>
            <a:ext cx="0" cy="2435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704850" y="605109"/>
            <a:ext cx="8883650" cy="523220"/>
          </a:xfrm>
          <a:prstGeom prst="rect">
            <a:avLst/>
          </a:prstGeom>
          <a:noFill/>
        </p:spPr>
        <p:txBody>
          <a:bodyPr wrap="square" rtlCol="0">
            <a:spAutoFit/>
          </a:bodyPr>
          <a:lstStyle/>
          <a:p>
            <a:pPr>
              <a:defRPr/>
            </a:pPr>
            <a:r>
              <a:rPr lang="en-US" altLang="zh-CN"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4.1.2 </a:t>
            </a:r>
            <a:r>
              <a:rPr lang="zh-CN" altLang="en-US"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管道的使用方法</a:t>
            </a:r>
          </a:p>
        </p:txBody>
      </p:sp>
      <p:sp>
        <p:nvSpPr>
          <p:cNvPr id="2" name="文本框 1"/>
          <p:cNvSpPr txBox="1"/>
          <p:nvPr/>
        </p:nvSpPr>
        <p:spPr>
          <a:xfrm>
            <a:off x="908050" y="1770153"/>
            <a:ext cx="8621486" cy="4801314"/>
          </a:xfrm>
          <a:prstGeom prst="rect">
            <a:avLst/>
          </a:prstGeom>
          <a:noFill/>
          <a:ln>
            <a:solidFill>
              <a:schemeClr val="bg1"/>
            </a:solidFill>
          </a:ln>
        </p:spPr>
        <p:txBody>
          <a:bodyPr wrap="square" rtlCol="0">
            <a:spAutoFit/>
          </a:bodyPr>
          <a:lstStyle/>
          <a:p>
            <a:r>
              <a:rPr lang="en-US" altLang="zh-CN" b="1" dirty="0">
                <a:solidFill>
                  <a:srgbClr val="CC7832"/>
                </a:solidFill>
                <a:latin typeface="Consolas" panose="020B0609020204030204" pitchFamily="49" charset="0"/>
              </a:rPr>
              <a:t>public</a:t>
            </a:r>
            <a:r>
              <a:rPr lang="en-US" altLang="zh-CN" b="1" dirty="0">
                <a:solidFill>
                  <a:srgbClr val="D9E8F7"/>
                </a:solidFill>
                <a:latin typeface="Consolas" panose="020B0609020204030204" pitchFamily="49" charset="0"/>
              </a:rPr>
              <a:t> </a:t>
            </a:r>
            <a:r>
              <a:rPr lang="en-US" altLang="zh-CN" b="1" dirty="0">
                <a:solidFill>
                  <a:srgbClr val="CC7832"/>
                </a:solidFill>
                <a:latin typeface="Consolas" panose="020B0609020204030204" pitchFamily="49" charset="0"/>
              </a:rPr>
              <a:t>static</a:t>
            </a:r>
            <a:r>
              <a:rPr lang="en-US" altLang="zh-CN" b="1" dirty="0">
                <a:solidFill>
                  <a:srgbClr val="D9E8F7"/>
                </a:solidFill>
                <a:latin typeface="Consolas" panose="020B0609020204030204" pitchFamily="49" charset="0"/>
              </a:rPr>
              <a:t> </a:t>
            </a:r>
            <a:r>
              <a:rPr lang="en-US" altLang="zh-CN" b="1" dirty="0">
                <a:solidFill>
                  <a:srgbClr val="CC7832"/>
                </a:solidFill>
                <a:latin typeface="Consolas" panose="020B0609020204030204" pitchFamily="49" charset="0"/>
              </a:rPr>
              <a:t>void</a:t>
            </a:r>
            <a:r>
              <a:rPr lang="en-US" altLang="zh-CN" b="1" dirty="0">
                <a:solidFill>
                  <a:srgbClr val="D9E8F7"/>
                </a:solidFill>
                <a:latin typeface="Consolas" panose="020B0609020204030204" pitchFamily="49" charset="0"/>
              </a:rPr>
              <a:t> </a:t>
            </a:r>
            <a:r>
              <a:rPr lang="en-US" altLang="zh-CN" b="1" dirty="0" err="1">
                <a:solidFill>
                  <a:srgbClr val="1EB540"/>
                </a:solidFill>
                <a:latin typeface="Consolas" panose="020B0609020204030204" pitchFamily="49" charset="0"/>
              </a:rPr>
              <a:t>usePipeline</a:t>
            </a:r>
            <a:r>
              <a:rPr lang="en-US" altLang="zh-CN" b="1" dirty="0">
                <a:solidFill>
                  <a:srgbClr val="F9FAF4"/>
                </a:solidFill>
                <a:latin typeface="Consolas" panose="020B0609020204030204" pitchFamily="49" charset="0"/>
              </a:rPr>
              <a:t>(</a:t>
            </a:r>
            <a:r>
              <a:rPr lang="en-US" altLang="zh-CN" b="1" dirty="0" err="1">
                <a:solidFill>
                  <a:srgbClr val="1290C3"/>
                </a:solidFill>
                <a:latin typeface="Consolas" panose="020B0609020204030204" pitchFamily="49" charset="0"/>
              </a:rPr>
              <a:t>Jedis</a:t>
            </a:r>
            <a:r>
              <a:rPr lang="en-US" altLang="zh-CN" b="1" dirty="0">
                <a:solidFill>
                  <a:srgbClr val="D9E8F7"/>
                </a:solidFill>
                <a:latin typeface="Consolas" panose="020B0609020204030204" pitchFamily="49" charset="0"/>
              </a:rPr>
              <a:t> </a:t>
            </a:r>
            <a:r>
              <a:rPr lang="en-US" altLang="zh-CN" b="1" dirty="0" err="1">
                <a:solidFill>
                  <a:srgbClr val="79ABFF"/>
                </a:solidFill>
                <a:latin typeface="Consolas" panose="020B0609020204030204" pitchFamily="49" charset="0"/>
              </a:rPr>
              <a:t>jedis</a:t>
            </a:r>
            <a:r>
              <a:rPr lang="en-US" altLang="zh-CN" b="1" dirty="0">
                <a:solidFill>
                  <a:srgbClr val="F9FAF4"/>
                </a:solidFill>
                <a:latin typeface="Consolas" panose="020B0609020204030204" pitchFamily="49" charset="0"/>
              </a:rPr>
              <a:t>)</a:t>
            </a:r>
            <a:r>
              <a:rPr lang="en-US" altLang="zh-CN" b="1" dirty="0">
                <a:solidFill>
                  <a:srgbClr val="D9E8F7"/>
                </a:solidFill>
                <a:latin typeface="Consolas" panose="020B0609020204030204" pitchFamily="49" charset="0"/>
              </a:rPr>
              <a:t> </a:t>
            </a:r>
            <a:r>
              <a:rPr lang="en-US" altLang="zh-CN" b="1" dirty="0">
                <a:solidFill>
                  <a:srgbClr val="F9FAF4"/>
                </a:solidFill>
                <a:latin typeface="Consolas" panose="020B0609020204030204" pitchFamily="49" charset="0"/>
              </a:rPr>
              <a:t>{</a:t>
            </a:r>
          </a:p>
          <a:p>
            <a:r>
              <a:rPr lang="en-US" altLang="zh-CN" dirty="0">
                <a:solidFill>
                  <a:srgbClr val="D9E8F7"/>
                </a:solidFill>
                <a:latin typeface="Consolas" panose="020B0609020204030204" pitchFamily="49" charset="0"/>
              </a:rPr>
              <a:t>        </a:t>
            </a:r>
            <a:r>
              <a:rPr lang="en-US" altLang="zh-CN" dirty="0">
                <a:solidFill>
                  <a:srgbClr val="80F2F6"/>
                </a:solidFill>
                <a:latin typeface="Consolas" panose="020B0609020204030204" pitchFamily="49" charset="0"/>
              </a:rPr>
              <a:t>Map</a:t>
            </a:r>
            <a:r>
              <a:rPr lang="en-US" altLang="zh-CN" dirty="0">
                <a:solidFill>
                  <a:srgbClr val="E6E6FA"/>
                </a:solidFill>
                <a:latin typeface="Consolas" panose="020B0609020204030204" pitchFamily="49" charset="0"/>
              </a:rPr>
              <a:t>&lt;</a:t>
            </a:r>
            <a:r>
              <a:rPr lang="en-US" altLang="zh-CN" dirty="0">
                <a:solidFill>
                  <a:srgbClr val="D7837F"/>
                </a:solidFill>
                <a:latin typeface="Consolas" panose="020B0609020204030204" pitchFamily="49" charset="0"/>
              </a:rPr>
              <a:t>String</a:t>
            </a:r>
            <a:r>
              <a:rPr lang="en-US" altLang="zh-CN" dirty="0">
                <a:solidFill>
                  <a:srgbClr val="E6E6FA"/>
                </a:solidFill>
                <a:latin typeface="Consolas" panose="020B0609020204030204" pitchFamily="49" charset="0"/>
              </a:rPr>
              <a:t>,</a:t>
            </a:r>
            <a:r>
              <a:rPr lang="en-US" altLang="zh-CN" dirty="0">
                <a:solidFill>
                  <a:srgbClr val="D9E8F7"/>
                </a:solidFill>
                <a:latin typeface="Consolas" panose="020B0609020204030204" pitchFamily="49" charset="0"/>
              </a:rPr>
              <a:t> </a:t>
            </a:r>
            <a:r>
              <a:rPr lang="en-US" altLang="zh-CN" dirty="0">
                <a:solidFill>
                  <a:srgbClr val="D7837F"/>
                </a:solidFill>
                <a:latin typeface="Consolas" panose="020B0609020204030204" pitchFamily="49" charset="0"/>
              </a:rPr>
              <a:t>String</a:t>
            </a:r>
            <a:r>
              <a:rPr lang="en-US" altLang="zh-CN" dirty="0">
                <a:solidFill>
                  <a:srgbClr val="E6E6FA"/>
                </a:solidFill>
                <a:latin typeface="Consolas" panose="020B0609020204030204" pitchFamily="49" charset="0"/>
              </a:rPr>
              <a:t>&gt;</a:t>
            </a:r>
            <a:r>
              <a:rPr lang="en-US" altLang="zh-CN" dirty="0">
                <a:solidFill>
                  <a:srgbClr val="D9E8F7"/>
                </a:solidFill>
                <a:latin typeface="Consolas" panose="020B0609020204030204" pitchFamily="49" charset="0"/>
              </a:rPr>
              <a:t> </a:t>
            </a:r>
            <a:r>
              <a:rPr lang="en-US" altLang="zh-CN" b="1" dirty="0" err="1">
                <a:solidFill>
                  <a:srgbClr val="ED7F48"/>
                </a:solidFill>
                <a:latin typeface="Consolas" panose="020B0609020204030204" pitchFamily="49" charset="0"/>
              </a:rPr>
              <a:t>mp</a:t>
            </a:r>
            <a:r>
              <a:rPr lang="en-US" altLang="zh-CN" b="1" dirty="0">
                <a:solidFill>
                  <a:srgbClr val="D9E8F7"/>
                </a:solidFill>
                <a:latin typeface="Consolas" panose="020B0609020204030204" pitchFamily="49" charset="0"/>
              </a:rPr>
              <a:t> </a:t>
            </a:r>
            <a:r>
              <a:rPr lang="en-US" altLang="zh-CN" b="1" dirty="0">
                <a:solidFill>
                  <a:srgbClr val="E6E6FA"/>
                </a:solidFill>
                <a:latin typeface="Consolas" panose="020B0609020204030204" pitchFamily="49" charset="0"/>
              </a:rPr>
              <a:t>=</a:t>
            </a:r>
            <a:r>
              <a:rPr lang="en-US" altLang="zh-CN" b="1" dirty="0">
                <a:solidFill>
                  <a:srgbClr val="D9E8F7"/>
                </a:solidFill>
                <a:latin typeface="Consolas" panose="020B0609020204030204" pitchFamily="49" charset="0"/>
              </a:rPr>
              <a:t> </a:t>
            </a:r>
            <a:r>
              <a:rPr lang="en-US" altLang="zh-CN" b="1" dirty="0">
                <a:solidFill>
                  <a:srgbClr val="CC7832"/>
                </a:solidFill>
                <a:latin typeface="Consolas" panose="020B0609020204030204" pitchFamily="49" charset="0"/>
              </a:rPr>
              <a:t>new</a:t>
            </a:r>
            <a:r>
              <a:rPr lang="en-US" altLang="zh-CN" b="1" dirty="0">
                <a:solidFill>
                  <a:srgbClr val="D9E8F7"/>
                </a:solidFill>
                <a:latin typeface="Consolas" panose="020B0609020204030204" pitchFamily="49" charset="0"/>
              </a:rPr>
              <a:t> </a:t>
            </a:r>
            <a:r>
              <a:rPr lang="en-US" altLang="zh-CN" b="1" dirty="0" err="1">
                <a:solidFill>
                  <a:srgbClr val="A7EC21"/>
                </a:solidFill>
                <a:latin typeface="Consolas" panose="020B0609020204030204" pitchFamily="49" charset="0"/>
              </a:rPr>
              <a:t>HashMap</a:t>
            </a:r>
            <a:r>
              <a:rPr lang="en-US" altLang="zh-CN" b="1" dirty="0">
                <a:solidFill>
                  <a:srgbClr val="E6E6FA"/>
                </a:solidFill>
                <a:latin typeface="Consolas" panose="020B0609020204030204" pitchFamily="49" charset="0"/>
              </a:rPr>
              <a:t>&lt;</a:t>
            </a:r>
            <a:r>
              <a:rPr lang="en-US" altLang="zh-CN" b="1" dirty="0">
                <a:solidFill>
                  <a:srgbClr val="D7837F"/>
                </a:solidFill>
                <a:latin typeface="Consolas" panose="020B0609020204030204" pitchFamily="49" charset="0"/>
              </a:rPr>
              <a:t>String</a:t>
            </a:r>
            <a:r>
              <a:rPr lang="en-US" altLang="zh-CN" b="1" dirty="0">
                <a:solidFill>
                  <a:srgbClr val="E6E6FA"/>
                </a:solidFill>
                <a:latin typeface="Consolas" panose="020B0609020204030204" pitchFamily="49" charset="0"/>
              </a:rPr>
              <a:t>,</a:t>
            </a:r>
            <a:r>
              <a:rPr lang="en-US" altLang="zh-CN" b="1" dirty="0">
                <a:solidFill>
                  <a:srgbClr val="D9E8F7"/>
                </a:solidFill>
                <a:latin typeface="Consolas" panose="020B0609020204030204" pitchFamily="49" charset="0"/>
              </a:rPr>
              <a:t> </a:t>
            </a:r>
            <a:r>
              <a:rPr lang="en-US" altLang="zh-CN" b="1" dirty="0">
                <a:solidFill>
                  <a:srgbClr val="D7837F"/>
                </a:solidFill>
                <a:latin typeface="Consolas" panose="020B0609020204030204" pitchFamily="49" charset="0"/>
              </a:rPr>
              <a:t>String</a:t>
            </a:r>
            <a:r>
              <a:rPr lang="en-US" altLang="zh-CN" b="1" dirty="0">
                <a:solidFill>
                  <a:srgbClr val="E6E6FA"/>
                </a:solidFill>
                <a:latin typeface="Consolas" panose="020B0609020204030204" pitchFamily="49" charset="0"/>
              </a:rPr>
              <a:t>&gt;</a:t>
            </a:r>
            <a:r>
              <a:rPr lang="en-US" altLang="zh-CN" b="1" dirty="0">
                <a:solidFill>
                  <a:srgbClr val="F9FAF4"/>
                </a:solidFill>
                <a:latin typeface="Consolas" panose="020B0609020204030204" pitchFamily="49" charset="0"/>
              </a:rPr>
              <a:t>()</a:t>
            </a:r>
            <a:r>
              <a:rPr lang="en-US" altLang="zh-CN" b="1" dirty="0">
                <a:solidFill>
                  <a:srgbClr val="E6E6FA"/>
                </a:solidFill>
                <a:latin typeface="Consolas" panose="020B0609020204030204" pitchFamily="49" charset="0"/>
              </a:rPr>
              <a:t>;</a:t>
            </a:r>
          </a:p>
          <a:p>
            <a:r>
              <a:rPr lang="en-US" altLang="zh-CN" dirty="0">
                <a:solidFill>
                  <a:srgbClr val="D9E8F7"/>
                </a:solidFill>
                <a:latin typeface="Consolas" panose="020B0609020204030204" pitchFamily="49" charset="0"/>
              </a:rPr>
              <a:t>        </a:t>
            </a:r>
            <a:r>
              <a:rPr lang="en-US" altLang="zh-CN" b="1" dirty="0">
                <a:solidFill>
                  <a:srgbClr val="CC7832"/>
                </a:solidFill>
                <a:latin typeface="Consolas" panose="020B0609020204030204" pitchFamily="49" charset="0"/>
              </a:rPr>
              <a:t>try</a:t>
            </a:r>
            <a:r>
              <a:rPr lang="en-US" altLang="zh-CN" b="1" dirty="0">
                <a:solidFill>
                  <a:srgbClr val="D9E8F7"/>
                </a:solidFill>
                <a:latin typeface="Consolas" panose="020B0609020204030204" pitchFamily="49" charset="0"/>
              </a:rPr>
              <a:t> </a:t>
            </a:r>
            <a:r>
              <a:rPr lang="en-US" altLang="zh-CN" b="1" dirty="0">
                <a:solidFill>
                  <a:srgbClr val="F9FAF4"/>
                </a:solidFill>
                <a:latin typeface="Consolas" panose="020B0609020204030204" pitchFamily="49" charset="0"/>
              </a:rPr>
              <a:t>{</a:t>
            </a:r>
          </a:p>
          <a:p>
            <a:r>
              <a:rPr lang="en-US" altLang="zh-CN" dirty="0">
                <a:solidFill>
                  <a:srgbClr val="D9E8F7"/>
                </a:solidFill>
                <a:latin typeface="Consolas" panose="020B0609020204030204" pitchFamily="49" charset="0"/>
              </a:rPr>
              <a:t>            </a:t>
            </a:r>
            <a:r>
              <a:rPr lang="en-US" altLang="zh-CN" b="1" dirty="0">
                <a:solidFill>
                  <a:srgbClr val="1290C3"/>
                </a:solidFill>
                <a:latin typeface="Consolas" panose="020B0609020204030204" pitchFamily="49" charset="0"/>
              </a:rPr>
              <a:t>Pipeline</a:t>
            </a:r>
            <a:r>
              <a:rPr lang="en-US" altLang="zh-CN" b="1" dirty="0">
                <a:solidFill>
                  <a:srgbClr val="D9E8F7"/>
                </a:solidFill>
                <a:latin typeface="Consolas" panose="020B0609020204030204" pitchFamily="49" charset="0"/>
              </a:rPr>
              <a:t> </a:t>
            </a:r>
            <a:r>
              <a:rPr lang="en-US" altLang="zh-CN" b="1" dirty="0" err="1">
                <a:solidFill>
                  <a:srgbClr val="ED7F48"/>
                </a:solidFill>
                <a:latin typeface="Consolas" panose="020B0609020204030204" pitchFamily="49" charset="0"/>
              </a:rPr>
              <a:t>pl</a:t>
            </a:r>
            <a:r>
              <a:rPr lang="en-US" altLang="zh-CN" b="1" dirty="0">
                <a:solidFill>
                  <a:srgbClr val="D9E8F7"/>
                </a:solidFill>
                <a:latin typeface="Consolas" panose="020B0609020204030204" pitchFamily="49" charset="0"/>
              </a:rPr>
              <a:t> </a:t>
            </a:r>
            <a:r>
              <a:rPr lang="en-US" altLang="zh-CN" b="1" dirty="0">
                <a:solidFill>
                  <a:srgbClr val="E6E6FA"/>
                </a:solidFill>
                <a:latin typeface="Consolas" panose="020B0609020204030204" pitchFamily="49" charset="0"/>
              </a:rPr>
              <a:t>=</a:t>
            </a:r>
            <a:r>
              <a:rPr lang="en-US" altLang="zh-CN" b="1" dirty="0">
                <a:solidFill>
                  <a:srgbClr val="D9E8F7"/>
                </a:solidFill>
                <a:latin typeface="Consolas" panose="020B0609020204030204" pitchFamily="49" charset="0"/>
              </a:rPr>
              <a:t> </a:t>
            </a:r>
            <a:r>
              <a:rPr lang="en-US" altLang="zh-CN" b="1" dirty="0" err="1">
                <a:solidFill>
                  <a:srgbClr val="79ABFF"/>
                </a:solidFill>
                <a:latin typeface="Consolas" panose="020B0609020204030204" pitchFamily="49" charset="0"/>
              </a:rPr>
              <a:t>jedis</a:t>
            </a:r>
            <a:r>
              <a:rPr lang="en-US" altLang="zh-CN" b="1" dirty="0" err="1">
                <a:solidFill>
                  <a:srgbClr val="E6E6FA"/>
                </a:solidFill>
                <a:latin typeface="Consolas" panose="020B0609020204030204" pitchFamily="49" charset="0"/>
              </a:rPr>
              <a:t>.</a:t>
            </a:r>
            <a:r>
              <a:rPr lang="en-US" altLang="zh-CN" b="1" dirty="0" err="1">
                <a:solidFill>
                  <a:srgbClr val="A7EC21"/>
                </a:solidFill>
                <a:latin typeface="Consolas" panose="020B0609020204030204" pitchFamily="49" charset="0"/>
              </a:rPr>
              <a:t>pipelined</a:t>
            </a:r>
            <a:r>
              <a:rPr lang="en-US" altLang="zh-CN" b="1" dirty="0" smtClean="0">
                <a:solidFill>
                  <a:srgbClr val="F9FAF4"/>
                </a:solidFill>
                <a:latin typeface="Consolas" panose="020B0609020204030204" pitchFamily="49" charset="0"/>
              </a:rPr>
              <a:t>()</a:t>
            </a:r>
            <a:r>
              <a:rPr lang="en-US" altLang="zh-CN" b="1" dirty="0" smtClean="0">
                <a:solidFill>
                  <a:srgbClr val="E6E6FA"/>
                </a:solidFill>
                <a:latin typeface="Consolas" panose="020B0609020204030204" pitchFamily="49" charset="0"/>
              </a:rPr>
              <a:t>;  </a:t>
            </a:r>
            <a:r>
              <a:rPr lang="en-US" altLang="zh-CN" dirty="0">
                <a:solidFill>
                  <a:srgbClr val="808080"/>
                </a:solidFill>
                <a:latin typeface="Consolas" panose="020B0609020204030204" pitchFamily="49" charset="0"/>
              </a:rPr>
              <a:t>// </a:t>
            </a:r>
            <a:r>
              <a:rPr lang="zh-CN" altLang="en-US" dirty="0">
                <a:solidFill>
                  <a:srgbClr val="808080"/>
                </a:solidFill>
                <a:latin typeface="Consolas" panose="020B0609020204030204" pitchFamily="49" charset="0"/>
              </a:rPr>
              <a:t>打开管道</a:t>
            </a:r>
            <a:endParaRPr lang="en-US" altLang="zh-CN" dirty="0">
              <a:solidFill>
                <a:srgbClr val="808080"/>
              </a:solidFill>
              <a:latin typeface="Consolas" panose="020B0609020204030204" pitchFamily="49" charset="0"/>
            </a:endParaRPr>
          </a:p>
          <a:p>
            <a:r>
              <a:rPr lang="nn-NO" altLang="zh-CN" dirty="0">
                <a:solidFill>
                  <a:srgbClr val="D9E8F7"/>
                </a:solidFill>
                <a:latin typeface="Consolas" panose="020B0609020204030204" pitchFamily="49" charset="0"/>
              </a:rPr>
              <a:t>            </a:t>
            </a:r>
            <a:r>
              <a:rPr lang="nn-NO" altLang="zh-CN" b="1" dirty="0">
                <a:solidFill>
                  <a:srgbClr val="CC7832"/>
                </a:solidFill>
                <a:latin typeface="Consolas" panose="020B0609020204030204" pitchFamily="49" charset="0"/>
              </a:rPr>
              <a:t>for</a:t>
            </a:r>
            <a:r>
              <a:rPr lang="nn-NO" altLang="zh-CN" b="1" dirty="0">
                <a:solidFill>
                  <a:srgbClr val="D9E8F7"/>
                </a:solidFill>
                <a:latin typeface="Consolas" panose="020B0609020204030204" pitchFamily="49" charset="0"/>
              </a:rPr>
              <a:t> </a:t>
            </a:r>
            <a:r>
              <a:rPr lang="nn-NO" altLang="zh-CN" b="1" dirty="0">
                <a:solidFill>
                  <a:srgbClr val="F9FAF4"/>
                </a:solidFill>
                <a:latin typeface="Consolas" panose="020B0609020204030204" pitchFamily="49" charset="0"/>
              </a:rPr>
              <a:t>(</a:t>
            </a:r>
            <a:r>
              <a:rPr lang="nn-NO" altLang="zh-CN" b="1" dirty="0">
                <a:solidFill>
                  <a:srgbClr val="CC7832"/>
                </a:solidFill>
                <a:latin typeface="Consolas" panose="020B0609020204030204" pitchFamily="49" charset="0"/>
              </a:rPr>
              <a:t>int</a:t>
            </a:r>
            <a:r>
              <a:rPr lang="nn-NO" altLang="zh-CN" b="1" dirty="0">
                <a:solidFill>
                  <a:srgbClr val="D9E8F7"/>
                </a:solidFill>
                <a:latin typeface="Consolas" panose="020B0609020204030204" pitchFamily="49" charset="0"/>
              </a:rPr>
              <a:t> </a:t>
            </a:r>
            <a:r>
              <a:rPr lang="nn-NO" altLang="zh-CN" b="1" dirty="0">
                <a:solidFill>
                  <a:srgbClr val="ED7F48"/>
                </a:solidFill>
                <a:latin typeface="Consolas" panose="020B0609020204030204" pitchFamily="49" charset="0"/>
              </a:rPr>
              <a:t>i</a:t>
            </a:r>
            <a:r>
              <a:rPr lang="nn-NO" altLang="zh-CN" b="1" dirty="0">
                <a:solidFill>
                  <a:srgbClr val="E6E6FA"/>
                </a:solidFill>
                <a:latin typeface="Consolas" panose="020B0609020204030204" pitchFamily="49" charset="0"/>
              </a:rPr>
              <a:t>=</a:t>
            </a:r>
            <a:r>
              <a:rPr lang="nn-NO" altLang="zh-CN" b="1" dirty="0">
                <a:solidFill>
                  <a:srgbClr val="6897BB"/>
                </a:solidFill>
                <a:latin typeface="Consolas" panose="020B0609020204030204" pitchFamily="49" charset="0"/>
              </a:rPr>
              <a:t>0</a:t>
            </a:r>
            <a:r>
              <a:rPr lang="nn-NO" altLang="zh-CN" b="1" dirty="0">
                <a:solidFill>
                  <a:srgbClr val="E6E6FA"/>
                </a:solidFill>
                <a:latin typeface="Consolas" panose="020B0609020204030204" pitchFamily="49" charset="0"/>
              </a:rPr>
              <a:t>;</a:t>
            </a:r>
            <a:r>
              <a:rPr lang="nn-NO" altLang="zh-CN" b="1" dirty="0">
                <a:solidFill>
                  <a:srgbClr val="D9E8F7"/>
                </a:solidFill>
                <a:latin typeface="Consolas" panose="020B0609020204030204" pitchFamily="49" charset="0"/>
              </a:rPr>
              <a:t> </a:t>
            </a:r>
            <a:r>
              <a:rPr lang="nn-NO" altLang="zh-CN" b="1" dirty="0">
                <a:solidFill>
                  <a:srgbClr val="FFBF26"/>
                </a:solidFill>
                <a:latin typeface="Consolas" panose="020B0609020204030204" pitchFamily="49" charset="0"/>
              </a:rPr>
              <a:t>i</a:t>
            </a:r>
            <a:r>
              <a:rPr lang="nn-NO" altLang="zh-CN" b="1" dirty="0">
                <a:solidFill>
                  <a:srgbClr val="E6E6FA"/>
                </a:solidFill>
                <a:latin typeface="Consolas" panose="020B0609020204030204" pitchFamily="49" charset="0"/>
              </a:rPr>
              <a:t>&lt;</a:t>
            </a:r>
            <a:r>
              <a:rPr lang="nn-NO" altLang="zh-CN" b="1" dirty="0">
                <a:solidFill>
                  <a:srgbClr val="6897BB"/>
                </a:solidFill>
                <a:latin typeface="Consolas" panose="020B0609020204030204" pitchFamily="49" charset="0"/>
              </a:rPr>
              <a:t>10000</a:t>
            </a:r>
            <a:r>
              <a:rPr lang="nn-NO" altLang="zh-CN" b="1" dirty="0">
                <a:solidFill>
                  <a:srgbClr val="E6E6FA"/>
                </a:solidFill>
                <a:latin typeface="Consolas" panose="020B0609020204030204" pitchFamily="49" charset="0"/>
              </a:rPr>
              <a:t>;</a:t>
            </a:r>
            <a:r>
              <a:rPr lang="nn-NO" altLang="zh-CN" b="1" dirty="0">
                <a:solidFill>
                  <a:srgbClr val="D9E8F7"/>
                </a:solidFill>
                <a:latin typeface="Consolas" panose="020B0609020204030204" pitchFamily="49" charset="0"/>
              </a:rPr>
              <a:t> </a:t>
            </a:r>
            <a:r>
              <a:rPr lang="nn-NO" altLang="zh-CN" b="1" dirty="0">
                <a:solidFill>
                  <a:srgbClr val="FFBF26"/>
                </a:solidFill>
                <a:latin typeface="Consolas" panose="020B0609020204030204" pitchFamily="49" charset="0"/>
              </a:rPr>
              <a:t>i</a:t>
            </a:r>
            <a:r>
              <a:rPr lang="nn-NO" altLang="zh-CN" b="1" dirty="0">
                <a:solidFill>
                  <a:srgbClr val="E6E6FA"/>
                </a:solidFill>
                <a:latin typeface="Consolas" panose="020B0609020204030204" pitchFamily="49" charset="0"/>
              </a:rPr>
              <a:t>++</a:t>
            </a:r>
            <a:r>
              <a:rPr lang="nn-NO" altLang="zh-CN" b="1" dirty="0">
                <a:solidFill>
                  <a:srgbClr val="F9FAF4"/>
                </a:solidFill>
                <a:latin typeface="Consolas" panose="020B0609020204030204" pitchFamily="49" charset="0"/>
              </a:rPr>
              <a:t>)</a:t>
            </a:r>
            <a:r>
              <a:rPr lang="nn-NO" altLang="zh-CN" b="1" dirty="0">
                <a:solidFill>
                  <a:srgbClr val="D9E8F7"/>
                </a:solidFill>
                <a:latin typeface="Consolas" panose="020B0609020204030204" pitchFamily="49" charset="0"/>
              </a:rPr>
              <a:t> </a:t>
            </a:r>
            <a:r>
              <a:rPr lang="nn-NO" altLang="zh-CN" b="1" dirty="0">
                <a:solidFill>
                  <a:srgbClr val="F9FAF4"/>
                </a:solidFill>
                <a:latin typeface="Consolas" panose="020B0609020204030204" pitchFamily="49" charset="0"/>
              </a:rPr>
              <a:t>{</a:t>
            </a:r>
          </a:p>
          <a:p>
            <a:r>
              <a:rPr lang="en-US" altLang="zh-CN" dirty="0">
                <a:solidFill>
                  <a:srgbClr val="D9E8F7"/>
                </a:solidFill>
                <a:latin typeface="Consolas" panose="020B0609020204030204" pitchFamily="49" charset="0"/>
              </a:rPr>
              <a:t>                </a:t>
            </a:r>
            <a:r>
              <a:rPr lang="en-US" altLang="zh-CN" dirty="0" err="1">
                <a:solidFill>
                  <a:srgbClr val="FFBF26"/>
                </a:solidFill>
                <a:latin typeface="Consolas" panose="020B0609020204030204" pitchFamily="49" charset="0"/>
              </a:rPr>
              <a:t>mp</a:t>
            </a:r>
            <a:r>
              <a:rPr lang="en-US" altLang="zh-CN" dirty="0" err="1">
                <a:solidFill>
                  <a:srgbClr val="E6E6FA"/>
                </a:solidFill>
                <a:latin typeface="Consolas" panose="020B0609020204030204" pitchFamily="49" charset="0"/>
              </a:rPr>
              <a:t>.</a:t>
            </a:r>
            <a:r>
              <a:rPr lang="en-US" altLang="zh-CN" dirty="0" err="1">
                <a:solidFill>
                  <a:srgbClr val="80F6A7"/>
                </a:solidFill>
                <a:latin typeface="Consolas" panose="020B0609020204030204" pitchFamily="49" charset="0"/>
              </a:rPr>
              <a:t>clear</a:t>
            </a:r>
            <a:r>
              <a:rPr lang="en-US" altLang="zh-CN" dirty="0">
                <a:solidFill>
                  <a:srgbClr val="F9FAF4"/>
                </a:solidFill>
                <a:latin typeface="Consolas" panose="020B0609020204030204" pitchFamily="49" charset="0"/>
              </a:rPr>
              <a:t>()</a:t>
            </a:r>
            <a:r>
              <a:rPr lang="en-US" altLang="zh-CN" dirty="0">
                <a:solidFill>
                  <a:srgbClr val="E6E6FA"/>
                </a:solidFill>
                <a:latin typeface="Consolas" panose="020B0609020204030204" pitchFamily="49" charset="0"/>
              </a:rPr>
              <a:t>;</a:t>
            </a:r>
            <a:r>
              <a:rPr lang="en-US" altLang="zh-CN" dirty="0">
                <a:solidFill>
                  <a:srgbClr val="D9E8F7"/>
                </a:solidFill>
                <a:latin typeface="Consolas" panose="020B0609020204030204" pitchFamily="49" charset="0"/>
              </a:rPr>
              <a:t>  </a:t>
            </a:r>
          </a:p>
          <a:p>
            <a:r>
              <a:rPr lang="nn-NO" altLang="zh-CN" dirty="0">
                <a:solidFill>
                  <a:srgbClr val="D9E8F7"/>
                </a:solidFill>
                <a:latin typeface="Consolas" panose="020B0609020204030204" pitchFamily="49" charset="0"/>
              </a:rPr>
              <a:t>                </a:t>
            </a:r>
            <a:r>
              <a:rPr lang="nn-NO" altLang="zh-CN" dirty="0">
                <a:solidFill>
                  <a:srgbClr val="FFBF26"/>
                </a:solidFill>
                <a:latin typeface="Consolas" panose="020B0609020204030204" pitchFamily="49" charset="0"/>
              </a:rPr>
              <a:t>mp</a:t>
            </a:r>
            <a:r>
              <a:rPr lang="nn-NO" altLang="zh-CN" dirty="0">
                <a:solidFill>
                  <a:srgbClr val="E6E6FA"/>
                </a:solidFill>
                <a:latin typeface="Consolas" panose="020B0609020204030204" pitchFamily="49" charset="0"/>
              </a:rPr>
              <a:t>.</a:t>
            </a:r>
            <a:r>
              <a:rPr lang="nn-NO" altLang="zh-CN" dirty="0">
                <a:solidFill>
                  <a:srgbClr val="80F6A7"/>
                </a:solidFill>
                <a:latin typeface="Consolas" panose="020B0609020204030204" pitchFamily="49" charset="0"/>
              </a:rPr>
              <a:t>put</a:t>
            </a:r>
            <a:r>
              <a:rPr lang="nn-NO" altLang="zh-CN" dirty="0">
                <a:solidFill>
                  <a:srgbClr val="F9FAF4"/>
                </a:solidFill>
                <a:latin typeface="Consolas" panose="020B0609020204030204" pitchFamily="49" charset="0"/>
              </a:rPr>
              <a:t>(</a:t>
            </a:r>
            <a:r>
              <a:rPr lang="nn-NO" altLang="zh-CN" dirty="0">
                <a:solidFill>
                  <a:srgbClr val="17C6A3"/>
                </a:solidFill>
                <a:latin typeface="Consolas" panose="020B0609020204030204" pitchFamily="49" charset="0"/>
              </a:rPr>
              <a:t>"k"</a:t>
            </a:r>
            <a:r>
              <a:rPr lang="nn-NO" altLang="zh-CN" dirty="0">
                <a:solidFill>
                  <a:srgbClr val="E6E6FA"/>
                </a:solidFill>
                <a:latin typeface="Consolas" panose="020B0609020204030204" pitchFamily="49" charset="0"/>
              </a:rPr>
              <a:t>+</a:t>
            </a:r>
            <a:r>
              <a:rPr lang="nn-NO" altLang="zh-CN" dirty="0">
                <a:solidFill>
                  <a:srgbClr val="FFBF26"/>
                </a:solidFill>
                <a:latin typeface="Consolas" panose="020B0609020204030204" pitchFamily="49" charset="0"/>
              </a:rPr>
              <a:t>i</a:t>
            </a:r>
            <a:r>
              <a:rPr lang="nn-NO" altLang="zh-CN" dirty="0">
                <a:solidFill>
                  <a:srgbClr val="E6E6FA"/>
                </a:solidFill>
                <a:latin typeface="Consolas" panose="020B0609020204030204" pitchFamily="49" charset="0"/>
              </a:rPr>
              <a:t>,</a:t>
            </a:r>
            <a:r>
              <a:rPr lang="nn-NO" altLang="zh-CN" dirty="0">
                <a:solidFill>
                  <a:srgbClr val="D9E8F7"/>
                </a:solidFill>
                <a:latin typeface="Consolas" panose="020B0609020204030204" pitchFamily="49" charset="0"/>
              </a:rPr>
              <a:t> </a:t>
            </a:r>
            <a:r>
              <a:rPr lang="nn-NO" altLang="zh-CN" dirty="0">
                <a:solidFill>
                  <a:srgbClr val="17C6A3"/>
                </a:solidFill>
                <a:latin typeface="Consolas" panose="020B0609020204030204" pitchFamily="49" charset="0"/>
              </a:rPr>
              <a:t>"v"</a:t>
            </a:r>
            <a:r>
              <a:rPr lang="nn-NO" altLang="zh-CN" dirty="0">
                <a:solidFill>
                  <a:srgbClr val="E6E6FA"/>
                </a:solidFill>
                <a:latin typeface="Consolas" panose="020B0609020204030204" pitchFamily="49" charset="0"/>
              </a:rPr>
              <a:t>+</a:t>
            </a:r>
            <a:r>
              <a:rPr lang="nn-NO" altLang="zh-CN" dirty="0">
                <a:solidFill>
                  <a:srgbClr val="FFBF26"/>
                </a:solidFill>
                <a:latin typeface="Consolas" panose="020B0609020204030204" pitchFamily="49" charset="0"/>
              </a:rPr>
              <a:t>i</a:t>
            </a:r>
            <a:r>
              <a:rPr lang="nn-NO" altLang="zh-CN" dirty="0">
                <a:solidFill>
                  <a:srgbClr val="F9FAF4"/>
                </a:solidFill>
                <a:latin typeface="Consolas" panose="020B0609020204030204" pitchFamily="49" charset="0"/>
              </a:rPr>
              <a:t>)</a:t>
            </a:r>
            <a:r>
              <a:rPr lang="nn-NO" altLang="zh-CN" dirty="0">
                <a:solidFill>
                  <a:srgbClr val="E6E6FA"/>
                </a:solidFill>
                <a:latin typeface="Consolas" panose="020B0609020204030204" pitchFamily="49" charset="0"/>
              </a:rPr>
              <a:t>;</a:t>
            </a:r>
            <a:r>
              <a:rPr lang="nn-NO" altLang="zh-CN" dirty="0">
                <a:solidFill>
                  <a:srgbClr val="D9E8F7"/>
                </a:solidFill>
                <a:latin typeface="Consolas" panose="020B0609020204030204" pitchFamily="49" charset="0"/>
              </a:rPr>
              <a:t>  </a:t>
            </a:r>
          </a:p>
          <a:p>
            <a:r>
              <a:rPr lang="en-US" altLang="zh-CN" dirty="0">
                <a:solidFill>
                  <a:srgbClr val="D9E8F7"/>
                </a:solidFill>
                <a:latin typeface="Consolas" panose="020B0609020204030204" pitchFamily="49" charset="0"/>
              </a:rPr>
              <a:t>                </a:t>
            </a:r>
            <a:r>
              <a:rPr lang="en-US" altLang="zh-CN" dirty="0" err="1">
                <a:solidFill>
                  <a:srgbClr val="FFBF26"/>
                </a:solidFill>
                <a:latin typeface="Consolas" panose="020B0609020204030204" pitchFamily="49" charset="0"/>
              </a:rPr>
              <a:t>pl</a:t>
            </a:r>
            <a:r>
              <a:rPr lang="en-US" altLang="zh-CN" dirty="0" err="1">
                <a:solidFill>
                  <a:srgbClr val="E6E6FA"/>
                </a:solidFill>
                <a:latin typeface="Consolas" panose="020B0609020204030204" pitchFamily="49" charset="0"/>
              </a:rPr>
              <a:t>.</a:t>
            </a:r>
            <a:r>
              <a:rPr lang="en-US" altLang="zh-CN" dirty="0" err="1">
                <a:solidFill>
                  <a:srgbClr val="A7EC21"/>
                </a:solidFill>
                <a:latin typeface="Consolas" panose="020B0609020204030204" pitchFamily="49" charset="0"/>
              </a:rPr>
              <a:t>hmset</a:t>
            </a:r>
            <a:r>
              <a:rPr lang="en-US" altLang="zh-CN" dirty="0" smtClean="0">
                <a:solidFill>
                  <a:srgbClr val="F9FAF4"/>
                </a:solidFill>
                <a:latin typeface="Consolas" panose="020B0609020204030204" pitchFamily="49" charset="0"/>
              </a:rPr>
              <a:t>(</a:t>
            </a:r>
            <a:r>
              <a:rPr lang="en-US" altLang="zh-CN" dirty="0" smtClean="0">
                <a:solidFill>
                  <a:srgbClr val="17C6A3"/>
                </a:solidFill>
                <a:latin typeface="Consolas" panose="020B0609020204030204" pitchFamily="49" charset="0"/>
              </a:rPr>
              <a:t>“keys”</a:t>
            </a:r>
            <a:r>
              <a:rPr lang="en-US" altLang="zh-CN" dirty="0" smtClean="0">
                <a:solidFill>
                  <a:srgbClr val="E6E6FA"/>
                </a:solidFill>
                <a:latin typeface="Consolas" panose="020B0609020204030204" pitchFamily="49" charset="0"/>
              </a:rPr>
              <a:t>+</a:t>
            </a:r>
            <a:r>
              <a:rPr lang="en-US" altLang="zh-CN" dirty="0" err="1">
                <a:solidFill>
                  <a:srgbClr val="FFBF26"/>
                </a:solidFill>
                <a:latin typeface="Consolas" panose="020B0609020204030204" pitchFamily="49" charset="0"/>
              </a:rPr>
              <a:t>i</a:t>
            </a:r>
            <a:r>
              <a:rPr lang="en-US" altLang="zh-CN" dirty="0">
                <a:solidFill>
                  <a:srgbClr val="E6E6FA"/>
                </a:solidFill>
                <a:latin typeface="Consolas" panose="020B0609020204030204" pitchFamily="49" charset="0"/>
              </a:rPr>
              <a:t>,</a:t>
            </a:r>
            <a:r>
              <a:rPr lang="en-US" altLang="zh-CN" dirty="0">
                <a:solidFill>
                  <a:srgbClr val="D9E8F7"/>
                </a:solidFill>
                <a:latin typeface="Consolas" panose="020B0609020204030204" pitchFamily="49" charset="0"/>
              </a:rPr>
              <a:t> </a:t>
            </a:r>
            <a:r>
              <a:rPr lang="en-US" altLang="zh-CN" dirty="0" err="1">
                <a:solidFill>
                  <a:srgbClr val="FFBF26"/>
                </a:solidFill>
                <a:latin typeface="Consolas" panose="020B0609020204030204" pitchFamily="49" charset="0"/>
              </a:rPr>
              <a:t>mp</a:t>
            </a:r>
            <a:r>
              <a:rPr lang="en-US" altLang="zh-CN" dirty="0">
                <a:solidFill>
                  <a:srgbClr val="F9FAF4"/>
                </a:solidFill>
                <a:latin typeface="Consolas" panose="020B0609020204030204" pitchFamily="49" charset="0"/>
              </a:rPr>
              <a:t>)</a:t>
            </a:r>
            <a:r>
              <a:rPr lang="en-US" altLang="zh-CN" dirty="0">
                <a:solidFill>
                  <a:srgbClr val="E6E6FA"/>
                </a:solidFill>
                <a:latin typeface="Consolas" panose="020B0609020204030204" pitchFamily="49" charset="0"/>
              </a:rPr>
              <a:t>;</a:t>
            </a:r>
            <a:r>
              <a:rPr lang="en-US" altLang="zh-CN" dirty="0">
                <a:solidFill>
                  <a:srgbClr val="D9E8F7"/>
                </a:solidFill>
                <a:latin typeface="Consolas" panose="020B0609020204030204" pitchFamily="49" charset="0"/>
              </a:rPr>
              <a:t>  </a:t>
            </a:r>
            <a:r>
              <a:rPr lang="en-US" altLang="zh-CN" dirty="0" smtClean="0">
                <a:solidFill>
                  <a:srgbClr val="D9E8F7"/>
                </a:solidFill>
                <a:latin typeface="Consolas" panose="020B0609020204030204" pitchFamily="49" charset="0"/>
              </a:rPr>
              <a:t>     </a:t>
            </a:r>
            <a:r>
              <a:rPr lang="en-US" altLang="zh-CN" dirty="0" smtClean="0">
                <a:solidFill>
                  <a:srgbClr val="808080"/>
                </a:solidFill>
                <a:latin typeface="Consolas" panose="020B0609020204030204" pitchFamily="49" charset="0"/>
              </a:rPr>
              <a:t>// </a:t>
            </a:r>
            <a:r>
              <a:rPr lang="zh-CN" altLang="en-US" dirty="0">
                <a:solidFill>
                  <a:srgbClr val="808080"/>
                </a:solidFill>
                <a:latin typeface="Consolas" panose="020B0609020204030204" pitchFamily="49" charset="0"/>
              </a:rPr>
              <a:t>写入</a:t>
            </a:r>
          </a:p>
          <a:p>
            <a:r>
              <a:rPr lang="zh-CN" altLang="en-US" dirty="0">
                <a:solidFill>
                  <a:srgbClr val="D9E8F7"/>
                </a:solidFill>
                <a:latin typeface="Consolas" panose="020B0609020204030204" pitchFamily="49" charset="0"/>
              </a:rPr>
              <a:t>            </a:t>
            </a:r>
            <a:r>
              <a:rPr lang="en-US" altLang="zh-CN" dirty="0">
                <a:solidFill>
                  <a:srgbClr val="F9FAF4"/>
                </a:solidFill>
                <a:latin typeface="Consolas" panose="020B0609020204030204" pitchFamily="49" charset="0"/>
              </a:rPr>
              <a:t>}</a:t>
            </a:r>
          </a:p>
          <a:p>
            <a:r>
              <a:rPr lang="en-US" altLang="zh-CN" dirty="0">
                <a:solidFill>
                  <a:srgbClr val="D9E8F7"/>
                </a:solidFill>
                <a:latin typeface="Consolas" panose="020B0609020204030204" pitchFamily="49" charset="0"/>
              </a:rPr>
              <a:t>            </a:t>
            </a:r>
            <a:r>
              <a:rPr lang="en-US" altLang="zh-CN" dirty="0" err="1">
                <a:solidFill>
                  <a:srgbClr val="FFBF26"/>
                </a:solidFill>
                <a:latin typeface="Consolas" panose="020B0609020204030204" pitchFamily="49" charset="0"/>
              </a:rPr>
              <a:t>pl</a:t>
            </a:r>
            <a:r>
              <a:rPr lang="en-US" altLang="zh-CN" dirty="0" err="1">
                <a:solidFill>
                  <a:srgbClr val="E6E6FA"/>
                </a:solidFill>
                <a:latin typeface="Consolas" panose="020B0609020204030204" pitchFamily="49" charset="0"/>
              </a:rPr>
              <a:t>.</a:t>
            </a:r>
            <a:r>
              <a:rPr lang="en-US" altLang="zh-CN" dirty="0" err="1">
                <a:solidFill>
                  <a:srgbClr val="A7EC21"/>
                </a:solidFill>
                <a:latin typeface="Consolas" panose="020B0609020204030204" pitchFamily="49" charset="0"/>
              </a:rPr>
              <a:t>sync</a:t>
            </a:r>
            <a:r>
              <a:rPr lang="en-US" altLang="zh-CN" dirty="0">
                <a:solidFill>
                  <a:srgbClr val="F9FAF4"/>
                </a:solidFill>
                <a:latin typeface="Consolas" panose="020B0609020204030204" pitchFamily="49" charset="0"/>
              </a:rPr>
              <a:t>()</a:t>
            </a:r>
            <a:r>
              <a:rPr lang="en-US" altLang="zh-CN" dirty="0">
                <a:solidFill>
                  <a:srgbClr val="E6E6FA"/>
                </a:solidFill>
                <a:latin typeface="Consolas" panose="020B0609020204030204" pitchFamily="49" charset="0"/>
              </a:rPr>
              <a:t>;</a:t>
            </a:r>
            <a:r>
              <a:rPr lang="en-US" altLang="zh-CN" dirty="0">
                <a:solidFill>
                  <a:srgbClr val="D9E8F7"/>
                </a:solidFill>
                <a:latin typeface="Consolas" panose="020B0609020204030204" pitchFamily="49" charset="0"/>
              </a:rPr>
              <a:t>  </a:t>
            </a:r>
            <a:r>
              <a:rPr lang="en-US" altLang="zh-CN" dirty="0">
                <a:solidFill>
                  <a:srgbClr val="808080"/>
                </a:solidFill>
                <a:latin typeface="Consolas" panose="020B0609020204030204" pitchFamily="49" charset="0"/>
              </a:rPr>
              <a:t>// </a:t>
            </a:r>
            <a:r>
              <a:rPr lang="zh-CN" altLang="en-US" dirty="0">
                <a:solidFill>
                  <a:srgbClr val="808080"/>
                </a:solidFill>
                <a:latin typeface="Consolas" panose="020B0609020204030204" pitchFamily="49" charset="0"/>
              </a:rPr>
              <a:t>执行</a:t>
            </a:r>
          </a:p>
          <a:p>
            <a:r>
              <a:rPr lang="en-US" altLang="zh-CN" dirty="0">
                <a:solidFill>
                  <a:srgbClr val="D9E8F7"/>
                </a:solidFill>
                <a:latin typeface="Consolas" panose="020B0609020204030204" pitchFamily="49" charset="0"/>
              </a:rPr>
              <a:t>            </a:t>
            </a:r>
            <a:r>
              <a:rPr lang="en-US" altLang="zh-CN" dirty="0">
                <a:solidFill>
                  <a:srgbClr val="808080"/>
                </a:solidFill>
                <a:latin typeface="Consolas" panose="020B0609020204030204" pitchFamily="49" charset="0"/>
              </a:rPr>
              <a:t>// List&lt;Object&gt;  </a:t>
            </a:r>
            <a:r>
              <a:rPr lang="en-US" altLang="zh-CN" dirty="0" err="1">
                <a:solidFill>
                  <a:srgbClr val="808080"/>
                </a:solidFill>
                <a:latin typeface="Consolas" panose="020B0609020204030204" pitchFamily="49" charset="0"/>
              </a:rPr>
              <a:t>resp</a:t>
            </a:r>
            <a:r>
              <a:rPr lang="en-US" altLang="zh-CN" dirty="0">
                <a:solidFill>
                  <a:srgbClr val="808080"/>
                </a:solidFill>
                <a:latin typeface="Consolas" panose="020B0609020204030204" pitchFamily="49" charset="0"/>
              </a:rPr>
              <a:t> = </a:t>
            </a:r>
            <a:r>
              <a:rPr lang="en-US" altLang="zh-CN" dirty="0" err="1">
                <a:solidFill>
                  <a:srgbClr val="808080"/>
                </a:solidFill>
                <a:latin typeface="Consolas" panose="020B0609020204030204" pitchFamily="49" charset="0"/>
              </a:rPr>
              <a:t>pl.syncAndReturnAll</a:t>
            </a:r>
            <a:r>
              <a:rPr lang="en-US" altLang="zh-CN" dirty="0">
                <a:solidFill>
                  <a:srgbClr val="808080"/>
                </a:solidFill>
                <a:latin typeface="Consolas" panose="020B0609020204030204" pitchFamily="49" charset="0"/>
              </a:rPr>
              <a:t>();  // </a:t>
            </a:r>
            <a:r>
              <a:rPr lang="zh-CN" altLang="en-US" dirty="0">
                <a:solidFill>
                  <a:srgbClr val="808080"/>
                </a:solidFill>
                <a:latin typeface="Consolas" panose="020B0609020204030204" pitchFamily="49" charset="0"/>
              </a:rPr>
              <a:t>执行并获取结果</a:t>
            </a:r>
          </a:p>
          <a:p>
            <a:r>
              <a:rPr lang="zh-CN" altLang="en-US" dirty="0">
                <a:solidFill>
                  <a:srgbClr val="D9E8F7"/>
                </a:solidFill>
                <a:latin typeface="Consolas" panose="020B0609020204030204" pitchFamily="49" charset="0"/>
              </a:rPr>
              <a:t>        </a:t>
            </a:r>
            <a:r>
              <a:rPr lang="en-US" altLang="zh-CN" dirty="0">
                <a:solidFill>
                  <a:srgbClr val="F9FAF4"/>
                </a:solidFill>
                <a:latin typeface="Consolas" panose="020B0609020204030204" pitchFamily="49" charset="0"/>
              </a:rPr>
              <a:t>}</a:t>
            </a:r>
          </a:p>
          <a:p>
            <a:r>
              <a:rPr lang="en-US" altLang="zh-CN" dirty="0">
                <a:solidFill>
                  <a:srgbClr val="D9E8F7"/>
                </a:solidFill>
                <a:latin typeface="Consolas" panose="020B0609020204030204" pitchFamily="49" charset="0"/>
              </a:rPr>
              <a:t>        </a:t>
            </a:r>
            <a:r>
              <a:rPr lang="en-US" altLang="zh-CN" b="1" dirty="0">
                <a:solidFill>
                  <a:srgbClr val="CC7832"/>
                </a:solidFill>
                <a:latin typeface="Consolas" panose="020B0609020204030204" pitchFamily="49" charset="0"/>
              </a:rPr>
              <a:t>catch</a:t>
            </a:r>
            <a:r>
              <a:rPr lang="en-US" altLang="zh-CN" b="1" dirty="0">
                <a:solidFill>
                  <a:srgbClr val="D9E8F7"/>
                </a:solidFill>
                <a:latin typeface="Consolas" panose="020B0609020204030204" pitchFamily="49" charset="0"/>
              </a:rPr>
              <a:t> </a:t>
            </a:r>
            <a:r>
              <a:rPr lang="en-US" altLang="zh-CN" b="1" dirty="0">
                <a:solidFill>
                  <a:srgbClr val="F9FAF4"/>
                </a:solidFill>
                <a:latin typeface="Consolas" panose="020B0609020204030204" pitchFamily="49" charset="0"/>
              </a:rPr>
              <a:t>(</a:t>
            </a:r>
            <a:r>
              <a:rPr lang="en-US" altLang="zh-CN" b="1" dirty="0">
                <a:solidFill>
                  <a:srgbClr val="1290C3"/>
                </a:solidFill>
                <a:latin typeface="Consolas" panose="020B0609020204030204" pitchFamily="49" charset="0"/>
              </a:rPr>
              <a:t>Exception</a:t>
            </a:r>
            <a:r>
              <a:rPr lang="en-US" altLang="zh-CN" b="1" dirty="0">
                <a:solidFill>
                  <a:srgbClr val="D9E8F7"/>
                </a:solidFill>
                <a:latin typeface="Consolas" panose="020B0609020204030204" pitchFamily="49" charset="0"/>
              </a:rPr>
              <a:t> </a:t>
            </a:r>
            <a:r>
              <a:rPr lang="en-US" altLang="zh-CN" b="1" dirty="0">
                <a:solidFill>
                  <a:srgbClr val="ED7F48"/>
                </a:solidFill>
                <a:latin typeface="Consolas" panose="020B0609020204030204" pitchFamily="49" charset="0"/>
              </a:rPr>
              <a:t>e</a:t>
            </a:r>
            <a:r>
              <a:rPr lang="en-US" altLang="zh-CN" b="1" dirty="0">
                <a:solidFill>
                  <a:srgbClr val="F9FAF4"/>
                </a:solidFill>
                <a:latin typeface="Consolas" panose="020B0609020204030204" pitchFamily="49" charset="0"/>
              </a:rPr>
              <a:t>)</a:t>
            </a:r>
            <a:r>
              <a:rPr lang="en-US" altLang="zh-CN" b="1" dirty="0">
                <a:solidFill>
                  <a:srgbClr val="D9E8F7"/>
                </a:solidFill>
                <a:latin typeface="Consolas" panose="020B0609020204030204" pitchFamily="49" charset="0"/>
              </a:rPr>
              <a:t> </a:t>
            </a:r>
            <a:r>
              <a:rPr lang="en-US" altLang="zh-CN" b="1" dirty="0">
                <a:solidFill>
                  <a:srgbClr val="F9FAF4"/>
                </a:solidFill>
                <a:latin typeface="Consolas" panose="020B0609020204030204" pitchFamily="49" charset="0"/>
              </a:rPr>
              <a:t>{</a:t>
            </a:r>
          </a:p>
          <a:p>
            <a:r>
              <a:rPr lang="en-US" altLang="zh-CN" dirty="0">
                <a:solidFill>
                  <a:srgbClr val="D9E8F7"/>
                </a:solidFill>
                <a:latin typeface="Consolas" panose="020B0609020204030204" pitchFamily="49" charset="0"/>
              </a:rPr>
              <a:t>            </a:t>
            </a:r>
            <a:r>
              <a:rPr lang="en-US" altLang="zh-CN" dirty="0" err="1">
                <a:solidFill>
                  <a:srgbClr val="FFBF26"/>
                </a:solidFill>
                <a:latin typeface="Consolas" panose="020B0609020204030204" pitchFamily="49" charset="0"/>
              </a:rPr>
              <a:t>e</a:t>
            </a:r>
            <a:r>
              <a:rPr lang="en-US" altLang="zh-CN" dirty="0" err="1">
                <a:solidFill>
                  <a:srgbClr val="E6E6FA"/>
                </a:solidFill>
                <a:latin typeface="Consolas" panose="020B0609020204030204" pitchFamily="49" charset="0"/>
              </a:rPr>
              <a:t>.</a:t>
            </a:r>
            <a:r>
              <a:rPr lang="en-US" altLang="zh-CN" dirty="0" err="1">
                <a:solidFill>
                  <a:srgbClr val="A7EC21"/>
                </a:solidFill>
                <a:latin typeface="Consolas" panose="020B0609020204030204" pitchFamily="49" charset="0"/>
              </a:rPr>
              <a:t>printStackTrace</a:t>
            </a:r>
            <a:r>
              <a:rPr lang="en-US" altLang="zh-CN" dirty="0">
                <a:solidFill>
                  <a:srgbClr val="F9FAF4"/>
                </a:solidFill>
                <a:latin typeface="Consolas" panose="020B0609020204030204" pitchFamily="49" charset="0"/>
              </a:rPr>
              <a:t>()</a:t>
            </a:r>
            <a:r>
              <a:rPr lang="en-US" altLang="zh-CN" dirty="0">
                <a:solidFill>
                  <a:srgbClr val="E6E6FA"/>
                </a:solidFill>
                <a:latin typeface="Consolas" panose="020B0609020204030204" pitchFamily="49" charset="0"/>
              </a:rPr>
              <a:t>;</a:t>
            </a:r>
          </a:p>
          <a:p>
            <a:r>
              <a:rPr lang="zh-CN" altLang="en-US" dirty="0">
                <a:solidFill>
                  <a:srgbClr val="D9E8F7"/>
                </a:solidFill>
                <a:latin typeface="Consolas" panose="020B0609020204030204" pitchFamily="49" charset="0"/>
              </a:rPr>
              <a:t>        </a:t>
            </a:r>
            <a:r>
              <a:rPr lang="en-US" altLang="zh-CN" dirty="0">
                <a:solidFill>
                  <a:srgbClr val="F9FAF4"/>
                </a:solidFill>
                <a:latin typeface="Consolas" panose="020B0609020204030204" pitchFamily="49" charset="0"/>
              </a:rPr>
              <a:t>}</a:t>
            </a:r>
          </a:p>
          <a:p>
            <a:r>
              <a:rPr lang="zh-CN" altLang="en-US" dirty="0">
                <a:solidFill>
                  <a:srgbClr val="D9E8F7"/>
                </a:solidFill>
                <a:latin typeface="Consolas" panose="020B0609020204030204" pitchFamily="49" charset="0"/>
              </a:rPr>
              <a:t>    </a:t>
            </a:r>
            <a:r>
              <a:rPr lang="en-US" altLang="zh-CN" dirty="0">
                <a:solidFill>
                  <a:srgbClr val="F9FAF4"/>
                </a:solidFill>
                <a:latin typeface="Consolas" panose="020B0609020204030204" pitchFamily="49" charset="0"/>
              </a:rPr>
              <a:t>}</a:t>
            </a:r>
            <a:endParaRPr lang="zh-CN" altLang="en-US" dirty="0" smtClean="0">
              <a:solidFill>
                <a:schemeClr val="bg1"/>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908050" y="1196767"/>
            <a:ext cx="10276114" cy="369332"/>
          </a:xfrm>
          <a:prstGeom prst="rect">
            <a:avLst/>
          </a:prstGeom>
          <a:noFill/>
        </p:spPr>
        <p:txBody>
          <a:bodyPr wrap="square" rtlCol="0">
            <a:spAutoFit/>
          </a:bodyPr>
          <a:lstStyle/>
          <a:p>
            <a:pPr algn="l"/>
            <a:r>
              <a:rPr lang="zh-CN" altLang="en-US" dirty="0" smtClean="0">
                <a:solidFill>
                  <a:schemeClr val="bg1"/>
                </a:solidFill>
                <a:latin typeface="微软雅黑" panose="020B0503020204020204" pitchFamily="34" charset="-122"/>
                <a:ea typeface="微软雅黑" panose="020B0503020204020204" pitchFamily="34" charset="-122"/>
              </a:rPr>
              <a:t>使用管道向</a:t>
            </a:r>
            <a:r>
              <a:rPr lang="en-US" altLang="zh-CN" dirty="0" err="1" smtClean="0">
                <a:solidFill>
                  <a:schemeClr val="bg1"/>
                </a:solidFill>
                <a:latin typeface="微软雅黑" panose="020B0503020204020204" pitchFamily="34" charset="-122"/>
                <a:ea typeface="微软雅黑" panose="020B0503020204020204" pitchFamily="34" charset="-122"/>
              </a:rPr>
              <a:t>redis</a:t>
            </a:r>
            <a:r>
              <a:rPr lang="en-US" altLang="zh-CN" dirty="0" smtClean="0">
                <a:solidFill>
                  <a:schemeClr val="bg1"/>
                </a:solidFill>
                <a:latin typeface="微软雅黑" panose="020B0503020204020204" pitchFamily="34" charset="-122"/>
                <a:ea typeface="微软雅黑" panose="020B0503020204020204" pitchFamily="34" charset="-122"/>
              </a:rPr>
              <a:t> hash</a:t>
            </a:r>
            <a:r>
              <a:rPr lang="zh-CN" altLang="en-US" dirty="0" smtClean="0">
                <a:solidFill>
                  <a:schemeClr val="bg1"/>
                </a:solidFill>
                <a:latin typeface="微软雅黑" panose="020B0503020204020204" pitchFamily="34" charset="-122"/>
                <a:ea typeface="微软雅黑" panose="020B0503020204020204" pitchFamily="34" charset="-122"/>
              </a:rPr>
              <a:t>类型的数据结构中写入</a:t>
            </a:r>
            <a:r>
              <a:rPr lang="en-US" altLang="zh-CN" dirty="0" smtClean="0">
                <a:solidFill>
                  <a:schemeClr val="bg1"/>
                </a:solidFill>
                <a:latin typeface="微软雅黑" panose="020B0503020204020204" pitchFamily="34" charset="-122"/>
                <a:ea typeface="微软雅黑" panose="020B0503020204020204" pitchFamily="34" charset="-122"/>
              </a:rPr>
              <a:t>10000</a:t>
            </a:r>
            <a:r>
              <a:rPr lang="zh-CN" altLang="en-US" dirty="0" smtClean="0">
                <a:solidFill>
                  <a:schemeClr val="bg1"/>
                </a:solidFill>
                <a:latin typeface="微软雅黑" panose="020B0503020204020204" pitchFamily="34" charset="-122"/>
                <a:ea typeface="微软雅黑" panose="020B0503020204020204" pitchFamily="34" charset="-122"/>
              </a:rPr>
              <a:t>条记录。</a:t>
            </a:r>
          </a:p>
        </p:txBody>
      </p:sp>
    </p:spTree>
    <p:extLst>
      <p:ext uri="{BB962C8B-B14F-4D97-AF65-F5344CB8AC3E}">
        <p14:creationId xmlns:p14="http://schemas.microsoft.com/office/powerpoint/2010/main" val="2339907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0A0F23"/>
        </a:solidFill>
        <a:effectLst/>
      </p:bgPr>
    </p:bg>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xmlns="" id="{CBDC52CD-1D62-48AF-A9DF-9F18AEA2B1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01385" y="-114300"/>
            <a:ext cx="1301859" cy="920356"/>
          </a:xfrm>
          <a:prstGeom prst="rect">
            <a:avLst/>
          </a:prstGeom>
        </p:spPr>
      </p:pic>
      <p:pic>
        <p:nvPicPr>
          <p:cNvPr id="14" name="图片 13">
            <a:extLst>
              <a:ext uri="{FF2B5EF4-FFF2-40B4-BE49-F238E27FC236}">
                <a16:creationId xmlns:a16="http://schemas.microsoft.com/office/drawing/2014/main" xmlns="" id="{F78DA958-9B1B-47DA-A870-8C0B3A7D8866}"/>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b="63537"/>
          <a:stretch/>
        </p:blipFill>
        <p:spPr>
          <a:xfrm>
            <a:off x="11184164" y="217733"/>
            <a:ext cx="572339" cy="337210"/>
          </a:xfrm>
          <a:prstGeom prst="rect">
            <a:avLst/>
          </a:prstGeom>
        </p:spPr>
      </p:pic>
      <p:cxnSp>
        <p:nvCxnSpPr>
          <p:cNvPr id="15" name="直接连接符 14">
            <a:extLst>
              <a:ext uri="{FF2B5EF4-FFF2-40B4-BE49-F238E27FC236}">
                <a16:creationId xmlns:a16="http://schemas.microsoft.com/office/drawing/2014/main" xmlns="" id="{93240A06-D526-4907-A163-94ABB41190CC}"/>
              </a:ext>
            </a:extLst>
          </p:cNvPr>
          <p:cNvCxnSpPr/>
          <p:nvPr/>
        </p:nvCxnSpPr>
        <p:spPr>
          <a:xfrm>
            <a:off x="11103244" y="225825"/>
            <a:ext cx="0" cy="2435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xmlns="" id="{74C59758-12AB-44A5-92FA-DB52904027AE}"/>
              </a:ext>
            </a:extLst>
          </p:cNvPr>
          <p:cNvSpPr/>
          <p:nvPr/>
        </p:nvSpPr>
        <p:spPr>
          <a:xfrm>
            <a:off x="802332" y="1287114"/>
            <a:ext cx="10765483" cy="923330"/>
          </a:xfrm>
          <a:prstGeom prst="rect">
            <a:avLst/>
          </a:prstGeom>
        </p:spPr>
        <p:txBody>
          <a:bodyPr wrap="square">
            <a:spAutoFit/>
          </a:bodyPr>
          <a:lstStyle/>
          <a:p>
            <a:pPr indent="457200">
              <a:lnSpc>
                <a:spcPct val="150000"/>
              </a:lnSpc>
            </a:pPr>
            <a:r>
              <a:rPr lang="zh-CN" altLang="en-US" dirty="0" smtClean="0">
                <a:solidFill>
                  <a:prstClr val="white"/>
                </a:solidFill>
                <a:latin typeface="微软雅黑" panose="020B0503020204020204" pitchFamily="34" charset="-122"/>
                <a:ea typeface="微软雅黑" panose="020B0503020204020204" pitchFamily="34" charset="-122"/>
              </a:rPr>
              <a:t>因为管道依赖于客户端系统内核的发送和接收缓冲区，所以管道批量发送和接收的数据受缓冲区的大小限制，实际使用应该根据系统限制做</a:t>
            </a:r>
            <a:r>
              <a:rPr lang="zh-CN" altLang="en-US" dirty="0">
                <a:solidFill>
                  <a:prstClr val="white"/>
                </a:solidFill>
                <a:latin typeface="微软雅黑" panose="020B0503020204020204" pitchFamily="34" charset="-122"/>
                <a:ea typeface="微软雅黑" panose="020B0503020204020204" pitchFamily="34" charset="-122"/>
              </a:rPr>
              <a:t>相应</a:t>
            </a:r>
            <a:r>
              <a:rPr lang="zh-CN" altLang="en-US" dirty="0" smtClean="0">
                <a:solidFill>
                  <a:prstClr val="white"/>
                </a:solidFill>
                <a:latin typeface="微软雅黑" panose="020B0503020204020204" pitchFamily="34" charset="-122"/>
                <a:ea typeface="微软雅黑" panose="020B0503020204020204" pitchFamily="34" charset="-122"/>
              </a:rPr>
              <a:t>调整，最好对最大值做到心中有数。</a:t>
            </a:r>
            <a:endParaRPr lang="zh-CN" altLang="en-US" dirty="0">
              <a:solidFill>
                <a:prstClr val="white"/>
              </a:solidFill>
              <a:latin typeface="微软雅黑" panose="020B0503020204020204" pitchFamily="34" charset="-122"/>
              <a:ea typeface="微软雅黑" panose="020B0503020204020204" pitchFamily="34" charset="-122"/>
            </a:endParaRPr>
          </a:p>
        </p:txBody>
      </p:sp>
      <p:sp>
        <p:nvSpPr>
          <p:cNvPr id="10" name="TextBox 9"/>
          <p:cNvSpPr txBox="1"/>
          <p:nvPr/>
        </p:nvSpPr>
        <p:spPr>
          <a:xfrm>
            <a:off x="704850" y="605109"/>
            <a:ext cx="8883650" cy="523220"/>
          </a:xfrm>
          <a:prstGeom prst="rect">
            <a:avLst/>
          </a:prstGeom>
          <a:noFill/>
        </p:spPr>
        <p:txBody>
          <a:bodyPr wrap="square" rtlCol="0">
            <a:spAutoFit/>
          </a:bodyPr>
          <a:lstStyle/>
          <a:p>
            <a:pPr>
              <a:defRPr/>
            </a:pPr>
            <a:r>
              <a:rPr lang="en-US" altLang="zh-CN"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4.1.3 </a:t>
            </a:r>
            <a:r>
              <a:rPr lang="zh-CN" altLang="en-US"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注意事项</a:t>
            </a:r>
          </a:p>
        </p:txBody>
      </p:sp>
    </p:spTree>
    <p:extLst>
      <p:ext uri="{BB962C8B-B14F-4D97-AF65-F5344CB8AC3E}">
        <p14:creationId xmlns:p14="http://schemas.microsoft.com/office/powerpoint/2010/main" val="1037148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A0F23"/>
        </a:solidFill>
        <a:effectLst/>
      </p:bgPr>
    </p:bg>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xmlns="" id="{CBDC52CD-1D62-48AF-A9DF-9F18AEA2B1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01385" y="-114300"/>
            <a:ext cx="1301859" cy="920356"/>
          </a:xfrm>
          <a:prstGeom prst="rect">
            <a:avLst/>
          </a:prstGeom>
        </p:spPr>
      </p:pic>
      <p:pic>
        <p:nvPicPr>
          <p:cNvPr id="14" name="图片 13">
            <a:extLst>
              <a:ext uri="{FF2B5EF4-FFF2-40B4-BE49-F238E27FC236}">
                <a16:creationId xmlns:a16="http://schemas.microsoft.com/office/drawing/2014/main" xmlns="" id="{F78DA958-9B1B-47DA-A870-8C0B3A7D8866}"/>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b="63537"/>
          <a:stretch/>
        </p:blipFill>
        <p:spPr>
          <a:xfrm>
            <a:off x="11184164" y="217733"/>
            <a:ext cx="572339" cy="337210"/>
          </a:xfrm>
          <a:prstGeom prst="rect">
            <a:avLst/>
          </a:prstGeom>
        </p:spPr>
      </p:pic>
      <p:cxnSp>
        <p:nvCxnSpPr>
          <p:cNvPr id="15" name="直接连接符 14">
            <a:extLst>
              <a:ext uri="{FF2B5EF4-FFF2-40B4-BE49-F238E27FC236}">
                <a16:creationId xmlns:a16="http://schemas.microsoft.com/office/drawing/2014/main" xmlns="" id="{93240A06-D526-4907-A163-94ABB41190CC}"/>
              </a:ext>
            </a:extLst>
          </p:cNvPr>
          <p:cNvCxnSpPr/>
          <p:nvPr/>
        </p:nvCxnSpPr>
        <p:spPr>
          <a:xfrm>
            <a:off x="11103244" y="225825"/>
            <a:ext cx="0" cy="2435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xmlns="" id="{74C59758-12AB-44A5-92FA-DB52904027AE}"/>
              </a:ext>
            </a:extLst>
          </p:cNvPr>
          <p:cNvSpPr/>
          <p:nvPr/>
        </p:nvSpPr>
        <p:spPr>
          <a:xfrm>
            <a:off x="704849" y="1839838"/>
            <a:ext cx="10765483" cy="2031325"/>
          </a:xfrm>
          <a:prstGeom prst="rect">
            <a:avLst/>
          </a:prstGeom>
        </p:spPr>
        <p:txBody>
          <a:bodyPr wrap="square">
            <a:spAutoFit/>
          </a:bodyPr>
          <a:lstStyle/>
          <a:p>
            <a:pPr indent="457200">
              <a:lnSpc>
                <a:spcPct val="140000"/>
              </a:lnSpc>
            </a:pPr>
            <a:r>
              <a:rPr lang="zh-CN" altLang="en-US" dirty="0" smtClean="0">
                <a:solidFill>
                  <a:prstClr val="white"/>
                </a:solidFill>
                <a:latin typeface="微软雅黑" panose="020B0503020204020204" pitchFamily="34" charset="-122"/>
                <a:ea typeface="微软雅黑" panose="020B0503020204020204" pitchFamily="34" charset="-122"/>
              </a:rPr>
              <a:t>事</a:t>
            </a:r>
            <a:r>
              <a:rPr lang="zh-CN" altLang="en-US" dirty="0">
                <a:solidFill>
                  <a:prstClr val="white"/>
                </a:solidFill>
                <a:latin typeface="微软雅黑" panose="020B0503020204020204" pitchFamily="34" charset="-122"/>
                <a:ea typeface="微软雅黑" panose="020B0503020204020204" pitchFamily="34" charset="-122"/>
              </a:rPr>
              <a:t>务是一个单独的隔离操作：事务中的所有命令都</a:t>
            </a:r>
            <a:r>
              <a:rPr lang="zh-CN" altLang="en-US" dirty="0" smtClean="0">
                <a:solidFill>
                  <a:prstClr val="white"/>
                </a:solidFill>
                <a:latin typeface="微软雅黑" panose="020B0503020204020204" pitchFamily="34" charset="-122"/>
                <a:ea typeface="微软雅黑" panose="020B0503020204020204" pitchFamily="34" charset="-122"/>
              </a:rPr>
              <a:t>会按</a:t>
            </a:r>
            <a:r>
              <a:rPr lang="zh-CN" altLang="en-US" dirty="0">
                <a:solidFill>
                  <a:prstClr val="white"/>
                </a:solidFill>
                <a:latin typeface="微软雅黑" panose="020B0503020204020204" pitchFamily="34" charset="-122"/>
                <a:ea typeface="微软雅黑" panose="020B0503020204020204" pitchFamily="34" charset="-122"/>
              </a:rPr>
              <a:t>顺序地执行。事务在执行的过程中，不会被其他客户端发送来的命令请求所打断</a:t>
            </a:r>
            <a:r>
              <a:rPr lang="zh-CN" altLang="en-US" dirty="0" smtClean="0">
                <a:solidFill>
                  <a:prstClr val="white"/>
                </a:solidFill>
                <a:latin typeface="微软雅黑" panose="020B0503020204020204" pitchFamily="34" charset="-122"/>
                <a:ea typeface="微软雅黑" panose="020B0503020204020204" pitchFamily="34" charset="-122"/>
              </a:rPr>
              <a:t>。</a:t>
            </a:r>
            <a:endParaRPr lang="en-US" altLang="zh-CN" dirty="0">
              <a:solidFill>
                <a:prstClr val="white"/>
              </a:solidFill>
              <a:latin typeface="微软雅黑" panose="020B0503020204020204" pitchFamily="34" charset="-122"/>
              <a:ea typeface="微软雅黑" panose="020B0503020204020204" pitchFamily="34" charset="-122"/>
            </a:endParaRPr>
          </a:p>
          <a:p>
            <a:pPr indent="457200">
              <a:lnSpc>
                <a:spcPct val="140000"/>
              </a:lnSpc>
            </a:pPr>
            <a:r>
              <a:rPr lang="en-US" altLang="zh-CN" dirty="0" err="1" smtClean="0">
                <a:solidFill>
                  <a:prstClr val="white"/>
                </a:solidFill>
                <a:latin typeface="微软雅黑" panose="020B0503020204020204" pitchFamily="34" charset="-122"/>
                <a:ea typeface="微软雅黑" panose="020B0503020204020204" pitchFamily="34" charset="-122"/>
              </a:rPr>
              <a:t>redis</a:t>
            </a:r>
            <a:r>
              <a:rPr lang="zh-CN" altLang="en-US" dirty="0" smtClean="0">
                <a:solidFill>
                  <a:prstClr val="white"/>
                </a:solidFill>
                <a:latin typeface="微软雅黑" panose="020B0503020204020204" pitchFamily="34" charset="-122"/>
                <a:ea typeface="微软雅黑" panose="020B0503020204020204" pitchFamily="34" charset="-122"/>
              </a:rPr>
              <a:t>事物以 </a:t>
            </a:r>
            <a:r>
              <a:rPr lang="en-US" altLang="zh-CN" sz="1600" b="1" dirty="0">
                <a:solidFill>
                  <a:srgbClr val="FFD343"/>
                </a:solidFill>
                <a:latin typeface="微软雅黑" panose="020B0503020204020204" pitchFamily="34" charset="-122"/>
                <a:ea typeface="微软雅黑" panose="020B0503020204020204" pitchFamily="34" charset="-122"/>
              </a:rPr>
              <a:t>MULTI</a:t>
            </a:r>
            <a:r>
              <a:rPr lang="en-US" altLang="zh-CN" dirty="0">
                <a:solidFill>
                  <a:prstClr val="white"/>
                </a:solidFill>
                <a:latin typeface="微软雅黑" panose="020B0503020204020204" pitchFamily="34" charset="-122"/>
                <a:ea typeface="微软雅黑" panose="020B0503020204020204" pitchFamily="34" charset="-122"/>
              </a:rPr>
              <a:t> </a:t>
            </a:r>
            <a:r>
              <a:rPr lang="zh-CN" altLang="en-US" dirty="0">
                <a:solidFill>
                  <a:prstClr val="white"/>
                </a:solidFill>
                <a:latin typeface="微软雅黑" panose="020B0503020204020204" pitchFamily="34" charset="-122"/>
                <a:ea typeface="微软雅黑" panose="020B0503020204020204" pitchFamily="34" charset="-122"/>
              </a:rPr>
              <a:t>开</a:t>
            </a:r>
            <a:r>
              <a:rPr lang="zh-CN" altLang="en-US" dirty="0" smtClean="0">
                <a:solidFill>
                  <a:prstClr val="white"/>
                </a:solidFill>
                <a:latin typeface="微软雅黑" panose="020B0503020204020204" pitchFamily="34" charset="-122"/>
                <a:ea typeface="微软雅黑" panose="020B0503020204020204" pitchFamily="34" charset="-122"/>
              </a:rPr>
              <a:t>始，接着执行的命令进入服务器的一个事物队列，由</a:t>
            </a:r>
            <a:r>
              <a:rPr lang="en-US" altLang="zh-CN" sz="1600" b="1" dirty="0">
                <a:solidFill>
                  <a:srgbClr val="FFD343"/>
                </a:solidFill>
                <a:latin typeface="微软雅黑" panose="020B0503020204020204" pitchFamily="34" charset="-122"/>
                <a:ea typeface="微软雅黑" panose="020B0503020204020204" pitchFamily="34" charset="-122"/>
              </a:rPr>
              <a:t>EXEC</a:t>
            </a:r>
            <a:r>
              <a:rPr lang="en-US" altLang="zh-CN" dirty="0" smtClean="0">
                <a:solidFill>
                  <a:prstClr val="white"/>
                </a:solidFill>
                <a:latin typeface="微软雅黑" panose="020B0503020204020204" pitchFamily="34" charset="-122"/>
                <a:ea typeface="微软雅黑" panose="020B0503020204020204" pitchFamily="34" charset="-122"/>
              </a:rPr>
              <a:t> </a:t>
            </a:r>
            <a:r>
              <a:rPr lang="zh-CN" altLang="en-US" dirty="0">
                <a:solidFill>
                  <a:prstClr val="white"/>
                </a:solidFill>
                <a:latin typeface="微软雅黑" panose="020B0503020204020204" pitchFamily="34" charset="-122"/>
                <a:ea typeface="微软雅黑" panose="020B0503020204020204" pitchFamily="34" charset="-122"/>
              </a:rPr>
              <a:t>命令触发事</a:t>
            </a:r>
            <a:r>
              <a:rPr lang="zh-CN" altLang="en-US" dirty="0" smtClean="0">
                <a:solidFill>
                  <a:prstClr val="white"/>
                </a:solidFill>
                <a:latin typeface="微软雅黑" panose="020B0503020204020204" pitchFamily="34" charset="-122"/>
                <a:ea typeface="微软雅黑" panose="020B0503020204020204" pitchFamily="34" charset="-122"/>
              </a:rPr>
              <a:t>务，一并执行事物队列中所有的命令，也可以使用</a:t>
            </a:r>
            <a:r>
              <a:rPr lang="en-US" altLang="zh-CN" sz="1600" b="1" dirty="0">
                <a:solidFill>
                  <a:srgbClr val="FFD343"/>
                </a:solidFill>
                <a:latin typeface="微软雅黑" panose="020B0503020204020204" pitchFamily="34" charset="-122"/>
                <a:ea typeface="微软雅黑" panose="020B0503020204020204" pitchFamily="34" charset="-122"/>
              </a:rPr>
              <a:t>DISCARD</a:t>
            </a:r>
            <a:r>
              <a:rPr lang="zh-CN" altLang="en-US" dirty="0" smtClean="0">
                <a:solidFill>
                  <a:prstClr val="white"/>
                </a:solidFill>
                <a:latin typeface="微软雅黑" panose="020B0503020204020204" pitchFamily="34" charset="-122"/>
                <a:ea typeface="微软雅黑" panose="020B0503020204020204" pitchFamily="34" charset="-122"/>
              </a:rPr>
              <a:t>丢弃队列中提交的命令，</a:t>
            </a:r>
            <a:endParaRPr lang="en-US" altLang="zh-CN" dirty="0" smtClean="0">
              <a:solidFill>
                <a:prstClr val="white"/>
              </a:solidFill>
              <a:latin typeface="微软雅黑" panose="020B0503020204020204" pitchFamily="34" charset="-122"/>
              <a:ea typeface="微软雅黑" panose="020B0503020204020204" pitchFamily="34" charset="-122"/>
            </a:endParaRPr>
          </a:p>
          <a:p>
            <a:pPr indent="457200">
              <a:lnSpc>
                <a:spcPct val="140000"/>
              </a:lnSpc>
            </a:pPr>
            <a:r>
              <a:rPr lang="zh-CN" altLang="en-US" dirty="0" smtClean="0">
                <a:solidFill>
                  <a:prstClr val="white"/>
                </a:solidFill>
                <a:latin typeface="微软雅黑" panose="020B0503020204020204" pitchFamily="34" charset="-122"/>
                <a:ea typeface="微软雅黑" panose="020B0503020204020204" pitchFamily="34" charset="-122"/>
              </a:rPr>
              <a:t>在</a:t>
            </a:r>
            <a:r>
              <a:rPr lang="en-US" altLang="zh-CN" dirty="0" smtClean="0">
                <a:solidFill>
                  <a:prstClr val="white"/>
                </a:solidFill>
                <a:latin typeface="微软雅黑" panose="020B0503020204020204" pitchFamily="34" charset="-122"/>
                <a:ea typeface="微软雅黑" panose="020B0503020204020204" pitchFamily="34" charset="-122"/>
              </a:rPr>
              <a:t>MULTI</a:t>
            </a:r>
            <a:r>
              <a:rPr lang="zh-CN" altLang="en-US" b="1" dirty="0">
                <a:solidFill>
                  <a:srgbClr val="FFD343"/>
                </a:solidFill>
                <a:latin typeface="微软雅黑" panose="020B0503020204020204" pitchFamily="34" charset="-122"/>
                <a:ea typeface="微软雅黑" panose="020B0503020204020204" pitchFamily="34" charset="-122"/>
              </a:rPr>
              <a:t>前</a:t>
            </a:r>
            <a:r>
              <a:rPr lang="zh-CN" altLang="en-US" dirty="0" smtClean="0">
                <a:solidFill>
                  <a:prstClr val="white"/>
                </a:solidFill>
                <a:latin typeface="微软雅黑" panose="020B0503020204020204" pitchFamily="34" charset="-122"/>
                <a:ea typeface="微软雅黑" panose="020B0503020204020204" pitchFamily="34" charset="-122"/>
              </a:rPr>
              <a:t>，可使用</a:t>
            </a:r>
            <a:r>
              <a:rPr lang="en-US" altLang="zh-CN" b="1" dirty="0">
                <a:solidFill>
                  <a:srgbClr val="FFD343"/>
                </a:solidFill>
                <a:latin typeface="微软雅黑" panose="020B0503020204020204" pitchFamily="34" charset="-122"/>
                <a:ea typeface="微软雅黑" panose="020B0503020204020204" pitchFamily="34" charset="-122"/>
              </a:rPr>
              <a:t>watch</a:t>
            </a:r>
            <a:r>
              <a:rPr lang="en-US" altLang="zh-CN" dirty="0" smtClean="0">
                <a:solidFill>
                  <a:prstClr val="white"/>
                </a:solidFill>
                <a:latin typeface="微软雅黑" panose="020B0503020204020204" pitchFamily="34" charset="-122"/>
                <a:ea typeface="微软雅黑" panose="020B0503020204020204" pitchFamily="34" charset="-122"/>
              </a:rPr>
              <a:t> </a:t>
            </a:r>
            <a:r>
              <a:rPr lang="zh-CN" altLang="en-US" dirty="0" smtClean="0">
                <a:solidFill>
                  <a:prstClr val="white"/>
                </a:solidFill>
                <a:latin typeface="微软雅黑" panose="020B0503020204020204" pitchFamily="34" charset="-122"/>
                <a:ea typeface="微软雅黑" panose="020B0503020204020204" pitchFamily="34" charset="-122"/>
              </a:rPr>
              <a:t>观察某个值，如果这个值在事物触发执行时被改变，则事物执行失败</a:t>
            </a:r>
            <a:endParaRPr lang="en-US" altLang="zh-CN" dirty="0" smtClean="0">
              <a:solidFill>
                <a:prstClr val="white"/>
              </a:solidFill>
              <a:latin typeface="微软雅黑" panose="020B0503020204020204" pitchFamily="34" charset="-122"/>
              <a:ea typeface="微软雅黑" panose="020B0503020204020204" pitchFamily="34" charset="-122"/>
            </a:endParaRPr>
          </a:p>
        </p:txBody>
      </p:sp>
      <p:sp>
        <p:nvSpPr>
          <p:cNvPr id="10" name="TextBox 9"/>
          <p:cNvSpPr txBox="1"/>
          <p:nvPr/>
        </p:nvSpPr>
        <p:spPr>
          <a:xfrm>
            <a:off x="704849" y="605109"/>
            <a:ext cx="10862965" cy="584775"/>
          </a:xfrm>
          <a:prstGeom prst="rect">
            <a:avLst/>
          </a:prstGeom>
          <a:noFill/>
        </p:spPr>
        <p:txBody>
          <a:bodyPr wrap="square" rtlCol="0">
            <a:spAutoFit/>
          </a:bodyPr>
          <a:lstStyle/>
          <a:p>
            <a:pPr>
              <a:defRPr/>
            </a:pPr>
            <a:r>
              <a:rPr lang="en-US" altLang="zh-CN" sz="32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4.2</a:t>
            </a:r>
            <a:r>
              <a:rPr lang="zh-CN" altLang="en-US" sz="32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、事务</a:t>
            </a:r>
          </a:p>
        </p:txBody>
      </p:sp>
      <p:sp>
        <p:nvSpPr>
          <p:cNvPr id="8" name="TextBox 9"/>
          <p:cNvSpPr txBox="1"/>
          <p:nvPr/>
        </p:nvSpPr>
        <p:spPr>
          <a:xfrm>
            <a:off x="704850" y="1272765"/>
            <a:ext cx="7689850" cy="523220"/>
          </a:xfrm>
          <a:prstGeom prst="rect">
            <a:avLst/>
          </a:prstGeom>
          <a:noFill/>
        </p:spPr>
        <p:txBody>
          <a:bodyPr wrap="square" rtlCol="0">
            <a:spAutoFit/>
          </a:bodyPr>
          <a:lstStyle/>
          <a:p>
            <a:pPr>
              <a:defRPr/>
            </a:pPr>
            <a:r>
              <a:rPr lang="en-US" altLang="zh-CN"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4.2.1 </a:t>
            </a:r>
            <a:r>
              <a:rPr lang="en-US" altLang="zh-CN" sz="2800" b="1" dirty="0" err="1">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redis</a:t>
            </a:r>
            <a:r>
              <a:rPr lang="zh-CN" altLang="en-US"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事务的用法</a:t>
            </a:r>
          </a:p>
        </p:txBody>
      </p:sp>
      <p:sp>
        <p:nvSpPr>
          <p:cNvPr id="2" name="文本框 1"/>
          <p:cNvSpPr txBox="1"/>
          <p:nvPr/>
        </p:nvSpPr>
        <p:spPr>
          <a:xfrm>
            <a:off x="942535" y="4216964"/>
            <a:ext cx="5050302" cy="2308324"/>
          </a:xfrm>
          <a:prstGeom prst="rect">
            <a:avLst/>
          </a:prstGeom>
          <a:noFill/>
          <a:ln>
            <a:solidFill>
              <a:schemeClr val="bg1"/>
            </a:solidFill>
          </a:ln>
        </p:spPr>
        <p:txBody>
          <a:bodyPr wrap="square" rtlCol="0">
            <a:spAutoFit/>
          </a:bodyPr>
          <a:lstStyle/>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a:solidFill>
                  <a:srgbClr val="FFD343"/>
                </a:solidFill>
                <a:latin typeface="微软雅黑" panose="020B0503020204020204" pitchFamily="34" charset="-122"/>
                <a:ea typeface="微软雅黑" panose="020B0503020204020204" pitchFamily="34" charset="-122"/>
              </a:rPr>
              <a:t>multi</a:t>
            </a:r>
            <a:r>
              <a:rPr lang="en-US" altLang="zh-CN" sz="1600" dirty="0" smtClean="0">
                <a:solidFill>
                  <a:schemeClr val="accent6"/>
                </a:solidFill>
                <a:latin typeface="微软雅黑" panose="020B0503020204020204" pitchFamily="34" charset="-122"/>
                <a:ea typeface="微软雅黑" panose="020B0503020204020204" pitchFamily="34" charset="-122"/>
              </a:rPr>
              <a:t>      </a:t>
            </a:r>
            <a:r>
              <a:rPr lang="en-US" altLang="zh-CN" sz="1600" dirty="0" smtClean="0">
                <a:solidFill>
                  <a:schemeClr val="accent1"/>
                </a:solidFill>
                <a:latin typeface="微软雅黑" panose="020B0503020204020204" pitchFamily="34" charset="-122"/>
                <a:ea typeface="微软雅黑" panose="020B0503020204020204" pitchFamily="34" charset="-122"/>
              </a:rPr>
              <a:t># </a:t>
            </a:r>
            <a:r>
              <a:rPr lang="zh-CN" altLang="en-US" sz="1600" dirty="0">
                <a:solidFill>
                  <a:schemeClr val="accent1"/>
                </a:solidFill>
                <a:latin typeface="微软雅黑" panose="020B0503020204020204" pitchFamily="34" charset="-122"/>
                <a:ea typeface="微软雅黑" panose="020B0503020204020204" pitchFamily="34" charset="-122"/>
              </a:rPr>
              <a:t>开</a:t>
            </a:r>
            <a:r>
              <a:rPr lang="zh-CN" altLang="en-US" sz="1600" dirty="0" smtClean="0">
                <a:solidFill>
                  <a:schemeClr val="accent1"/>
                </a:solidFill>
                <a:latin typeface="微软雅黑" panose="020B0503020204020204" pitchFamily="34" charset="-122"/>
                <a:ea typeface="微软雅黑" panose="020B0503020204020204" pitchFamily="34" charset="-122"/>
              </a:rPr>
              <a:t>启事物</a:t>
            </a:r>
            <a:endParaRPr lang="en-US" altLang="zh-CN" sz="1600" dirty="0">
              <a:solidFill>
                <a:schemeClr val="accent1"/>
              </a:solidFill>
              <a:latin typeface="微软雅黑" panose="020B0503020204020204" pitchFamily="34" charset="-122"/>
              <a:ea typeface="微软雅黑" panose="020B0503020204020204" pitchFamily="34" charset="-122"/>
            </a:endParaRPr>
          </a:p>
          <a:p>
            <a:r>
              <a:rPr lang="en-US" altLang="zh-CN" sz="1600" dirty="0">
                <a:solidFill>
                  <a:schemeClr val="accent6"/>
                </a:solidFill>
                <a:latin typeface="微软雅黑" panose="020B0503020204020204" pitchFamily="34" charset="-122"/>
                <a:ea typeface="微软雅黑" panose="020B0503020204020204" pitchFamily="34" charset="-122"/>
              </a:rPr>
              <a:t>OK</a:t>
            </a:r>
          </a:p>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a:solidFill>
                  <a:srgbClr val="FFD343"/>
                </a:solidFill>
                <a:latin typeface="微软雅黑" panose="020B0503020204020204" pitchFamily="34" charset="-122"/>
                <a:ea typeface="微软雅黑" panose="020B0503020204020204" pitchFamily="34" charset="-122"/>
              </a:rPr>
              <a:t>set</a:t>
            </a:r>
            <a:r>
              <a:rPr lang="en-US" altLang="zh-CN" sz="1600" dirty="0">
                <a:solidFill>
                  <a:schemeClr val="accent6"/>
                </a:solidFill>
                <a:latin typeface="微软雅黑" panose="020B0503020204020204" pitchFamily="34" charset="-122"/>
                <a:ea typeface="微软雅黑" panose="020B0503020204020204" pitchFamily="34" charset="-122"/>
              </a:rPr>
              <a:t> </a:t>
            </a:r>
            <a:r>
              <a:rPr lang="en-US" altLang="zh-CN" sz="1600" dirty="0" err="1">
                <a:solidFill>
                  <a:schemeClr val="accent6"/>
                </a:solidFill>
                <a:latin typeface="微软雅黑" panose="020B0503020204020204" pitchFamily="34" charset="-122"/>
                <a:ea typeface="微软雅黑" panose="020B0503020204020204" pitchFamily="34" charset="-122"/>
              </a:rPr>
              <a:t>num</a:t>
            </a:r>
            <a:r>
              <a:rPr lang="en-US" altLang="zh-CN" sz="1600" dirty="0">
                <a:solidFill>
                  <a:schemeClr val="accent6"/>
                </a:solidFill>
                <a:latin typeface="微软雅黑" panose="020B0503020204020204" pitchFamily="34" charset="-122"/>
                <a:ea typeface="微软雅黑" panose="020B0503020204020204" pitchFamily="34" charset="-122"/>
              </a:rPr>
              <a:t> </a:t>
            </a:r>
            <a:r>
              <a:rPr lang="en-US" altLang="zh-CN" sz="1600" dirty="0" smtClean="0">
                <a:solidFill>
                  <a:schemeClr val="accent6"/>
                </a:solidFill>
                <a:latin typeface="微软雅黑" panose="020B0503020204020204" pitchFamily="34" charset="-122"/>
                <a:ea typeface="微软雅黑" panose="020B0503020204020204" pitchFamily="34" charset="-122"/>
              </a:rPr>
              <a:t>99   </a:t>
            </a:r>
            <a:endParaRPr lang="en-US" altLang="zh-CN" sz="1600" dirty="0">
              <a:solidFill>
                <a:schemeClr val="accent6"/>
              </a:solidFill>
              <a:latin typeface="微软雅黑" panose="020B0503020204020204" pitchFamily="34" charset="-122"/>
              <a:ea typeface="微软雅黑" panose="020B0503020204020204" pitchFamily="34" charset="-122"/>
            </a:endParaRPr>
          </a:p>
          <a:p>
            <a:r>
              <a:rPr lang="en-US" altLang="zh-CN" sz="1600" dirty="0">
                <a:solidFill>
                  <a:schemeClr val="accent6"/>
                </a:solidFill>
                <a:latin typeface="微软雅黑" panose="020B0503020204020204" pitchFamily="34" charset="-122"/>
                <a:ea typeface="微软雅黑" panose="020B0503020204020204" pitchFamily="34" charset="-122"/>
              </a:rPr>
              <a:t>QUEUED</a:t>
            </a:r>
          </a:p>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incrby</a:t>
            </a:r>
            <a:r>
              <a:rPr lang="en-US" altLang="zh-CN" sz="1600" dirty="0">
                <a:solidFill>
                  <a:srgbClr val="FF0000"/>
                </a:solidFill>
                <a:latin typeface="微软雅黑" panose="020B0503020204020204" pitchFamily="34" charset="-122"/>
                <a:ea typeface="微软雅黑" panose="020B0503020204020204" pitchFamily="34" charset="-122"/>
              </a:rPr>
              <a:t> </a:t>
            </a:r>
            <a:r>
              <a:rPr lang="en-US" altLang="zh-CN" sz="1600" dirty="0" err="1">
                <a:solidFill>
                  <a:schemeClr val="accent6"/>
                </a:solidFill>
                <a:latin typeface="微软雅黑" panose="020B0503020204020204" pitchFamily="34" charset="-122"/>
                <a:ea typeface="微软雅黑" panose="020B0503020204020204" pitchFamily="34" charset="-122"/>
              </a:rPr>
              <a:t>num</a:t>
            </a:r>
            <a:r>
              <a:rPr lang="en-US" altLang="zh-CN" sz="1600" dirty="0">
                <a:solidFill>
                  <a:schemeClr val="accent6"/>
                </a:solidFill>
                <a:latin typeface="微软雅黑" panose="020B0503020204020204" pitchFamily="34" charset="-122"/>
                <a:ea typeface="微软雅黑" panose="020B0503020204020204" pitchFamily="34" charset="-122"/>
              </a:rPr>
              <a:t> 9</a:t>
            </a:r>
          </a:p>
          <a:p>
            <a:r>
              <a:rPr lang="en-US" altLang="zh-CN" sz="1600" dirty="0" smtClean="0">
                <a:solidFill>
                  <a:schemeClr val="accent6"/>
                </a:solidFill>
                <a:latin typeface="微软雅黑" panose="020B0503020204020204" pitchFamily="34" charset="-122"/>
                <a:ea typeface="微软雅黑" panose="020B0503020204020204" pitchFamily="34" charset="-122"/>
              </a:rPr>
              <a:t>QUEUED </a:t>
            </a:r>
            <a:endParaRPr lang="en-US" altLang="zh-CN" sz="1600" dirty="0">
              <a:solidFill>
                <a:schemeClr val="accent6"/>
              </a:solidFill>
              <a:latin typeface="微软雅黑" panose="020B0503020204020204" pitchFamily="34" charset="-122"/>
              <a:ea typeface="微软雅黑" panose="020B0503020204020204" pitchFamily="34" charset="-122"/>
            </a:endParaRPr>
          </a:p>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a:solidFill>
                  <a:srgbClr val="FFD343"/>
                </a:solidFill>
                <a:latin typeface="微软雅黑" panose="020B0503020204020204" pitchFamily="34" charset="-122"/>
                <a:ea typeface="微软雅黑" panose="020B0503020204020204" pitchFamily="34" charset="-122"/>
              </a:rPr>
              <a:t>exec</a:t>
            </a:r>
            <a:r>
              <a:rPr lang="en-US" altLang="zh-CN" sz="1600" dirty="0" smtClean="0">
                <a:solidFill>
                  <a:schemeClr val="accent6"/>
                </a:solidFill>
                <a:latin typeface="微软雅黑" panose="020B0503020204020204" pitchFamily="34" charset="-122"/>
                <a:ea typeface="微软雅黑" panose="020B0503020204020204" pitchFamily="34" charset="-122"/>
              </a:rPr>
              <a:t>       </a:t>
            </a:r>
            <a:r>
              <a:rPr lang="en-US" altLang="zh-CN" sz="1600" dirty="0" smtClean="0">
                <a:solidFill>
                  <a:schemeClr val="accent1"/>
                </a:solidFill>
                <a:latin typeface="微软雅黑" panose="020B0503020204020204" pitchFamily="34" charset="-122"/>
                <a:ea typeface="微软雅黑" panose="020B0503020204020204" pitchFamily="34" charset="-122"/>
              </a:rPr>
              <a:t># </a:t>
            </a:r>
            <a:r>
              <a:rPr lang="zh-CN" altLang="en-US" sz="1600" dirty="0" smtClean="0">
                <a:solidFill>
                  <a:schemeClr val="accent1"/>
                </a:solidFill>
                <a:latin typeface="微软雅黑" panose="020B0503020204020204" pitchFamily="34" charset="-122"/>
                <a:ea typeface="微软雅黑" panose="020B0503020204020204" pitchFamily="34" charset="-122"/>
              </a:rPr>
              <a:t>执行事物</a:t>
            </a:r>
            <a:endParaRPr lang="en-US" altLang="zh-CN" sz="1600" dirty="0">
              <a:solidFill>
                <a:schemeClr val="accent1"/>
              </a:solidFill>
              <a:latin typeface="微软雅黑" panose="020B0503020204020204" pitchFamily="34" charset="-122"/>
              <a:ea typeface="微软雅黑" panose="020B0503020204020204" pitchFamily="34" charset="-122"/>
            </a:endParaRPr>
          </a:p>
          <a:p>
            <a:r>
              <a:rPr lang="en-US" altLang="zh-CN" sz="1600" dirty="0">
                <a:solidFill>
                  <a:schemeClr val="accent6"/>
                </a:solidFill>
                <a:latin typeface="微软雅黑" panose="020B0503020204020204" pitchFamily="34" charset="-122"/>
                <a:ea typeface="微软雅黑" panose="020B0503020204020204" pitchFamily="34" charset="-122"/>
              </a:rPr>
              <a:t>1) OK</a:t>
            </a:r>
          </a:p>
          <a:p>
            <a:r>
              <a:rPr lang="en-US" altLang="zh-CN" sz="1600" dirty="0">
                <a:solidFill>
                  <a:schemeClr val="accent6"/>
                </a:solidFill>
                <a:latin typeface="微软雅黑" panose="020B0503020204020204" pitchFamily="34" charset="-122"/>
                <a:ea typeface="微软雅黑" panose="020B0503020204020204" pitchFamily="34" charset="-122"/>
              </a:rPr>
              <a:t>2) 108</a:t>
            </a:r>
            <a:endParaRPr lang="zh-CN" altLang="en-US" sz="1600" dirty="0" smtClean="0">
              <a:solidFill>
                <a:schemeClr val="accent6"/>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6119445" y="4216964"/>
            <a:ext cx="5190979" cy="2554545"/>
          </a:xfrm>
          <a:prstGeom prst="rect">
            <a:avLst/>
          </a:prstGeom>
          <a:noFill/>
          <a:ln>
            <a:solidFill>
              <a:schemeClr val="bg1"/>
            </a:solidFill>
          </a:ln>
        </p:spPr>
        <p:txBody>
          <a:bodyPr wrap="square" rtlCol="0">
            <a:spAutoFit/>
          </a:bodyPr>
          <a:lstStyle/>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a:solidFill>
                  <a:srgbClr val="FFD343"/>
                </a:solidFill>
                <a:latin typeface="微软雅黑" panose="020B0503020204020204" pitchFamily="34" charset="-122"/>
                <a:ea typeface="微软雅黑" panose="020B0503020204020204" pitchFamily="34" charset="-122"/>
              </a:rPr>
              <a:t>multi</a:t>
            </a:r>
            <a:r>
              <a:rPr lang="en-US" altLang="zh-CN" sz="1600" dirty="0" smtClean="0">
                <a:solidFill>
                  <a:schemeClr val="accent6"/>
                </a:solidFill>
                <a:latin typeface="微软雅黑" panose="020B0503020204020204" pitchFamily="34" charset="-122"/>
                <a:ea typeface="微软雅黑" panose="020B0503020204020204" pitchFamily="34" charset="-122"/>
              </a:rPr>
              <a:t>             </a:t>
            </a:r>
            <a:r>
              <a:rPr lang="en-US" altLang="zh-CN" sz="1600" dirty="0" smtClean="0">
                <a:solidFill>
                  <a:schemeClr val="accent1"/>
                </a:solidFill>
                <a:latin typeface="微软雅黑" panose="020B0503020204020204" pitchFamily="34" charset="-122"/>
                <a:ea typeface="微软雅黑" panose="020B0503020204020204" pitchFamily="34" charset="-122"/>
              </a:rPr>
              <a:t># </a:t>
            </a:r>
            <a:r>
              <a:rPr lang="zh-CN" altLang="en-US" sz="1600" dirty="0">
                <a:solidFill>
                  <a:schemeClr val="accent1"/>
                </a:solidFill>
                <a:latin typeface="微软雅黑" panose="020B0503020204020204" pitchFamily="34" charset="-122"/>
                <a:ea typeface="微软雅黑" panose="020B0503020204020204" pitchFamily="34" charset="-122"/>
              </a:rPr>
              <a:t>开</a:t>
            </a:r>
            <a:r>
              <a:rPr lang="zh-CN" altLang="en-US" sz="1600" dirty="0" smtClean="0">
                <a:solidFill>
                  <a:schemeClr val="accent1"/>
                </a:solidFill>
                <a:latin typeface="微软雅黑" panose="020B0503020204020204" pitchFamily="34" charset="-122"/>
                <a:ea typeface="微软雅黑" panose="020B0503020204020204" pitchFamily="34" charset="-122"/>
              </a:rPr>
              <a:t>启事物</a:t>
            </a:r>
            <a:r>
              <a:rPr lang="en-US" altLang="zh-CN" sz="1600" dirty="0" smtClean="0">
                <a:solidFill>
                  <a:schemeClr val="accent6"/>
                </a:solidFill>
                <a:latin typeface="微软雅黑" panose="020B0503020204020204" pitchFamily="34" charset="-122"/>
                <a:ea typeface="微软雅黑" panose="020B0503020204020204" pitchFamily="34" charset="-122"/>
              </a:rPr>
              <a:t> </a:t>
            </a:r>
            <a:endParaRPr lang="en-US" altLang="zh-CN" sz="1600" dirty="0">
              <a:solidFill>
                <a:schemeClr val="accent6"/>
              </a:solidFill>
              <a:latin typeface="微软雅黑" panose="020B0503020204020204" pitchFamily="34" charset="-122"/>
              <a:ea typeface="微软雅黑" panose="020B0503020204020204" pitchFamily="34" charset="-122"/>
            </a:endParaRPr>
          </a:p>
          <a:p>
            <a:r>
              <a:rPr lang="en-US" altLang="zh-CN" sz="1600" dirty="0">
                <a:solidFill>
                  <a:schemeClr val="accent6"/>
                </a:solidFill>
                <a:latin typeface="微软雅黑" panose="020B0503020204020204" pitchFamily="34" charset="-122"/>
                <a:ea typeface="微软雅黑" panose="020B0503020204020204" pitchFamily="34" charset="-122"/>
              </a:rPr>
              <a:t>OK</a:t>
            </a:r>
          </a:p>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a:solidFill>
                  <a:srgbClr val="FFD343"/>
                </a:solidFill>
                <a:latin typeface="微软雅黑" panose="020B0503020204020204" pitchFamily="34" charset="-122"/>
                <a:ea typeface="微软雅黑" panose="020B0503020204020204" pitchFamily="34" charset="-122"/>
              </a:rPr>
              <a:t>set</a:t>
            </a:r>
            <a:r>
              <a:rPr lang="en-US" altLang="zh-CN" sz="1600" dirty="0">
                <a:solidFill>
                  <a:schemeClr val="accent6"/>
                </a:solidFill>
                <a:latin typeface="微软雅黑" panose="020B0503020204020204" pitchFamily="34" charset="-122"/>
                <a:ea typeface="微软雅黑" panose="020B0503020204020204" pitchFamily="34" charset="-122"/>
              </a:rPr>
              <a:t> age 100</a:t>
            </a:r>
          </a:p>
          <a:p>
            <a:r>
              <a:rPr lang="en-US" altLang="zh-CN" sz="1600" dirty="0">
                <a:solidFill>
                  <a:schemeClr val="accent6"/>
                </a:solidFill>
                <a:latin typeface="微软雅黑" panose="020B0503020204020204" pitchFamily="34" charset="-122"/>
                <a:ea typeface="微软雅黑" panose="020B0503020204020204" pitchFamily="34" charset="-122"/>
              </a:rPr>
              <a:t>QUEUED</a:t>
            </a:r>
          </a:p>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incr</a:t>
            </a:r>
            <a:r>
              <a:rPr lang="en-US" altLang="zh-CN" sz="1600" dirty="0">
                <a:solidFill>
                  <a:srgbClr val="FF0000"/>
                </a:solidFill>
                <a:latin typeface="微软雅黑" panose="020B0503020204020204" pitchFamily="34" charset="-122"/>
                <a:ea typeface="微软雅黑" panose="020B0503020204020204" pitchFamily="34" charset="-122"/>
              </a:rPr>
              <a:t> </a:t>
            </a:r>
            <a:r>
              <a:rPr lang="en-US" altLang="zh-CN" sz="1600" dirty="0">
                <a:solidFill>
                  <a:schemeClr val="accent6"/>
                </a:solidFill>
                <a:latin typeface="微软雅黑" panose="020B0503020204020204" pitchFamily="34" charset="-122"/>
                <a:ea typeface="微软雅黑" panose="020B0503020204020204" pitchFamily="34" charset="-122"/>
              </a:rPr>
              <a:t>age</a:t>
            </a:r>
          </a:p>
          <a:p>
            <a:r>
              <a:rPr lang="en-US" altLang="zh-CN" sz="1600" dirty="0" smtClean="0">
                <a:solidFill>
                  <a:schemeClr val="accent6"/>
                </a:solidFill>
                <a:latin typeface="微软雅黑" panose="020B0503020204020204" pitchFamily="34" charset="-122"/>
                <a:ea typeface="微软雅黑" panose="020B0503020204020204" pitchFamily="34" charset="-122"/>
              </a:rPr>
              <a:t>QUEUED           </a:t>
            </a:r>
          </a:p>
          <a:p>
            <a:r>
              <a:rPr lang="en-US" altLang="zh-CN" sz="1600" dirty="0" smtClean="0">
                <a:solidFill>
                  <a:schemeClr val="accent6"/>
                </a:solidFill>
                <a:latin typeface="微软雅黑" panose="020B0503020204020204" pitchFamily="34" charset="-122"/>
                <a:ea typeface="微软雅黑" panose="020B0503020204020204" pitchFamily="34" charset="-122"/>
              </a:rPr>
              <a:t>&gt; </a:t>
            </a:r>
            <a:r>
              <a:rPr lang="en-US" altLang="zh-CN" sz="1600" b="1" dirty="0">
                <a:solidFill>
                  <a:srgbClr val="FFD343"/>
                </a:solidFill>
                <a:latin typeface="微软雅黑" panose="020B0503020204020204" pitchFamily="34" charset="-122"/>
                <a:ea typeface="微软雅黑" panose="020B0503020204020204" pitchFamily="34" charset="-122"/>
              </a:rPr>
              <a:t>discard</a:t>
            </a:r>
            <a:r>
              <a:rPr lang="en-US" altLang="zh-CN" sz="1600" dirty="0">
                <a:solidFill>
                  <a:srgbClr val="FF0000"/>
                </a:solidFill>
                <a:latin typeface="微软雅黑" panose="020B0503020204020204" pitchFamily="34" charset="-122"/>
                <a:ea typeface="微软雅黑" panose="020B0503020204020204" pitchFamily="34" charset="-122"/>
              </a:rPr>
              <a:t>      </a:t>
            </a:r>
            <a:r>
              <a:rPr lang="en-US" altLang="zh-CN" sz="1600" dirty="0" smtClean="0">
                <a:solidFill>
                  <a:srgbClr val="FF0000"/>
                </a:solidFill>
                <a:latin typeface="微软雅黑" panose="020B0503020204020204" pitchFamily="34" charset="-122"/>
                <a:ea typeface="微软雅黑" panose="020B0503020204020204" pitchFamily="34" charset="-122"/>
              </a:rPr>
              <a:t>   </a:t>
            </a:r>
            <a:r>
              <a:rPr lang="en-US" altLang="zh-CN" sz="1600" dirty="0" smtClean="0">
                <a:solidFill>
                  <a:schemeClr val="accent1"/>
                </a:solidFill>
                <a:latin typeface="微软雅黑" panose="020B0503020204020204" pitchFamily="34" charset="-122"/>
                <a:ea typeface="微软雅黑" panose="020B0503020204020204" pitchFamily="34" charset="-122"/>
              </a:rPr>
              <a:t># </a:t>
            </a:r>
            <a:r>
              <a:rPr lang="zh-CN" altLang="en-US" sz="1600" dirty="0">
                <a:solidFill>
                  <a:schemeClr val="accent1"/>
                </a:solidFill>
                <a:latin typeface="微软雅黑" panose="020B0503020204020204" pitchFamily="34" charset="-122"/>
                <a:ea typeface="微软雅黑" panose="020B0503020204020204" pitchFamily="34" charset="-122"/>
              </a:rPr>
              <a:t>丢弃</a:t>
            </a:r>
            <a:r>
              <a:rPr lang="zh-CN" altLang="en-US" sz="1600" dirty="0" smtClean="0">
                <a:solidFill>
                  <a:schemeClr val="accent1"/>
                </a:solidFill>
                <a:latin typeface="微软雅黑" panose="020B0503020204020204" pitchFamily="34" charset="-122"/>
                <a:ea typeface="微软雅黑" panose="020B0503020204020204" pitchFamily="34" charset="-122"/>
              </a:rPr>
              <a:t>事物</a:t>
            </a:r>
            <a:endParaRPr lang="en-US" altLang="zh-CN" sz="1600" dirty="0">
              <a:solidFill>
                <a:srgbClr val="FF0000"/>
              </a:solidFill>
              <a:latin typeface="微软雅黑" panose="020B0503020204020204" pitchFamily="34" charset="-122"/>
              <a:ea typeface="微软雅黑" panose="020B0503020204020204" pitchFamily="34" charset="-122"/>
            </a:endParaRPr>
          </a:p>
          <a:p>
            <a:r>
              <a:rPr lang="en-US" altLang="zh-CN" sz="1600" dirty="0">
                <a:solidFill>
                  <a:schemeClr val="accent6"/>
                </a:solidFill>
                <a:latin typeface="微软雅黑" panose="020B0503020204020204" pitchFamily="34" charset="-122"/>
                <a:ea typeface="微软雅黑" panose="020B0503020204020204" pitchFamily="34" charset="-122"/>
              </a:rPr>
              <a:t>OK</a:t>
            </a:r>
          </a:p>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a:solidFill>
                  <a:srgbClr val="FFD343"/>
                </a:solidFill>
                <a:latin typeface="微软雅黑" panose="020B0503020204020204" pitchFamily="34" charset="-122"/>
                <a:ea typeface="微软雅黑" panose="020B0503020204020204" pitchFamily="34" charset="-122"/>
              </a:rPr>
              <a:t>get</a:t>
            </a:r>
            <a:r>
              <a:rPr lang="en-US" altLang="zh-CN" sz="1600" dirty="0">
                <a:solidFill>
                  <a:schemeClr val="accent6"/>
                </a:solidFill>
                <a:latin typeface="微软雅黑" panose="020B0503020204020204" pitchFamily="34" charset="-122"/>
                <a:ea typeface="微软雅黑" panose="020B0503020204020204" pitchFamily="34" charset="-122"/>
              </a:rPr>
              <a:t> </a:t>
            </a:r>
            <a:r>
              <a:rPr lang="en-US" altLang="zh-CN" sz="1600" dirty="0" smtClean="0">
                <a:solidFill>
                  <a:schemeClr val="accent6"/>
                </a:solidFill>
                <a:latin typeface="微软雅黑" panose="020B0503020204020204" pitchFamily="34" charset="-122"/>
                <a:ea typeface="微软雅黑" panose="020B0503020204020204" pitchFamily="34" charset="-122"/>
              </a:rPr>
              <a:t>age         </a:t>
            </a:r>
            <a:endParaRPr lang="en-US" altLang="zh-CN" sz="1600" dirty="0">
              <a:solidFill>
                <a:schemeClr val="accent6"/>
              </a:solidFill>
              <a:latin typeface="微软雅黑" panose="020B0503020204020204" pitchFamily="34" charset="-122"/>
              <a:ea typeface="微软雅黑" panose="020B0503020204020204" pitchFamily="34" charset="-122"/>
            </a:endParaRPr>
          </a:p>
          <a:p>
            <a:r>
              <a:rPr lang="en-US" altLang="zh-CN" sz="1600" dirty="0">
                <a:solidFill>
                  <a:schemeClr val="accent6"/>
                </a:solidFill>
                <a:latin typeface="微软雅黑" panose="020B0503020204020204" pitchFamily="34" charset="-122"/>
                <a:ea typeface="微软雅黑" panose="020B0503020204020204" pitchFamily="34" charset="-122"/>
              </a:rPr>
              <a:t>(nil)</a:t>
            </a:r>
            <a:endParaRPr lang="zh-CN" altLang="en-US" sz="1600" dirty="0" smtClean="0">
              <a:solidFill>
                <a:schemeClr val="accent6"/>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3941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horizont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1000"/>
                                        <p:tgtEl>
                                          <p:spTgt spid="12"/>
                                        </p:tgtEl>
                                      </p:cBhvr>
                                    </p:animEffect>
                                    <p:anim calcmode="lin" valueType="num">
                                      <p:cBhvr>
                                        <p:cTn id="18" dur="1000" fill="hold"/>
                                        <p:tgtEl>
                                          <p:spTgt spid="12"/>
                                        </p:tgtEl>
                                        <p:attrNameLst>
                                          <p:attrName>ppt_x</p:attrName>
                                        </p:attrNameLst>
                                      </p:cBhvr>
                                      <p:tavLst>
                                        <p:tav tm="0">
                                          <p:val>
                                            <p:strVal val="#ppt_x"/>
                                          </p:val>
                                        </p:tav>
                                        <p:tav tm="100000">
                                          <p:val>
                                            <p:strVal val="#ppt_x"/>
                                          </p:val>
                                        </p:tav>
                                      </p:tavLst>
                                    </p:anim>
                                    <p:anim calcmode="lin" valueType="num">
                                      <p:cBhvr>
                                        <p:cTn id="1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animBg="1"/>
      <p:bldP spid="12"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0A0F23"/>
        </a:solidFill>
        <a:effectLst/>
      </p:bgPr>
    </p:bg>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xmlns="" id="{CBDC52CD-1D62-48AF-A9DF-9F18AEA2B1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01385" y="-114300"/>
            <a:ext cx="1301859" cy="920356"/>
          </a:xfrm>
          <a:prstGeom prst="rect">
            <a:avLst/>
          </a:prstGeom>
        </p:spPr>
      </p:pic>
      <p:pic>
        <p:nvPicPr>
          <p:cNvPr id="14" name="图片 13">
            <a:extLst>
              <a:ext uri="{FF2B5EF4-FFF2-40B4-BE49-F238E27FC236}">
                <a16:creationId xmlns:a16="http://schemas.microsoft.com/office/drawing/2014/main" xmlns="" id="{F78DA958-9B1B-47DA-A870-8C0B3A7D8866}"/>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b="63537"/>
          <a:stretch/>
        </p:blipFill>
        <p:spPr>
          <a:xfrm>
            <a:off x="11184164" y="217733"/>
            <a:ext cx="572339" cy="337210"/>
          </a:xfrm>
          <a:prstGeom prst="rect">
            <a:avLst/>
          </a:prstGeom>
        </p:spPr>
      </p:pic>
      <p:cxnSp>
        <p:nvCxnSpPr>
          <p:cNvPr id="15" name="直接连接符 14">
            <a:extLst>
              <a:ext uri="{FF2B5EF4-FFF2-40B4-BE49-F238E27FC236}">
                <a16:creationId xmlns:a16="http://schemas.microsoft.com/office/drawing/2014/main" xmlns="" id="{93240A06-D526-4907-A163-94ABB41190CC}"/>
              </a:ext>
            </a:extLst>
          </p:cNvPr>
          <p:cNvCxnSpPr/>
          <p:nvPr/>
        </p:nvCxnSpPr>
        <p:spPr>
          <a:xfrm>
            <a:off x="11103244" y="225825"/>
            <a:ext cx="0" cy="2435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xmlns="" id="{74C59758-12AB-44A5-92FA-DB52904027AE}"/>
              </a:ext>
            </a:extLst>
          </p:cNvPr>
          <p:cNvSpPr/>
          <p:nvPr/>
        </p:nvSpPr>
        <p:spPr>
          <a:xfrm>
            <a:off x="802332" y="1287114"/>
            <a:ext cx="10765483" cy="1255728"/>
          </a:xfrm>
          <a:prstGeom prst="rect">
            <a:avLst/>
          </a:prstGeom>
        </p:spPr>
        <p:txBody>
          <a:bodyPr wrap="square">
            <a:spAutoFit/>
          </a:bodyPr>
          <a:lstStyle/>
          <a:p>
            <a:pPr indent="457200">
              <a:lnSpc>
                <a:spcPct val="140000"/>
              </a:lnSpc>
            </a:pPr>
            <a:r>
              <a:rPr lang="en-US" altLang="zh-CN" dirty="0" err="1" smtClean="0">
                <a:solidFill>
                  <a:prstClr val="white"/>
                </a:solidFill>
                <a:latin typeface="微软雅黑" panose="020B0503020204020204" pitchFamily="34" charset="-122"/>
                <a:ea typeface="微软雅黑" panose="020B0503020204020204" pitchFamily="34" charset="-122"/>
              </a:rPr>
              <a:t>redis</a:t>
            </a:r>
            <a:r>
              <a:rPr lang="zh-CN" altLang="en-US" dirty="0" smtClean="0">
                <a:solidFill>
                  <a:prstClr val="white"/>
                </a:solidFill>
                <a:latin typeface="微软雅黑" panose="020B0503020204020204" pitchFamily="34" charset="-122"/>
                <a:ea typeface="微软雅黑" panose="020B0503020204020204" pitchFamily="34" charset="-122"/>
              </a:rPr>
              <a:t>的单线程模型，能保证事务中的命令执行过程中，不会被其它客户端的请求所干扰。但</a:t>
            </a:r>
            <a:r>
              <a:rPr lang="en-US" altLang="zh-CN" dirty="0" err="1" smtClean="0">
                <a:solidFill>
                  <a:prstClr val="white"/>
                </a:solidFill>
                <a:latin typeface="微软雅黑" panose="020B0503020204020204" pitchFamily="34" charset="-122"/>
                <a:ea typeface="微软雅黑" panose="020B0503020204020204" pitchFamily="34" charset="-122"/>
              </a:rPr>
              <a:t>redis</a:t>
            </a:r>
            <a:r>
              <a:rPr lang="zh-CN" altLang="en-US" dirty="0" smtClean="0">
                <a:solidFill>
                  <a:prstClr val="white"/>
                </a:solidFill>
                <a:latin typeface="微软雅黑" panose="020B0503020204020204" pitchFamily="34" charset="-122"/>
                <a:ea typeface="微软雅黑" panose="020B0503020204020204" pitchFamily="34" charset="-122"/>
              </a:rPr>
              <a:t>的事物</a:t>
            </a:r>
            <a:r>
              <a:rPr lang="zh-CN" altLang="en-US" dirty="0">
                <a:solidFill>
                  <a:prstClr val="white"/>
                </a:solidFill>
                <a:latin typeface="微软雅黑" panose="020B0503020204020204" pitchFamily="34" charset="-122"/>
                <a:ea typeface="微软雅黑" panose="020B0503020204020204" pitchFamily="34" charset="-122"/>
              </a:rPr>
              <a:t>并</a:t>
            </a:r>
            <a:r>
              <a:rPr lang="zh-CN" altLang="en-US" dirty="0" smtClean="0">
                <a:solidFill>
                  <a:prstClr val="white"/>
                </a:solidFill>
                <a:latin typeface="微软雅黑" panose="020B0503020204020204" pitchFamily="34" charset="-122"/>
                <a:ea typeface="微软雅黑" panose="020B0503020204020204" pitchFamily="34" charset="-122"/>
              </a:rPr>
              <a:t>不具备原子性。事务中某个操作的执行失败，并不影响后一条命令的执行。前面的执行结果也不会回滚。下面的例子可以验证</a:t>
            </a:r>
            <a:endParaRPr lang="zh-CN" altLang="en-US" dirty="0">
              <a:solidFill>
                <a:prstClr val="white"/>
              </a:solidFill>
              <a:latin typeface="微软雅黑" panose="020B0503020204020204" pitchFamily="34" charset="-122"/>
              <a:ea typeface="微软雅黑" panose="020B0503020204020204" pitchFamily="34" charset="-122"/>
            </a:endParaRPr>
          </a:p>
        </p:txBody>
      </p:sp>
      <p:sp>
        <p:nvSpPr>
          <p:cNvPr id="10" name="TextBox 9"/>
          <p:cNvSpPr txBox="1"/>
          <p:nvPr/>
        </p:nvSpPr>
        <p:spPr>
          <a:xfrm>
            <a:off x="704850" y="605109"/>
            <a:ext cx="8883650" cy="523220"/>
          </a:xfrm>
          <a:prstGeom prst="rect">
            <a:avLst/>
          </a:prstGeom>
          <a:noFill/>
        </p:spPr>
        <p:txBody>
          <a:bodyPr wrap="square" rtlCol="0">
            <a:spAutoFit/>
          </a:bodyPr>
          <a:lstStyle/>
          <a:p>
            <a:pPr>
              <a:defRPr/>
            </a:pPr>
            <a:r>
              <a:rPr lang="en-US" altLang="zh-CN"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4.2.2 </a:t>
            </a:r>
            <a:r>
              <a:rPr lang="zh-CN" altLang="en-US"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隔离性及原子性</a:t>
            </a:r>
          </a:p>
        </p:txBody>
      </p:sp>
      <p:sp>
        <p:nvSpPr>
          <p:cNvPr id="2" name="文本框 1"/>
          <p:cNvSpPr txBox="1"/>
          <p:nvPr/>
        </p:nvSpPr>
        <p:spPr>
          <a:xfrm>
            <a:off x="802332" y="2576207"/>
            <a:ext cx="10550296" cy="3539430"/>
          </a:xfrm>
          <a:prstGeom prst="rect">
            <a:avLst/>
          </a:prstGeom>
          <a:noFill/>
          <a:ln>
            <a:solidFill>
              <a:schemeClr val="bg1"/>
            </a:solidFill>
          </a:ln>
        </p:spPr>
        <p:txBody>
          <a:bodyPr wrap="square" rtlCol="0">
            <a:spAutoFit/>
          </a:bodyPr>
          <a:lstStyle/>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a:solidFill>
                  <a:srgbClr val="FFD343"/>
                </a:solidFill>
                <a:latin typeface="微软雅黑" panose="020B0503020204020204" pitchFamily="34" charset="-122"/>
                <a:ea typeface="微软雅黑" panose="020B0503020204020204" pitchFamily="34" charset="-122"/>
              </a:rPr>
              <a:t>multi</a:t>
            </a:r>
            <a:r>
              <a:rPr lang="en-US" altLang="zh-CN" sz="1600" dirty="0" smtClean="0">
                <a:solidFill>
                  <a:schemeClr val="accent6"/>
                </a:solidFill>
                <a:latin typeface="微软雅黑" panose="020B0503020204020204" pitchFamily="34" charset="-122"/>
                <a:ea typeface="微软雅黑" panose="020B0503020204020204" pitchFamily="34" charset="-122"/>
              </a:rPr>
              <a:t>               </a:t>
            </a:r>
            <a:r>
              <a:rPr lang="en-US" altLang="zh-CN" sz="1600" dirty="0" smtClean="0">
                <a:solidFill>
                  <a:schemeClr val="accent1"/>
                </a:solidFill>
                <a:latin typeface="微软雅黑" panose="020B0503020204020204" pitchFamily="34" charset="-122"/>
                <a:ea typeface="微软雅黑" panose="020B0503020204020204" pitchFamily="34" charset="-122"/>
              </a:rPr>
              <a:t># </a:t>
            </a:r>
            <a:r>
              <a:rPr lang="zh-CN" altLang="en-US" sz="1600" dirty="0" smtClean="0">
                <a:solidFill>
                  <a:schemeClr val="accent1"/>
                </a:solidFill>
                <a:latin typeface="微软雅黑" panose="020B0503020204020204" pitchFamily="34" charset="-122"/>
                <a:ea typeface="微软雅黑" panose="020B0503020204020204" pitchFamily="34" charset="-122"/>
              </a:rPr>
              <a:t>开启事物</a:t>
            </a:r>
            <a:endParaRPr lang="en-US" altLang="zh-CN" sz="1600" dirty="0">
              <a:solidFill>
                <a:schemeClr val="accent1"/>
              </a:solidFill>
              <a:latin typeface="微软雅黑" panose="020B0503020204020204" pitchFamily="34" charset="-122"/>
              <a:ea typeface="微软雅黑" panose="020B0503020204020204" pitchFamily="34" charset="-122"/>
            </a:endParaRPr>
          </a:p>
          <a:p>
            <a:r>
              <a:rPr lang="en-US" altLang="zh-CN" sz="1600" dirty="0">
                <a:solidFill>
                  <a:schemeClr val="accent6"/>
                </a:solidFill>
                <a:latin typeface="微软雅黑" panose="020B0503020204020204" pitchFamily="34" charset="-122"/>
                <a:ea typeface="微软雅黑" panose="020B0503020204020204" pitchFamily="34" charset="-122"/>
              </a:rPr>
              <a:t>OK</a:t>
            </a:r>
          </a:p>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a:solidFill>
                  <a:srgbClr val="FFD343"/>
                </a:solidFill>
                <a:latin typeface="微软雅黑" panose="020B0503020204020204" pitchFamily="34" charset="-122"/>
                <a:ea typeface="微软雅黑" panose="020B0503020204020204" pitchFamily="34" charset="-122"/>
              </a:rPr>
              <a:t>set</a:t>
            </a:r>
            <a:r>
              <a:rPr lang="en-US" altLang="zh-CN" sz="1600" dirty="0">
                <a:solidFill>
                  <a:schemeClr val="accent6"/>
                </a:solidFill>
                <a:latin typeface="微软雅黑" panose="020B0503020204020204" pitchFamily="34" charset="-122"/>
                <a:ea typeface="微软雅黑" panose="020B0503020204020204" pitchFamily="34" charset="-122"/>
              </a:rPr>
              <a:t> books java</a:t>
            </a:r>
          </a:p>
          <a:p>
            <a:r>
              <a:rPr lang="en-US" altLang="zh-CN" sz="1600" dirty="0">
                <a:solidFill>
                  <a:schemeClr val="accent6"/>
                </a:solidFill>
                <a:latin typeface="微软雅黑" panose="020B0503020204020204" pitchFamily="34" charset="-122"/>
                <a:ea typeface="微软雅黑" panose="020B0503020204020204" pitchFamily="34" charset="-122"/>
              </a:rPr>
              <a:t>QUEUED</a:t>
            </a:r>
          </a:p>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incr</a:t>
            </a:r>
            <a:r>
              <a:rPr lang="en-US" altLang="zh-CN" sz="1600" dirty="0">
                <a:solidFill>
                  <a:schemeClr val="accent6"/>
                </a:solidFill>
                <a:latin typeface="微软雅黑" panose="020B0503020204020204" pitchFamily="34" charset="-122"/>
                <a:ea typeface="微软雅黑" panose="020B0503020204020204" pitchFamily="34" charset="-122"/>
              </a:rPr>
              <a:t> books</a:t>
            </a:r>
          </a:p>
          <a:p>
            <a:r>
              <a:rPr lang="en-US" altLang="zh-CN" sz="1600" dirty="0">
                <a:solidFill>
                  <a:schemeClr val="accent6"/>
                </a:solidFill>
                <a:latin typeface="微软雅黑" panose="020B0503020204020204" pitchFamily="34" charset="-122"/>
                <a:ea typeface="微软雅黑" panose="020B0503020204020204" pitchFamily="34" charset="-122"/>
              </a:rPr>
              <a:t>QUEUED</a:t>
            </a:r>
          </a:p>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a:solidFill>
                  <a:srgbClr val="FFD343"/>
                </a:solidFill>
                <a:latin typeface="微软雅黑" panose="020B0503020204020204" pitchFamily="34" charset="-122"/>
                <a:ea typeface="微软雅黑" panose="020B0503020204020204" pitchFamily="34" charset="-122"/>
              </a:rPr>
              <a:t>set</a:t>
            </a:r>
            <a:r>
              <a:rPr lang="en-US" altLang="zh-CN" sz="1600" dirty="0">
                <a:solidFill>
                  <a:schemeClr val="accent6"/>
                </a:solidFill>
                <a:latin typeface="微软雅黑" panose="020B0503020204020204" pitchFamily="34" charset="-122"/>
                <a:ea typeface="微软雅黑" panose="020B0503020204020204" pitchFamily="34" charset="-122"/>
              </a:rPr>
              <a:t> books </a:t>
            </a:r>
            <a:r>
              <a:rPr lang="en-US" altLang="zh-CN" sz="1600" dirty="0" err="1">
                <a:solidFill>
                  <a:schemeClr val="accent6"/>
                </a:solidFill>
                <a:latin typeface="微软雅黑" panose="020B0503020204020204" pitchFamily="34" charset="-122"/>
                <a:ea typeface="微软雅黑" panose="020B0503020204020204" pitchFamily="34" charset="-122"/>
              </a:rPr>
              <a:t>c++</a:t>
            </a:r>
            <a:endParaRPr lang="en-US" altLang="zh-CN" sz="1600" dirty="0">
              <a:solidFill>
                <a:schemeClr val="accent6"/>
              </a:solidFill>
              <a:latin typeface="微软雅黑" panose="020B0503020204020204" pitchFamily="34" charset="-122"/>
              <a:ea typeface="微软雅黑" panose="020B0503020204020204" pitchFamily="34" charset="-122"/>
            </a:endParaRPr>
          </a:p>
          <a:p>
            <a:r>
              <a:rPr lang="en-US" altLang="zh-CN" sz="1600" dirty="0">
                <a:solidFill>
                  <a:schemeClr val="accent6"/>
                </a:solidFill>
                <a:latin typeface="微软雅黑" panose="020B0503020204020204" pitchFamily="34" charset="-122"/>
                <a:ea typeface="微软雅黑" panose="020B0503020204020204" pitchFamily="34" charset="-122"/>
              </a:rPr>
              <a:t>QUEUED</a:t>
            </a:r>
          </a:p>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a:solidFill>
                  <a:srgbClr val="FFD343"/>
                </a:solidFill>
                <a:latin typeface="微软雅黑" panose="020B0503020204020204" pitchFamily="34" charset="-122"/>
                <a:ea typeface="微软雅黑" panose="020B0503020204020204" pitchFamily="34" charset="-122"/>
              </a:rPr>
              <a:t>exec</a:t>
            </a:r>
            <a:r>
              <a:rPr lang="en-US" altLang="zh-CN" sz="1600" dirty="0" smtClean="0">
                <a:solidFill>
                  <a:schemeClr val="accent6"/>
                </a:solidFill>
                <a:latin typeface="微软雅黑" panose="020B0503020204020204" pitchFamily="34" charset="-122"/>
                <a:ea typeface="微软雅黑" panose="020B0503020204020204" pitchFamily="34" charset="-122"/>
              </a:rPr>
              <a:t>              </a:t>
            </a:r>
            <a:r>
              <a:rPr lang="en-US" altLang="zh-CN" sz="1600" dirty="0" smtClean="0">
                <a:solidFill>
                  <a:schemeClr val="accent1"/>
                </a:solidFill>
                <a:latin typeface="微软雅黑" panose="020B0503020204020204" pitchFamily="34" charset="-122"/>
                <a:ea typeface="微软雅黑" panose="020B0503020204020204" pitchFamily="34" charset="-122"/>
              </a:rPr>
              <a:t># </a:t>
            </a:r>
            <a:r>
              <a:rPr lang="zh-CN" altLang="en-US" sz="1600" dirty="0" smtClean="0">
                <a:solidFill>
                  <a:schemeClr val="accent1"/>
                </a:solidFill>
                <a:latin typeface="微软雅黑" panose="020B0503020204020204" pitchFamily="34" charset="-122"/>
                <a:ea typeface="微软雅黑" panose="020B0503020204020204" pitchFamily="34" charset="-122"/>
              </a:rPr>
              <a:t>执行事物</a:t>
            </a:r>
            <a:endParaRPr lang="en-US" altLang="zh-CN" sz="1600" dirty="0">
              <a:solidFill>
                <a:schemeClr val="accent1"/>
              </a:solidFill>
              <a:latin typeface="微软雅黑" panose="020B0503020204020204" pitchFamily="34" charset="-122"/>
              <a:ea typeface="微软雅黑" panose="020B0503020204020204" pitchFamily="34" charset="-122"/>
            </a:endParaRPr>
          </a:p>
          <a:p>
            <a:r>
              <a:rPr lang="en-US" altLang="zh-CN" sz="1600" dirty="0">
                <a:solidFill>
                  <a:schemeClr val="accent6"/>
                </a:solidFill>
                <a:latin typeface="微软雅黑" panose="020B0503020204020204" pitchFamily="34" charset="-122"/>
                <a:ea typeface="微软雅黑" panose="020B0503020204020204" pitchFamily="34" charset="-122"/>
              </a:rPr>
              <a:t>1) OK</a:t>
            </a:r>
          </a:p>
          <a:p>
            <a:r>
              <a:rPr lang="en-US" altLang="zh-CN" sz="1600" dirty="0">
                <a:solidFill>
                  <a:schemeClr val="accent6"/>
                </a:solidFill>
                <a:latin typeface="微软雅黑" panose="020B0503020204020204" pitchFamily="34" charset="-122"/>
                <a:ea typeface="微软雅黑" panose="020B0503020204020204" pitchFamily="34" charset="-122"/>
              </a:rPr>
              <a:t>2) ERR value is not an integer or out of range</a:t>
            </a:r>
          </a:p>
          <a:p>
            <a:r>
              <a:rPr lang="en-US" altLang="zh-CN" sz="1600" dirty="0">
                <a:solidFill>
                  <a:schemeClr val="accent6"/>
                </a:solidFill>
                <a:latin typeface="微软雅黑" panose="020B0503020204020204" pitchFamily="34" charset="-122"/>
                <a:ea typeface="微软雅黑" panose="020B0503020204020204" pitchFamily="34" charset="-122"/>
              </a:rPr>
              <a:t>3) OK</a:t>
            </a:r>
          </a:p>
          <a:p>
            <a:r>
              <a:rPr lang="en-US" altLang="zh-CN" sz="1600" dirty="0" smtClean="0">
                <a:solidFill>
                  <a:schemeClr val="accent6"/>
                </a:solidFill>
                <a:latin typeface="微软雅黑" panose="020B0503020204020204" pitchFamily="34" charset="-122"/>
                <a:ea typeface="微软雅黑" panose="020B0503020204020204" pitchFamily="34" charset="-122"/>
              </a:rPr>
              <a:t>&gt; </a:t>
            </a:r>
            <a:r>
              <a:rPr lang="en-US" altLang="zh-CN" sz="1600" b="1" dirty="0">
                <a:solidFill>
                  <a:srgbClr val="FFD343"/>
                </a:solidFill>
                <a:latin typeface="微软雅黑" panose="020B0503020204020204" pitchFamily="34" charset="-122"/>
                <a:ea typeface="微软雅黑" panose="020B0503020204020204" pitchFamily="34" charset="-122"/>
              </a:rPr>
              <a:t>get</a:t>
            </a:r>
            <a:r>
              <a:rPr lang="en-US" altLang="zh-CN" sz="1600" dirty="0" smtClean="0">
                <a:solidFill>
                  <a:schemeClr val="accent6"/>
                </a:solidFill>
                <a:latin typeface="微软雅黑" panose="020B0503020204020204" pitchFamily="34" charset="-122"/>
                <a:ea typeface="微软雅黑" panose="020B0503020204020204" pitchFamily="34" charset="-122"/>
              </a:rPr>
              <a:t> books     </a:t>
            </a:r>
            <a:r>
              <a:rPr lang="en-US" altLang="zh-CN" sz="1600" dirty="0" smtClean="0">
                <a:solidFill>
                  <a:schemeClr val="accent1"/>
                </a:solidFill>
                <a:latin typeface="微软雅黑" panose="020B0503020204020204" pitchFamily="34" charset="-122"/>
                <a:ea typeface="微软雅黑" panose="020B0503020204020204" pitchFamily="34" charset="-122"/>
              </a:rPr>
              <a:t># </a:t>
            </a:r>
            <a:r>
              <a:rPr lang="zh-CN" altLang="en-US" sz="1600" dirty="0" smtClean="0">
                <a:solidFill>
                  <a:schemeClr val="accent1"/>
                </a:solidFill>
                <a:latin typeface="微软雅黑" panose="020B0503020204020204" pitchFamily="34" charset="-122"/>
                <a:ea typeface="微软雅黑" panose="020B0503020204020204" pitchFamily="34" charset="-122"/>
              </a:rPr>
              <a:t>从</a:t>
            </a:r>
            <a:r>
              <a:rPr lang="en-US" altLang="zh-CN" sz="1600" dirty="0" smtClean="0">
                <a:solidFill>
                  <a:schemeClr val="accent1"/>
                </a:solidFill>
                <a:latin typeface="微软雅黑" panose="020B0503020204020204" pitchFamily="34" charset="-122"/>
                <a:ea typeface="微软雅黑" panose="020B0503020204020204" pitchFamily="34" charset="-122"/>
              </a:rPr>
              <a:t>books</a:t>
            </a:r>
            <a:r>
              <a:rPr lang="zh-CN" altLang="en-US" sz="1600" dirty="0" smtClean="0">
                <a:solidFill>
                  <a:schemeClr val="accent1"/>
                </a:solidFill>
                <a:latin typeface="微软雅黑" panose="020B0503020204020204" pitchFamily="34" charset="-122"/>
                <a:ea typeface="微软雅黑" panose="020B0503020204020204" pitchFamily="34" charset="-122"/>
              </a:rPr>
              <a:t>的结果看，</a:t>
            </a:r>
            <a:r>
              <a:rPr lang="en-US" altLang="zh-CN" sz="1600" dirty="0" err="1" smtClean="0">
                <a:solidFill>
                  <a:schemeClr val="accent1"/>
                </a:solidFill>
                <a:latin typeface="微软雅黑" panose="020B0503020204020204" pitchFamily="34" charset="-122"/>
                <a:ea typeface="微软雅黑" panose="020B0503020204020204" pitchFamily="34" charset="-122"/>
              </a:rPr>
              <a:t>incr</a:t>
            </a:r>
            <a:r>
              <a:rPr lang="en-US" altLang="zh-CN" sz="1600" dirty="0" smtClean="0">
                <a:solidFill>
                  <a:schemeClr val="accent1"/>
                </a:solidFill>
                <a:latin typeface="微软雅黑" panose="020B0503020204020204" pitchFamily="34" charset="-122"/>
                <a:ea typeface="微软雅黑" panose="020B0503020204020204" pitchFamily="34" charset="-122"/>
              </a:rPr>
              <a:t> books</a:t>
            </a:r>
            <a:r>
              <a:rPr lang="zh-CN" altLang="en-US" sz="1600" dirty="0" smtClean="0">
                <a:solidFill>
                  <a:schemeClr val="accent1"/>
                </a:solidFill>
                <a:latin typeface="微软雅黑" panose="020B0503020204020204" pitchFamily="34" charset="-122"/>
                <a:ea typeface="微软雅黑" panose="020B0503020204020204" pitchFamily="34" charset="-122"/>
              </a:rPr>
              <a:t>的执行失败并不影响其后一个命令的执行</a:t>
            </a:r>
            <a:endParaRPr lang="en-US" altLang="zh-CN" sz="1600" dirty="0">
              <a:solidFill>
                <a:schemeClr val="accent1"/>
              </a:solidFill>
              <a:latin typeface="微软雅黑" panose="020B0503020204020204" pitchFamily="34" charset="-122"/>
              <a:ea typeface="微软雅黑" panose="020B0503020204020204" pitchFamily="34" charset="-122"/>
            </a:endParaRPr>
          </a:p>
          <a:p>
            <a:r>
              <a:rPr lang="en-US" altLang="zh-CN" sz="1600" dirty="0">
                <a:solidFill>
                  <a:schemeClr val="accent6"/>
                </a:solidFill>
                <a:latin typeface="微软雅黑" panose="020B0503020204020204" pitchFamily="34" charset="-122"/>
                <a:ea typeface="微软雅黑" panose="020B0503020204020204" pitchFamily="34" charset="-122"/>
              </a:rPr>
              <a:t>"</a:t>
            </a:r>
            <a:r>
              <a:rPr lang="en-US" altLang="zh-CN" sz="1600" dirty="0" err="1">
                <a:solidFill>
                  <a:schemeClr val="accent6"/>
                </a:solidFill>
                <a:latin typeface="微软雅黑" panose="020B0503020204020204" pitchFamily="34" charset="-122"/>
                <a:ea typeface="微软雅黑" panose="020B0503020204020204" pitchFamily="34" charset="-122"/>
              </a:rPr>
              <a:t>c++</a:t>
            </a:r>
            <a:r>
              <a:rPr lang="en-US" altLang="zh-CN" sz="1600" dirty="0">
                <a:solidFill>
                  <a:schemeClr val="accent6"/>
                </a:solidFill>
                <a:latin typeface="微软雅黑" panose="020B0503020204020204" pitchFamily="34" charset="-122"/>
                <a:ea typeface="微软雅黑" panose="020B0503020204020204" pitchFamily="34" charset="-122"/>
              </a:rPr>
              <a:t>"</a:t>
            </a:r>
            <a:endParaRPr lang="zh-CN" altLang="en-US" sz="1600" dirty="0" smtClean="0">
              <a:solidFill>
                <a:schemeClr val="accent6"/>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40421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0A0F23"/>
        </a:solidFill>
        <a:effectLst/>
      </p:bgPr>
    </p:bg>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xmlns="" id="{CBDC52CD-1D62-48AF-A9DF-9F18AEA2B1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01385" y="-114300"/>
            <a:ext cx="1301859" cy="920356"/>
          </a:xfrm>
          <a:prstGeom prst="rect">
            <a:avLst/>
          </a:prstGeom>
        </p:spPr>
      </p:pic>
      <p:pic>
        <p:nvPicPr>
          <p:cNvPr id="14" name="图片 13">
            <a:extLst>
              <a:ext uri="{FF2B5EF4-FFF2-40B4-BE49-F238E27FC236}">
                <a16:creationId xmlns:a16="http://schemas.microsoft.com/office/drawing/2014/main" xmlns="" id="{F78DA958-9B1B-47DA-A870-8C0B3A7D8866}"/>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b="63537"/>
          <a:stretch/>
        </p:blipFill>
        <p:spPr>
          <a:xfrm>
            <a:off x="11184164" y="217733"/>
            <a:ext cx="572339" cy="337210"/>
          </a:xfrm>
          <a:prstGeom prst="rect">
            <a:avLst/>
          </a:prstGeom>
        </p:spPr>
      </p:pic>
      <p:cxnSp>
        <p:nvCxnSpPr>
          <p:cNvPr id="15" name="直接连接符 14">
            <a:extLst>
              <a:ext uri="{FF2B5EF4-FFF2-40B4-BE49-F238E27FC236}">
                <a16:creationId xmlns:a16="http://schemas.microsoft.com/office/drawing/2014/main" xmlns="" id="{93240A06-D526-4907-A163-94ABB41190CC}"/>
              </a:ext>
            </a:extLst>
          </p:cNvPr>
          <p:cNvCxnSpPr/>
          <p:nvPr/>
        </p:nvCxnSpPr>
        <p:spPr>
          <a:xfrm>
            <a:off x="11103244" y="225825"/>
            <a:ext cx="0" cy="2435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xmlns="" id="{74C59758-12AB-44A5-92FA-DB52904027AE}"/>
              </a:ext>
            </a:extLst>
          </p:cNvPr>
          <p:cNvSpPr/>
          <p:nvPr/>
        </p:nvSpPr>
        <p:spPr>
          <a:xfrm>
            <a:off x="802332" y="1287114"/>
            <a:ext cx="10765483" cy="874407"/>
          </a:xfrm>
          <a:prstGeom prst="rect">
            <a:avLst/>
          </a:prstGeom>
        </p:spPr>
        <p:txBody>
          <a:bodyPr wrap="square">
            <a:spAutoFit/>
          </a:bodyPr>
          <a:lstStyle/>
          <a:p>
            <a:pPr>
              <a:lnSpc>
                <a:spcPct val="150000"/>
              </a:lnSpc>
            </a:pPr>
            <a:r>
              <a:rPr lang="en-US" altLang="zh-CN" dirty="0" smtClean="0">
                <a:solidFill>
                  <a:prstClr val="white"/>
                </a:solidFill>
                <a:latin typeface="微软雅黑" panose="020B0503020204020204" pitchFamily="34" charset="-122"/>
                <a:ea typeface="微软雅黑" panose="020B0503020204020204" pitchFamily="34" charset="-122"/>
              </a:rPr>
              <a:t>1</a:t>
            </a:r>
            <a:r>
              <a:rPr lang="zh-CN" altLang="en-US" dirty="0" smtClean="0">
                <a:solidFill>
                  <a:prstClr val="white"/>
                </a:solidFill>
                <a:latin typeface="微软雅黑" panose="020B0503020204020204" pitchFamily="34" charset="-122"/>
                <a:ea typeface="微软雅黑" panose="020B0503020204020204" pitchFamily="34" charset="-122"/>
              </a:rPr>
              <a:t>、</a:t>
            </a:r>
            <a:r>
              <a:rPr lang="en-US" altLang="zh-CN" dirty="0" err="1" smtClean="0">
                <a:solidFill>
                  <a:prstClr val="white"/>
                </a:solidFill>
                <a:latin typeface="微软雅黑" panose="020B0503020204020204" pitchFamily="34" charset="-122"/>
                <a:ea typeface="微软雅黑" panose="020B0503020204020204" pitchFamily="34" charset="-122"/>
              </a:rPr>
              <a:t>redis</a:t>
            </a:r>
            <a:r>
              <a:rPr lang="zh-CN" altLang="en-US" dirty="0">
                <a:solidFill>
                  <a:prstClr val="white"/>
                </a:solidFill>
                <a:latin typeface="微软雅黑" panose="020B0503020204020204" pitchFamily="34" charset="-122"/>
                <a:ea typeface="微软雅黑" panose="020B0503020204020204" pitchFamily="34" charset="-122"/>
              </a:rPr>
              <a:t>事</a:t>
            </a:r>
            <a:r>
              <a:rPr lang="zh-CN" altLang="en-US" dirty="0" smtClean="0">
                <a:solidFill>
                  <a:prstClr val="white"/>
                </a:solidFill>
                <a:latin typeface="微软雅黑" panose="020B0503020204020204" pitchFamily="34" charset="-122"/>
                <a:ea typeface="微软雅黑" panose="020B0503020204020204" pitchFamily="34" charset="-122"/>
              </a:rPr>
              <a:t>务不具备原子性，使用中一定要注意</a:t>
            </a:r>
            <a:endParaRPr lang="en-US" altLang="zh-CN" dirty="0" smtClean="0">
              <a:solidFill>
                <a:prstClr val="white"/>
              </a:solidFill>
              <a:latin typeface="微软雅黑" panose="020B0503020204020204" pitchFamily="34" charset="-122"/>
              <a:ea typeface="微软雅黑" panose="020B0503020204020204" pitchFamily="34" charset="-122"/>
            </a:endParaRPr>
          </a:p>
          <a:p>
            <a:pPr>
              <a:lnSpc>
                <a:spcPct val="150000"/>
              </a:lnSpc>
            </a:pPr>
            <a:r>
              <a:rPr lang="en-US" altLang="zh-CN" dirty="0" smtClean="0">
                <a:solidFill>
                  <a:prstClr val="white"/>
                </a:solidFill>
                <a:latin typeface="微软雅黑" panose="020B0503020204020204" pitchFamily="34" charset="-122"/>
                <a:ea typeface="微软雅黑" panose="020B0503020204020204" pitchFamily="34" charset="-122"/>
              </a:rPr>
              <a:t>2</a:t>
            </a:r>
            <a:r>
              <a:rPr lang="zh-CN" altLang="en-US" dirty="0" smtClean="0">
                <a:solidFill>
                  <a:prstClr val="white"/>
                </a:solidFill>
                <a:latin typeface="微软雅黑" panose="020B0503020204020204" pitchFamily="34" charset="-122"/>
                <a:ea typeface="微软雅黑" panose="020B0503020204020204" pitchFamily="34" charset="-122"/>
              </a:rPr>
              <a:t>、在</a:t>
            </a:r>
            <a:r>
              <a:rPr lang="en-US" altLang="zh-CN" dirty="0" smtClean="0">
                <a:solidFill>
                  <a:prstClr val="white"/>
                </a:solidFill>
                <a:latin typeface="微软雅黑" panose="020B0503020204020204" pitchFamily="34" charset="-122"/>
                <a:ea typeface="微软雅黑" panose="020B0503020204020204" pitchFamily="34" charset="-122"/>
              </a:rPr>
              <a:t>multi</a:t>
            </a:r>
            <a:r>
              <a:rPr lang="zh-CN" altLang="en-US" dirty="0" smtClean="0">
                <a:solidFill>
                  <a:prstClr val="white"/>
                </a:solidFill>
                <a:latin typeface="微软雅黑" panose="020B0503020204020204" pitchFamily="34" charset="-122"/>
                <a:ea typeface="微软雅黑" panose="020B0503020204020204" pitchFamily="34" charset="-122"/>
              </a:rPr>
              <a:t>和</a:t>
            </a:r>
            <a:r>
              <a:rPr lang="en-US" altLang="zh-CN" dirty="0" smtClean="0">
                <a:solidFill>
                  <a:prstClr val="white"/>
                </a:solidFill>
                <a:latin typeface="微软雅黑" panose="020B0503020204020204" pitchFamily="34" charset="-122"/>
                <a:ea typeface="微软雅黑" panose="020B0503020204020204" pitchFamily="34" charset="-122"/>
              </a:rPr>
              <a:t>exec</a:t>
            </a:r>
            <a:r>
              <a:rPr lang="zh-CN" altLang="en-US" dirty="0" smtClean="0">
                <a:solidFill>
                  <a:prstClr val="white"/>
                </a:solidFill>
                <a:latin typeface="微软雅黑" panose="020B0503020204020204" pitchFamily="34" charset="-122"/>
                <a:ea typeface="微软雅黑" panose="020B0503020204020204" pitchFamily="34" charset="-122"/>
              </a:rPr>
              <a:t>中间不能执行</a:t>
            </a:r>
            <a:r>
              <a:rPr lang="en-US" altLang="zh-CN" dirty="0" smtClean="0">
                <a:solidFill>
                  <a:prstClr val="white"/>
                </a:solidFill>
                <a:latin typeface="微软雅黑" panose="020B0503020204020204" pitchFamily="34" charset="-122"/>
                <a:ea typeface="微软雅黑" panose="020B0503020204020204" pitchFamily="34" charset="-122"/>
              </a:rPr>
              <a:t>watch</a:t>
            </a:r>
            <a:r>
              <a:rPr lang="zh-CN" altLang="en-US" dirty="0" smtClean="0">
                <a:solidFill>
                  <a:prstClr val="white"/>
                </a:solidFill>
                <a:latin typeface="微软雅黑" panose="020B0503020204020204" pitchFamily="34" charset="-122"/>
                <a:ea typeface="微软雅黑" panose="020B0503020204020204" pitchFamily="34" charset="-122"/>
              </a:rPr>
              <a:t>命令。而应该在</a:t>
            </a:r>
            <a:r>
              <a:rPr lang="en-US" altLang="zh-CN" dirty="0" smtClean="0">
                <a:solidFill>
                  <a:prstClr val="white"/>
                </a:solidFill>
                <a:latin typeface="微软雅黑" panose="020B0503020204020204" pitchFamily="34" charset="-122"/>
                <a:ea typeface="微软雅黑" panose="020B0503020204020204" pitchFamily="34" charset="-122"/>
              </a:rPr>
              <a:t>multi</a:t>
            </a:r>
            <a:r>
              <a:rPr lang="zh-CN" altLang="en-US" dirty="0" smtClean="0">
                <a:solidFill>
                  <a:prstClr val="white"/>
                </a:solidFill>
                <a:latin typeface="微软雅黑" panose="020B0503020204020204" pitchFamily="34" charset="-122"/>
                <a:ea typeface="微软雅黑" panose="020B0503020204020204" pitchFamily="34" charset="-122"/>
              </a:rPr>
              <a:t>前，否则会报错</a:t>
            </a:r>
            <a:r>
              <a:rPr lang="zh-CN" altLang="en-US" sz="1600" dirty="0" smtClean="0">
                <a:solidFill>
                  <a:prstClr val="white"/>
                </a:solidFill>
                <a:latin typeface="微软雅黑" panose="020B0503020204020204" pitchFamily="34" charset="-122"/>
                <a:ea typeface="微软雅黑" panose="020B0503020204020204" pitchFamily="34" charset="-122"/>
              </a:rPr>
              <a:t>。</a:t>
            </a:r>
            <a:endParaRPr lang="zh-CN" altLang="en-US" sz="1600" dirty="0">
              <a:solidFill>
                <a:prstClr val="white"/>
              </a:solidFill>
              <a:latin typeface="微软雅黑" panose="020B0503020204020204" pitchFamily="34" charset="-122"/>
              <a:ea typeface="微软雅黑" panose="020B0503020204020204" pitchFamily="34" charset="-122"/>
            </a:endParaRPr>
          </a:p>
        </p:txBody>
      </p:sp>
      <p:sp>
        <p:nvSpPr>
          <p:cNvPr id="10" name="TextBox 9"/>
          <p:cNvSpPr txBox="1"/>
          <p:nvPr/>
        </p:nvSpPr>
        <p:spPr>
          <a:xfrm>
            <a:off x="704850" y="605109"/>
            <a:ext cx="8883650" cy="523220"/>
          </a:xfrm>
          <a:prstGeom prst="rect">
            <a:avLst/>
          </a:prstGeom>
          <a:noFill/>
        </p:spPr>
        <p:txBody>
          <a:bodyPr wrap="square" rtlCol="0">
            <a:spAutoFit/>
          </a:bodyPr>
          <a:lstStyle/>
          <a:p>
            <a:pPr>
              <a:defRPr/>
            </a:pPr>
            <a:r>
              <a:rPr lang="en-US" altLang="zh-CN"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4.2.3 </a:t>
            </a:r>
            <a:r>
              <a:rPr lang="zh-CN" altLang="en-US"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注意事项</a:t>
            </a:r>
          </a:p>
        </p:txBody>
      </p:sp>
    </p:spTree>
    <p:extLst>
      <p:ext uri="{BB962C8B-B14F-4D97-AF65-F5344CB8AC3E}">
        <p14:creationId xmlns:p14="http://schemas.microsoft.com/office/powerpoint/2010/main" val="2810584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0A0F23"/>
        </a:solidFill>
        <a:effectLst/>
      </p:bgPr>
    </p:bg>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xmlns="" id="{CBDC52CD-1D62-48AF-A9DF-9F18AEA2B1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01385" y="-114300"/>
            <a:ext cx="1301859" cy="920356"/>
          </a:xfrm>
          <a:prstGeom prst="rect">
            <a:avLst/>
          </a:prstGeom>
        </p:spPr>
      </p:pic>
      <p:pic>
        <p:nvPicPr>
          <p:cNvPr id="14" name="图片 13">
            <a:extLst>
              <a:ext uri="{FF2B5EF4-FFF2-40B4-BE49-F238E27FC236}">
                <a16:creationId xmlns:a16="http://schemas.microsoft.com/office/drawing/2014/main" xmlns="" id="{F78DA958-9B1B-47DA-A870-8C0B3A7D8866}"/>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b="63537"/>
          <a:stretch/>
        </p:blipFill>
        <p:spPr>
          <a:xfrm>
            <a:off x="11184164" y="217733"/>
            <a:ext cx="572339" cy="337210"/>
          </a:xfrm>
          <a:prstGeom prst="rect">
            <a:avLst/>
          </a:prstGeom>
        </p:spPr>
      </p:pic>
      <p:cxnSp>
        <p:nvCxnSpPr>
          <p:cNvPr id="15" name="直接连接符 14">
            <a:extLst>
              <a:ext uri="{FF2B5EF4-FFF2-40B4-BE49-F238E27FC236}">
                <a16:creationId xmlns:a16="http://schemas.microsoft.com/office/drawing/2014/main" xmlns="" id="{93240A06-D526-4907-A163-94ABB41190CC}"/>
              </a:ext>
            </a:extLst>
          </p:cNvPr>
          <p:cNvCxnSpPr/>
          <p:nvPr/>
        </p:nvCxnSpPr>
        <p:spPr>
          <a:xfrm>
            <a:off x="11103244" y="225825"/>
            <a:ext cx="0" cy="2435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xmlns="" id="{74C59758-12AB-44A5-92FA-DB52904027AE}"/>
              </a:ext>
            </a:extLst>
          </p:cNvPr>
          <p:cNvSpPr/>
          <p:nvPr/>
        </p:nvSpPr>
        <p:spPr>
          <a:xfrm>
            <a:off x="802332" y="2041857"/>
            <a:ext cx="10765483" cy="2585323"/>
          </a:xfrm>
          <a:prstGeom prst="rect">
            <a:avLst/>
          </a:prstGeom>
        </p:spPr>
        <p:txBody>
          <a:bodyPr wrap="square">
            <a:spAutoFit/>
          </a:bodyPr>
          <a:lstStyle/>
          <a:p>
            <a:pPr indent="457200">
              <a:lnSpc>
                <a:spcPct val="150000"/>
              </a:lnSpc>
            </a:pPr>
            <a:r>
              <a:rPr lang="zh-CN" altLang="en-US" dirty="0" smtClean="0">
                <a:solidFill>
                  <a:prstClr val="white"/>
                </a:solidFill>
                <a:latin typeface="微软雅黑" panose="020B0503020204020204" pitchFamily="34" charset="-122"/>
                <a:ea typeface="微软雅黑" panose="020B0503020204020204" pitchFamily="34" charset="-122"/>
              </a:rPr>
              <a:t>管道提高了客户端执行多个命令的效率，通过改变读写数据的顺序，减少了客户端等待网络</a:t>
            </a:r>
            <a:r>
              <a:rPr lang="en-US" altLang="zh-CN" dirty="0" smtClean="0">
                <a:solidFill>
                  <a:prstClr val="white"/>
                </a:solidFill>
                <a:latin typeface="微软雅黑" panose="020B0503020204020204" pitchFamily="34" charset="-122"/>
                <a:ea typeface="微软雅黑" panose="020B0503020204020204" pitchFamily="34" charset="-122"/>
              </a:rPr>
              <a:t>IO</a:t>
            </a:r>
            <a:r>
              <a:rPr lang="zh-CN" altLang="en-US" dirty="0" smtClean="0">
                <a:solidFill>
                  <a:prstClr val="white"/>
                </a:solidFill>
                <a:latin typeface="微软雅黑" panose="020B0503020204020204" pitchFamily="34" charset="-122"/>
                <a:ea typeface="微软雅黑" panose="020B0503020204020204" pitchFamily="34" charset="-122"/>
              </a:rPr>
              <a:t>的时间。但并没有减少客户端与服务器端通信的次数。</a:t>
            </a:r>
            <a:endParaRPr lang="en-US" altLang="zh-CN" dirty="0" smtClean="0">
              <a:solidFill>
                <a:prstClr val="white"/>
              </a:solidFill>
              <a:latin typeface="微软雅黑" panose="020B0503020204020204" pitchFamily="34" charset="-122"/>
              <a:ea typeface="微软雅黑" panose="020B0503020204020204" pitchFamily="34" charset="-122"/>
            </a:endParaRPr>
          </a:p>
          <a:p>
            <a:pPr indent="457200">
              <a:lnSpc>
                <a:spcPct val="150000"/>
              </a:lnSpc>
            </a:pPr>
            <a:r>
              <a:rPr lang="en-US" altLang="zh-CN" dirty="0" err="1" smtClean="0">
                <a:solidFill>
                  <a:prstClr val="white"/>
                </a:solidFill>
                <a:latin typeface="微软雅黑" panose="020B0503020204020204" pitchFamily="34" charset="-122"/>
                <a:ea typeface="微软雅黑" panose="020B0503020204020204" pitchFamily="34" charset="-122"/>
              </a:rPr>
              <a:t>redis</a:t>
            </a:r>
            <a:r>
              <a:rPr lang="zh-CN" altLang="en-US" dirty="0" smtClean="0">
                <a:solidFill>
                  <a:prstClr val="white"/>
                </a:solidFill>
                <a:latin typeface="微软雅黑" panose="020B0503020204020204" pitchFamily="34" charset="-122"/>
                <a:ea typeface="微软雅黑" panose="020B0503020204020204" pitchFamily="34" charset="-122"/>
              </a:rPr>
              <a:t>在</a:t>
            </a:r>
            <a:r>
              <a:rPr lang="en-US" altLang="zh-CN" dirty="0" smtClean="0">
                <a:solidFill>
                  <a:prstClr val="white"/>
                </a:solidFill>
                <a:latin typeface="微软雅黑" panose="020B0503020204020204" pitchFamily="34" charset="-122"/>
                <a:ea typeface="微软雅黑" panose="020B0503020204020204" pitchFamily="34" charset="-122"/>
              </a:rPr>
              <a:t>2.6</a:t>
            </a:r>
            <a:r>
              <a:rPr lang="zh-CN" altLang="en-US" dirty="0" smtClean="0">
                <a:solidFill>
                  <a:prstClr val="white"/>
                </a:solidFill>
                <a:latin typeface="微软雅黑" panose="020B0503020204020204" pitchFamily="34" charset="-122"/>
                <a:ea typeface="微软雅黑" panose="020B0503020204020204" pitchFamily="34" charset="-122"/>
              </a:rPr>
              <a:t>版本加入了</a:t>
            </a:r>
            <a:r>
              <a:rPr lang="en-US" altLang="zh-CN" dirty="0" err="1" smtClean="0">
                <a:solidFill>
                  <a:prstClr val="white"/>
                </a:solidFill>
                <a:latin typeface="微软雅黑" panose="020B0503020204020204" pitchFamily="34" charset="-122"/>
                <a:ea typeface="微软雅黑" panose="020B0503020204020204" pitchFamily="34" charset="-122"/>
              </a:rPr>
              <a:t>lua</a:t>
            </a:r>
            <a:r>
              <a:rPr lang="zh-CN" altLang="en-US" dirty="0" smtClean="0">
                <a:solidFill>
                  <a:prstClr val="white"/>
                </a:solidFill>
                <a:latin typeface="微软雅黑" panose="020B0503020204020204" pitchFamily="34" charset="-122"/>
                <a:ea typeface="微软雅黑" panose="020B0503020204020204" pitchFamily="34" charset="-122"/>
              </a:rPr>
              <a:t>脚本支持。</a:t>
            </a:r>
            <a:r>
              <a:rPr lang="en-US" altLang="zh-CN" dirty="0" err="1" smtClean="0">
                <a:solidFill>
                  <a:prstClr val="white"/>
                </a:solidFill>
                <a:latin typeface="微软雅黑" panose="020B0503020204020204" pitchFamily="34" charset="-122"/>
                <a:ea typeface="微软雅黑" panose="020B0503020204020204" pitchFamily="34" charset="-122"/>
              </a:rPr>
              <a:t>lua</a:t>
            </a:r>
            <a:r>
              <a:rPr lang="zh-CN" altLang="en-US" dirty="0" smtClean="0">
                <a:solidFill>
                  <a:prstClr val="white"/>
                </a:solidFill>
                <a:latin typeface="微软雅黑" panose="020B0503020204020204" pitchFamily="34" charset="-122"/>
                <a:ea typeface="微软雅黑" panose="020B0503020204020204" pitchFamily="34" charset="-122"/>
              </a:rPr>
              <a:t>是一个非常快速和轻巧的脚本语言。通过编写</a:t>
            </a:r>
            <a:r>
              <a:rPr lang="en-US" altLang="zh-CN" dirty="0" err="1" smtClean="0">
                <a:solidFill>
                  <a:prstClr val="white"/>
                </a:solidFill>
                <a:latin typeface="微软雅黑" panose="020B0503020204020204" pitchFamily="34" charset="-122"/>
                <a:ea typeface="微软雅黑" panose="020B0503020204020204" pitchFamily="34" charset="-122"/>
              </a:rPr>
              <a:t>lua</a:t>
            </a:r>
            <a:r>
              <a:rPr lang="zh-CN" altLang="en-US" dirty="0">
                <a:solidFill>
                  <a:prstClr val="white"/>
                </a:solidFill>
                <a:latin typeface="微软雅黑" panose="020B0503020204020204" pitchFamily="34" charset="-122"/>
                <a:ea typeface="微软雅黑" panose="020B0503020204020204" pitchFamily="34" charset="-122"/>
              </a:rPr>
              <a:t>脚</a:t>
            </a:r>
            <a:r>
              <a:rPr lang="zh-CN" altLang="en-US" dirty="0" smtClean="0">
                <a:solidFill>
                  <a:prstClr val="white"/>
                </a:solidFill>
                <a:latin typeface="微软雅黑" panose="020B0503020204020204" pitchFamily="34" charset="-122"/>
                <a:ea typeface="微软雅黑" panose="020B0503020204020204" pitchFamily="34" charset="-122"/>
              </a:rPr>
              <a:t>本，可以在里面调用很多</a:t>
            </a:r>
            <a:r>
              <a:rPr lang="en-US" altLang="zh-CN" dirty="0" err="1" smtClean="0">
                <a:solidFill>
                  <a:prstClr val="white"/>
                </a:solidFill>
                <a:latin typeface="微软雅黑" panose="020B0503020204020204" pitchFamily="34" charset="-122"/>
                <a:ea typeface="微软雅黑" panose="020B0503020204020204" pitchFamily="34" charset="-122"/>
              </a:rPr>
              <a:t>redis</a:t>
            </a:r>
            <a:r>
              <a:rPr lang="zh-CN" altLang="en-US" dirty="0" smtClean="0">
                <a:solidFill>
                  <a:prstClr val="white"/>
                </a:solidFill>
                <a:latin typeface="微软雅黑" panose="020B0503020204020204" pitchFamily="34" charset="-122"/>
                <a:ea typeface="微软雅黑" panose="020B0503020204020204" pitchFamily="34" charset="-122"/>
              </a:rPr>
              <a:t>命令实现业务逻辑，</a:t>
            </a:r>
            <a:r>
              <a:rPr lang="en-US" altLang="zh-CN" dirty="0" err="1" smtClean="0">
                <a:solidFill>
                  <a:prstClr val="white"/>
                </a:solidFill>
                <a:latin typeface="微软雅黑" panose="020B0503020204020204" pitchFamily="34" charset="-122"/>
                <a:ea typeface="微软雅黑" panose="020B0503020204020204" pitchFamily="34" charset="-122"/>
              </a:rPr>
              <a:t>redis</a:t>
            </a:r>
            <a:r>
              <a:rPr lang="zh-CN" altLang="en-US" dirty="0" smtClean="0">
                <a:solidFill>
                  <a:prstClr val="white"/>
                </a:solidFill>
                <a:latin typeface="微软雅黑" panose="020B0503020204020204" pitchFamily="34" charset="-122"/>
                <a:ea typeface="微软雅黑" panose="020B0503020204020204" pitchFamily="34" charset="-122"/>
              </a:rPr>
              <a:t>保证在执行脚本时，不会被其它客户端的命令所干扰。</a:t>
            </a:r>
            <a:endParaRPr lang="en-US" altLang="zh-CN" dirty="0" smtClean="0">
              <a:solidFill>
                <a:prstClr val="white"/>
              </a:solidFill>
              <a:latin typeface="微软雅黑" panose="020B0503020204020204" pitchFamily="34" charset="-122"/>
              <a:ea typeface="微软雅黑" panose="020B0503020204020204" pitchFamily="34" charset="-122"/>
            </a:endParaRPr>
          </a:p>
          <a:p>
            <a:pPr indent="457200">
              <a:lnSpc>
                <a:spcPct val="150000"/>
              </a:lnSpc>
            </a:pPr>
            <a:r>
              <a:rPr lang="en-US" altLang="zh-CN" dirty="0" err="1" smtClean="0">
                <a:solidFill>
                  <a:prstClr val="white"/>
                </a:solidFill>
                <a:latin typeface="微软雅黑" panose="020B0503020204020204" pitchFamily="34" charset="-122"/>
                <a:ea typeface="微软雅黑" panose="020B0503020204020204" pitchFamily="34" charset="-122"/>
              </a:rPr>
              <a:t>redis</a:t>
            </a:r>
            <a:r>
              <a:rPr lang="zh-CN" altLang="en-US" dirty="0">
                <a:solidFill>
                  <a:prstClr val="white"/>
                </a:solidFill>
                <a:latin typeface="微软雅黑" panose="020B0503020204020204" pitchFamily="34" charset="-122"/>
                <a:ea typeface="微软雅黑" panose="020B0503020204020204" pitchFamily="34" charset="-122"/>
              </a:rPr>
              <a:t>使</a:t>
            </a:r>
            <a:r>
              <a:rPr lang="zh-CN" altLang="en-US" dirty="0" smtClean="0">
                <a:solidFill>
                  <a:prstClr val="white"/>
                </a:solidFill>
                <a:latin typeface="微软雅黑" panose="020B0503020204020204" pitchFamily="34" charset="-122"/>
                <a:ea typeface="微软雅黑" panose="020B0503020204020204" pitchFamily="34" charset="-122"/>
              </a:rPr>
              <a:t>用过程中大多数的限制在</a:t>
            </a:r>
            <a:r>
              <a:rPr lang="en-US" altLang="zh-CN" dirty="0" smtClean="0">
                <a:solidFill>
                  <a:prstClr val="white"/>
                </a:solidFill>
                <a:latin typeface="微软雅黑" panose="020B0503020204020204" pitchFamily="34" charset="-122"/>
                <a:ea typeface="微软雅黑" panose="020B0503020204020204" pitchFamily="34" charset="-122"/>
              </a:rPr>
              <a:t>I/O</a:t>
            </a:r>
            <a:r>
              <a:rPr lang="zh-CN" altLang="en-US" dirty="0" smtClean="0">
                <a:solidFill>
                  <a:prstClr val="white"/>
                </a:solidFill>
                <a:latin typeface="微软雅黑" panose="020B0503020204020204" pitchFamily="34" charset="-122"/>
                <a:ea typeface="微软雅黑" panose="020B0503020204020204" pitchFamily="34" charset="-122"/>
              </a:rPr>
              <a:t>而非</a:t>
            </a:r>
            <a:r>
              <a:rPr lang="en-US" altLang="zh-CN" dirty="0" smtClean="0">
                <a:solidFill>
                  <a:prstClr val="white"/>
                </a:solidFill>
                <a:latin typeface="微软雅黑" panose="020B0503020204020204" pitchFamily="34" charset="-122"/>
                <a:ea typeface="微软雅黑" panose="020B0503020204020204" pitchFamily="34" charset="-122"/>
              </a:rPr>
              <a:t>CPU</a:t>
            </a:r>
            <a:r>
              <a:rPr lang="zh-CN" altLang="en-US" dirty="0" smtClean="0">
                <a:solidFill>
                  <a:prstClr val="white"/>
                </a:solidFill>
                <a:latin typeface="微软雅黑" panose="020B0503020204020204" pitchFamily="34" charset="-122"/>
                <a:ea typeface="微软雅黑" panose="020B0503020204020204" pitchFamily="34" charset="-122"/>
              </a:rPr>
              <a:t>，采用脚本将在两者间取得平衡，减少网络通信次数。</a:t>
            </a:r>
            <a:endParaRPr lang="en-US" altLang="zh-CN" dirty="0" smtClean="0">
              <a:solidFill>
                <a:prstClr val="white"/>
              </a:solidFill>
              <a:latin typeface="微软雅黑" panose="020B0503020204020204" pitchFamily="34" charset="-122"/>
              <a:ea typeface="微软雅黑" panose="020B0503020204020204" pitchFamily="34" charset="-122"/>
            </a:endParaRPr>
          </a:p>
          <a:p>
            <a:pPr indent="457200">
              <a:lnSpc>
                <a:spcPct val="150000"/>
              </a:lnSpc>
            </a:pPr>
            <a:r>
              <a:rPr lang="zh-CN" altLang="en-US" dirty="0" smtClean="0">
                <a:solidFill>
                  <a:prstClr val="white"/>
                </a:solidFill>
                <a:latin typeface="微软雅黑" panose="020B0503020204020204" pitchFamily="34" charset="-122"/>
                <a:ea typeface="微软雅黑" panose="020B0503020204020204" pitchFamily="34" charset="-122"/>
              </a:rPr>
              <a:t>关于</a:t>
            </a:r>
            <a:r>
              <a:rPr lang="en-US" altLang="zh-CN" dirty="0" err="1" smtClean="0">
                <a:solidFill>
                  <a:prstClr val="white"/>
                </a:solidFill>
                <a:latin typeface="微软雅黑" panose="020B0503020204020204" pitchFamily="34" charset="-122"/>
                <a:ea typeface="微软雅黑" panose="020B0503020204020204" pitchFamily="34" charset="-122"/>
              </a:rPr>
              <a:t>lua</a:t>
            </a:r>
            <a:r>
              <a:rPr lang="zh-CN" altLang="en-US" dirty="0" smtClean="0">
                <a:solidFill>
                  <a:prstClr val="white"/>
                </a:solidFill>
                <a:latin typeface="微软雅黑" panose="020B0503020204020204" pitchFamily="34" charset="-122"/>
                <a:ea typeface="微软雅黑" panose="020B0503020204020204" pitchFamily="34" charset="-122"/>
              </a:rPr>
              <a:t>的语法，请自行另外学习。</a:t>
            </a:r>
            <a:endParaRPr lang="en-US" altLang="zh-CN" dirty="0" smtClean="0">
              <a:solidFill>
                <a:prstClr val="white"/>
              </a:solidFill>
              <a:latin typeface="微软雅黑" panose="020B0503020204020204" pitchFamily="34" charset="-122"/>
              <a:ea typeface="微软雅黑" panose="020B0503020204020204" pitchFamily="34" charset="-122"/>
            </a:endParaRPr>
          </a:p>
        </p:txBody>
      </p:sp>
      <p:sp>
        <p:nvSpPr>
          <p:cNvPr id="10" name="TextBox 9"/>
          <p:cNvSpPr txBox="1"/>
          <p:nvPr/>
        </p:nvSpPr>
        <p:spPr>
          <a:xfrm>
            <a:off x="704849" y="605109"/>
            <a:ext cx="10862965" cy="584775"/>
          </a:xfrm>
          <a:prstGeom prst="rect">
            <a:avLst/>
          </a:prstGeom>
          <a:noFill/>
        </p:spPr>
        <p:txBody>
          <a:bodyPr wrap="square" rtlCol="0">
            <a:spAutoFit/>
          </a:bodyPr>
          <a:lstStyle/>
          <a:p>
            <a:pPr>
              <a:defRPr/>
            </a:pPr>
            <a:r>
              <a:rPr lang="en-US" altLang="zh-CN" sz="32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4.3</a:t>
            </a:r>
            <a:r>
              <a:rPr lang="zh-CN" altLang="en-US" sz="32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a:t>
            </a:r>
            <a:r>
              <a:rPr lang="en-US" altLang="zh-CN" sz="3200" b="1" dirty="0" err="1">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lua</a:t>
            </a:r>
            <a:r>
              <a:rPr lang="zh-CN" altLang="en-US" sz="32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脚本</a:t>
            </a:r>
          </a:p>
        </p:txBody>
      </p:sp>
      <p:sp>
        <p:nvSpPr>
          <p:cNvPr id="8" name="TextBox 9"/>
          <p:cNvSpPr txBox="1"/>
          <p:nvPr/>
        </p:nvSpPr>
        <p:spPr>
          <a:xfrm>
            <a:off x="704850" y="1345334"/>
            <a:ext cx="7689850" cy="523220"/>
          </a:xfrm>
          <a:prstGeom prst="rect">
            <a:avLst/>
          </a:prstGeom>
          <a:noFill/>
        </p:spPr>
        <p:txBody>
          <a:bodyPr wrap="square" rtlCol="0">
            <a:spAutoFit/>
          </a:bodyPr>
          <a:lstStyle/>
          <a:p>
            <a:pPr>
              <a:defRPr/>
            </a:pPr>
            <a:r>
              <a:rPr lang="en-US" altLang="zh-CN"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4.3.1 </a:t>
            </a:r>
            <a:r>
              <a:rPr lang="en-US" altLang="zh-CN" sz="2800" b="1" dirty="0" err="1">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redis</a:t>
            </a:r>
            <a:r>
              <a:rPr lang="en-US" altLang="zh-CN"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 </a:t>
            </a:r>
            <a:r>
              <a:rPr lang="zh-CN" altLang="en-US"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支持</a:t>
            </a:r>
            <a:r>
              <a:rPr lang="en-US" altLang="zh-CN" sz="2800" b="1" dirty="0" err="1">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lua</a:t>
            </a:r>
            <a:r>
              <a:rPr lang="zh-CN" altLang="en-US"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脚本的意义</a:t>
            </a:r>
          </a:p>
        </p:txBody>
      </p:sp>
    </p:spTree>
    <p:extLst>
      <p:ext uri="{BB962C8B-B14F-4D97-AF65-F5344CB8AC3E}">
        <p14:creationId xmlns:p14="http://schemas.microsoft.com/office/powerpoint/2010/main" val="412306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0A0F23"/>
        </a:solidFill>
        <a:effectLst/>
      </p:bgPr>
    </p:bg>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xmlns="" id="{CBDC52CD-1D62-48AF-A9DF-9F18AEA2B1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01385" y="-114300"/>
            <a:ext cx="1301859" cy="920356"/>
          </a:xfrm>
          <a:prstGeom prst="rect">
            <a:avLst/>
          </a:prstGeom>
        </p:spPr>
      </p:pic>
      <p:pic>
        <p:nvPicPr>
          <p:cNvPr id="14" name="图片 13">
            <a:extLst>
              <a:ext uri="{FF2B5EF4-FFF2-40B4-BE49-F238E27FC236}">
                <a16:creationId xmlns:a16="http://schemas.microsoft.com/office/drawing/2014/main" xmlns="" id="{F78DA958-9B1B-47DA-A870-8C0B3A7D8866}"/>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b="63537"/>
          <a:stretch/>
        </p:blipFill>
        <p:spPr>
          <a:xfrm>
            <a:off x="11184164" y="217733"/>
            <a:ext cx="572339" cy="337210"/>
          </a:xfrm>
          <a:prstGeom prst="rect">
            <a:avLst/>
          </a:prstGeom>
        </p:spPr>
      </p:pic>
      <p:cxnSp>
        <p:nvCxnSpPr>
          <p:cNvPr id="15" name="直接连接符 14">
            <a:extLst>
              <a:ext uri="{FF2B5EF4-FFF2-40B4-BE49-F238E27FC236}">
                <a16:creationId xmlns:a16="http://schemas.microsoft.com/office/drawing/2014/main" xmlns="" id="{93240A06-D526-4907-A163-94ABB41190CC}"/>
              </a:ext>
            </a:extLst>
          </p:cNvPr>
          <p:cNvCxnSpPr/>
          <p:nvPr/>
        </p:nvCxnSpPr>
        <p:spPr>
          <a:xfrm>
            <a:off x="11103244" y="225825"/>
            <a:ext cx="0" cy="2435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xmlns="" id="{74C59758-12AB-44A5-92FA-DB52904027AE}"/>
              </a:ext>
            </a:extLst>
          </p:cNvPr>
          <p:cNvSpPr/>
          <p:nvPr/>
        </p:nvSpPr>
        <p:spPr>
          <a:xfrm>
            <a:off x="802332" y="1287114"/>
            <a:ext cx="10765483" cy="2591479"/>
          </a:xfrm>
          <a:prstGeom prst="rect">
            <a:avLst/>
          </a:prstGeom>
        </p:spPr>
        <p:txBody>
          <a:bodyPr wrap="square">
            <a:spAutoFit/>
          </a:bodyPr>
          <a:lstStyle/>
          <a:p>
            <a:pPr>
              <a:lnSpc>
                <a:spcPct val="140000"/>
              </a:lnSpc>
            </a:pPr>
            <a:r>
              <a:rPr lang="en-US" altLang="zh-CN" dirty="0" err="1" smtClean="0">
                <a:solidFill>
                  <a:prstClr val="white"/>
                </a:solidFill>
                <a:latin typeface="微软雅黑" panose="020B0503020204020204" pitchFamily="34" charset="-122"/>
                <a:ea typeface="微软雅黑" panose="020B0503020204020204" pitchFamily="34" charset="-122"/>
              </a:rPr>
              <a:t>lua</a:t>
            </a:r>
            <a:r>
              <a:rPr lang="zh-CN" altLang="en-US" dirty="0" smtClean="0">
                <a:solidFill>
                  <a:prstClr val="white"/>
                </a:solidFill>
                <a:latin typeface="微软雅黑" panose="020B0503020204020204" pitchFamily="34" charset="-122"/>
                <a:ea typeface="微软雅黑" panose="020B0503020204020204" pitchFamily="34" charset="-122"/>
              </a:rPr>
              <a:t>脚本从客户端加载之后，或者使用</a:t>
            </a:r>
            <a:r>
              <a:rPr lang="en-US" altLang="zh-CN" dirty="0" smtClean="0">
                <a:solidFill>
                  <a:prstClr val="white"/>
                </a:solidFill>
                <a:latin typeface="微软雅黑" panose="020B0503020204020204" pitchFamily="34" charset="-122"/>
                <a:ea typeface="微软雅黑" panose="020B0503020204020204" pitchFamily="34" charset="-122"/>
              </a:rPr>
              <a:t>EVAL</a:t>
            </a:r>
            <a:r>
              <a:rPr lang="zh-CN" altLang="en-US" dirty="0" smtClean="0">
                <a:solidFill>
                  <a:prstClr val="white"/>
                </a:solidFill>
                <a:latin typeface="微软雅黑" panose="020B0503020204020204" pitchFamily="34" charset="-122"/>
                <a:ea typeface="微软雅黑" panose="020B0503020204020204" pitchFamily="34" charset="-122"/>
              </a:rPr>
              <a:t>命令计算，或者使用</a:t>
            </a:r>
            <a:r>
              <a:rPr lang="en-US" altLang="zh-CN" dirty="0" smtClean="0">
                <a:solidFill>
                  <a:prstClr val="white"/>
                </a:solidFill>
                <a:latin typeface="微软雅黑" panose="020B0503020204020204" pitchFamily="34" charset="-122"/>
                <a:ea typeface="微软雅黑" panose="020B0503020204020204" pitchFamily="34" charset="-122"/>
              </a:rPr>
              <a:t>EVALSHA</a:t>
            </a:r>
            <a:r>
              <a:rPr lang="zh-CN" altLang="en-US" dirty="0" smtClean="0">
                <a:solidFill>
                  <a:prstClr val="white"/>
                </a:solidFill>
                <a:latin typeface="微软雅黑" panose="020B0503020204020204" pitchFamily="34" charset="-122"/>
                <a:ea typeface="微软雅黑" panose="020B0503020204020204" pitchFamily="34" charset="-122"/>
              </a:rPr>
              <a:t>命令运行</a:t>
            </a:r>
            <a:r>
              <a:rPr lang="en-US" altLang="zh-CN" dirty="0" smtClean="0">
                <a:solidFill>
                  <a:prstClr val="white"/>
                </a:solidFill>
                <a:latin typeface="微软雅黑" panose="020B0503020204020204" pitchFamily="34" charset="-122"/>
                <a:ea typeface="微软雅黑" panose="020B0503020204020204" pitchFamily="34" charset="-122"/>
              </a:rPr>
              <a:t>SHA1</a:t>
            </a:r>
            <a:r>
              <a:rPr lang="zh-CN" altLang="en-US" dirty="0" smtClean="0">
                <a:solidFill>
                  <a:prstClr val="white"/>
                </a:solidFill>
                <a:latin typeface="微软雅黑" panose="020B0503020204020204" pitchFamily="34" charset="-122"/>
                <a:ea typeface="微软雅黑" panose="020B0503020204020204" pitchFamily="34" charset="-122"/>
              </a:rPr>
              <a:t>编码的</a:t>
            </a:r>
            <a:r>
              <a:rPr lang="en-US" altLang="zh-CN" dirty="0" err="1" smtClean="0">
                <a:solidFill>
                  <a:prstClr val="white"/>
                </a:solidFill>
                <a:latin typeface="微软雅黑" panose="020B0503020204020204" pitchFamily="34" charset="-122"/>
                <a:ea typeface="微软雅黑" panose="020B0503020204020204" pitchFamily="34" charset="-122"/>
              </a:rPr>
              <a:t>Lua</a:t>
            </a:r>
            <a:r>
              <a:rPr lang="zh-CN" altLang="en-US" dirty="0" smtClean="0">
                <a:solidFill>
                  <a:prstClr val="white"/>
                </a:solidFill>
                <a:latin typeface="微软雅黑" panose="020B0503020204020204" pitchFamily="34" charset="-122"/>
                <a:ea typeface="微软雅黑" panose="020B0503020204020204" pitchFamily="34" charset="-122"/>
              </a:rPr>
              <a:t>脚本</a:t>
            </a:r>
            <a:endParaRPr lang="en-US" altLang="zh-CN" dirty="0">
              <a:solidFill>
                <a:prstClr val="white"/>
              </a:solidFill>
              <a:latin typeface="微软雅黑" panose="020B0503020204020204" pitchFamily="34" charset="-122"/>
              <a:ea typeface="微软雅黑" panose="020B0503020204020204" pitchFamily="34" charset="-122"/>
            </a:endParaRPr>
          </a:p>
          <a:p>
            <a:pPr indent="457200">
              <a:lnSpc>
                <a:spcPct val="140000"/>
              </a:lnSpc>
            </a:pPr>
            <a:r>
              <a:rPr lang="en-US" altLang="zh-CN" sz="1600" dirty="0" smtClean="0">
                <a:solidFill>
                  <a:prstClr val="white"/>
                </a:solidFill>
                <a:latin typeface="微软雅黑" panose="020B0503020204020204" pitchFamily="34" charset="-122"/>
                <a:ea typeface="微软雅黑" panose="020B0503020204020204" pitchFamily="34" charset="-122"/>
              </a:rPr>
              <a:t>EVAL </a:t>
            </a:r>
            <a:r>
              <a:rPr lang="zh-CN" altLang="en-US" sz="1600" dirty="0" smtClean="0">
                <a:solidFill>
                  <a:prstClr val="white"/>
                </a:solidFill>
                <a:latin typeface="微软雅黑" panose="020B0503020204020204" pitchFamily="34" charset="-122"/>
                <a:ea typeface="微软雅黑" panose="020B0503020204020204" pitchFamily="34" charset="-122"/>
              </a:rPr>
              <a:t>命令语法如下：</a:t>
            </a:r>
            <a:endParaRPr lang="en-US" altLang="zh-CN" sz="1600" dirty="0" smtClean="0">
              <a:solidFill>
                <a:prstClr val="white"/>
              </a:solidFill>
              <a:latin typeface="微软雅黑" panose="020B0503020204020204" pitchFamily="34" charset="-122"/>
              <a:ea typeface="微软雅黑" panose="020B0503020204020204" pitchFamily="34" charset="-122"/>
            </a:endParaRPr>
          </a:p>
          <a:p>
            <a:pPr indent="457200">
              <a:lnSpc>
                <a:spcPct val="140000"/>
              </a:lnSpc>
            </a:pPr>
            <a:r>
              <a:rPr lang="en-US" altLang="zh-CN" sz="1600" dirty="0" smtClean="0">
                <a:solidFill>
                  <a:prstClr val="white"/>
                </a:solidFill>
                <a:latin typeface="微软雅黑" panose="020B0503020204020204" pitchFamily="34" charset="-122"/>
                <a:ea typeface="微软雅黑" panose="020B0503020204020204" pitchFamily="34" charset="-122"/>
              </a:rPr>
              <a:t>	EVAL </a:t>
            </a:r>
            <a:r>
              <a:rPr lang="en-US" altLang="zh-CN" sz="1600" dirty="0" err="1" smtClean="0">
                <a:solidFill>
                  <a:prstClr val="white"/>
                </a:solidFill>
                <a:latin typeface="微软雅黑" panose="020B0503020204020204" pitchFamily="34" charset="-122"/>
                <a:ea typeface="微软雅黑" panose="020B0503020204020204" pitchFamily="34" charset="-122"/>
              </a:rPr>
              <a:t>lua_script</a:t>
            </a:r>
            <a:r>
              <a:rPr lang="en-US" altLang="zh-CN" sz="1600" dirty="0" smtClean="0">
                <a:solidFill>
                  <a:prstClr val="white"/>
                </a:solidFill>
                <a:latin typeface="微软雅黑" panose="020B0503020204020204" pitchFamily="34" charset="-122"/>
                <a:ea typeface="微软雅黑" panose="020B0503020204020204" pitchFamily="34" charset="-122"/>
              </a:rPr>
              <a:t>  </a:t>
            </a:r>
            <a:r>
              <a:rPr lang="en-US" altLang="zh-CN" sz="1600" dirty="0" err="1" smtClean="0">
                <a:solidFill>
                  <a:prstClr val="white"/>
                </a:solidFill>
                <a:latin typeface="微软雅黑" panose="020B0503020204020204" pitchFamily="34" charset="-122"/>
                <a:ea typeface="微软雅黑" panose="020B0503020204020204" pitchFamily="34" charset="-122"/>
              </a:rPr>
              <a:t>number_of_keys</a:t>
            </a:r>
            <a:r>
              <a:rPr lang="en-US" altLang="zh-CN" sz="1600" dirty="0">
                <a:solidFill>
                  <a:prstClr val="white"/>
                </a:solidFill>
                <a:latin typeface="微软雅黑" panose="020B0503020204020204" pitchFamily="34" charset="-122"/>
                <a:ea typeface="微软雅黑" panose="020B0503020204020204" pitchFamily="34" charset="-122"/>
              </a:rPr>
              <a:t> </a:t>
            </a:r>
            <a:r>
              <a:rPr lang="en-US" altLang="zh-CN" sz="1600" dirty="0" smtClean="0">
                <a:solidFill>
                  <a:prstClr val="white"/>
                </a:solidFill>
                <a:latin typeface="微软雅黑" panose="020B0503020204020204" pitchFamily="34" charset="-122"/>
                <a:ea typeface="微软雅黑" panose="020B0503020204020204" pitchFamily="34" charset="-122"/>
              </a:rPr>
              <a:t> key [key …] </a:t>
            </a:r>
            <a:r>
              <a:rPr lang="en-US" altLang="zh-CN" sz="1600" dirty="0" err="1" smtClean="0">
                <a:solidFill>
                  <a:prstClr val="white"/>
                </a:solidFill>
                <a:latin typeface="微软雅黑" panose="020B0503020204020204" pitchFamily="34" charset="-122"/>
                <a:ea typeface="微软雅黑" panose="020B0503020204020204" pitchFamily="34" charset="-122"/>
              </a:rPr>
              <a:t>arg</a:t>
            </a:r>
            <a:r>
              <a:rPr lang="en-US" altLang="zh-CN" sz="1600" dirty="0" smtClean="0">
                <a:solidFill>
                  <a:prstClr val="white"/>
                </a:solidFill>
                <a:latin typeface="微软雅黑" panose="020B0503020204020204" pitchFamily="34" charset="-122"/>
                <a:ea typeface="微软雅黑" panose="020B0503020204020204" pitchFamily="34" charset="-122"/>
              </a:rPr>
              <a:t>, [</a:t>
            </a:r>
            <a:r>
              <a:rPr lang="en-US" altLang="zh-CN" sz="1600" dirty="0" err="1" smtClean="0">
                <a:solidFill>
                  <a:prstClr val="white"/>
                </a:solidFill>
                <a:latin typeface="微软雅黑" panose="020B0503020204020204" pitchFamily="34" charset="-122"/>
                <a:ea typeface="微软雅黑" panose="020B0503020204020204" pitchFamily="34" charset="-122"/>
              </a:rPr>
              <a:t>arg</a:t>
            </a:r>
            <a:r>
              <a:rPr lang="en-US" altLang="zh-CN" sz="1600" dirty="0" smtClean="0">
                <a:solidFill>
                  <a:prstClr val="white"/>
                </a:solidFill>
                <a:latin typeface="微软雅黑" panose="020B0503020204020204" pitchFamily="34" charset="-122"/>
                <a:ea typeface="微软雅黑" panose="020B0503020204020204" pitchFamily="34" charset="-122"/>
              </a:rPr>
              <a:t> …]</a:t>
            </a:r>
          </a:p>
          <a:p>
            <a:pPr marL="742950" lvl="1" indent="-285750">
              <a:lnSpc>
                <a:spcPct val="140000"/>
              </a:lnSpc>
              <a:buFont typeface="Arial" panose="020B0604020202020204" pitchFamily="34" charset="0"/>
              <a:buChar char="•"/>
            </a:pPr>
            <a:r>
              <a:rPr lang="en-US" altLang="zh-CN" sz="1600" dirty="0" err="1" smtClean="0">
                <a:solidFill>
                  <a:prstClr val="white"/>
                </a:solidFill>
                <a:latin typeface="微软雅黑" panose="020B0503020204020204" pitchFamily="34" charset="-122"/>
                <a:ea typeface="微软雅黑" panose="020B0503020204020204" pitchFamily="34" charset="-122"/>
              </a:rPr>
              <a:t>lua_script</a:t>
            </a:r>
            <a:r>
              <a:rPr lang="zh-CN" altLang="en-US" sz="1600" dirty="0" smtClean="0">
                <a:solidFill>
                  <a:prstClr val="white"/>
                </a:solidFill>
                <a:latin typeface="微软雅黑" panose="020B0503020204020204" pitchFamily="34" charset="-122"/>
                <a:ea typeface="微软雅黑" panose="020B0503020204020204" pitchFamily="34" charset="-122"/>
              </a:rPr>
              <a:t> 是</a:t>
            </a:r>
            <a:r>
              <a:rPr lang="zh-CN" altLang="en-US" sz="1600" dirty="0">
                <a:solidFill>
                  <a:prstClr val="white"/>
                </a:solidFill>
                <a:latin typeface="微软雅黑" panose="020B0503020204020204" pitchFamily="34" charset="-122"/>
                <a:ea typeface="微软雅黑" panose="020B0503020204020204" pitchFamily="34" charset="-122"/>
              </a:rPr>
              <a:t>第一</a:t>
            </a:r>
            <a:r>
              <a:rPr lang="zh-CN" altLang="en-US" sz="1600" dirty="0" smtClean="0">
                <a:solidFill>
                  <a:prstClr val="white"/>
                </a:solidFill>
                <a:latin typeface="微软雅黑" panose="020B0503020204020204" pitchFamily="34" charset="-122"/>
                <a:ea typeface="微软雅黑" panose="020B0503020204020204" pitchFamily="34" charset="-122"/>
              </a:rPr>
              <a:t>个参数</a:t>
            </a:r>
            <a:r>
              <a:rPr lang="en-US" altLang="zh-CN" sz="1600" dirty="0" err="1" smtClean="0">
                <a:solidFill>
                  <a:prstClr val="white"/>
                </a:solidFill>
                <a:latin typeface="微软雅黑" panose="020B0503020204020204" pitchFamily="34" charset="-122"/>
                <a:ea typeface="微软雅黑" panose="020B0503020204020204" pitchFamily="34" charset="-122"/>
              </a:rPr>
              <a:t>lua</a:t>
            </a:r>
            <a:r>
              <a:rPr lang="zh-CN" altLang="en-US" sz="1600" dirty="0" smtClean="0">
                <a:solidFill>
                  <a:prstClr val="white"/>
                </a:solidFill>
                <a:latin typeface="微软雅黑" panose="020B0503020204020204" pitchFamily="34" charset="-122"/>
                <a:ea typeface="微软雅黑" panose="020B0503020204020204" pitchFamily="34" charset="-122"/>
              </a:rPr>
              <a:t>脚本</a:t>
            </a:r>
            <a:endParaRPr lang="en-US" altLang="zh-CN" sz="1600" dirty="0" smtClean="0">
              <a:solidFill>
                <a:prstClr val="white"/>
              </a:solidFill>
              <a:latin typeface="微软雅黑" panose="020B0503020204020204" pitchFamily="34" charset="-122"/>
              <a:ea typeface="微软雅黑" panose="020B0503020204020204" pitchFamily="34" charset="-122"/>
            </a:endParaRPr>
          </a:p>
          <a:p>
            <a:pPr marL="742950" lvl="1" indent="-285750">
              <a:lnSpc>
                <a:spcPct val="140000"/>
              </a:lnSpc>
              <a:buFont typeface="Arial" panose="020B0604020202020204" pitchFamily="34" charset="0"/>
              <a:buChar char="•"/>
            </a:pPr>
            <a:r>
              <a:rPr lang="en-US" altLang="zh-CN" sz="1600" dirty="0" err="1" smtClean="0">
                <a:solidFill>
                  <a:prstClr val="white"/>
                </a:solidFill>
                <a:latin typeface="微软雅黑" panose="020B0503020204020204" pitchFamily="34" charset="-122"/>
                <a:ea typeface="微软雅黑" panose="020B0503020204020204" pitchFamily="34" charset="-122"/>
              </a:rPr>
              <a:t>number_of_keys</a:t>
            </a:r>
            <a:r>
              <a:rPr lang="en-US" altLang="zh-CN" sz="1600" dirty="0" smtClean="0">
                <a:solidFill>
                  <a:prstClr val="white"/>
                </a:solidFill>
                <a:latin typeface="微软雅黑" panose="020B0503020204020204" pitchFamily="34" charset="-122"/>
                <a:ea typeface="微软雅黑" panose="020B0503020204020204" pitchFamily="34" charset="-122"/>
              </a:rPr>
              <a:t> </a:t>
            </a:r>
            <a:r>
              <a:rPr lang="zh-CN" altLang="en-US" sz="1600" dirty="0" smtClean="0">
                <a:solidFill>
                  <a:prstClr val="white"/>
                </a:solidFill>
                <a:latin typeface="微软雅黑" panose="020B0503020204020204" pitchFamily="34" charset="-122"/>
                <a:ea typeface="微软雅黑" panose="020B0503020204020204" pitchFamily="34" charset="-122"/>
              </a:rPr>
              <a:t>是第二个参</a:t>
            </a:r>
            <a:r>
              <a:rPr lang="zh-CN" altLang="en-US" sz="1600" dirty="0">
                <a:solidFill>
                  <a:prstClr val="white"/>
                </a:solidFill>
                <a:latin typeface="微软雅黑" panose="020B0503020204020204" pitchFamily="34" charset="-122"/>
                <a:ea typeface="微软雅黑" panose="020B0503020204020204" pitchFamily="34" charset="-122"/>
              </a:rPr>
              <a:t>数</a:t>
            </a:r>
            <a:r>
              <a:rPr lang="zh-CN" altLang="en-US" sz="1600" dirty="0" smtClean="0">
                <a:solidFill>
                  <a:prstClr val="white"/>
                </a:solidFill>
                <a:latin typeface="微软雅黑" panose="020B0503020204020204" pitchFamily="34" charset="-122"/>
                <a:ea typeface="微软雅黑" panose="020B0503020204020204" pitchFamily="34" charset="-122"/>
              </a:rPr>
              <a:t>，指定后续参</a:t>
            </a:r>
            <a:r>
              <a:rPr lang="zh-CN" altLang="en-US" sz="1600" dirty="0">
                <a:solidFill>
                  <a:prstClr val="white"/>
                </a:solidFill>
                <a:latin typeface="微软雅黑" panose="020B0503020204020204" pitchFamily="34" charset="-122"/>
                <a:ea typeface="微软雅黑" panose="020B0503020204020204" pitchFamily="34" charset="-122"/>
              </a:rPr>
              <a:t>数有几个</a:t>
            </a:r>
            <a:r>
              <a:rPr lang="en-US" altLang="zh-CN" sz="1600" dirty="0" smtClean="0">
                <a:solidFill>
                  <a:prstClr val="white"/>
                </a:solidFill>
                <a:latin typeface="微软雅黑" panose="020B0503020204020204" pitchFamily="34" charset="-122"/>
                <a:ea typeface="微软雅黑" panose="020B0503020204020204" pitchFamily="34" charset="-122"/>
              </a:rPr>
              <a:t>key</a:t>
            </a:r>
          </a:p>
          <a:p>
            <a:pPr marL="742950" lvl="1" indent="-285750">
              <a:lnSpc>
                <a:spcPct val="140000"/>
              </a:lnSpc>
              <a:buFont typeface="Arial" panose="020B0604020202020204" pitchFamily="34" charset="0"/>
              <a:buChar char="•"/>
            </a:pPr>
            <a:r>
              <a:rPr lang="en-US" altLang="zh-CN" sz="1600" dirty="0">
                <a:solidFill>
                  <a:prstClr val="white"/>
                </a:solidFill>
                <a:latin typeface="微软雅黑" panose="020B0503020204020204" pitchFamily="34" charset="-122"/>
                <a:ea typeface="微软雅黑" panose="020B0503020204020204" pitchFamily="34" charset="-122"/>
              </a:rPr>
              <a:t>key [key </a:t>
            </a:r>
            <a:r>
              <a:rPr lang="en-US" altLang="zh-CN" sz="1600" dirty="0" smtClean="0">
                <a:solidFill>
                  <a:prstClr val="white"/>
                </a:solidFill>
                <a:latin typeface="微软雅黑" panose="020B0503020204020204" pitchFamily="34" charset="-122"/>
                <a:ea typeface="微软雅黑" panose="020B0503020204020204" pitchFamily="34" charset="-122"/>
              </a:rPr>
              <a:t>…]   </a:t>
            </a:r>
            <a:r>
              <a:rPr lang="zh-CN" altLang="en-US" sz="1600" dirty="0" smtClean="0">
                <a:solidFill>
                  <a:prstClr val="white"/>
                </a:solidFill>
                <a:latin typeface="微软雅黑" panose="020B0503020204020204" pitchFamily="34" charset="-122"/>
                <a:ea typeface="微软雅黑" panose="020B0503020204020204" pitchFamily="34" charset="-122"/>
              </a:rPr>
              <a:t>要操作的键，在</a:t>
            </a:r>
            <a:r>
              <a:rPr lang="en-US" altLang="zh-CN" sz="1600" dirty="0" err="1" smtClean="0">
                <a:solidFill>
                  <a:prstClr val="white"/>
                </a:solidFill>
                <a:latin typeface="微软雅黑" panose="020B0503020204020204" pitchFamily="34" charset="-122"/>
                <a:ea typeface="微软雅黑" panose="020B0503020204020204" pitchFamily="34" charset="-122"/>
              </a:rPr>
              <a:t>lua</a:t>
            </a:r>
            <a:r>
              <a:rPr lang="zh-CN" altLang="en-US" sz="1600" dirty="0" smtClean="0">
                <a:solidFill>
                  <a:prstClr val="white"/>
                </a:solidFill>
                <a:latin typeface="微软雅黑" panose="020B0503020204020204" pitchFamily="34" charset="-122"/>
                <a:ea typeface="微软雅黑" panose="020B0503020204020204" pitchFamily="34" charset="-122"/>
              </a:rPr>
              <a:t>脚本中，通过</a:t>
            </a:r>
            <a:r>
              <a:rPr lang="en-US" altLang="zh-CN" sz="1600" dirty="0" smtClean="0">
                <a:solidFill>
                  <a:prstClr val="white"/>
                </a:solidFill>
                <a:latin typeface="微软雅黑" panose="020B0503020204020204" pitchFamily="34" charset="-122"/>
                <a:ea typeface="微软雅黑" panose="020B0503020204020204" pitchFamily="34" charset="-122"/>
              </a:rPr>
              <a:t>KEYS[n]</a:t>
            </a:r>
            <a:r>
              <a:rPr lang="zh-CN" altLang="en-US" sz="1600" dirty="0" smtClean="0">
                <a:solidFill>
                  <a:prstClr val="white"/>
                </a:solidFill>
                <a:latin typeface="微软雅黑" panose="020B0503020204020204" pitchFamily="34" charset="-122"/>
                <a:ea typeface="微软雅黑" panose="020B0503020204020204" pitchFamily="34" charset="-122"/>
              </a:rPr>
              <a:t>获取。</a:t>
            </a:r>
            <a:r>
              <a:rPr lang="en-US" altLang="zh-CN" sz="1600" dirty="0" smtClean="0">
                <a:solidFill>
                  <a:prstClr val="white"/>
                </a:solidFill>
                <a:latin typeface="微软雅黑" panose="020B0503020204020204" pitchFamily="34" charset="-122"/>
                <a:ea typeface="微软雅黑" panose="020B0503020204020204" pitchFamily="34" charset="-122"/>
              </a:rPr>
              <a:t>(n</a:t>
            </a:r>
            <a:r>
              <a:rPr lang="zh-CN" altLang="en-US" sz="1600" dirty="0" smtClean="0">
                <a:solidFill>
                  <a:prstClr val="white"/>
                </a:solidFill>
                <a:latin typeface="微软雅黑" panose="020B0503020204020204" pitchFamily="34" charset="-122"/>
                <a:ea typeface="微软雅黑" panose="020B0503020204020204" pitchFamily="34" charset="-122"/>
              </a:rPr>
              <a:t>为</a:t>
            </a:r>
            <a:r>
              <a:rPr lang="en-US" altLang="zh-CN" sz="1600" dirty="0" smtClean="0">
                <a:solidFill>
                  <a:prstClr val="white"/>
                </a:solidFill>
                <a:latin typeface="微软雅黑" panose="020B0503020204020204" pitchFamily="34" charset="-122"/>
                <a:ea typeface="微软雅黑" panose="020B0503020204020204" pitchFamily="34" charset="-122"/>
              </a:rPr>
              <a:t> </a:t>
            </a:r>
            <a:r>
              <a:rPr lang="zh-CN" altLang="en-US" sz="1600" dirty="0" smtClean="0">
                <a:solidFill>
                  <a:prstClr val="white"/>
                </a:solidFill>
                <a:latin typeface="微软雅黑" panose="020B0503020204020204" pitchFamily="34" charset="-122"/>
                <a:ea typeface="微软雅黑" panose="020B0503020204020204" pitchFamily="34" charset="-122"/>
              </a:rPr>
              <a:t>正整数</a:t>
            </a:r>
            <a:r>
              <a:rPr lang="en-US" altLang="zh-CN" sz="1600" dirty="0" smtClean="0">
                <a:solidFill>
                  <a:prstClr val="white"/>
                </a:solidFill>
                <a:latin typeface="微软雅黑" panose="020B0503020204020204" pitchFamily="34" charset="-122"/>
                <a:ea typeface="微软雅黑" panose="020B0503020204020204" pitchFamily="34" charset="-122"/>
              </a:rPr>
              <a:t>)</a:t>
            </a:r>
            <a:endParaRPr lang="en-US" altLang="zh-CN" sz="1600" dirty="0">
              <a:solidFill>
                <a:prstClr val="white"/>
              </a:solidFill>
              <a:latin typeface="微软雅黑" panose="020B0503020204020204" pitchFamily="34" charset="-122"/>
              <a:ea typeface="微软雅黑" panose="020B0503020204020204" pitchFamily="34" charset="-122"/>
            </a:endParaRPr>
          </a:p>
          <a:p>
            <a:pPr marL="742950" lvl="1" indent="-285750">
              <a:lnSpc>
                <a:spcPct val="140000"/>
              </a:lnSpc>
              <a:buFont typeface="Arial" panose="020B0604020202020204" pitchFamily="34" charset="0"/>
              <a:buChar char="•"/>
            </a:pPr>
            <a:r>
              <a:rPr lang="en-US" altLang="zh-CN" sz="1600" dirty="0" err="1" smtClean="0">
                <a:solidFill>
                  <a:prstClr val="white"/>
                </a:solidFill>
                <a:latin typeface="微软雅黑" panose="020B0503020204020204" pitchFamily="34" charset="-122"/>
                <a:ea typeface="微软雅黑" panose="020B0503020204020204" pitchFamily="34" charset="-122"/>
              </a:rPr>
              <a:t>arg</a:t>
            </a:r>
            <a:r>
              <a:rPr lang="en-US" altLang="zh-CN" sz="1600" dirty="0" smtClean="0">
                <a:solidFill>
                  <a:prstClr val="white"/>
                </a:solidFill>
                <a:latin typeface="微软雅黑" panose="020B0503020204020204" pitchFamily="34" charset="-122"/>
                <a:ea typeface="微软雅黑" panose="020B0503020204020204" pitchFamily="34" charset="-122"/>
              </a:rPr>
              <a:t> </a:t>
            </a:r>
            <a:r>
              <a:rPr lang="en-US" altLang="zh-CN" sz="1600" dirty="0">
                <a:solidFill>
                  <a:prstClr val="white"/>
                </a:solidFill>
                <a:latin typeface="微软雅黑" panose="020B0503020204020204" pitchFamily="34" charset="-122"/>
                <a:ea typeface="微软雅黑" panose="020B0503020204020204" pitchFamily="34" charset="-122"/>
              </a:rPr>
              <a:t>[</a:t>
            </a:r>
            <a:r>
              <a:rPr lang="en-US" altLang="zh-CN" sz="1600" dirty="0" err="1">
                <a:solidFill>
                  <a:prstClr val="white"/>
                </a:solidFill>
                <a:latin typeface="微软雅黑" panose="020B0503020204020204" pitchFamily="34" charset="-122"/>
                <a:ea typeface="微软雅黑" panose="020B0503020204020204" pitchFamily="34" charset="-122"/>
              </a:rPr>
              <a:t>arg</a:t>
            </a:r>
            <a:r>
              <a:rPr lang="en-US" altLang="zh-CN" sz="1600" dirty="0">
                <a:solidFill>
                  <a:prstClr val="white"/>
                </a:solidFill>
                <a:latin typeface="微软雅黑" panose="020B0503020204020204" pitchFamily="34" charset="-122"/>
                <a:ea typeface="微软雅黑" panose="020B0503020204020204" pitchFamily="34" charset="-122"/>
              </a:rPr>
              <a:t> ...]</a:t>
            </a:r>
            <a:r>
              <a:rPr lang="zh-CN" altLang="en-US" sz="1600" dirty="0">
                <a:solidFill>
                  <a:prstClr val="white"/>
                </a:solidFill>
                <a:latin typeface="微软雅黑" panose="020B0503020204020204" pitchFamily="34" charset="-122"/>
                <a:ea typeface="微软雅黑" panose="020B0503020204020204" pitchFamily="34" charset="-122"/>
              </a:rPr>
              <a:t>，参数，在</a:t>
            </a:r>
            <a:r>
              <a:rPr lang="en-US" altLang="zh-CN" sz="1600" dirty="0" err="1">
                <a:solidFill>
                  <a:prstClr val="white"/>
                </a:solidFill>
                <a:latin typeface="微软雅黑" panose="020B0503020204020204" pitchFamily="34" charset="-122"/>
                <a:ea typeface="微软雅黑" panose="020B0503020204020204" pitchFamily="34" charset="-122"/>
              </a:rPr>
              <a:t>lua</a:t>
            </a:r>
            <a:r>
              <a:rPr lang="zh-CN" altLang="en-US" sz="1600" dirty="0">
                <a:solidFill>
                  <a:prstClr val="white"/>
                </a:solidFill>
                <a:latin typeface="微软雅黑" panose="020B0503020204020204" pitchFamily="34" charset="-122"/>
                <a:ea typeface="微软雅黑" panose="020B0503020204020204" pitchFamily="34" charset="-122"/>
              </a:rPr>
              <a:t>脚本中通过</a:t>
            </a:r>
            <a:r>
              <a:rPr lang="en-US" altLang="zh-CN" sz="1600" b="1" dirty="0">
                <a:solidFill>
                  <a:srgbClr val="FFD343"/>
                </a:solidFill>
                <a:latin typeface="微软雅黑" panose="020B0503020204020204" pitchFamily="34" charset="-122"/>
                <a:ea typeface="微软雅黑" panose="020B0503020204020204" pitchFamily="34" charset="-122"/>
              </a:rPr>
              <a:t>ARGV[n]</a:t>
            </a:r>
            <a:r>
              <a:rPr lang="zh-CN" altLang="en-US" sz="1600" dirty="0" smtClean="0">
                <a:solidFill>
                  <a:prstClr val="white"/>
                </a:solidFill>
                <a:latin typeface="微软雅黑" panose="020B0503020204020204" pitchFamily="34" charset="-122"/>
                <a:ea typeface="微软雅黑" panose="020B0503020204020204" pitchFamily="34" charset="-122"/>
              </a:rPr>
              <a:t>获取。（</a:t>
            </a:r>
            <a:r>
              <a:rPr lang="en-US" altLang="zh-CN" sz="1600" dirty="0">
                <a:solidFill>
                  <a:prstClr val="white"/>
                </a:solidFill>
                <a:latin typeface="微软雅黑" panose="020B0503020204020204" pitchFamily="34" charset="-122"/>
                <a:ea typeface="微软雅黑" panose="020B0503020204020204" pitchFamily="34" charset="-122"/>
              </a:rPr>
              <a:t> n </a:t>
            </a:r>
            <a:r>
              <a:rPr lang="zh-CN" altLang="en-US" sz="1600" dirty="0" smtClean="0">
                <a:solidFill>
                  <a:prstClr val="white"/>
                </a:solidFill>
                <a:latin typeface="微软雅黑" panose="020B0503020204020204" pitchFamily="34" charset="-122"/>
                <a:ea typeface="微软雅黑" panose="020B0503020204020204" pitchFamily="34" charset="-122"/>
              </a:rPr>
              <a:t>为正</a:t>
            </a:r>
            <a:r>
              <a:rPr lang="zh-CN" altLang="en-US" sz="1600" dirty="0">
                <a:solidFill>
                  <a:prstClr val="white"/>
                </a:solidFill>
                <a:latin typeface="微软雅黑" panose="020B0503020204020204" pitchFamily="34" charset="-122"/>
                <a:ea typeface="微软雅黑" panose="020B0503020204020204" pitchFamily="34" charset="-122"/>
              </a:rPr>
              <a:t>整数</a:t>
            </a:r>
            <a:r>
              <a:rPr lang="zh-CN" altLang="en-US" sz="1600" dirty="0" smtClean="0">
                <a:solidFill>
                  <a:prstClr val="white"/>
                </a:solidFill>
                <a:latin typeface="微软雅黑" panose="020B0503020204020204" pitchFamily="34" charset="-122"/>
                <a:ea typeface="微软雅黑" panose="020B0503020204020204" pitchFamily="34" charset="-122"/>
              </a:rPr>
              <a:t>）</a:t>
            </a:r>
            <a:r>
              <a:rPr lang="en-US" altLang="zh-CN" sz="1600" dirty="0" smtClean="0">
                <a:solidFill>
                  <a:prstClr val="white"/>
                </a:solidFill>
                <a:latin typeface="微软雅黑" panose="020B0503020204020204" pitchFamily="34" charset="-122"/>
                <a:ea typeface="微软雅黑" panose="020B0503020204020204" pitchFamily="34" charset="-122"/>
              </a:rPr>
              <a:t>【</a:t>
            </a:r>
            <a:r>
              <a:rPr lang="zh-CN" altLang="en-US" sz="1600" dirty="0" smtClean="0">
                <a:solidFill>
                  <a:prstClr val="white"/>
                </a:solidFill>
                <a:latin typeface="微软雅黑" panose="020B0503020204020204" pitchFamily="34" charset="-122"/>
                <a:ea typeface="微软雅黑" panose="020B0503020204020204" pitchFamily="34" charset="-122"/>
              </a:rPr>
              <a:t>注意：</a:t>
            </a:r>
            <a:r>
              <a:rPr lang="en-US" altLang="zh-CN" b="1" dirty="0" err="1">
                <a:solidFill>
                  <a:srgbClr val="FFD343"/>
                </a:solidFill>
                <a:latin typeface="微软雅黑" panose="020B0503020204020204" pitchFamily="34" charset="-122"/>
                <a:ea typeface="微软雅黑" panose="020B0503020204020204" pitchFamily="34" charset="-122"/>
              </a:rPr>
              <a:t>lua</a:t>
            </a:r>
            <a:r>
              <a:rPr lang="zh-CN" altLang="en-US" b="1" dirty="0">
                <a:solidFill>
                  <a:srgbClr val="FFD343"/>
                </a:solidFill>
                <a:latin typeface="微软雅黑" panose="020B0503020204020204" pitchFamily="34" charset="-122"/>
                <a:ea typeface="微软雅黑" panose="020B0503020204020204" pitchFamily="34" charset="-122"/>
              </a:rPr>
              <a:t>数组的下表从</a:t>
            </a:r>
            <a:r>
              <a:rPr lang="en-US" altLang="zh-CN" b="1" dirty="0">
                <a:solidFill>
                  <a:srgbClr val="FFD343"/>
                </a:solidFill>
                <a:latin typeface="微软雅黑" panose="020B0503020204020204" pitchFamily="34" charset="-122"/>
                <a:ea typeface="微软雅黑" panose="020B0503020204020204" pitchFamily="34" charset="-122"/>
              </a:rPr>
              <a:t>1</a:t>
            </a:r>
            <a:r>
              <a:rPr lang="zh-CN" altLang="en-US" b="1" dirty="0">
                <a:solidFill>
                  <a:srgbClr val="FFD343"/>
                </a:solidFill>
                <a:latin typeface="微软雅黑" panose="020B0503020204020204" pitchFamily="34" charset="-122"/>
                <a:ea typeface="微软雅黑" panose="020B0503020204020204" pitchFamily="34" charset="-122"/>
              </a:rPr>
              <a:t>开始</a:t>
            </a:r>
            <a:r>
              <a:rPr lang="en-US" altLang="zh-CN" sz="1600" dirty="0">
                <a:solidFill>
                  <a:prstClr val="white"/>
                </a:solidFill>
                <a:latin typeface="微软雅黑" panose="020B0503020204020204" pitchFamily="34" charset="-122"/>
                <a:ea typeface="微软雅黑" panose="020B0503020204020204" pitchFamily="34" charset="-122"/>
              </a:rPr>
              <a:t>】</a:t>
            </a:r>
            <a:endParaRPr lang="zh-CN" altLang="en-US" sz="1600" dirty="0">
              <a:solidFill>
                <a:prstClr val="white"/>
              </a:solidFill>
              <a:latin typeface="微软雅黑" panose="020B0503020204020204" pitchFamily="34" charset="-122"/>
              <a:ea typeface="微软雅黑" panose="020B0503020204020204" pitchFamily="34" charset="-122"/>
            </a:endParaRPr>
          </a:p>
        </p:txBody>
      </p:sp>
      <p:sp>
        <p:nvSpPr>
          <p:cNvPr id="10" name="TextBox 9"/>
          <p:cNvSpPr txBox="1"/>
          <p:nvPr/>
        </p:nvSpPr>
        <p:spPr>
          <a:xfrm>
            <a:off x="704850" y="605109"/>
            <a:ext cx="8883650" cy="523220"/>
          </a:xfrm>
          <a:prstGeom prst="rect">
            <a:avLst/>
          </a:prstGeom>
          <a:noFill/>
        </p:spPr>
        <p:txBody>
          <a:bodyPr wrap="square" rtlCol="0">
            <a:spAutoFit/>
          </a:bodyPr>
          <a:lstStyle/>
          <a:p>
            <a:pPr>
              <a:defRPr/>
            </a:pPr>
            <a:r>
              <a:rPr lang="en-US" altLang="zh-CN"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4.3.2 </a:t>
            </a:r>
            <a:r>
              <a:rPr lang="en-US" altLang="zh-CN" sz="2800" b="1" dirty="0" err="1">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lua</a:t>
            </a:r>
            <a:r>
              <a:rPr lang="zh-CN" altLang="en-US"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脚本使用</a:t>
            </a:r>
          </a:p>
        </p:txBody>
      </p:sp>
      <p:sp>
        <p:nvSpPr>
          <p:cNvPr id="2" name="文本框 1"/>
          <p:cNvSpPr txBox="1"/>
          <p:nvPr/>
        </p:nvSpPr>
        <p:spPr>
          <a:xfrm>
            <a:off x="1115907" y="4096592"/>
            <a:ext cx="10451908" cy="2554545"/>
          </a:xfrm>
          <a:prstGeom prst="rect">
            <a:avLst/>
          </a:prstGeom>
          <a:noFill/>
          <a:ln>
            <a:solidFill>
              <a:schemeClr val="bg1"/>
            </a:solidFill>
          </a:ln>
        </p:spPr>
        <p:txBody>
          <a:bodyPr wrap="square" rtlCol="0">
            <a:spAutoFit/>
          </a:bodyPr>
          <a:lstStyle/>
          <a:p>
            <a:r>
              <a:rPr lang="en-US" altLang="zh-CN" sz="1600" dirty="0">
                <a:solidFill>
                  <a:schemeClr val="accent1"/>
                </a:solidFill>
                <a:latin typeface="微软雅黑" panose="020B0503020204020204" pitchFamily="34" charset="-122"/>
                <a:ea typeface="微软雅黑" panose="020B0503020204020204" pitchFamily="34" charset="-122"/>
              </a:rPr>
              <a:t># 0</a:t>
            </a:r>
            <a:r>
              <a:rPr lang="zh-CN" altLang="en-US" sz="1600" dirty="0">
                <a:solidFill>
                  <a:schemeClr val="accent1"/>
                </a:solidFill>
                <a:latin typeface="微软雅黑" panose="020B0503020204020204" pitchFamily="34" charset="-122"/>
                <a:ea typeface="微软雅黑" panose="020B0503020204020204" pitchFamily="34" charset="-122"/>
              </a:rPr>
              <a:t>个</a:t>
            </a:r>
            <a:r>
              <a:rPr lang="en-US" altLang="zh-CN" sz="1600" dirty="0">
                <a:solidFill>
                  <a:schemeClr val="accent1"/>
                </a:solidFill>
                <a:latin typeface="微软雅黑" panose="020B0503020204020204" pitchFamily="34" charset="-122"/>
                <a:ea typeface="微软雅黑" panose="020B0503020204020204" pitchFamily="34" charset="-122"/>
              </a:rPr>
              <a:t>key</a:t>
            </a:r>
            <a:r>
              <a:rPr lang="zh-CN" altLang="en-US" sz="1600" dirty="0">
                <a:solidFill>
                  <a:schemeClr val="accent1"/>
                </a:solidFill>
                <a:latin typeface="微软雅黑" panose="020B0503020204020204" pitchFamily="34" charset="-122"/>
                <a:ea typeface="微软雅黑" panose="020B0503020204020204" pitchFamily="34" charset="-122"/>
              </a:rPr>
              <a:t>，</a:t>
            </a:r>
            <a:r>
              <a:rPr lang="en-US" altLang="zh-CN" sz="1600" dirty="0">
                <a:solidFill>
                  <a:schemeClr val="accent1"/>
                </a:solidFill>
                <a:latin typeface="微软雅黑" panose="020B0503020204020204" pitchFamily="34" charset="-122"/>
                <a:ea typeface="微软雅黑" panose="020B0503020204020204" pitchFamily="34" charset="-122"/>
              </a:rPr>
              <a:t>1</a:t>
            </a:r>
            <a:r>
              <a:rPr lang="zh-CN" altLang="en-US" sz="1600" dirty="0">
                <a:solidFill>
                  <a:schemeClr val="accent1"/>
                </a:solidFill>
                <a:latin typeface="微软雅黑" panose="020B0503020204020204" pitchFamily="34" charset="-122"/>
                <a:ea typeface="微软雅黑" panose="020B0503020204020204" pitchFamily="34" charset="-122"/>
              </a:rPr>
              <a:t>个</a:t>
            </a:r>
            <a:r>
              <a:rPr lang="en-US" altLang="zh-CN" sz="1600" dirty="0" err="1">
                <a:solidFill>
                  <a:schemeClr val="accent1"/>
                </a:solidFill>
                <a:latin typeface="微软雅黑" panose="020B0503020204020204" pitchFamily="34" charset="-122"/>
                <a:ea typeface="微软雅黑" panose="020B0503020204020204" pitchFamily="34" charset="-122"/>
              </a:rPr>
              <a:t>arg</a:t>
            </a:r>
            <a:r>
              <a:rPr lang="zh-CN" altLang="en-US" sz="1600" dirty="0">
                <a:solidFill>
                  <a:schemeClr val="accent1"/>
                </a:solidFill>
                <a:latin typeface="微软雅黑" panose="020B0503020204020204" pitchFamily="34" charset="-122"/>
                <a:ea typeface="微软雅黑" panose="020B0503020204020204" pitchFamily="34" charset="-122"/>
              </a:rPr>
              <a:t>，脚本直接返回第一个</a:t>
            </a:r>
            <a:r>
              <a:rPr lang="en-US" altLang="zh-CN" sz="1600" dirty="0" err="1">
                <a:solidFill>
                  <a:schemeClr val="accent1"/>
                </a:solidFill>
                <a:latin typeface="微软雅黑" panose="020B0503020204020204" pitchFamily="34" charset="-122"/>
                <a:ea typeface="微软雅黑" panose="020B0503020204020204" pitchFamily="34" charset="-122"/>
              </a:rPr>
              <a:t>args</a:t>
            </a:r>
            <a:endParaRPr lang="en-US" altLang="zh-CN" sz="1600" dirty="0">
              <a:solidFill>
                <a:schemeClr val="accent1"/>
              </a:solidFill>
              <a:latin typeface="微软雅黑" panose="020B0503020204020204" pitchFamily="34" charset="-122"/>
              <a:ea typeface="微软雅黑" panose="020B0503020204020204" pitchFamily="34" charset="-122"/>
            </a:endParaRPr>
          </a:p>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eval</a:t>
            </a:r>
            <a:r>
              <a:rPr lang="en-US" altLang="zh-CN" sz="1600" dirty="0">
                <a:solidFill>
                  <a:srgbClr val="FF0000"/>
                </a:solidFill>
                <a:latin typeface="微软雅黑" panose="020B0503020204020204" pitchFamily="34" charset="-122"/>
                <a:ea typeface="微软雅黑" panose="020B0503020204020204" pitchFamily="34" charset="-122"/>
              </a:rPr>
              <a:t> </a:t>
            </a:r>
            <a:r>
              <a:rPr lang="en-US" altLang="zh-CN" sz="1600" dirty="0">
                <a:solidFill>
                  <a:schemeClr val="accent6"/>
                </a:solidFill>
                <a:latin typeface="微软雅黑" panose="020B0503020204020204" pitchFamily="34" charset="-122"/>
                <a:ea typeface="微软雅黑" panose="020B0503020204020204" pitchFamily="34" charset="-122"/>
              </a:rPr>
              <a:t>"return ARGV[1]" 0 </a:t>
            </a:r>
            <a:r>
              <a:rPr lang="en-US" altLang="zh-CN" sz="1600" dirty="0" err="1">
                <a:solidFill>
                  <a:schemeClr val="accent6"/>
                </a:solidFill>
                <a:latin typeface="微软雅黑" panose="020B0503020204020204" pitchFamily="34" charset="-122"/>
                <a:ea typeface="微软雅黑" panose="020B0503020204020204" pitchFamily="34" charset="-122"/>
              </a:rPr>
              <a:t>helloworld</a:t>
            </a:r>
            <a:r>
              <a:rPr lang="en-US" altLang="zh-CN" sz="1600" dirty="0">
                <a:solidFill>
                  <a:schemeClr val="accent6"/>
                </a:solidFill>
                <a:latin typeface="微软雅黑" panose="020B0503020204020204" pitchFamily="34" charset="-122"/>
                <a:ea typeface="微软雅黑" panose="020B0503020204020204" pitchFamily="34" charset="-122"/>
              </a:rPr>
              <a:t>    </a:t>
            </a:r>
          </a:p>
          <a:p>
            <a:r>
              <a:rPr lang="en-US" altLang="zh-CN" sz="1600" dirty="0" err="1">
                <a:solidFill>
                  <a:schemeClr val="accent6"/>
                </a:solidFill>
                <a:latin typeface="微软雅黑" panose="020B0503020204020204" pitchFamily="34" charset="-122"/>
                <a:ea typeface="微软雅黑" panose="020B0503020204020204" pitchFamily="34" charset="-122"/>
              </a:rPr>
              <a:t>helloworld</a:t>
            </a:r>
            <a:endParaRPr lang="en-US" altLang="zh-CN" sz="1600" dirty="0">
              <a:solidFill>
                <a:schemeClr val="accent6"/>
              </a:solidFill>
              <a:latin typeface="微软雅黑" panose="020B0503020204020204" pitchFamily="34" charset="-122"/>
              <a:ea typeface="微软雅黑" panose="020B0503020204020204" pitchFamily="34" charset="-122"/>
            </a:endParaRPr>
          </a:p>
          <a:p>
            <a:r>
              <a:rPr lang="en-US" altLang="zh-CN" sz="1600" dirty="0">
                <a:solidFill>
                  <a:schemeClr val="accent1"/>
                </a:solidFill>
                <a:latin typeface="微软雅黑" panose="020B0503020204020204" pitchFamily="34" charset="-122"/>
                <a:ea typeface="微软雅黑" panose="020B0503020204020204" pitchFamily="34" charset="-122"/>
              </a:rPr>
              <a:t># </a:t>
            </a:r>
            <a:r>
              <a:rPr lang="en-US" altLang="zh-CN" sz="1600" dirty="0" err="1">
                <a:solidFill>
                  <a:schemeClr val="accent1"/>
                </a:solidFill>
                <a:latin typeface="微软雅黑" panose="020B0503020204020204" pitchFamily="34" charset="-122"/>
                <a:ea typeface="微软雅黑" panose="020B0503020204020204" pitchFamily="34" charset="-122"/>
              </a:rPr>
              <a:t>lua</a:t>
            </a:r>
            <a:r>
              <a:rPr lang="zh-CN" altLang="en-US" sz="1600" dirty="0">
                <a:solidFill>
                  <a:schemeClr val="accent1"/>
                </a:solidFill>
                <a:latin typeface="微软雅黑" panose="020B0503020204020204" pitchFamily="34" charset="-122"/>
                <a:ea typeface="微软雅黑" panose="020B0503020204020204" pitchFamily="34" charset="-122"/>
              </a:rPr>
              <a:t>可以返回多个参数</a:t>
            </a:r>
          </a:p>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eval</a:t>
            </a:r>
            <a:r>
              <a:rPr lang="en-US" altLang="zh-CN" sz="1600" dirty="0">
                <a:solidFill>
                  <a:srgbClr val="FF0000"/>
                </a:solidFill>
                <a:latin typeface="微软雅黑" panose="020B0503020204020204" pitchFamily="34" charset="-122"/>
                <a:ea typeface="微软雅黑" panose="020B0503020204020204" pitchFamily="34" charset="-122"/>
              </a:rPr>
              <a:t> </a:t>
            </a:r>
            <a:r>
              <a:rPr lang="en-US" altLang="zh-CN" sz="1600" dirty="0">
                <a:solidFill>
                  <a:schemeClr val="accent6"/>
                </a:solidFill>
                <a:latin typeface="微软雅黑" panose="020B0503020204020204" pitchFamily="34" charset="-122"/>
                <a:ea typeface="微软雅黑" panose="020B0503020204020204" pitchFamily="34" charset="-122"/>
              </a:rPr>
              <a:t>"return {ARGV[1],ARGV[2]}" 0 100 101</a:t>
            </a:r>
          </a:p>
          <a:p>
            <a:r>
              <a:rPr lang="en-US" altLang="zh-CN" sz="1600" dirty="0">
                <a:solidFill>
                  <a:schemeClr val="accent6"/>
                </a:solidFill>
                <a:latin typeface="微软雅黑" panose="020B0503020204020204" pitchFamily="34" charset="-122"/>
                <a:ea typeface="微软雅黑" panose="020B0503020204020204" pitchFamily="34" charset="-122"/>
              </a:rPr>
              <a:t>1) "100"</a:t>
            </a:r>
          </a:p>
          <a:p>
            <a:r>
              <a:rPr lang="en-US" altLang="zh-CN" sz="1600" dirty="0">
                <a:solidFill>
                  <a:schemeClr val="accent6"/>
                </a:solidFill>
                <a:latin typeface="微软雅黑" panose="020B0503020204020204" pitchFamily="34" charset="-122"/>
                <a:ea typeface="微软雅黑" panose="020B0503020204020204" pitchFamily="34" charset="-122"/>
              </a:rPr>
              <a:t>2) "101"</a:t>
            </a:r>
          </a:p>
          <a:p>
            <a:r>
              <a:rPr lang="en-US" altLang="zh-CN" sz="1600" dirty="0">
                <a:solidFill>
                  <a:schemeClr val="accent1"/>
                </a:solidFill>
                <a:latin typeface="微软雅黑" panose="020B0503020204020204" pitchFamily="34" charset="-122"/>
                <a:ea typeface="微软雅黑" panose="020B0503020204020204" pitchFamily="34" charset="-122"/>
              </a:rPr>
              <a:t># </a:t>
            </a:r>
            <a:r>
              <a:rPr lang="zh-CN" altLang="en-US" sz="1600" dirty="0">
                <a:solidFill>
                  <a:schemeClr val="accent1"/>
                </a:solidFill>
                <a:latin typeface="微软雅黑" panose="020B0503020204020204" pitchFamily="34" charset="-122"/>
                <a:ea typeface="微软雅黑" panose="020B0503020204020204" pitchFamily="34" charset="-122"/>
              </a:rPr>
              <a:t>加入判断逻辑，如果输入的</a:t>
            </a:r>
            <a:r>
              <a:rPr lang="en-US" altLang="zh-CN" sz="1600" dirty="0">
                <a:solidFill>
                  <a:schemeClr val="accent1"/>
                </a:solidFill>
                <a:latin typeface="微软雅黑" panose="020B0503020204020204" pitchFamily="34" charset="-122"/>
                <a:ea typeface="微软雅黑" panose="020B0503020204020204" pitchFamily="34" charset="-122"/>
              </a:rPr>
              <a:t>key</a:t>
            </a:r>
            <a:r>
              <a:rPr lang="zh-CN" altLang="en-US" sz="1600" dirty="0">
                <a:solidFill>
                  <a:schemeClr val="accent1"/>
                </a:solidFill>
                <a:latin typeface="微软雅黑" panose="020B0503020204020204" pitchFamily="34" charset="-122"/>
                <a:ea typeface="微软雅黑" panose="020B0503020204020204" pitchFamily="34" charset="-122"/>
              </a:rPr>
              <a:t>等于</a:t>
            </a:r>
            <a:r>
              <a:rPr lang="en-US" altLang="zh-CN" sz="1600" dirty="0">
                <a:solidFill>
                  <a:schemeClr val="accent1"/>
                </a:solidFill>
                <a:latin typeface="微软雅黑" panose="020B0503020204020204" pitchFamily="34" charset="-122"/>
                <a:ea typeface="微软雅黑" panose="020B0503020204020204" pitchFamily="34" charset="-122"/>
              </a:rPr>
              <a:t>key1,</a:t>
            </a:r>
            <a:r>
              <a:rPr lang="zh-CN" altLang="en-US" sz="1600" dirty="0">
                <a:solidFill>
                  <a:schemeClr val="accent1"/>
                </a:solidFill>
                <a:latin typeface="微软雅黑" panose="020B0503020204020204" pitchFamily="34" charset="-122"/>
                <a:ea typeface="微软雅黑" panose="020B0503020204020204" pitchFamily="34" charset="-122"/>
              </a:rPr>
              <a:t>则返回第一个参数，等于</a:t>
            </a:r>
            <a:r>
              <a:rPr lang="en-US" altLang="zh-CN" sz="1600" dirty="0">
                <a:solidFill>
                  <a:schemeClr val="accent1"/>
                </a:solidFill>
                <a:latin typeface="微软雅黑" panose="020B0503020204020204" pitchFamily="34" charset="-122"/>
                <a:ea typeface="微软雅黑" panose="020B0503020204020204" pitchFamily="34" charset="-122"/>
              </a:rPr>
              <a:t>key2</a:t>
            </a:r>
            <a:r>
              <a:rPr lang="zh-CN" altLang="en-US" sz="1600" dirty="0">
                <a:solidFill>
                  <a:schemeClr val="accent1"/>
                </a:solidFill>
                <a:latin typeface="微软雅黑" panose="020B0503020204020204" pitchFamily="34" charset="-122"/>
                <a:ea typeface="微软雅黑" panose="020B0503020204020204" pitchFamily="34" charset="-122"/>
              </a:rPr>
              <a:t>则返回第二个参数</a:t>
            </a:r>
          </a:p>
          <a:p>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err="1">
                <a:solidFill>
                  <a:srgbClr val="FFD343"/>
                </a:solidFill>
                <a:latin typeface="微软雅黑" panose="020B0503020204020204" pitchFamily="34" charset="-122"/>
                <a:ea typeface="微软雅黑" panose="020B0503020204020204" pitchFamily="34" charset="-122"/>
              </a:rPr>
              <a:t>eval</a:t>
            </a:r>
            <a:r>
              <a:rPr lang="en-US" altLang="zh-CN" sz="1600" dirty="0">
                <a:solidFill>
                  <a:srgbClr val="FF0000"/>
                </a:solidFill>
                <a:latin typeface="微软雅黑" panose="020B0503020204020204" pitchFamily="34" charset="-122"/>
                <a:ea typeface="微软雅黑" panose="020B0503020204020204" pitchFamily="34" charset="-122"/>
              </a:rPr>
              <a:t> </a:t>
            </a:r>
            <a:r>
              <a:rPr lang="en-US" altLang="zh-CN" sz="1600" dirty="0">
                <a:solidFill>
                  <a:schemeClr val="accent6"/>
                </a:solidFill>
                <a:latin typeface="微软雅黑" panose="020B0503020204020204" pitchFamily="34" charset="-122"/>
                <a:ea typeface="微软雅黑" panose="020B0503020204020204" pitchFamily="34" charset="-122"/>
              </a:rPr>
              <a:t>" if KEYS[1] = 'key1' then return ARGV[1]  else return ARGV[2] " 1 key1 first second</a:t>
            </a:r>
          </a:p>
          <a:p>
            <a:r>
              <a:rPr lang="en-US" altLang="zh-CN" sz="1600" dirty="0">
                <a:solidFill>
                  <a:schemeClr val="accent6"/>
                </a:solidFill>
                <a:latin typeface="微软雅黑" panose="020B0503020204020204" pitchFamily="34" charset="-122"/>
                <a:ea typeface="微软雅黑" panose="020B0503020204020204" pitchFamily="34" charset="-122"/>
              </a:rPr>
              <a:t>first</a:t>
            </a:r>
            <a:endParaRPr lang="zh-CN" altLang="en-US" sz="1600" dirty="0" smtClean="0">
              <a:solidFill>
                <a:schemeClr val="accent6"/>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180005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1+#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0A0F23"/>
        </a:solidFill>
        <a:effectLst/>
      </p:bgPr>
    </p:bg>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xmlns="" id="{CBDC52CD-1D62-48AF-A9DF-9F18AEA2B1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01385" y="-114300"/>
            <a:ext cx="1301859" cy="920356"/>
          </a:xfrm>
          <a:prstGeom prst="rect">
            <a:avLst/>
          </a:prstGeom>
        </p:spPr>
      </p:pic>
      <p:pic>
        <p:nvPicPr>
          <p:cNvPr id="14" name="图片 13">
            <a:extLst>
              <a:ext uri="{FF2B5EF4-FFF2-40B4-BE49-F238E27FC236}">
                <a16:creationId xmlns:a16="http://schemas.microsoft.com/office/drawing/2014/main" xmlns="" id="{F78DA958-9B1B-47DA-A870-8C0B3A7D8866}"/>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b="63537"/>
          <a:stretch/>
        </p:blipFill>
        <p:spPr>
          <a:xfrm>
            <a:off x="11184164" y="217733"/>
            <a:ext cx="572339" cy="337210"/>
          </a:xfrm>
          <a:prstGeom prst="rect">
            <a:avLst/>
          </a:prstGeom>
        </p:spPr>
      </p:pic>
      <p:cxnSp>
        <p:nvCxnSpPr>
          <p:cNvPr id="15" name="直接连接符 14">
            <a:extLst>
              <a:ext uri="{FF2B5EF4-FFF2-40B4-BE49-F238E27FC236}">
                <a16:creationId xmlns:a16="http://schemas.microsoft.com/office/drawing/2014/main" xmlns="" id="{93240A06-D526-4907-A163-94ABB41190CC}"/>
              </a:ext>
            </a:extLst>
          </p:cNvPr>
          <p:cNvCxnSpPr/>
          <p:nvPr/>
        </p:nvCxnSpPr>
        <p:spPr>
          <a:xfrm>
            <a:off x="11103244" y="225825"/>
            <a:ext cx="0" cy="2435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xmlns="" id="{74C59758-12AB-44A5-92FA-DB52904027AE}"/>
              </a:ext>
            </a:extLst>
          </p:cNvPr>
          <p:cNvSpPr/>
          <p:nvPr/>
        </p:nvSpPr>
        <p:spPr>
          <a:xfrm>
            <a:off x="802332" y="1287114"/>
            <a:ext cx="10765483" cy="2548390"/>
          </a:xfrm>
          <a:prstGeom prst="rect">
            <a:avLst/>
          </a:prstGeom>
        </p:spPr>
        <p:txBody>
          <a:bodyPr wrap="square">
            <a:spAutoFit/>
          </a:bodyPr>
          <a:lstStyle/>
          <a:p>
            <a:pPr lvl="0" indent="457200">
              <a:lnSpc>
                <a:spcPct val="140000"/>
              </a:lnSpc>
            </a:pPr>
            <a:r>
              <a:rPr kumimoji="0" lang="zh-CN" altLang="en-US"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rPr>
              <a:t>使用</a:t>
            </a:r>
            <a:r>
              <a:rPr kumimoji="0" lang="en-US" altLang="zh-CN" b="0" i="0" u="none" strike="noStrike" kern="1200" cap="none" spc="0" normalizeH="0" baseline="0" noProof="0" dirty="0" err="1" smtClean="0">
                <a:ln>
                  <a:noFill/>
                </a:ln>
                <a:solidFill>
                  <a:prstClr val="white"/>
                </a:solidFill>
                <a:effectLst/>
                <a:uLnTx/>
                <a:uFillTx/>
                <a:latin typeface="微软雅黑" panose="020B0503020204020204" pitchFamily="34" charset="-122"/>
                <a:ea typeface="微软雅黑" panose="020B0503020204020204" pitchFamily="34" charset="-122"/>
              </a:rPr>
              <a:t>lua</a:t>
            </a:r>
            <a:r>
              <a:rPr kumimoji="0" lang="zh-CN" altLang="en-US"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rPr>
              <a:t>脚本更有效的方式是使用</a:t>
            </a:r>
            <a:r>
              <a:rPr lang="en-US" altLang="zh-CN" dirty="0" smtClean="0">
                <a:solidFill>
                  <a:prstClr val="white"/>
                </a:solidFill>
                <a:latin typeface="微软雅黑" panose="020B0503020204020204" pitchFamily="34" charset="-122"/>
                <a:ea typeface="微软雅黑" panose="020B0503020204020204" pitchFamily="34" charset="-122"/>
              </a:rPr>
              <a:t>EVALSHA</a:t>
            </a:r>
            <a:r>
              <a:rPr lang="zh-CN" altLang="en-US" dirty="0" smtClean="0">
                <a:solidFill>
                  <a:prstClr val="white"/>
                </a:solidFill>
                <a:latin typeface="微软雅黑" panose="020B0503020204020204" pitchFamily="34" charset="-122"/>
                <a:ea typeface="微软雅黑" panose="020B0503020204020204" pitchFamily="34" charset="-122"/>
              </a:rPr>
              <a:t>执行</a:t>
            </a:r>
            <a:endParaRPr kumimoji="0" lang="en-US" altLang="zh-CN"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endParaRPr>
          </a:p>
          <a:p>
            <a:pPr marL="0" marR="0" lvl="0" indent="457200" algn="l" defTabSz="914400" rtl="0" eaLnBrk="1" fontAlgn="auto" latinLnBrk="0" hangingPunct="1">
              <a:lnSpc>
                <a:spcPct val="140000"/>
              </a:lnSpc>
              <a:spcBef>
                <a:spcPts val="0"/>
              </a:spcBef>
              <a:spcAft>
                <a:spcPts val="0"/>
              </a:spcAft>
              <a:buClrTx/>
              <a:buSzTx/>
              <a:buFontTx/>
              <a:buNone/>
              <a:tabLst/>
              <a:defRPr/>
            </a:pPr>
            <a:r>
              <a:rPr kumimoji="0" lang="en-US" altLang="zh-CN" sz="1600"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rPr>
              <a:t>EVAL </a:t>
            </a:r>
            <a:r>
              <a:rPr kumimoji="0" lang="zh-CN" altLang="en-US" sz="1600"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rPr>
              <a:t>命令语法如下：</a:t>
            </a:r>
            <a:endParaRPr kumimoji="0" lang="en-US" altLang="zh-CN" sz="1600"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lvl="0" indent="457200">
              <a:lnSpc>
                <a:spcPct val="140000"/>
              </a:lnSpc>
            </a:pPr>
            <a:r>
              <a:rPr kumimoji="0" lang="en-US" altLang="zh-CN" sz="1600"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rPr>
              <a:t>	</a:t>
            </a:r>
            <a:r>
              <a:rPr lang="en-US" altLang="zh-CN" sz="1600" dirty="0">
                <a:solidFill>
                  <a:prstClr val="white"/>
                </a:solidFill>
                <a:latin typeface="微软雅黑" panose="020B0503020204020204" pitchFamily="34" charset="-122"/>
                <a:ea typeface="微软雅黑" panose="020B0503020204020204" pitchFamily="34" charset="-122"/>
              </a:rPr>
              <a:t> EVALSHA</a:t>
            </a:r>
            <a:r>
              <a:rPr kumimoji="0" lang="en-US" altLang="zh-CN" sz="1600"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rPr>
              <a:t> sha1  </a:t>
            </a:r>
            <a:r>
              <a:rPr kumimoji="0" lang="en-US" altLang="zh-CN" sz="1600" b="0" i="0" u="none" strike="noStrike" kern="1200" cap="none" spc="0" normalizeH="0" baseline="0" noProof="0" dirty="0" err="1" smtClean="0">
                <a:ln>
                  <a:noFill/>
                </a:ln>
                <a:solidFill>
                  <a:prstClr val="white"/>
                </a:solidFill>
                <a:effectLst/>
                <a:uLnTx/>
                <a:uFillTx/>
                <a:latin typeface="微软雅黑" panose="020B0503020204020204" pitchFamily="34" charset="-122"/>
                <a:ea typeface="微软雅黑" panose="020B0503020204020204" pitchFamily="34" charset="-122"/>
                <a:cs typeface="+mn-cs"/>
              </a:rPr>
              <a:t>number_of_keys</a:t>
            </a:r>
            <a:r>
              <a:rPr kumimoji="0" lang="en-US" altLang="zh-CN" sz="1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 </a:t>
            </a:r>
            <a:r>
              <a:rPr kumimoji="0" lang="en-US" altLang="zh-CN" sz="1600"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rPr>
              <a:t> key [key …] </a:t>
            </a:r>
            <a:r>
              <a:rPr kumimoji="0" lang="en-US" altLang="zh-CN" sz="1600" b="0" i="0" u="none" strike="noStrike" kern="1200" cap="none" spc="0" normalizeH="0" baseline="0" noProof="0" dirty="0" err="1" smtClean="0">
                <a:ln>
                  <a:noFill/>
                </a:ln>
                <a:solidFill>
                  <a:prstClr val="white"/>
                </a:solidFill>
                <a:effectLst/>
                <a:uLnTx/>
                <a:uFillTx/>
                <a:latin typeface="微软雅黑" panose="020B0503020204020204" pitchFamily="34" charset="-122"/>
                <a:ea typeface="微软雅黑" panose="020B0503020204020204" pitchFamily="34" charset="-122"/>
                <a:cs typeface="+mn-cs"/>
              </a:rPr>
              <a:t>arg</a:t>
            </a:r>
            <a:r>
              <a:rPr kumimoji="0" lang="en-US" altLang="zh-CN" sz="1600"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rPr>
              <a:t>, [</a:t>
            </a:r>
            <a:r>
              <a:rPr kumimoji="0" lang="en-US" altLang="zh-CN" sz="1600" b="0" i="0" u="none" strike="noStrike" kern="1200" cap="none" spc="0" normalizeH="0" baseline="0" noProof="0" dirty="0" err="1" smtClean="0">
                <a:ln>
                  <a:noFill/>
                </a:ln>
                <a:solidFill>
                  <a:prstClr val="white"/>
                </a:solidFill>
                <a:effectLst/>
                <a:uLnTx/>
                <a:uFillTx/>
                <a:latin typeface="微软雅黑" panose="020B0503020204020204" pitchFamily="34" charset="-122"/>
                <a:ea typeface="微软雅黑" panose="020B0503020204020204" pitchFamily="34" charset="-122"/>
                <a:cs typeface="+mn-cs"/>
              </a:rPr>
              <a:t>arg</a:t>
            </a:r>
            <a:r>
              <a:rPr kumimoji="0" lang="en-US" altLang="zh-CN" sz="1600"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rPr>
              <a:t> …]</a:t>
            </a:r>
          </a:p>
          <a:p>
            <a:pPr marL="742950" lvl="1" indent="-285750">
              <a:lnSpc>
                <a:spcPct val="140000"/>
              </a:lnSpc>
              <a:buFont typeface="Arial" panose="020B0604020202020204" pitchFamily="34" charset="0"/>
              <a:buChar char="•"/>
            </a:pPr>
            <a:r>
              <a:rPr lang="en-US" altLang="zh-CN" sz="1600" dirty="0">
                <a:solidFill>
                  <a:prstClr val="white"/>
                </a:solidFill>
                <a:latin typeface="微软雅黑" panose="020B0503020204020204" pitchFamily="34" charset="-122"/>
                <a:ea typeface="微软雅黑" panose="020B0503020204020204" pitchFamily="34" charset="-122"/>
              </a:rPr>
              <a:t>sha1</a:t>
            </a:r>
            <a:r>
              <a:rPr kumimoji="0" lang="zh-CN" altLang="en-US" sz="1600"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rPr>
              <a:t> 是</a:t>
            </a:r>
            <a:r>
              <a:rPr kumimoji="0" lang="en-US" altLang="zh-CN" sz="1600" b="0" i="0" u="none" strike="noStrike" kern="1200" cap="none" spc="0" normalizeH="0" baseline="0" noProof="0" dirty="0" err="1" smtClean="0">
                <a:ln>
                  <a:noFill/>
                </a:ln>
                <a:solidFill>
                  <a:prstClr val="white"/>
                </a:solidFill>
                <a:effectLst/>
                <a:uLnTx/>
                <a:uFillTx/>
                <a:latin typeface="微软雅黑" panose="020B0503020204020204" pitchFamily="34" charset="-122"/>
                <a:ea typeface="微软雅黑" panose="020B0503020204020204" pitchFamily="34" charset="-122"/>
                <a:cs typeface="+mn-cs"/>
              </a:rPr>
              <a:t>lua</a:t>
            </a:r>
            <a:r>
              <a:rPr kumimoji="0" lang="zh-CN" altLang="en-US" sz="1600"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rPr>
              <a:t>脚本执行</a:t>
            </a:r>
            <a:r>
              <a:rPr lang="en-US" altLang="zh-CN" sz="1600" dirty="0" smtClean="0">
                <a:solidFill>
                  <a:prstClr val="white"/>
                </a:solidFill>
                <a:latin typeface="微软雅黑" panose="020B0503020204020204" pitchFamily="34" charset="-122"/>
                <a:ea typeface="微软雅黑" panose="020B0503020204020204" pitchFamily="34" charset="-122"/>
              </a:rPr>
              <a:t>SCRIPT LOAD</a:t>
            </a:r>
            <a:r>
              <a:rPr lang="zh-CN" altLang="en-US" sz="1600" dirty="0" smtClean="0">
                <a:solidFill>
                  <a:prstClr val="white"/>
                </a:solidFill>
                <a:latin typeface="微软雅黑" panose="020B0503020204020204" pitchFamily="34" charset="-122"/>
                <a:ea typeface="微软雅黑" panose="020B0503020204020204" pitchFamily="34" charset="-122"/>
              </a:rPr>
              <a:t>后</a:t>
            </a:r>
            <a:r>
              <a:rPr kumimoji="0" lang="zh-CN" altLang="en-US" sz="1600"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rPr>
              <a:t>服务器返回的</a:t>
            </a:r>
            <a:r>
              <a:rPr kumimoji="0" lang="en-US" altLang="zh-CN" sz="1600"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rPr>
              <a:t>sha1</a:t>
            </a:r>
            <a:r>
              <a:rPr kumimoji="0" lang="zh-CN" altLang="en-US" sz="1600"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rPr>
              <a:t>值</a:t>
            </a:r>
            <a:endParaRPr kumimoji="0" lang="en-US" altLang="zh-CN" sz="1600"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742950" marR="0" lvl="1" indent="-285750" algn="l" defTabSz="914400"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0" lang="en-US" altLang="zh-CN" sz="1600" b="0" i="0" u="none" strike="noStrike" kern="1200" cap="none" spc="0" normalizeH="0" baseline="0" noProof="0" dirty="0" err="1" smtClean="0">
                <a:ln>
                  <a:noFill/>
                </a:ln>
                <a:solidFill>
                  <a:prstClr val="white"/>
                </a:solidFill>
                <a:effectLst/>
                <a:uLnTx/>
                <a:uFillTx/>
                <a:latin typeface="微软雅黑" panose="020B0503020204020204" pitchFamily="34" charset="-122"/>
                <a:ea typeface="微软雅黑" panose="020B0503020204020204" pitchFamily="34" charset="-122"/>
                <a:cs typeface="+mn-cs"/>
              </a:rPr>
              <a:t>number_of_keys</a:t>
            </a:r>
            <a:r>
              <a:rPr kumimoji="0" lang="en-US" altLang="zh-CN" sz="1600"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rPr>
              <a:t> </a:t>
            </a:r>
            <a:r>
              <a:rPr kumimoji="0" lang="zh-CN" altLang="en-US" sz="1600"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rPr>
              <a:t>是第二个参</a:t>
            </a:r>
            <a:r>
              <a:rPr kumimoji="0" lang="zh-CN" altLang="en-US" sz="1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数</a:t>
            </a:r>
            <a:r>
              <a:rPr kumimoji="0" lang="zh-CN" altLang="en-US" sz="1600"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rPr>
              <a:t>，指定后续参</a:t>
            </a:r>
            <a:r>
              <a:rPr kumimoji="0" lang="zh-CN" altLang="en-US" sz="1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数有几个</a:t>
            </a:r>
            <a:r>
              <a:rPr kumimoji="0" lang="en-US" altLang="zh-CN" sz="1600"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rPr>
              <a:t>key</a:t>
            </a:r>
          </a:p>
          <a:p>
            <a:pPr marL="742950" marR="0" lvl="1" indent="-285750" algn="l" defTabSz="914400"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0" lang="en-US" altLang="zh-CN" sz="1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key [key </a:t>
            </a:r>
            <a:r>
              <a:rPr kumimoji="0" lang="en-US" altLang="zh-CN" sz="1600"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rPr>
              <a:t>…]   </a:t>
            </a:r>
            <a:r>
              <a:rPr kumimoji="0" lang="zh-CN" altLang="en-US" sz="1600"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rPr>
              <a:t>要操作的键</a:t>
            </a:r>
            <a:endParaRPr kumimoji="0" lang="en-US" altLang="zh-CN" sz="1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742950" marR="0" lvl="1" indent="-285750" algn="l" defTabSz="914400"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0" lang="en-US" altLang="zh-CN" sz="1600" b="0" i="0" u="none" strike="noStrike" kern="1200" cap="none" spc="0" normalizeH="0" baseline="0" noProof="0" dirty="0" err="1" smtClean="0">
                <a:ln>
                  <a:noFill/>
                </a:ln>
                <a:solidFill>
                  <a:prstClr val="white"/>
                </a:solidFill>
                <a:effectLst/>
                <a:uLnTx/>
                <a:uFillTx/>
                <a:latin typeface="微软雅黑" panose="020B0503020204020204" pitchFamily="34" charset="-122"/>
                <a:ea typeface="微软雅黑" panose="020B0503020204020204" pitchFamily="34" charset="-122"/>
                <a:cs typeface="+mn-cs"/>
              </a:rPr>
              <a:t>arg</a:t>
            </a:r>
            <a:r>
              <a:rPr kumimoji="0" lang="en-US" altLang="zh-CN" sz="1600"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rPr>
              <a:t> </a:t>
            </a:r>
            <a:r>
              <a:rPr kumimoji="0" lang="en-US" altLang="zh-CN" sz="1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a:t>
            </a:r>
            <a:r>
              <a:rPr kumimoji="0" lang="en-US" altLang="zh-CN" sz="1600" b="0" i="0" u="none" strike="noStrike" kern="1200" cap="none" spc="0" normalizeH="0" baseline="0" noProof="0" dirty="0" err="1">
                <a:ln>
                  <a:noFill/>
                </a:ln>
                <a:solidFill>
                  <a:prstClr val="white"/>
                </a:solidFill>
                <a:effectLst/>
                <a:uLnTx/>
                <a:uFillTx/>
                <a:latin typeface="微软雅黑" panose="020B0503020204020204" pitchFamily="34" charset="-122"/>
                <a:ea typeface="微软雅黑" panose="020B0503020204020204" pitchFamily="34" charset="-122"/>
                <a:cs typeface="+mn-cs"/>
              </a:rPr>
              <a:t>arg</a:t>
            </a:r>
            <a:r>
              <a:rPr kumimoji="0" lang="en-US" altLang="zh-CN" sz="1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 ...]</a:t>
            </a:r>
            <a:r>
              <a:rPr kumimoji="0" lang="zh-CN" altLang="en-US" sz="1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，参数，在</a:t>
            </a:r>
            <a:r>
              <a:rPr kumimoji="0" lang="en-US" altLang="zh-CN" sz="1600" b="0" i="0" u="none" strike="noStrike" kern="1200" cap="none" spc="0" normalizeH="0" baseline="0" noProof="0" dirty="0" err="1">
                <a:ln>
                  <a:noFill/>
                </a:ln>
                <a:solidFill>
                  <a:prstClr val="white"/>
                </a:solidFill>
                <a:effectLst/>
                <a:uLnTx/>
                <a:uFillTx/>
                <a:latin typeface="微软雅黑" panose="020B0503020204020204" pitchFamily="34" charset="-122"/>
                <a:ea typeface="微软雅黑" panose="020B0503020204020204" pitchFamily="34" charset="-122"/>
                <a:cs typeface="+mn-cs"/>
              </a:rPr>
              <a:t>lua</a:t>
            </a:r>
            <a:r>
              <a:rPr kumimoji="0" lang="zh-CN" altLang="en-US" sz="1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脚本中通过</a:t>
            </a:r>
            <a:r>
              <a:rPr kumimoji="0" lang="en-US" altLang="zh-CN" sz="1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ARGV[1], ARGV[2]</a:t>
            </a:r>
            <a:r>
              <a:rPr kumimoji="0" lang="zh-CN" altLang="en-US" sz="1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获取</a:t>
            </a:r>
            <a:r>
              <a:rPr kumimoji="0" lang="zh-CN" altLang="en-US" sz="1600"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rPr>
              <a:t>。（</a:t>
            </a:r>
            <a:r>
              <a:rPr kumimoji="0" lang="zh-CN" altLang="en-US" sz="1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注</a:t>
            </a:r>
            <a:r>
              <a:rPr kumimoji="0" lang="zh-CN" altLang="en-US" sz="1600"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rPr>
              <a:t>意：</a:t>
            </a:r>
            <a:r>
              <a:rPr kumimoji="0" lang="en-US" altLang="zh-CN" sz="1600" b="0" i="0" u="none" strike="noStrike" kern="1200" cap="none" spc="0" normalizeH="0" baseline="0" noProof="0" dirty="0" err="1" smtClean="0">
                <a:ln>
                  <a:noFill/>
                </a:ln>
                <a:solidFill>
                  <a:prstClr val="white"/>
                </a:solidFill>
                <a:effectLst/>
                <a:uLnTx/>
                <a:uFillTx/>
                <a:latin typeface="微软雅黑" panose="020B0503020204020204" pitchFamily="34" charset="-122"/>
                <a:ea typeface="微软雅黑" panose="020B0503020204020204" pitchFamily="34" charset="-122"/>
                <a:cs typeface="+mn-cs"/>
              </a:rPr>
              <a:t>lua</a:t>
            </a:r>
            <a:r>
              <a:rPr kumimoji="0" lang="zh-CN" altLang="en-US" sz="1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数</a:t>
            </a:r>
            <a:r>
              <a:rPr kumimoji="0" lang="zh-CN" altLang="en-US" sz="1600"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rPr>
              <a:t>组的下表从</a:t>
            </a:r>
            <a:r>
              <a:rPr kumimoji="0" lang="en-US" altLang="zh-CN" sz="1600"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rPr>
              <a:t>1</a:t>
            </a:r>
            <a:r>
              <a:rPr kumimoji="0" lang="zh-CN" altLang="en-US" sz="1600"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rPr>
              <a:t>开始）</a:t>
            </a:r>
            <a:endParaRPr kumimoji="0" lang="zh-CN" altLang="en-US" sz="1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0" name="TextBox 9"/>
          <p:cNvSpPr txBox="1"/>
          <p:nvPr/>
        </p:nvSpPr>
        <p:spPr>
          <a:xfrm>
            <a:off x="704850" y="605109"/>
            <a:ext cx="8883650" cy="523220"/>
          </a:xfrm>
          <a:prstGeom prst="rect">
            <a:avLst/>
          </a:prstGeom>
          <a:noFill/>
        </p:spPr>
        <p:txBody>
          <a:bodyPr wrap="square" rtlCol="0">
            <a:spAutoFit/>
          </a:bodyPr>
          <a:lstStyle/>
          <a:p>
            <a:pPr>
              <a:defRPr/>
            </a:pPr>
            <a:r>
              <a:rPr lang="en-US" altLang="zh-CN"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4.3.2 </a:t>
            </a:r>
            <a:r>
              <a:rPr lang="en-US" altLang="zh-CN" sz="2800" b="1" dirty="0" err="1">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lua</a:t>
            </a:r>
            <a:r>
              <a:rPr lang="zh-CN" altLang="en-US"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脚本使用</a:t>
            </a:r>
          </a:p>
        </p:txBody>
      </p:sp>
      <p:sp>
        <p:nvSpPr>
          <p:cNvPr id="2" name="文本框 1"/>
          <p:cNvSpPr txBox="1"/>
          <p:nvPr/>
        </p:nvSpPr>
        <p:spPr>
          <a:xfrm>
            <a:off x="1115907" y="4096592"/>
            <a:ext cx="10451908" cy="1815882"/>
          </a:xfrm>
          <a:prstGeom prst="rect">
            <a:avLst/>
          </a:prstGeom>
          <a:noFill/>
          <a:ln>
            <a:solidFill>
              <a:schemeClr val="bg1"/>
            </a:solidFill>
          </a:ln>
        </p:spPr>
        <p:txBody>
          <a:bodyPr wrap="square" rtlCol="0">
            <a:spAutoFit/>
          </a:bodyPr>
          <a:lstStyle/>
          <a:p>
            <a:pPr lvl="0"/>
            <a:r>
              <a:rPr lang="en-US" altLang="zh-CN" sz="1600" dirty="0" smtClean="0">
                <a:solidFill>
                  <a:schemeClr val="accent1"/>
                </a:solidFill>
                <a:latin typeface="微软雅黑" panose="020B0503020204020204" pitchFamily="34" charset="-122"/>
                <a:ea typeface="微软雅黑" panose="020B0503020204020204" pitchFamily="34" charset="-122"/>
              </a:rPr>
              <a:t># </a:t>
            </a:r>
            <a:r>
              <a:rPr lang="zh-CN" altLang="en-US" sz="1600" dirty="0">
                <a:solidFill>
                  <a:schemeClr val="accent1"/>
                </a:solidFill>
                <a:latin typeface="微软雅黑" panose="020B0503020204020204" pitchFamily="34" charset="-122"/>
                <a:ea typeface="微软雅黑" panose="020B0503020204020204" pitchFamily="34" charset="-122"/>
              </a:rPr>
              <a:t>获取</a:t>
            </a:r>
            <a:r>
              <a:rPr lang="zh-CN" altLang="en-US" sz="1600" dirty="0" smtClean="0">
                <a:solidFill>
                  <a:schemeClr val="accent1"/>
                </a:solidFill>
                <a:latin typeface="微软雅黑" panose="020B0503020204020204" pitchFamily="34" charset="-122"/>
                <a:ea typeface="微软雅黑" panose="020B0503020204020204" pitchFamily="34" charset="-122"/>
              </a:rPr>
              <a:t>脚本的</a:t>
            </a:r>
            <a:r>
              <a:rPr lang="en-US" altLang="zh-CN" sz="1600" dirty="0" smtClean="0">
                <a:solidFill>
                  <a:schemeClr val="accent1"/>
                </a:solidFill>
                <a:latin typeface="微软雅黑" panose="020B0503020204020204" pitchFamily="34" charset="-122"/>
                <a:ea typeface="微软雅黑" panose="020B0503020204020204" pitchFamily="34" charset="-122"/>
              </a:rPr>
              <a:t>sha1</a:t>
            </a:r>
            <a:r>
              <a:rPr lang="zh-CN" altLang="en-US" sz="1600" dirty="0" smtClean="0">
                <a:solidFill>
                  <a:schemeClr val="accent1"/>
                </a:solidFill>
                <a:latin typeface="微软雅黑" panose="020B0503020204020204" pitchFamily="34" charset="-122"/>
                <a:ea typeface="微软雅黑" panose="020B0503020204020204" pitchFamily="34" charset="-122"/>
              </a:rPr>
              <a:t>值，把脚本上传到</a:t>
            </a:r>
            <a:r>
              <a:rPr lang="en-US" altLang="zh-CN" sz="1600" dirty="0" err="1" smtClean="0">
                <a:solidFill>
                  <a:schemeClr val="accent1"/>
                </a:solidFill>
                <a:latin typeface="微软雅黑" panose="020B0503020204020204" pitchFamily="34" charset="-122"/>
                <a:ea typeface="微软雅黑" panose="020B0503020204020204" pitchFamily="34" charset="-122"/>
              </a:rPr>
              <a:t>redis</a:t>
            </a:r>
            <a:r>
              <a:rPr lang="zh-CN" altLang="en-US" sz="1600" dirty="0" smtClean="0">
                <a:solidFill>
                  <a:schemeClr val="accent1"/>
                </a:solidFill>
                <a:latin typeface="微软雅黑" panose="020B0503020204020204" pitchFamily="34" charset="-122"/>
                <a:ea typeface="微软雅黑" panose="020B0503020204020204" pitchFamily="34" charset="-122"/>
              </a:rPr>
              <a:t>，后面只需要通过</a:t>
            </a:r>
            <a:r>
              <a:rPr lang="en-US" altLang="zh-CN" sz="1600" dirty="0" smtClean="0">
                <a:solidFill>
                  <a:schemeClr val="accent1"/>
                </a:solidFill>
                <a:latin typeface="微软雅黑" panose="020B0503020204020204" pitchFamily="34" charset="-122"/>
                <a:ea typeface="微软雅黑" panose="020B0503020204020204" pitchFamily="34" charset="-122"/>
              </a:rPr>
              <a:t>sha1</a:t>
            </a:r>
            <a:r>
              <a:rPr lang="zh-CN" altLang="en-US" sz="1600" dirty="0" smtClean="0">
                <a:solidFill>
                  <a:schemeClr val="accent1"/>
                </a:solidFill>
                <a:latin typeface="微软雅黑" panose="020B0503020204020204" pitchFamily="34" charset="-122"/>
                <a:ea typeface="微软雅黑" panose="020B0503020204020204" pitchFamily="34" charset="-122"/>
              </a:rPr>
              <a:t>指定调用的脚本，无需每次传输脚本到服务器。这在脚本文件比较大时尤为有效。</a:t>
            </a:r>
            <a:endParaRPr lang="en-US" altLang="zh-CN" sz="1600" dirty="0" smtClean="0">
              <a:solidFill>
                <a:schemeClr val="accent1"/>
              </a:solidFill>
              <a:latin typeface="微软雅黑" panose="020B0503020204020204" pitchFamily="34" charset="-122"/>
              <a:ea typeface="微软雅黑" panose="020B0503020204020204" pitchFamily="34" charset="-122"/>
            </a:endParaRPr>
          </a:p>
          <a:p>
            <a:pPr lvl="0"/>
            <a:r>
              <a:rPr lang="en-US" altLang="zh-CN" sz="1600" dirty="0" smtClean="0">
                <a:solidFill>
                  <a:schemeClr val="accent6"/>
                </a:solidFill>
                <a:latin typeface="微软雅黑" panose="020B0503020204020204" pitchFamily="34" charset="-122"/>
                <a:ea typeface="微软雅黑" panose="020B0503020204020204" pitchFamily="34" charset="-122"/>
              </a:rPr>
              <a:t>&gt; </a:t>
            </a:r>
            <a:r>
              <a:rPr lang="en-US" altLang="zh-CN" sz="1600" b="1" dirty="0">
                <a:solidFill>
                  <a:srgbClr val="FFD343"/>
                </a:solidFill>
                <a:latin typeface="微软雅黑" panose="020B0503020204020204" pitchFamily="34" charset="-122"/>
                <a:ea typeface="微软雅黑" panose="020B0503020204020204" pitchFamily="34" charset="-122"/>
              </a:rPr>
              <a:t>SCRIPT</a:t>
            </a:r>
            <a:r>
              <a:rPr lang="en-US" altLang="zh-CN" sz="1600" dirty="0">
                <a:solidFill>
                  <a:schemeClr val="accent6"/>
                </a:solidFill>
                <a:latin typeface="微软雅黑" panose="020B0503020204020204" pitchFamily="34" charset="-122"/>
                <a:ea typeface="微软雅黑" panose="020B0503020204020204" pitchFamily="34" charset="-122"/>
              </a:rPr>
              <a:t> LOAD "return 'hello </a:t>
            </a:r>
            <a:r>
              <a:rPr lang="en-US" altLang="zh-CN" sz="1600" dirty="0" smtClean="0">
                <a:solidFill>
                  <a:schemeClr val="accent6"/>
                </a:solidFill>
                <a:latin typeface="微软雅黑" panose="020B0503020204020204" pitchFamily="34" charset="-122"/>
                <a:ea typeface="微软雅黑" panose="020B0503020204020204" pitchFamily="34" charset="-122"/>
              </a:rPr>
              <a:t>world'"</a:t>
            </a:r>
            <a:endParaRPr lang="en-US" altLang="zh-CN" sz="1600" dirty="0">
              <a:solidFill>
                <a:schemeClr val="accent6"/>
              </a:solidFill>
              <a:latin typeface="微软雅黑" panose="020B0503020204020204" pitchFamily="34" charset="-122"/>
              <a:ea typeface="微软雅黑" panose="020B0503020204020204" pitchFamily="34" charset="-122"/>
            </a:endParaRPr>
          </a:p>
          <a:p>
            <a:pPr lvl="0"/>
            <a:r>
              <a:rPr lang="en-US" altLang="zh-CN" sz="1600" dirty="0" smtClean="0">
                <a:solidFill>
                  <a:schemeClr val="accent6"/>
                </a:solidFill>
                <a:latin typeface="微软雅黑" panose="020B0503020204020204" pitchFamily="34" charset="-122"/>
                <a:ea typeface="微软雅黑" panose="020B0503020204020204" pitchFamily="34" charset="-122"/>
              </a:rPr>
              <a:t>232fd51614574cf0867b83d384a5e898cfd24e5a</a:t>
            </a:r>
          </a:p>
          <a:p>
            <a:pPr lvl="0"/>
            <a:r>
              <a:rPr lang="en-US" altLang="zh-CN" sz="1600" dirty="0" smtClean="0">
                <a:solidFill>
                  <a:schemeClr val="accent1"/>
                </a:solidFill>
                <a:latin typeface="微软雅黑" panose="020B0503020204020204" pitchFamily="34" charset="-122"/>
                <a:ea typeface="微软雅黑" panose="020B0503020204020204" pitchFamily="34" charset="-122"/>
              </a:rPr>
              <a:t># </a:t>
            </a:r>
            <a:r>
              <a:rPr lang="zh-CN" altLang="en-US" sz="1600" dirty="0" smtClean="0">
                <a:solidFill>
                  <a:schemeClr val="accent1"/>
                </a:solidFill>
                <a:latin typeface="微软雅黑" panose="020B0503020204020204" pitchFamily="34" charset="-122"/>
                <a:ea typeface="微软雅黑" panose="020B0503020204020204" pitchFamily="34" charset="-122"/>
              </a:rPr>
              <a:t>通过</a:t>
            </a:r>
            <a:r>
              <a:rPr lang="en-US" altLang="zh-CN" sz="1600" dirty="0" smtClean="0">
                <a:solidFill>
                  <a:schemeClr val="accent1"/>
                </a:solidFill>
                <a:latin typeface="微软雅黑" panose="020B0503020204020204" pitchFamily="34" charset="-122"/>
                <a:ea typeface="微软雅黑" panose="020B0503020204020204" pitchFamily="34" charset="-122"/>
              </a:rPr>
              <a:t>sha1</a:t>
            </a:r>
            <a:r>
              <a:rPr lang="zh-CN" altLang="en-US" sz="1600" dirty="0" smtClean="0">
                <a:solidFill>
                  <a:schemeClr val="accent1"/>
                </a:solidFill>
                <a:latin typeface="微软雅黑" panose="020B0503020204020204" pitchFamily="34" charset="-122"/>
                <a:ea typeface="微软雅黑" panose="020B0503020204020204" pitchFamily="34" charset="-122"/>
              </a:rPr>
              <a:t>值执行脚本</a:t>
            </a:r>
            <a:endParaRPr lang="en-US" altLang="zh-CN" sz="1600" dirty="0">
              <a:solidFill>
                <a:schemeClr val="accent1"/>
              </a:solidFill>
              <a:latin typeface="微软雅黑" panose="020B0503020204020204" pitchFamily="34" charset="-122"/>
              <a:ea typeface="微软雅黑" panose="020B0503020204020204" pitchFamily="34" charset="-122"/>
            </a:endParaRPr>
          </a:p>
          <a:p>
            <a:pPr lvl="0"/>
            <a:r>
              <a:rPr lang="en-US" altLang="zh-CN" sz="1600" dirty="0">
                <a:solidFill>
                  <a:schemeClr val="accent6"/>
                </a:solidFill>
                <a:latin typeface="微软雅黑" panose="020B0503020204020204" pitchFamily="34" charset="-122"/>
                <a:ea typeface="微软雅黑" panose="020B0503020204020204" pitchFamily="34" charset="-122"/>
              </a:rPr>
              <a:t>&gt; </a:t>
            </a:r>
            <a:r>
              <a:rPr lang="en-US" altLang="zh-CN" sz="1600" b="1" dirty="0">
                <a:solidFill>
                  <a:srgbClr val="FFD343"/>
                </a:solidFill>
                <a:latin typeface="微软雅黑" panose="020B0503020204020204" pitchFamily="34" charset="-122"/>
                <a:ea typeface="微软雅黑" panose="020B0503020204020204" pitchFamily="34" charset="-122"/>
              </a:rPr>
              <a:t>EVALSHA</a:t>
            </a:r>
            <a:r>
              <a:rPr lang="en-US" altLang="zh-CN" sz="1600" dirty="0">
                <a:solidFill>
                  <a:schemeClr val="accent6"/>
                </a:solidFill>
                <a:latin typeface="微软雅黑" panose="020B0503020204020204" pitchFamily="34" charset="-122"/>
                <a:ea typeface="微软雅黑" panose="020B0503020204020204" pitchFamily="34" charset="-122"/>
              </a:rPr>
              <a:t> "232fd51614574cf0867b83d384a5e898cfd24e5a" 0</a:t>
            </a:r>
          </a:p>
          <a:p>
            <a:pPr lvl="0"/>
            <a:r>
              <a:rPr lang="en-US" altLang="zh-CN" sz="1600" dirty="0">
                <a:solidFill>
                  <a:schemeClr val="accent6"/>
                </a:solidFill>
                <a:latin typeface="微软雅黑" panose="020B0503020204020204" pitchFamily="34" charset="-122"/>
                <a:ea typeface="微软雅黑" panose="020B0503020204020204" pitchFamily="34" charset="-122"/>
              </a:rPr>
              <a:t>"hello </a:t>
            </a:r>
            <a:r>
              <a:rPr lang="en-US" altLang="zh-CN" sz="1600" dirty="0" smtClean="0">
                <a:solidFill>
                  <a:schemeClr val="accent6"/>
                </a:solidFill>
                <a:latin typeface="微软雅黑" panose="020B0503020204020204" pitchFamily="34" charset="-122"/>
                <a:ea typeface="微软雅黑" panose="020B0503020204020204" pitchFamily="34" charset="-122"/>
              </a:rPr>
              <a:t>world"</a:t>
            </a:r>
            <a:endParaRPr kumimoji="0" lang="zh-CN" altLang="en-US" sz="1600" b="0" i="0" u="none" strike="noStrike" kern="1200" cap="none" spc="0" normalizeH="0" baseline="0" noProof="0" dirty="0" smtClean="0">
              <a:ln>
                <a:noFill/>
              </a:ln>
              <a:solidFill>
                <a:schemeClr val="accent6"/>
              </a:solidFill>
              <a:effectLst/>
              <a:uLnTx/>
              <a:uFillTx/>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991066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1+#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0-#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0A0F23"/>
        </a:solidFill>
        <a:effectLst/>
      </p:bgPr>
    </p:bg>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xmlns="" id="{CBDC52CD-1D62-48AF-A9DF-9F18AEA2B1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01385" y="-114300"/>
            <a:ext cx="1301859" cy="920356"/>
          </a:xfrm>
          <a:prstGeom prst="rect">
            <a:avLst/>
          </a:prstGeom>
        </p:spPr>
      </p:pic>
      <p:pic>
        <p:nvPicPr>
          <p:cNvPr id="14" name="图片 13">
            <a:extLst>
              <a:ext uri="{FF2B5EF4-FFF2-40B4-BE49-F238E27FC236}">
                <a16:creationId xmlns:a16="http://schemas.microsoft.com/office/drawing/2014/main" xmlns="" id="{F78DA958-9B1B-47DA-A870-8C0B3A7D8866}"/>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b="63537"/>
          <a:stretch/>
        </p:blipFill>
        <p:spPr>
          <a:xfrm>
            <a:off x="11184164" y="217733"/>
            <a:ext cx="572339" cy="337210"/>
          </a:xfrm>
          <a:prstGeom prst="rect">
            <a:avLst/>
          </a:prstGeom>
        </p:spPr>
      </p:pic>
      <p:cxnSp>
        <p:nvCxnSpPr>
          <p:cNvPr id="15" name="直接连接符 14">
            <a:extLst>
              <a:ext uri="{FF2B5EF4-FFF2-40B4-BE49-F238E27FC236}">
                <a16:creationId xmlns:a16="http://schemas.microsoft.com/office/drawing/2014/main" xmlns="" id="{93240A06-D526-4907-A163-94ABB41190CC}"/>
              </a:ext>
            </a:extLst>
          </p:cNvPr>
          <p:cNvCxnSpPr/>
          <p:nvPr/>
        </p:nvCxnSpPr>
        <p:spPr>
          <a:xfrm>
            <a:off x="11103244" y="225825"/>
            <a:ext cx="0" cy="2435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xmlns="" id="{74C59758-12AB-44A5-92FA-DB52904027AE}"/>
              </a:ext>
            </a:extLst>
          </p:cNvPr>
          <p:cNvSpPr/>
          <p:nvPr/>
        </p:nvSpPr>
        <p:spPr>
          <a:xfrm>
            <a:off x="802332" y="1287114"/>
            <a:ext cx="10765483" cy="2031325"/>
          </a:xfrm>
          <a:prstGeom prst="rect">
            <a:avLst/>
          </a:prstGeom>
        </p:spPr>
        <p:txBody>
          <a:bodyPr wrap="square">
            <a:spAutoFit/>
          </a:bodyPr>
          <a:lstStyle/>
          <a:p>
            <a:pPr indent="457200">
              <a:lnSpc>
                <a:spcPct val="140000"/>
              </a:lnSpc>
            </a:pPr>
            <a:r>
              <a:rPr lang="en-US" altLang="zh-CN" dirty="0" smtClean="0">
                <a:solidFill>
                  <a:prstClr val="white"/>
                </a:solidFill>
                <a:latin typeface="微软雅黑" panose="020B0503020204020204" pitchFamily="34" charset="-122"/>
                <a:ea typeface="微软雅黑" panose="020B0503020204020204" pitchFamily="34" charset="-122"/>
              </a:rPr>
              <a:t>1</a:t>
            </a:r>
            <a:r>
              <a:rPr lang="zh-CN" altLang="en-US" dirty="0" smtClean="0">
                <a:solidFill>
                  <a:prstClr val="white"/>
                </a:solidFill>
                <a:latin typeface="微软雅黑" panose="020B0503020204020204" pitchFamily="34" charset="-122"/>
                <a:ea typeface="微软雅黑" panose="020B0503020204020204" pitchFamily="34" charset="-122"/>
              </a:rPr>
              <a:t>、</a:t>
            </a:r>
            <a:r>
              <a:rPr lang="zh-CN" altLang="en-US" dirty="0">
                <a:solidFill>
                  <a:prstClr val="white"/>
                </a:solidFill>
                <a:latin typeface="微软雅黑" panose="020B0503020204020204" pitchFamily="34" charset="-122"/>
                <a:ea typeface="微软雅黑" panose="020B0503020204020204" pitchFamily="34" charset="-122"/>
              </a:rPr>
              <a:t>由</a:t>
            </a:r>
            <a:r>
              <a:rPr lang="zh-CN" altLang="en-US" dirty="0" smtClean="0">
                <a:solidFill>
                  <a:prstClr val="white"/>
                </a:solidFill>
                <a:latin typeface="微软雅黑" panose="020B0503020204020204" pitchFamily="34" charset="-122"/>
                <a:ea typeface="微软雅黑" panose="020B0503020204020204" pitchFamily="34" charset="-122"/>
              </a:rPr>
              <a:t>于</a:t>
            </a:r>
            <a:r>
              <a:rPr lang="en-US" altLang="zh-CN" dirty="0" err="1" smtClean="0">
                <a:solidFill>
                  <a:prstClr val="white"/>
                </a:solidFill>
                <a:latin typeface="微软雅黑" panose="020B0503020204020204" pitchFamily="34" charset="-122"/>
                <a:ea typeface="微软雅黑" panose="020B0503020204020204" pitchFamily="34" charset="-122"/>
              </a:rPr>
              <a:t>redis</a:t>
            </a:r>
            <a:r>
              <a:rPr lang="zh-CN" altLang="en-US" dirty="0" smtClean="0">
                <a:solidFill>
                  <a:prstClr val="white"/>
                </a:solidFill>
                <a:latin typeface="微软雅黑" panose="020B0503020204020204" pitchFamily="34" charset="-122"/>
                <a:ea typeface="微软雅黑" panose="020B0503020204020204" pitchFamily="34" charset="-122"/>
              </a:rPr>
              <a:t>的单线程模型，</a:t>
            </a:r>
            <a:r>
              <a:rPr lang="en-US" altLang="zh-CN" dirty="0" err="1" smtClean="0">
                <a:solidFill>
                  <a:prstClr val="white"/>
                </a:solidFill>
                <a:latin typeface="微软雅黑" panose="020B0503020204020204" pitchFamily="34" charset="-122"/>
                <a:ea typeface="微软雅黑" panose="020B0503020204020204" pitchFamily="34" charset="-122"/>
              </a:rPr>
              <a:t>lua</a:t>
            </a:r>
            <a:r>
              <a:rPr lang="zh-CN" altLang="en-US" dirty="0" smtClean="0">
                <a:solidFill>
                  <a:prstClr val="white"/>
                </a:solidFill>
                <a:latin typeface="微软雅黑" panose="020B0503020204020204" pitchFamily="34" charset="-122"/>
                <a:ea typeface="微软雅黑" panose="020B0503020204020204" pitchFamily="34" charset="-122"/>
              </a:rPr>
              <a:t>脚本执行过程中，会阻塞其它客户端。因此使用</a:t>
            </a:r>
            <a:r>
              <a:rPr lang="en-US" altLang="zh-CN" dirty="0" err="1" smtClean="0">
                <a:solidFill>
                  <a:prstClr val="white"/>
                </a:solidFill>
                <a:latin typeface="微软雅黑" panose="020B0503020204020204" pitchFamily="34" charset="-122"/>
                <a:ea typeface="微软雅黑" panose="020B0503020204020204" pitchFamily="34" charset="-122"/>
              </a:rPr>
              <a:t>lua</a:t>
            </a:r>
            <a:r>
              <a:rPr lang="zh-CN" altLang="en-US" dirty="0" smtClean="0">
                <a:solidFill>
                  <a:prstClr val="white"/>
                </a:solidFill>
                <a:latin typeface="微软雅黑" panose="020B0503020204020204" pitchFamily="34" charset="-122"/>
                <a:ea typeface="微软雅黑" panose="020B0503020204020204" pitchFamily="34" charset="-122"/>
              </a:rPr>
              <a:t>脚本要对执行时间心中有数。</a:t>
            </a:r>
            <a:endParaRPr lang="en-US" altLang="zh-CN" dirty="0" smtClean="0">
              <a:solidFill>
                <a:prstClr val="white"/>
              </a:solidFill>
              <a:latin typeface="微软雅黑" panose="020B0503020204020204" pitchFamily="34" charset="-122"/>
              <a:ea typeface="微软雅黑" panose="020B0503020204020204" pitchFamily="34" charset="-122"/>
            </a:endParaRPr>
          </a:p>
          <a:p>
            <a:pPr indent="457200">
              <a:lnSpc>
                <a:spcPct val="140000"/>
              </a:lnSpc>
            </a:pPr>
            <a:r>
              <a:rPr lang="en-US" altLang="zh-CN" dirty="0" smtClean="0">
                <a:solidFill>
                  <a:prstClr val="white"/>
                </a:solidFill>
                <a:latin typeface="微软雅黑" panose="020B0503020204020204" pitchFamily="34" charset="-122"/>
                <a:ea typeface="微软雅黑" panose="020B0503020204020204" pitchFamily="34" charset="-122"/>
              </a:rPr>
              <a:t>2</a:t>
            </a:r>
            <a:r>
              <a:rPr lang="zh-CN" altLang="en-US" dirty="0" smtClean="0">
                <a:solidFill>
                  <a:prstClr val="white"/>
                </a:solidFill>
                <a:latin typeface="微软雅黑" panose="020B0503020204020204" pitchFamily="34" charset="-122"/>
                <a:ea typeface="微软雅黑" panose="020B0503020204020204" pitchFamily="34" charset="-122"/>
              </a:rPr>
              <a:t>、在</a:t>
            </a:r>
            <a:r>
              <a:rPr lang="en-US" altLang="zh-CN" dirty="0" err="1" smtClean="0">
                <a:solidFill>
                  <a:prstClr val="white"/>
                </a:solidFill>
                <a:latin typeface="微软雅黑" panose="020B0503020204020204" pitchFamily="34" charset="-122"/>
                <a:ea typeface="微软雅黑" panose="020B0503020204020204" pitchFamily="34" charset="-122"/>
              </a:rPr>
              <a:t>lua</a:t>
            </a:r>
            <a:r>
              <a:rPr lang="zh-CN" altLang="en-US" dirty="0" smtClean="0">
                <a:solidFill>
                  <a:prstClr val="white"/>
                </a:solidFill>
                <a:latin typeface="微软雅黑" panose="020B0503020204020204" pitchFamily="34" charset="-122"/>
                <a:ea typeface="微软雅黑" panose="020B0503020204020204" pitchFamily="34" charset="-122"/>
              </a:rPr>
              <a:t>脚本中，不能使用如</a:t>
            </a:r>
            <a:r>
              <a:rPr lang="en-US" altLang="zh-CN" dirty="0" smtClean="0">
                <a:solidFill>
                  <a:prstClr val="white"/>
                </a:solidFill>
                <a:latin typeface="微软雅黑" panose="020B0503020204020204" pitchFamily="34" charset="-122"/>
                <a:ea typeface="微软雅黑" panose="020B0503020204020204" pitchFamily="34" charset="-122"/>
              </a:rPr>
              <a:t>SPOP</a:t>
            </a:r>
            <a:r>
              <a:rPr lang="zh-CN" altLang="en-US" dirty="0" smtClean="0">
                <a:solidFill>
                  <a:prstClr val="white"/>
                </a:solidFill>
                <a:latin typeface="微软雅黑" panose="020B0503020204020204" pitchFamily="34" charset="-122"/>
                <a:ea typeface="微软雅黑" panose="020B0503020204020204" pitchFamily="34" charset="-122"/>
              </a:rPr>
              <a:t>这种随机返回的</a:t>
            </a:r>
            <a:r>
              <a:rPr lang="zh-CN" altLang="en-US" dirty="0">
                <a:solidFill>
                  <a:prstClr val="white"/>
                </a:solidFill>
                <a:latin typeface="微软雅黑" panose="020B0503020204020204" pitchFamily="34" charset="-122"/>
                <a:ea typeface="微软雅黑" panose="020B0503020204020204" pitchFamily="34" charset="-122"/>
              </a:rPr>
              <a:t>命</a:t>
            </a:r>
            <a:r>
              <a:rPr lang="zh-CN" altLang="en-US" dirty="0" smtClean="0">
                <a:solidFill>
                  <a:prstClr val="white"/>
                </a:solidFill>
                <a:latin typeface="微软雅黑" panose="020B0503020204020204" pitchFamily="34" charset="-122"/>
                <a:ea typeface="微软雅黑" panose="020B0503020204020204" pitchFamily="34" charset="-122"/>
              </a:rPr>
              <a:t>令，否则会破坏脚本的原子性。</a:t>
            </a:r>
            <a:endParaRPr lang="en-US" altLang="zh-CN" dirty="0" smtClean="0">
              <a:solidFill>
                <a:prstClr val="white"/>
              </a:solidFill>
              <a:latin typeface="微软雅黑" panose="020B0503020204020204" pitchFamily="34" charset="-122"/>
              <a:ea typeface="微软雅黑" panose="020B0503020204020204" pitchFamily="34" charset="-122"/>
            </a:endParaRPr>
          </a:p>
          <a:p>
            <a:pPr indent="457200">
              <a:lnSpc>
                <a:spcPct val="140000"/>
              </a:lnSpc>
            </a:pPr>
            <a:r>
              <a:rPr lang="en-US" altLang="zh-CN" dirty="0" smtClean="0">
                <a:solidFill>
                  <a:prstClr val="white"/>
                </a:solidFill>
                <a:latin typeface="微软雅黑" panose="020B0503020204020204" pitchFamily="34" charset="-122"/>
                <a:ea typeface="微软雅黑" panose="020B0503020204020204" pitchFamily="34" charset="-122"/>
              </a:rPr>
              <a:t>3</a:t>
            </a:r>
            <a:r>
              <a:rPr lang="zh-CN" altLang="en-US" dirty="0" smtClean="0">
                <a:solidFill>
                  <a:prstClr val="white"/>
                </a:solidFill>
                <a:latin typeface="微软雅黑" panose="020B0503020204020204" pitchFamily="34" charset="-122"/>
                <a:ea typeface="微软雅黑" panose="020B0503020204020204" pitchFamily="34" charset="-122"/>
              </a:rPr>
              <a:t>、</a:t>
            </a:r>
            <a:r>
              <a:rPr lang="en-US" altLang="zh-CN" dirty="0" err="1" smtClean="0">
                <a:solidFill>
                  <a:prstClr val="white"/>
                </a:solidFill>
                <a:latin typeface="微软雅黑" panose="020B0503020204020204" pitchFamily="34" charset="-122"/>
                <a:ea typeface="微软雅黑" panose="020B0503020204020204" pitchFamily="34" charset="-122"/>
              </a:rPr>
              <a:t>lua</a:t>
            </a:r>
            <a:r>
              <a:rPr lang="zh-CN" altLang="en-US" dirty="0" smtClean="0">
                <a:solidFill>
                  <a:prstClr val="white"/>
                </a:solidFill>
                <a:latin typeface="微软雅黑" panose="020B0503020204020204" pitchFamily="34" charset="-122"/>
                <a:ea typeface="微软雅黑" panose="020B0503020204020204" pitchFamily="34" charset="-122"/>
              </a:rPr>
              <a:t>脚本支持运行在</a:t>
            </a:r>
            <a:r>
              <a:rPr lang="en-US" altLang="zh-CN" dirty="0" err="1" smtClean="0">
                <a:solidFill>
                  <a:prstClr val="white"/>
                </a:solidFill>
                <a:latin typeface="微软雅黑" panose="020B0503020204020204" pitchFamily="34" charset="-122"/>
                <a:ea typeface="微软雅黑" panose="020B0503020204020204" pitchFamily="34" charset="-122"/>
              </a:rPr>
              <a:t>redis</a:t>
            </a:r>
            <a:r>
              <a:rPr lang="zh-CN" altLang="en-US" dirty="0" smtClean="0">
                <a:solidFill>
                  <a:prstClr val="white"/>
                </a:solidFill>
                <a:latin typeface="微软雅黑" panose="020B0503020204020204" pitchFamily="34" charset="-122"/>
                <a:ea typeface="微软雅黑" panose="020B0503020204020204" pitchFamily="34" charset="-122"/>
              </a:rPr>
              <a:t>集群中，前提是操作的</a:t>
            </a:r>
            <a:r>
              <a:rPr lang="en-US" altLang="zh-CN" dirty="0" smtClean="0">
                <a:solidFill>
                  <a:prstClr val="white"/>
                </a:solidFill>
                <a:latin typeface="微软雅黑" panose="020B0503020204020204" pitchFamily="34" charset="-122"/>
                <a:ea typeface="微软雅黑" panose="020B0503020204020204" pitchFamily="34" charset="-122"/>
              </a:rPr>
              <a:t>key</a:t>
            </a:r>
            <a:r>
              <a:rPr lang="zh-CN" altLang="en-US" dirty="0" smtClean="0">
                <a:solidFill>
                  <a:prstClr val="white"/>
                </a:solidFill>
                <a:latin typeface="微软雅黑" panose="020B0503020204020204" pitchFamily="34" charset="-122"/>
                <a:ea typeface="微软雅黑" panose="020B0503020204020204" pitchFamily="34" charset="-122"/>
              </a:rPr>
              <a:t>处于同一个哈希槽中。</a:t>
            </a:r>
            <a:endParaRPr lang="en-US" altLang="zh-CN" dirty="0" smtClean="0">
              <a:solidFill>
                <a:prstClr val="white"/>
              </a:solidFill>
              <a:latin typeface="微软雅黑" panose="020B0503020204020204" pitchFamily="34" charset="-122"/>
              <a:ea typeface="微软雅黑" panose="020B0503020204020204" pitchFamily="34" charset="-122"/>
            </a:endParaRPr>
          </a:p>
          <a:p>
            <a:pPr indent="457200">
              <a:lnSpc>
                <a:spcPct val="140000"/>
              </a:lnSpc>
            </a:pPr>
            <a:r>
              <a:rPr lang="en-US" altLang="zh-CN" dirty="0" smtClean="0">
                <a:solidFill>
                  <a:prstClr val="white"/>
                </a:solidFill>
                <a:latin typeface="微软雅黑" panose="020B0503020204020204" pitchFamily="34" charset="-122"/>
                <a:ea typeface="微软雅黑" panose="020B0503020204020204" pitchFamily="34" charset="-122"/>
              </a:rPr>
              <a:t>4</a:t>
            </a:r>
            <a:r>
              <a:rPr lang="zh-CN" altLang="en-US" dirty="0" smtClean="0">
                <a:solidFill>
                  <a:prstClr val="white"/>
                </a:solidFill>
                <a:latin typeface="微软雅黑" panose="020B0503020204020204" pitchFamily="34" charset="-122"/>
                <a:ea typeface="微软雅黑" panose="020B0503020204020204" pitchFamily="34" charset="-122"/>
              </a:rPr>
              <a:t>、在</a:t>
            </a:r>
            <a:r>
              <a:rPr lang="en-US" altLang="zh-CN" dirty="0" smtClean="0">
                <a:solidFill>
                  <a:prstClr val="white"/>
                </a:solidFill>
                <a:latin typeface="微软雅黑" panose="020B0503020204020204" pitchFamily="34" charset="-122"/>
                <a:ea typeface="微软雅黑" panose="020B0503020204020204" pitchFamily="34" charset="-122"/>
              </a:rPr>
              <a:t>redis3.2</a:t>
            </a:r>
            <a:r>
              <a:rPr lang="zh-CN" altLang="en-US" dirty="0" smtClean="0">
                <a:solidFill>
                  <a:prstClr val="white"/>
                </a:solidFill>
                <a:latin typeface="微软雅黑" panose="020B0503020204020204" pitchFamily="34" charset="-122"/>
                <a:ea typeface="微软雅黑" panose="020B0503020204020204" pitchFamily="34" charset="-122"/>
              </a:rPr>
              <a:t>版本增强了</a:t>
            </a:r>
            <a:r>
              <a:rPr lang="en-US" altLang="zh-CN" dirty="0" err="1" smtClean="0">
                <a:solidFill>
                  <a:prstClr val="white"/>
                </a:solidFill>
                <a:latin typeface="微软雅黑" panose="020B0503020204020204" pitchFamily="34" charset="-122"/>
                <a:ea typeface="微软雅黑" panose="020B0503020204020204" pitchFamily="34" charset="-122"/>
              </a:rPr>
              <a:t>lua</a:t>
            </a:r>
            <a:r>
              <a:rPr lang="zh-CN" altLang="en-US" dirty="0">
                <a:solidFill>
                  <a:prstClr val="white"/>
                </a:solidFill>
                <a:latin typeface="微软雅黑" panose="020B0503020204020204" pitchFamily="34" charset="-122"/>
                <a:ea typeface="微软雅黑" panose="020B0503020204020204" pitchFamily="34" charset="-122"/>
              </a:rPr>
              <a:t>模</a:t>
            </a:r>
            <a:r>
              <a:rPr lang="zh-CN" altLang="en-US" dirty="0" smtClean="0">
                <a:solidFill>
                  <a:prstClr val="white"/>
                </a:solidFill>
                <a:latin typeface="微软雅黑" panose="020B0503020204020204" pitchFamily="34" charset="-122"/>
                <a:ea typeface="微软雅黑" panose="020B0503020204020204" pitchFamily="34" charset="-122"/>
              </a:rPr>
              <a:t>块，并提供了专门的</a:t>
            </a:r>
            <a:r>
              <a:rPr lang="en-US" altLang="zh-CN" dirty="0" err="1" smtClean="0">
                <a:solidFill>
                  <a:prstClr val="white"/>
                </a:solidFill>
                <a:latin typeface="微软雅黑" panose="020B0503020204020204" pitchFamily="34" charset="-122"/>
                <a:ea typeface="微软雅黑" panose="020B0503020204020204" pitchFamily="34" charset="-122"/>
              </a:rPr>
              <a:t>lua</a:t>
            </a:r>
            <a:r>
              <a:rPr lang="zh-CN" altLang="en-US" dirty="0" smtClean="0">
                <a:solidFill>
                  <a:prstClr val="white"/>
                </a:solidFill>
                <a:latin typeface="微软雅黑" panose="020B0503020204020204" pitchFamily="34" charset="-122"/>
                <a:ea typeface="微软雅黑" panose="020B0503020204020204" pitchFamily="34" charset="-122"/>
              </a:rPr>
              <a:t>调试器。</a:t>
            </a:r>
            <a:endParaRPr lang="zh-CN" altLang="en-US" dirty="0">
              <a:solidFill>
                <a:prstClr val="white"/>
              </a:solidFill>
              <a:latin typeface="微软雅黑" panose="020B0503020204020204" pitchFamily="34" charset="-122"/>
              <a:ea typeface="微软雅黑" panose="020B0503020204020204" pitchFamily="34" charset="-122"/>
            </a:endParaRPr>
          </a:p>
        </p:txBody>
      </p:sp>
      <p:sp>
        <p:nvSpPr>
          <p:cNvPr id="10" name="TextBox 9"/>
          <p:cNvSpPr txBox="1"/>
          <p:nvPr/>
        </p:nvSpPr>
        <p:spPr>
          <a:xfrm>
            <a:off x="704850" y="605109"/>
            <a:ext cx="8883650" cy="523220"/>
          </a:xfrm>
          <a:prstGeom prst="rect">
            <a:avLst/>
          </a:prstGeom>
          <a:noFill/>
        </p:spPr>
        <p:txBody>
          <a:bodyPr wrap="square" rtlCol="0">
            <a:spAutoFit/>
          </a:bodyPr>
          <a:lstStyle/>
          <a:p>
            <a:pPr>
              <a:defRPr/>
            </a:pPr>
            <a:r>
              <a:rPr lang="en-US" altLang="zh-CN"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4.3.3 </a:t>
            </a:r>
            <a:r>
              <a:rPr lang="zh-CN" altLang="en-US"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脚本使用注意事项</a:t>
            </a:r>
          </a:p>
        </p:txBody>
      </p:sp>
    </p:spTree>
    <p:extLst>
      <p:ext uri="{BB962C8B-B14F-4D97-AF65-F5344CB8AC3E}">
        <p14:creationId xmlns:p14="http://schemas.microsoft.com/office/powerpoint/2010/main" val="974941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horizont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0A0F23"/>
        </a:solidFill>
        <a:effectLst/>
      </p:bgPr>
    </p:bg>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xmlns="" id="{62500BA0-5435-4394-A67D-935D06E8473D}"/>
              </a:ext>
            </a:extLst>
          </p:cNvPr>
          <p:cNvPicPr>
            <a:picLocks noChangeAspect="1"/>
          </p:cNvPicPr>
          <p:nvPr/>
        </p:nvPicPr>
        <p:blipFill rotWithShape="1">
          <a:blip r:embed="rId2"/>
          <a:srcRect l="60878"/>
          <a:stretch/>
        </p:blipFill>
        <p:spPr>
          <a:xfrm>
            <a:off x="6096000" y="652085"/>
            <a:ext cx="6269207" cy="5314808"/>
          </a:xfrm>
          <a:prstGeom prst="rect">
            <a:avLst/>
          </a:prstGeom>
          <a:solidFill>
            <a:srgbClr val="0A0F23"/>
          </a:solidFill>
          <a:effectLst>
            <a:softEdge rad="927100"/>
          </a:effectLst>
        </p:spPr>
      </p:pic>
      <p:sp>
        <p:nvSpPr>
          <p:cNvPr id="11" name="文本框 10">
            <a:extLst>
              <a:ext uri="{FF2B5EF4-FFF2-40B4-BE49-F238E27FC236}">
                <a16:creationId xmlns:a16="http://schemas.microsoft.com/office/drawing/2014/main" xmlns="" id="{070AA53B-EE7D-407A-93E5-ACCD74BA7C5C}"/>
              </a:ext>
            </a:extLst>
          </p:cNvPr>
          <p:cNvSpPr txBox="1"/>
          <p:nvPr/>
        </p:nvSpPr>
        <p:spPr>
          <a:xfrm>
            <a:off x="487679" y="2604821"/>
            <a:ext cx="3722371" cy="1200329"/>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72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pitchFamily="2" charset="-122"/>
                <a:cs typeface="+mn-cs"/>
              </a:rPr>
              <a:t>PART 05</a:t>
            </a:r>
            <a:endParaRPr kumimoji="0" lang="zh-CN" altLang="en-US" sz="7200" b="0" i="0" u="none" strike="noStrike" kern="1200" cap="none" spc="0" normalizeH="0" baseline="0" noProof="0" dirty="0">
              <a:ln>
                <a:noFill/>
              </a:ln>
              <a:solidFill>
                <a:prstClr val="white"/>
              </a:solidFill>
              <a:effectLst/>
              <a:uLnTx/>
              <a:uFillTx/>
              <a:latin typeface="Impact" panose="020B0806030902050204" pitchFamily="34" charset="0"/>
              <a:ea typeface="等线" panose="02010600030101010101" pitchFamily="2" charset="-122"/>
              <a:cs typeface="+mn-cs"/>
            </a:endParaRPr>
          </a:p>
        </p:txBody>
      </p:sp>
      <p:sp>
        <p:nvSpPr>
          <p:cNvPr id="12" name="矩形 11">
            <a:extLst>
              <a:ext uri="{FF2B5EF4-FFF2-40B4-BE49-F238E27FC236}">
                <a16:creationId xmlns:a16="http://schemas.microsoft.com/office/drawing/2014/main" xmlns="" id="{1365D9B2-CE2D-4820-B0DA-C0FD3C575F5F}"/>
              </a:ext>
            </a:extLst>
          </p:cNvPr>
          <p:cNvSpPr/>
          <p:nvPr/>
        </p:nvSpPr>
        <p:spPr>
          <a:xfrm>
            <a:off x="487679" y="3837807"/>
            <a:ext cx="4232366" cy="6362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 </a:t>
            </a:r>
            <a:r>
              <a:rPr lang="en-US" altLang="zh-CN" sz="2000" b="1" dirty="0" err="1" smtClean="0">
                <a:solidFill>
                  <a:prstClr val="black">
                    <a:lumMod val="85000"/>
                    <a:lumOff val="15000"/>
                  </a:prstClr>
                </a:solidFill>
                <a:latin typeface="微软雅黑" panose="020B0503020204020204" pitchFamily="34" charset="-122"/>
                <a:ea typeface="微软雅黑" panose="020B0503020204020204" pitchFamily="34" charset="-122"/>
              </a:rPr>
              <a:t>redis</a:t>
            </a:r>
            <a:r>
              <a:rPr lang="zh-CN" altLang="en-US" sz="2000" b="1" dirty="0" smtClean="0">
                <a:solidFill>
                  <a:prstClr val="black">
                    <a:lumMod val="85000"/>
                    <a:lumOff val="15000"/>
                  </a:prstClr>
                </a:solidFill>
                <a:latin typeface="微软雅黑" panose="020B0503020204020204" pitchFamily="34" charset="-122"/>
                <a:ea typeface="微软雅黑" panose="020B0503020204020204" pitchFamily="34" charset="-122"/>
              </a:rPr>
              <a:t>集群</a:t>
            </a:r>
            <a:endParaRPr kumimoji="0" lang="zh-CN" altLang="en-US" sz="20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p:txBody>
      </p:sp>
      <p:pic>
        <p:nvPicPr>
          <p:cNvPr id="13" name="图片 12">
            <a:extLst>
              <a:ext uri="{FF2B5EF4-FFF2-40B4-BE49-F238E27FC236}">
                <a16:creationId xmlns:a16="http://schemas.microsoft.com/office/drawing/2014/main" xmlns="" id="{CBDC52CD-1D62-48AF-A9DF-9F18AEA2B1F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801385" y="-114300"/>
            <a:ext cx="1301859" cy="920356"/>
          </a:xfrm>
          <a:prstGeom prst="rect">
            <a:avLst/>
          </a:prstGeom>
        </p:spPr>
      </p:pic>
      <p:pic>
        <p:nvPicPr>
          <p:cNvPr id="14" name="图片 13">
            <a:extLst>
              <a:ext uri="{FF2B5EF4-FFF2-40B4-BE49-F238E27FC236}">
                <a16:creationId xmlns:a16="http://schemas.microsoft.com/office/drawing/2014/main" xmlns="" id="{F78DA958-9B1B-47DA-A870-8C0B3A7D8866}"/>
              </a:ext>
            </a:extLst>
          </p:cNvPr>
          <p:cNvPicPr>
            <a:picLocks noChangeAspect="1"/>
          </p:cNvPicPr>
          <p:nvPr/>
        </p:nvPicPr>
        <p:blipFill rotWithShape="1">
          <a:blip r:embed="rId4" cstate="print">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rcRect b="63537"/>
          <a:stretch/>
        </p:blipFill>
        <p:spPr>
          <a:xfrm>
            <a:off x="11184164" y="217733"/>
            <a:ext cx="572339" cy="337210"/>
          </a:xfrm>
          <a:prstGeom prst="rect">
            <a:avLst/>
          </a:prstGeom>
        </p:spPr>
      </p:pic>
      <p:cxnSp>
        <p:nvCxnSpPr>
          <p:cNvPr id="15" name="直接连接符 14">
            <a:extLst>
              <a:ext uri="{FF2B5EF4-FFF2-40B4-BE49-F238E27FC236}">
                <a16:creationId xmlns:a16="http://schemas.microsoft.com/office/drawing/2014/main" xmlns="" id="{93240A06-D526-4907-A163-94ABB41190CC}"/>
              </a:ext>
            </a:extLst>
          </p:cNvPr>
          <p:cNvCxnSpPr/>
          <p:nvPr/>
        </p:nvCxnSpPr>
        <p:spPr>
          <a:xfrm>
            <a:off x="11103244" y="225825"/>
            <a:ext cx="0" cy="2435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16" name="图片 15">
            <a:extLst>
              <a:ext uri="{FF2B5EF4-FFF2-40B4-BE49-F238E27FC236}">
                <a16:creationId xmlns:a16="http://schemas.microsoft.com/office/drawing/2014/main" xmlns="" id="{9D9CC490-11D4-4019-960D-2E0BA57F3E51}"/>
              </a:ext>
            </a:extLst>
          </p:cNvPr>
          <p:cNvPicPr>
            <a:picLocks noChangeAspect="1"/>
          </p:cNvPicPr>
          <p:nvPr/>
        </p:nvPicPr>
        <p:blipFill rotWithShape="1">
          <a:blip r:embed="rId2"/>
          <a:srcRect l="60878"/>
          <a:stretch/>
        </p:blipFill>
        <p:spPr>
          <a:xfrm>
            <a:off x="-5051700" y="547581"/>
            <a:ext cx="6269207" cy="5314808"/>
          </a:xfrm>
          <a:prstGeom prst="rect">
            <a:avLst/>
          </a:prstGeom>
          <a:solidFill>
            <a:srgbClr val="0A0F23"/>
          </a:solidFill>
          <a:effectLst>
            <a:softEdge rad="927100"/>
          </a:effectLst>
        </p:spPr>
      </p:pic>
    </p:spTree>
    <p:extLst>
      <p:ext uri="{BB962C8B-B14F-4D97-AF65-F5344CB8AC3E}">
        <p14:creationId xmlns:p14="http://schemas.microsoft.com/office/powerpoint/2010/main" val="3538117493"/>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0A0F23"/>
        </a:solidFill>
        <a:effectLst/>
      </p:bgPr>
    </p:bg>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xmlns="" id="{CBDC52CD-1D62-48AF-A9DF-9F18AEA2B1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01385" y="-114300"/>
            <a:ext cx="1301859" cy="920356"/>
          </a:xfrm>
          <a:prstGeom prst="rect">
            <a:avLst/>
          </a:prstGeom>
        </p:spPr>
      </p:pic>
      <p:pic>
        <p:nvPicPr>
          <p:cNvPr id="14" name="图片 13">
            <a:extLst>
              <a:ext uri="{FF2B5EF4-FFF2-40B4-BE49-F238E27FC236}">
                <a16:creationId xmlns:a16="http://schemas.microsoft.com/office/drawing/2014/main" xmlns="" id="{F78DA958-9B1B-47DA-A870-8C0B3A7D8866}"/>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b="63537"/>
          <a:stretch/>
        </p:blipFill>
        <p:spPr>
          <a:xfrm>
            <a:off x="11184164" y="217733"/>
            <a:ext cx="572339" cy="337210"/>
          </a:xfrm>
          <a:prstGeom prst="rect">
            <a:avLst/>
          </a:prstGeom>
        </p:spPr>
      </p:pic>
      <p:cxnSp>
        <p:nvCxnSpPr>
          <p:cNvPr id="15" name="直接连接符 14">
            <a:extLst>
              <a:ext uri="{FF2B5EF4-FFF2-40B4-BE49-F238E27FC236}">
                <a16:creationId xmlns:a16="http://schemas.microsoft.com/office/drawing/2014/main" xmlns="" id="{93240A06-D526-4907-A163-94ABB41190CC}"/>
              </a:ext>
            </a:extLst>
          </p:cNvPr>
          <p:cNvCxnSpPr/>
          <p:nvPr/>
        </p:nvCxnSpPr>
        <p:spPr>
          <a:xfrm>
            <a:off x="11103244" y="225825"/>
            <a:ext cx="0" cy="2435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xmlns="" id="{74C59758-12AB-44A5-92FA-DB52904027AE}"/>
              </a:ext>
            </a:extLst>
          </p:cNvPr>
          <p:cNvSpPr/>
          <p:nvPr/>
        </p:nvSpPr>
        <p:spPr>
          <a:xfrm>
            <a:off x="802332" y="1214542"/>
            <a:ext cx="10765483" cy="1338828"/>
          </a:xfrm>
          <a:prstGeom prst="rect">
            <a:avLst/>
          </a:prstGeom>
        </p:spPr>
        <p:txBody>
          <a:bodyPr wrap="square">
            <a:spAutoFit/>
          </a:bodyPr>
          <a:lstStyle/>
          <a:p>
            <a:pPr indent="457200">
              <a:lnSpc>
                <a:spcPct val="150000"/>
              </a:lnSpc>
            </a:pPr>
            <a:r>
              <a:rPr lang="zh-CN" altLang="en-US" dirty="0" smtClean="0">
                <a:solidFill>
                  <a:prstClr val="white"/>
                </a:solidFill>
                <a:latin typeface="微软雅黑" panose="020B0503020204020204" pitchFamily="34" charset="-122"/>
                <a:ea typeface="微软雅黑" panose="020B0503020204020204" pitchFamily="34" charset="-122"/>
              </a:rPr>
              <a:t>主从</a:t>
            </a:r>
            <a:r>
              <a:rPr lang="zh-CN" altLang="en-US" dirty="0">
                <a:solidFill>
                  <a:prstClr val="white"/>
                </a:solidFill>
                <a:latin typeface="微软雅黑" panose="020B0503020204020204" pitchFamily="34" charset="-122"/>
                <a:ea typeface="微软雅黑" panose="020B0503020204020204" pitchFamily="34" charset="-122"/>
              </a:rPr>
              <a:t>模式</a:t>
            </a:r>
            <a:r>
              <a:rPr lang="zh-CN" altLang="en-US" dirty="0" smtClean="0">
                <a:solidFill>
                  <a:prstClr val="white"/>
                </a:solidFill>
                <a:latin typeface="微软雅黑" panose="020B0503020204020204" pitchFamily="34" charset="-122"/>
                <a:ea typeface="微软雅黑" panose="020B0503020204020204" pitchFamily="34" charset="-122"/>
              </a:rPr>
              <a:t>严格来说算不上是集群，当</a:t>
            </a:r>
            <a:r>
              <a:rPr lang="en-US" altLang="zh-CN" dirty="0" smtClean="0">
                <a:solidFill>
                  <a:prstClr val="white"/>
                </a:solidFill>
                <a:latin typeface="微软雅黑" panose="020B0503020204020204" pitchFamily="34" charset="-122"/>
                <a:ea typeface="微软雅黑" panose="020B0503020204020204" pitchFamily="34" charset="-122"/>
              </a:rPr>
              <a:t>master</a:t>
            </a:r>
            <a:r>
              <a:rPr lang="zh-CN" altLang="en-US" dirty="0" smtClean="0">
                <a:solidFill>
                  <a:prstClr val="white"/>
                </a:solidFill>
                <a:latin typeface="微软雅黑" panose="020B0503020204020204" pitchFamily="34" charset="-122"/>
                <a:ea typeface="微软雅黑" panose="020B0503020204020204" pitchFamily="34" charset="-122"/>
              </a:rPr>
              <a:t>节点挂掉的时候，需要运维手动把</a:t>
            </a:r>
            <a:r>
              <a:rPr lang="en-US" altLang="zh-CN" dirty="0" smtClean="0">
                <a:solidFill>
                  <a:prstClr val="white"/>
                </a:solidFill>
                <a:latin typeface="微软雅黑" panose="020B0503020204020204" pitchFamily="34" charset="-122"/>
                <a:ea typeface="微软雅黑" panose="020B0503020204020204" pitchFamily="34" charset="-122"/>
              </a:rPr>
              <a:t>slave</a:t>
            </a:r>
            <a:r>
              <a:rPr lang="zh-CN" altLang="en-US" dirty="0" smtClean="0">
                <a:solidFill>
                  <a:prstClr val="white"/>
                </a:solidFill>
                <a:latin typeface="微软雅黑" panose="020B0503020204020204" pitchFamily="34" charset="-122"/>
                <a:ea typeface="微软雅黑" panose="020B0503020204020204" pitchFamily="34" charset="-122"/>
              </a:rPr>
              <a:t>节点切换为</a:t>
            </a:r>
            <a:r>
              <a:rPr lang="en-US" altLang="zh-CN" dirty="0" smtClean="0">
                <a:solidFill>
                  <a:prstClr val="white"/>
                </a:solidFill>
                <a:latin typeface="微软雅黑" panose="020B0503020204020204" pitchFamily="34" charset="-122"/>
                <a:ea typeface="微软雅黑" panose="020B0503020204020204" pitchFamily="34" charset="-122"/>
              </a:rPr>
              <a:t>master</a:t>
            </a:r>
            <a:r>
              <a:rPr lang="zh-CN" altLang="en-US" dirty="0" smtClean="0">
                <a:solidFill>
                  <a:prstClr val="white"/>
                </a:solidFill>
                <a:latin typeface="微软雅黑" panose="020B0503020204020204" pitchFamily="34" charset="-122"/>
                <a:ea typeface="微软雅黑" panose="020B0503020204020204" pitchFamily="34" charset="-122"/>
              </a:rPr>
              <a:t>，主从模式的意义在于缩短了故障恢复的时间。因为当</a:t>
            </a:r>
            <a:r>
              <a:rPr lang="en-US" altLang="zh-CN" dirty="0" err="1" smtClean="0">
                <a:solidFill>
                  <a:prstClr val="white"/>
                </a:solidFill>
                <a:latin typeface="微软雅黑" panose="020B0503020204020204" pitchFamily="34" charset="-122"/>
                <a:ea typeface="微软雅黑" panose="020B0503020204020204" pitchFamily="34" charset="-122"/>
              </a:rPr>
              <a:t>redis</a:t>
            </a:r>
            <a:r>
              <a:rPr lang="zh-CN" altLang="en-US" dirty="0" smtClean="0">
                <a:solidFill>
                  <a:prstClr val="white"/>
                </a:solidFill>
                <a:latin typeface="微软雅黑" panose="020B0503020204020204" pitchFamily="34" charset="-122"/>
                <a:ea typeface="微软雅黑" panose="020B0503020204020204" pitchFamily="34" charset="-122"/>
              </a:rPr>
              <a:t>重启后需要数据恢复，当数据量很大时，这个过程可能拖延很长时间。如图</a:t>
            </a:r>
            <a:r>
              <a:rPr lang="en-US" altLang="zh-CN" dirty="0" smtClean="0">
                <a:solidFill>
                  <a:prstClr val="white"/>
                </a:solidFill>
                <a:latin typeface="微软雅黑" panose="020B0503020204020204" pitchFamily="34" charset="-122"/>
                <a:ea typeface="微软雅黑" panose="020B0503020204020204" pitchFamily="34" charset="-122"/>
              </a:rPr>
              <a:t>5.1 - 1 </a:t>
            </a:r>
            <a:r>
              <a:rPr lang="zh-CN" altLang="en-US" dirty="0" smtClean="0">
                <a:solidFill>
                  <a:prstClr val="white"/>
                </a:solidFill>
                <a:latin typeface="微软雅黑" panose="020B0503020204020204" pitchFamily="34" charset="-122"/>
                <a:ea typeface="微软雅黑" panose="020B0503020204020204" pitchFamily="34" charset="-122"/>
              </a:rPr>
              <a:t>是最简单的主从同步</a:t>
            </a:r>
            <a:endParaRPr lang="zh-CN" altLang="en-US" dirty="0">
              <a:solidFill>
                <a:prstClr val="white"/>
              </a:solidFill>
              <a:latin typeface="微软雅黑" panose="020B0503020204020204" pitchFamily="34" charset="-122"/>
              <a:ea typeface="微软雅黑" panose="020B0503020204020204" pitchFamily="34" charset="-122"/>
            </a:endParaRPr>
          </a:p>
        </p:txBody>
      </p:sp>
      <p:sp>
        <p:nvSpPr>
          <p:cNvPr id="10" name="TextBox 9"/>
          <p:cNvSpPr txBox="1"/>
          <p:nvPr/>
        </p:nvSpPr>
        <p:spPr>
          <a:xfrm>
            <a:off x="704849" y="605109"/>
            <a:ext cx="10862965" cy="584775"/>
          </a:xfrm>
          <a:prstGeom prst="rect">
            <a:avLst/>
          </a:prstGeom>
          <a:noFill/>
        </p:spPr>
        <p:txBody>
          <a:bodyPr wrap="square" rtlCol="0">
            <a:spAutoFit/>
          </a:bodyPr>
          <a:lstStyle/>
          <a:p>
            <a:pPr>
              <a:defRPr/>
            </a:pPr>
            <a:r>
              <a:rPr lang="en-US" altLang="zh-CN" sz="32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5.1</a:t>
            </a:r>
            <a:r>
              <a:rPr lang="zh-CN" altLang="en-US" sz="32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、主从模式</a:t>
            </a:r>
          </a:p>
        </p:txBody>
      </p:sp>
      <p:grpSp>
        <p:nvGrpSpPr>
          <p:cNvPr id="49" name="组合 48"/>
          <p:cNvGrpSpPr/>
          <p:nvPr/>
        </p:nvGrpSpPr>
        <p:grpSpPr>
          <a:xfrm>
            <a:off x="2946399" y="3345063"/>
            <a:ext cx="5355773" cy="1698276"/>
            <a:chOff x="2946399" y="3345063"/>
            <a:chExt cx="5355773" cy="1698276"/>
          </a:xfrm>
        </p:grpSpPr>
        <p:sp>
          <p:nvSpPr>
            <p:cNvPr id="2" name="椭圆 1"/>
            <p:cNvSpPr/>
            <p:nvPr/>
          </p:nvSpPr>
          <p:spPr>
            <a:xfrm>
              <a:off x="2946399" y="3352732"/>
              <a:ext cx="1712687" cy="1204753"/>
            </a:xfrm>
            <a:prstGeom prst="ellipse">
              <a:avLst/>
            </a:prstGeom>
            <a:solidFill>
              <a:schemeClr val="accent4">
                <a:lumMod val="75000"/>
              </a:schemeClr>
            </a:solidFill>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2400" dirty="0" smtClean="0"/>
                <a:t>master</a:t>
              </a:r>
              <a:endParaRPr lang="zh-CN" altLang="en-US" sz="2400" dirty="0"/>
            </a:p>
          </p:txBody>
        </p:sp>
        <p:sp>
          <p:nvSpPr>
            <p:cNvPr id="12" name="椭圆 11"/>
            <p:cNvSpPr/>
            <p:nvPr/>
          </p:nvSpPr>
          <p:spPr>
            <a:xfrm>
              <a:off x="6629817" y="3345063"/>
              <a:ext cx="1672355" cy="1212422"/>
            </a:xfrm>
            <a:prstGeom prst="ellipse">
              <a:avLst/>
            </a:prstGeom>
            <a:solidFill>
              <a:schemeClr val="accent5">
                <a:lumMod val="60000"/>
                <a:lumOff val="40000"/>
              </a:schemeClr>
            </a:solidFill>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2400" dirty="0" smtClean="0"/>
                <a:t>slave</a:t>
              </a:r>
              <a:endParaRPr lang="zh-CN" altLang="en-US" sz="2400" dirty="0"/>
            </a:p>
          </p:txBody>
        </p:sp>
        <p:cxnSp>
          <p:nvCxnSpPr>
            <p:cNvPr id="5" name="曲线连接符 4"/>
            <p:cNvCxnSpPr>
              <a:stCxn id="2" idx="6"/>
              <a:endCxn id="12" idx="2"/>
            </p:cNvCxnSpPr>
            <p:nvPr/>
          </p:nvCxnSpPr>
          <p:spPr>
            <a:xfrm flipV="1">
              <a:off x="4659086" y="3951274"/>
              <a:ext cx="1970731" cy="3835"/>
            </a:xfrm>
            <a:prstGeom prst="curvedConnector3">
              <a:avLst/>
            </a:prstGeom>
            <a:ln w="25400" cmpd="sng">
              <a:solidFill>
                <a:srgbClr val="FFC000"/>
              </a:solidFill>
              <a:prstDash val="solid"/>
              <a:headEnd type="none"/>
              <a:tailEnd type="arrow"/>
            </a:ln>
          </p:spPr>
          <p:style>
            <a:lnRef idx="1">
              <a:schemeClr val="accent1"/>
            </a:lnRef>
            <a:fillRef idx="0">
              <a:schemeClr val="accent1"/>
            </a:fillRef>
            <a:effectRef idx="0">
              <a:schemeClr val="accent1"/>
            </a:effectRef>
            <a:fontRef idx="minor">
              <a:schemeClr val="tx1"/>
            </a:fontRef>
          </p:style>
        </p:cxnSp>
        <p:sp>
          <p:nvSpPr>
            <p:cNvPr id="17" name="文本框 16"/>
            <p:cNvSpPr txBox="1"/>
            <p:nvPr/>
          </p:nvSpPr>
          <p:spPr>
            <a:xfrm>
              <a:off x="5062886" y="3463503"/>
              <a:ext cx="1163131" cy="369332"/>
            </a:xfrm>
            <a:prstGeom prst="rect">
              <a:avLst/>
            </a:prstGeom>
            <a:noFill/>
          </p:spPr>
          <p:txBody>
            <a:bodyPr wrap="square" rtlCol="0">
              <a:spAutoFit/>
            </a:bodyPr>
            <a:lstStyle/>
            <a:p>
              <a:pPr algn="l"/>
              <a:r>
                <a:rPr lang="en-US" altLang="zh-CN" dirty="0" smtClean="0">
                  <a:solidFill>
                    <a:schemeClr val="accent5"/>
                  </a:solidFill>
                  <a:latin typeface="微软雅黑" panose="020B0503020204020204" pitchFamily="34" charset="-122"/>
                  <a:ea typeface="微软雅黑" panose="020B0503020204020204" pitchFamily="34" charset="-122"/>
                </a:rPr>
                <a:t>replicate</a:t>
              </a:r>
              <a:endParaRPr lang="zh-CN" altLang="en-US" dirty="0" smtClean="0">
                <a:solidFill>
                  <a:schemeClr val="accent5"/>
                </a:solidFill>
                <a:latin typeface="微软雅黑" panose="020B0503020204020204" pitchFamily="34" charset="-122"/>
                <a:ea typeface="微软雅黑" panose="020B0503020204020204" pitchFamily="34" charset="-122"/>
              </a:endParaRPr>
            </a:p>
          </p:txBody>
        </p:sp>
        <p:sp>
          <p:nvSpPr>
            <p:cNvPr id="48" name="文本框 47"/>
            <p:cNvSpPr txBox="1"/>
            <p:nvPr/>
          </p:nvSpPr>
          <p:spPr>
            <a:xfrm>
              <a:off x="4560648" y="4674007"/>
              <a:ext cx="2104572" cy="369332"/>
            </a:xfrm>
            <a:prstGeom prst="rect">
              <a:avLst/>
            </a:prstGeom>
            <a:noFill/>
          </p:spPr>
          <p:txBody>
            <a:bodyPr wrap="square" rtlCol="0">
              <a:spAutoFit/>
            </a:bodyPr>
            <a:lstStyle/>
            <a:p>
              <a:pPr algn="ctr"/>
              <a:r>
                <a:rPr lang="zh-CN" altLang="en-US" dirty="0" smtClean="0">
                  <a:solidFill>
                    <a:schemeClr val="bg1"/>
                  </a:solidFill>
                  <a:latin typeface="微软雅黑" panose="020B0503020204020204" pitchFamily="34" charset="-122"/>
                  <a:ea typeface="微软雅黑" panose="020B0503020204020204" pitchFamily="34" charset="-122"/>
                </a:rPr>
                <a:t>图</a:t>
              </a:r>
              <a:r>
                <a:rPr lang="en-US" altLang="zh-CN" dirty="0" smtClean="0">
                  <a:solidFill>
                    <a:schemeClr val="bg1"/>
                  </a:solidFill>
                  <a:latin typeface="微软雅黑" panose="020B0503020204020204" pitchFamily="34" charset="-122"/>
                  <a:ea typeface="微软雅黑" panose="020B0503020204020204" pitchFamily="34" charset="-122"/>
                </a:rPr>
                <a:t>5.1 - 1</a:t>
              </a:r>
              <a:endParaRPr lang="zh-CN" altLang="en-US" dirty="0" smtClean="0">
                <a:solidFill>
                  <a:schemeClr val="bg1"/>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1057974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1+#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49"/>
                                        </p:tgtEl>
                                        <p:attrNameLst>
                                          <p:attrName>style.visibility</p:attrName>
                                        </p:attrNameLst>
                                      </p:cBhvr>
                                      <p:to>
                                        <p:strVal val="visible"/>
                                      </p:to>
                                    </p:set>
                                    <p:anim calcmode="lin" valueType="num">
                                      <p:cBhvr additive="base">
                                        <p:cTn id="13" dur="500" fill="hold"/>
                                        <p:tgtEl>
                                          <p:spTgt spid="49"/>
                                        </p:tgtEl>
                                        <p:attrNameLst>
                                          <p:attrName>ppt_x</p:attrName>
                                        </p:attrNameLst>
                                      </p:cBhvr>
                                      <p:tavLst>
                                        <p:tav tm="0">
                                          <p:val>
                                            <p:strVal val="0-#ppt_w/2"/>
                                          </p:val>
                                        </p:tav>
                                        <p:tav tm="100000">
                                          <p:val>
                                            <p:strVal val="#ppt_x"/>
                                          </p:val>
                                        </p:tav>
                                      </p:tavLst>
                                    </p:anim>
                                    <p:anim calcmode="lin" valueType="num">
                                      <p:cBhvr additive="base">
                                        <p:cTn id="14" dur="500" fill="hold"/>
                                        <p:tgtEl>
                                          <p:spTgt spid="4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0A0F23"/>
        </a:solidFill>
        <a:effectLst/>
      </p:bgPr>
    </p:bg>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xmlns="" id="{CBDC52CD-1D62-48AF-A9DF-9F18AEA2B1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01385" y="-114300"/>
            <a:ext cx="1301859" cy="920356"/>
          </a:xfrm>
          <a:prstGeom prst="rect">
            <a:avLst/>
          </a:prstGeom>
        </p:spPr>
      </p:pic>
      <p:pic>
        <p:nvPicPr>
          <p:cNvPr id="14" name="图片 13">
            <a:extLst>
              <a:ext uri="{FF2B5EF4-FFF2-40B4-BE49-F238E27FC236}">
                <a16:creationId xmlns:a16="http://schemas.microsoft.com/office/drawing/2014/main" xmlns="" id="{F78DA958-9B1B-47DA-A870-8C0B3A7D8866}"/>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b="63537"/>
          <a:stretch/>
        </p:blipFill>
        <p:spPr>
          <a:xfrm>
            <a:off x="11184164" y="217733"/>
            <a:ext cx="572339" cy="337210"/>
          </a:xfrm>
          <a:prstGeom prst="rect">
            <a:avLst/>
          </a:prstGeom>
        </p:spPr>
      </p:pic>
      <p:cxnSp>
        <p:nvCxnSpPr>
          <p:cNvPr id="15" name="直接连接符 14">
            <a:extLst>
              <a:ext uri="{FF2B5EF4-FFF2-40B4-BE49-F238E27FC236}">
                <a16:creationId xmlns:a16="http://schemas.microsoft.com/office/drawing/2014/main" xmlns="" id="{93240A06-D526-4907-A163-94ABB41190CC}"/>
              </a:ext>
            </a:extLst>
          </p:cNvPr>
          <p:cNvCxnSpPr/>
          <p:nvPr/>
        </p:nvCxnSpPr>
        <p:spPr>
          <a:xfrm>
            <a:off x="11103244" y="225825"/>
            <a:ext cx="0" cy="2435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xmlns="" id="{74C59758-12AB-44A5-92FA-DB52904027AE}"/>
              </a:ext>
            </a:extLst>
          </p:cNvPr>
          <p:cNvSpPr/>
          <p:nvPr/>
        </p:nvSpPr>
        <p:spPr>
          <a:xfrm>
            <a:off x="802332" y="1287114"/>
            <a:ext cx="10765483" cy="923330"/>
          </a:xfrm>
          <a:prstGeom prst="rect">
            <a:avLst/>
          </a:prstGeom>
        </p:spPr>
        <p:txBody>
          <a:bodyPr wrap="square">
            <a:spAutoFit/>
          </a:bodyPr>
          <a:lstStyle/>
          <a:p>
            <a:pPr indent="457200">
              <a:lnSpc>
                <a:spcPct val="150000"/>
              </a:lnSpc>
            </a:pPr>
            <a:r>
              <a:rPr lang="zh-CN" altLang="en-US" dirty="0" smtClean="0">
                <a:solidFill>
                  <a:prstClr val="white"/>
                </a:solidFill>
                <a:latin typeface="微软雅黑" panose="020B0503020204020204" pitchFamily="34" charset="-122"/>
                <a:ea typeface="微软雅黑" panose="020B0503020204020204" pitchFamily="34" charset="-122"/>
              </a:rPr>
              <a:t>为了提供</a:t>
            </a:r>
            <a:r>
              <a:rPr lang="en-US" altLang="zh-CN" dirty="0" err="1" smtClean="0">
                <a:solidFill>
                  <a:prstClr val="white"/>
                </a:solidFill>
                <a:latin typeface="微软雅黑" panose="020B0503020204020204" pitchFamily="34" charset="-122"/>
                <a:ea typeface="微软雅黑" panose="020B0503020204020204" pitchFamily="34" charset="-122"/>
              </a:rPr>
              <a:t>redis</a:t>
            </a:r>
            <a:r>
              <a:rPr lang="zh-CN" altLang="en-US" dirty="0" smtClean="0">
                <a:solidFill>
                  <a:prstClr val="white"/>
                </a:solidFill>
                <a:latin typeface="微软雅黑" panose="020B0503020204020204" pitchFamily="34" charset="-122"/>
                <a:ea typeface="微软雅黑" panose="020B0503020204020204" pitchFamily="34" charset="-122"/>
              </a:rPr>
              <a:t>的可用性及容灾。往往会部署多个</a:t>
            </a:r>
            <a:r>
              <a:rPr lang="en-US" altLang="zh-CN" dirty="0" smtClean="0">
                <a:solidFill>
                  <a:prstClr val="white"/>
                </a:solidFill>
                <a:latin typeface="微软雅黑" panose="020B0503020204020204" pitchFamily="34" charset="-122"/>
                <a:ea typeface="微软雅黑" panose="020B0503020204020204" pitchFamily="34" charset="-122"/>
              </a:rPr>
              <a:t>slave</a:t>
            </a:r>
            <a:r>
              <a:rPr lang="zh-CN" altLang="en-US" dirty="0" smtClean="0">
                <a:solidFill>
                  <a:prstClr val="white"/>
                </a:solidFill>
                <a:latin typeface="微软雅黑" panose="020B0503020204020204" pitchFamily="34" charset="-122"/>
                <a:ea typeface="微软雅黑" panose="020B0503020204020204" pitchFamily="34" charset="-122"/>
              </a:rPr>
              <a:t>节点。</a:t>
            </a:r>
            <a:r>
              <a:rPr lang="en-US" altLang="zh-CN" dirty="0" smtClean="0">
                <a:solidFill>
                  <a:prstClr val="white"/>
                </a:solidFill>
                <a:latin typeface="微软雅黑" panose="020B0503020204020204" pitchFamily="34" charset="-122"/>
                <a:ea typeface="微软雅黑" panose="020B0503020204020204" pitchFamily="34" charset="-122"/>
              </a:rPr>
              <a:t>slave</a:t>
            </a:r>
            <a:r>
              <a:rPr lang="zh-CN" altLang="en-US" dirty="0">
                <a:solidFill>
                  <a:prstClr val="white"/>
                </a:solidFill>
                <a:latin typeface="微软雅黑" panose="020B0503020204020204" pitchFamily="34" charset="-122"/>
                <a:ea typeface="微软雅黑" panose="020B0503020204020204" pitchFamily="34" charset="-122"/>
              </a:rPr>
              <a:t>节</a:t>
            </a:r>
            <a:r>
              <a:rPr lang="zh-CN" altLang="en-US" dirty="0" smtClean="0">
                <a:solidFill>
                  <a:prstClr val="white"/>
                </a:solidFill>
                <a:latin typeface="微软雅黑" panose="020B0503020204020204" pitchFamily="34" charset="-122"/>
                <a:ea typeface="微软雅黑" panose="020B0503020204020204" pitchFamily="34" charset="-122"/>
              </a:rPr>
              <a:t>点都从</a:t>
            </a:r>
            <a:r>
              <a:rPr lang="en-US" altLang="zh-CN" dirty="0" smtClean="0">
                <a:solidFill>
                  <a:prstClr val="white"/>
                </a:solidFill>
                <a:latin typeface="微软雅黑" panose="020B0503020204020204" pitchFamily="34" charset="-122"/>
                <a:ea typeface="微软雅黑" panose="020B0503020204020204" pitchFamily="34" charset="-122"/>
              </a:rPr>
              <a:t>master</a:t>
            </a:r>
            <a:r>
              <a:rPr lang="zh-CN" altLang="en-US" dirty="0" smtClean="0">
                <a:solidFill>
                  <a:prstClr val="white"/>
                </a:solidFill>
                <a:latin typeface="微软雅黑" panose="020B0503020204020204" pitchFamily="34" charset="-122"/>
                <a:ea typeface="微软雅黑" panose="020B0503020204020204" pitchFamily="34" charset="-122"/>
              </a:rPr>
              <a:t>节点同步数据，如图</a:t>
            </a:r>
            <a:r>
              <a:rPr lang="en-US" altLang="zh-CN" dirty="0" smtClean="0">
                <a:solidFill>
                  <a:prstClr val="white"/>
                </a:solidFill>
                <a:latin typeface="微软雅黑" panose="020B0503020204020204" pitchFamily="34" charset="-122"/>
                <a:ea typeface="微软雅黑" panose="020B0503020204020204" pitchFamily="34" charset="-122"/>
              </a:rPr>
              <a:t>5.1.1 - 1 </a:t>
            </a:r>
            <a:r>
              <a:rPr lang="zh-CN" altLang="en-US" dirty="0">
                <a:solidFill>
                  <a:prstClr val="white"/>
                </a:solidFill>
                <a:latin typeface="微软雅黑" panose="020B0503020204020204" pitchFamily="34" charset="-122"/>
                <a:ea typeface="微软雅黑" panose="020B0503020204020204" pitchFamily="34" charset="-122"/>
              </a:rPr>
              <a:t>所</a:t>
            </a:r>
            <a:r>
              <a:rPr lang="zh-CN" altLang="en-US" dirty="0" smtClean="0">
                <a:solidFill>
                  <a:prstClr val="white"/>
                </a:solidFill>
                <a:latin typeface="微软雅黑" panose="020B0503020204020204" pitchFamily="34" charset="-122"/>
                <a:ea typeface="微软雅黑" panose="020B0503020204020204" pitchFamily="34" charset="-122"/>
              </a:rPr>
              <a:t>示，展示了一主</a:t>
            </a:r>
            <a:r>
              <a:rPr lang="zh-CN" altLang="en-US" dirty="0">
                <a:solidFill>
                  <a:prstClr val="white"/>
                </a:solidFill>
                <a:latin typeface="微软雅黑" panose="020B0503020204020204" pitchFamily="34" charset="-122"/>
                <a:ea typeface="微软雅黑" panose="020B0503020204020204" pitchFamily="34" charset="-122"/>
              </a:rPr>
              <a:t>四</a:t>
            </a:r>
            <a:r>
              <a:rPr lang="zh-CN" altLang="en-US" dirty="0" smtClean="0">
                <a:solidFill>
                  <a:prstClr val="white"/>
                </a:solidFill>
                <a:latin typeface="微软雅黑" panose="020B0503020204020204" pitchFamily="34" charset="-122"/>
                <a:ea typeface="微软雅黑" panose="020B0503020204020204" pitchFamily="34" charset="-122"/>
              </a:rPr>
              <a:t>从的架构</a:t>
            </a:r>
            <a:endParaRPr lang="zh-CN" altLang="en-US" dirty="0">
              <a:solidFill>
                <a:prstClr val="white"/>
              </a:solidFill>
              <a:latin typeface="微软雅黑" panose="020B0503020204020204" pitchFamily="34" charset="-122"/>
              <a:ea typeface="微软雅黑" panose="020B0503020204020204" pitchFamily="34" charset="-122"/>
            </a:endParaRPr>
          </a:p>
        </p:txBody>
      </p:sp>
      <p:sp>
        <p:nvSpPr>
          <p:cNvPr id="10" name="TextBox 9"/>
          <p:cNvSpPr txBox="1"/>
          <p:nvPr/>
        </p:nvSpPr>
        <p:spPr>
          <a:xfrm>
            <a:off x="704850" y="605109"/>
            <a:ext cx="7689850" cy="523220"/>
          </a:xfrm>
          <a:prstGeom prst="rect">
            <a:avLst/>
          </a:prstGeom>
          <a:noFill/>
        </p:spPr>
        <p:txBody>
          <a:bodyPr wrap="square" rtlCol="0">
            <a:spAutoFit/>
          </a:bodyPr>
          <a:lstStyle/>
          <a:p>
            <a:pPr>
              <a:defRPr/>
            </a:pPr>
            <a:r>
              <a:rPr lang="en-US" altLang="zh-CN"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5.1.1 </a:t>
            </a:r>
            <a:r>
              <a:rPr lang="zh-CN" altLang="en-US"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主从同步</a:t>
            </a:r>
          </a:p>
        </p:txBody>
      </p:sp>
      <p:grpSp>
        <p:nvGrpSpPr>
          <p:cNvPr id="45" name="组合 44"/>
          <p:cNvGrpSpPr/>
          <p:nvPr/>
        </p:nvGrpSpPr>
        <p:grpSpPr>
          <a:xfrm>
            <a:off x="1509708" y="2550887"/>
            <a:ext cx="8214030" cy="3813735"/>
            <a:chOff x="1509708" y="2550887"/>
            <a:chExt cx="8214030" cy="3813735"/>
          </a:xfrm>
        </p:grpSpPr>
        <p:sp>
          <p:nvSpPr>
            <p:cNvPr id="8" name="椭圆 7"/>
            <p:cNvSpPr/>
            <p:nvPr/>
          </p:nvSpPr>
          <p:spPr>
            <a:xfrm>
              <a:off x="4762726" y="3724177"/>
              <a:ext cx="1712687" cy="1204753"/>
            </a:xfrm>
            <a:prstGeom prst="ellipse">
              <a:avLst/>
            </a:prstGeom>
            <a:solidFill>
              <a:schemeClr val="accent4">
                <a:lumMod val="75000"/>
              </a:schemeClr>
            </a:solidFill>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2400" dirty="0" smtClean="0"/>
                <a:t>master</a:t>
              </a:r>
              <a:endParaRPr lang="zh-CN" altLang="en-US" sz="2400" dirty="0"/>
            </a:p>
          </p:txBody>
        </p:sp>
        <p:sp>
          <p:nvSpPr>
            <p:cNvPr id="12" name="椭圆 11"/>
            <p:cNvSpPr/>
            <p:nvPr/>
          </p:nvSpPr>
          <p:spPr>
            <a:xfrm>
              <a:off x="8129030" y="2550887"/>
              <a:ext cx="1551999" cy="1190195"/>
            </a:xfrm>
            <a:prstGeom prst="ellipse">
              <a:avLst/>
            </a:prstGeom>
            <a:solidFill>
              <a:schemeClr val="accent5">
                <a:lumMod val="60000"/>
                <a:lumOff val="40000"/>
              </a:schemeClr>
            </a:solidFill>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2400" dirty="0" smtClean="0"/>
                <a:t>slave</a:t>
              </a:r>
              <a:endParaRPr lang="zh-CN" altLang="en-US" sz="2400" dirty="0"/>
            </a:p>
          </p:txBody>
        </p:sp>
        <p:cxnSp>
          <p:nvCxnSpPr>
            <p:cNvPr id="17" name="曲线连接符 16"/>
            <p:cNvCxnSpPr>
              <a:stCxn id="8" idx="6"/>
              <a:endCxn id="12" idx="2"/>
            </p:cNvCxnSpPr>
            <p:nvPr/>
          </p:nvCxnSpPr>
          <p:spPr>
            <a:xfrm flipV="1">
              <a:off x="6475413" y="3145985"/>
              <a:ext cx="1653617" cy="1180569"/>
            </a:xfrm>
            <a:prstGeom prst="curvedConnector3">
              <a:avLst/>
            </a:prstGeom>
            <a:ln w="25400" cmpd="sng">
              <a:solidFill>
                <a:srgbClr val="FFC000"/>
              </a:solidFill>
              <a:prstDash val="solid"/>
              <a:headEnd type="none"/>
              <a:tailEnd type="arrow"/>
            </a:ln>
          </p:spPr>
          <p:style>
            <a:lnRef idx="1">
              <a:schemeClr val="accent1"/>
            </a:lnRef>
            <a:fillRef idx="0">
              <a:schemeClr val="accent1"/>
            </a:fillRef>
            <a:effectRef idx="0">
              <a:schemeClr val="accent1"/>
            </a:effectRef>
            <a:fontRef idx="minor">
              <a:schemeClr val="tx1"/>
            </a:fontRef>
          </p:style>
        </p:cxnSp>
        <p:cxnSp>
          <p:nvCxnSpPr>
            <p:cNvPr id="18" name="曲线连接符 17"/>
            <p:cNvCxnSpPr>
              <a:stCxn id="8" idx="6"/>
              <a:endCxn id="29" idx="2"/>
            </p:cNvCxnSpPr>
            <p:nvPr/>
          </p:nvCxnSpPr>
          <p:spPr>
            <a:xfrm>
              <a:off x="6475413" y="4326554"/>
              <a:ext cx="1696326" cy="1442971"/>
            </a:xfrm>
            <a:prstGeom prst="curvedConnector3">
              <a:avLst/>
            </a:prstGeom>
            <a:ln w="25400" cmpd="sng">
              <a:solidFill>
                <a:srgbClr val="FFC000"/>
              </a:solidFill>
              <a:prstDash val="solid"/>
              <a:headEnd type="none"/>
              <a:tailEnd type="triangle"/>
            </a:ln>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7178406" y="3741082"/>
              <a:ext cx="1163131" cy="369332"/>
            </a:xfrm>
            <a:prstGeom prst="rect">
              <a:avLst/>
            </a:prstGeom>
            <a:noFill/>
          </p:spPr>
          <p:txBody>
            <a:bodyPr wrap="square" rtlCol="0">
              <a:spAutoFit/>
            </a:bodyPr>
            <a:lstStyle/>
            <a:p>
              <a:pPr algn="l"/>
              <a:r>
                <a:rPr lang="en-US" altLang="zh-CN" dirty="0" smtClean="0">
                  <a:solidFill>
                    <a:schemeClr val="accent5"/>
                  </a:solidFill>
                  <a:latin typeface="微软雅黑" panose="020B0503020204020204" pitchFamily="34" charset="-122"/>
                  <a:ea typeface="微软雅黑" panose="020B0503020204020204" pitchFamily="34" charset="-122"/>
                </a:rPr>
                <a:t>replicate</a:t>
              </a:r>
              <a:endParaRPr lang="zh-CN" altLang="en-US" dirty="0" smtClean="0">
                <a:solidFill>
                  <a:schemeClr val="accent5"/>
                </a:solidFill>
                <a:latin typeface="微软雅黑" panose="020B0503020204020204" pitchFamily="34" charset="-122"/>
                <a:ea typeface="微软雅黑" panose="020B0503020204020204" pitchFamily="34" charset="-122"/>
              </a:endParaRPr>
            </a:p>
          </p:txBody>
        </p:sp>
        <p:sp>
          <p:nvSpPr>
            <p:cNvPr id="20" name="文本框 19"/>
            <p:cNvSpPr txBox="1"/>
            <p:nvPr/>
          </p:nvSpPr>
          <p:spPr>
            <a:xfrm>
              <a:off x="7178406" y="4781744"/>
              <a:ext cx="1163131" cy="369332"/>
            </a:xfrm>
            <a:prstGeom prst="rect">
              <a:avLst/>
            </a:prstGeom>
            <a:noFill/>
          </p:spPr>
          <p:txBody>
            <a:bodyPr wrap="square" rtlCol="0">
              <a:spAutoFit/>
            </a:bodyPr>
            <a:lstStyle/>
            <a:p>
              <a:pPr algn="l"/>
              <a:r>
                <a:rPr lang="en-US" altLang="zh-CN" dirty="0" smtClean="0">
                  <a:solidFill>
                    <a:schemeClr val="accent5"/>
                  </a:solidFill>
                  <a:latin typeface="微软雅黑" panose="020B0503020204020204" pitchFamily="34" charset="-122"/>
                  <a:ea typeface="微软雅黑" panose="020B0503020204020204" pitchFamily="34" charset="-122"/>
                </a:rPr>
                <a:t>replicate</a:t>
              </a:r>
              <a:endParaRPr lang="zh-CN" altLang="en-US" dirty="0" smtClean="0">
                <a:solidFill>
                  <a:schemeClr val="accent5"/>
                </a:solidFill>
                <a:latin typeface="微软雅黑" panose="020B0503020204020204" pitchFamily="34" charset="-122"/>
                <a:ea typeface="微软雅黑" panose="020B0503020204020204" pitchFamily="34" charset="-122"/>
              </a:endParaRPr>
            </a:p>
          </p:txBody>
        </p:sp>
        <p:sp>
          <p:nvSpPr>
            <p:cNvPr id="27" name="椭圆 26"/>
            <p:cNvSpPr/>
            <p:nvPr/>
          </p:nvSpPr>
          <p:spPr>
            <a:xfrm>
              <a:off x="1509708" y="5048039"/>
              <a:ext cx="1551999" cy="1190195"/>
            </a:xfrm>
            <a:prstGeom prst="ellipse">
              <a:avLst/>
            </a:prstGeom>
            <a:solidFill>
              <a:schemeClr val="accent5">
                <a:lumMod val="60000"/>
                <a:lumOff val="40000"/>
              </a:schemeClr>
            </a:solidFill>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2400" dirty="0" smtClean="0"/>
                <a:t>slave</a:t>
              </a:r>
              <a:endParaRPr lang="zh-CN" altLang="en-US" sz="2400" dirty="0"/>
            </a:p>
          </p:txBody>
        </p:sp>
        <p:sp>
          <p:nvSpPr>
            <p:cNvPr id="28" name="椭圆 27"/>
            <p:cNvSpPr/>
            <p:nvPr/>
          </p:nvSpPr>
          <p:spPr>
            <a:xfrm>
              <a:off x="1509708" y="2707721"/>
              <a:ext cx="1551999" cy="1190195"/>
            </a:xfrm>
            <a:prstGeom prst="ellipse">
              <a:avLst/>
            </a:prstGeom>
            <a:solidFill>
              <a:schemeClr val="accent5">
                <a:lumMod val="60000"/>
                <a:lumOff val="40000"/>
              </a:schemeClr>
            </a:solidFill>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2400" dirty="0" smtClean="0"/>
                <a:t>slave</a:t>
              </a:r>
              <a:endParaRPr lang="zh-CN" altLang="en-US" sz="2400" dirty="0"/>
            </a:p>
          </p:txBody>
        </p:sp>
        <p:sp>
          <p:nvSpPr>
            <p:cNvPr id="29" name="椭圆 28"/>
            <p:cNvSpPr/>
            <p:nvPr/>
          </p:nvSpPr>
          <p:spPr>
            <a:xfrm>
              <a:off x="8171739" y="5174427"/>
              <a:ext cx="1551999" cy="1190195"/>
            </a:xfrm>
            <a:prstGeom prst="ellipse">
              <a:avLst/>
            </a:prstGeom>
            <a:solidFill>
              <a:schemeClr val="accent5">
                <a:lumMod val="60000"/>
                <a:lumOff val="40000"/>
              </a:schemeClr>
            </a:solidFill>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2400" dirty="0" smtClean="0"/>
                <a:t>slave</a:t>
              </a:r>
              <a:endParaRPr lang="zh-CN" altLang="en-US" sz="2400" dirty="0"/>
            </a:p>
          </p:txBody>
        </p:sp>
        <p:cxnSp>
          <p:nvCxnSpPr>
            <p:cNvPr id="31" name="曲线连接符 30"/>
            <p:cNvCxnSpPr>
              <a:stCxn id="8" idx="2"/>
              <a:endCxn id="28" idx="6"/>
            </p:cNvCxnSpPr>
            <p:nvPr/>
          </p:nvCxnSpPr>
          <p:spPr>
            <a:xfrm rot="10800000">
              <a:off x="3061708" y="3302820"/>
              <a:ext cx="1701019" cy="1023735"/>
            </a:xfrm>
            <a:prstGeom prst="curvedConnector3">
              <a:avLst/>
            </a:prstGeom>
            <a:ln w="25400" cmpd="sng">
              <a:solidFill>
                <a:srgbClr val="FFC000"/>
              </a:solidFill>
              <a:prstDash val="solid"/>
              <a:headEnd type="none"/>
              <a:tailEnd type="arrow"/>
            </a:ln>
          </p:spPr>
          <p:style>
            <a:lnRef idx="1">
              <a:schemeClr val="accent1"/>
            </a:lnRef>
            <a:fillRef idx="0">
              <a:schemeClr val="accent1"/>
            </a:fillRef>
            <a:effectRef idx="0">
              <a:schemeClr val="accent1"/>
            </a:effectRef>
            <a:fontRef idx="minor">
              <a:schemeClr val="tx1"/>
            </a:fontRef>
          </p:style>
        </p:cxnSp>
        <p:cxnSp>
          <p:nvCxnSpPr>
            <p:cNvPr id="34" name="曲线连接符 33"/>
            <p:cNvCxnSpPr>
              <a:stCxn id="8" idx="2"/>
              <a:endCxn id="27" idx="6"/>
            </p:cNvCxnSpPr>
            <p:nvPr/>
          </p:nvCxnSpPr>
          <p:spPr>
            <a:xfrm rot="10800000" flipV="1">
              <a:off x="3061708" y="4326553"/>
              <a:ext cx="1701019" cy="1316583"/>
            </a:xfrm>
            <a:prstGeom prst="curvedConnector3">
              <a:avLst/>
            </a:prstGeom>
            <a:ln w="25400" cmpd="sng">
              <a:solidFill>
                <a:srgbClr val="FFC000"/>
              </a:solidFill>
              <a:prstDash val="solid"/>
              <a:headEnd type="none"/>
              <a:tailEnd type="arrow"/>
            </a:ln>
          </p:spPr>
          <p:style>
            <a:lnRef idx="1">
              <a:schemeClr val="accent1"/>
            </a:lnRef>
            <a:fillRef idx="0">
              <a:schemeClr val="accent1"/>
            </a:fillRef>
            <a:effectRef idx="0">
              <a:schemeClr val="accent1"/>
            </a:effectRef>
            <a:fontRef idx="minor">
              <a:schemeClr val="tx1"/>
            </a:fontRef>
          </p:style>
        </p:cxnSp>
        <p:sp>
          <p:nvSpPr>
            <p:cNvPr id="37" name="文本框 36"/>
            <p:cNvSpPr txBox="1"/>
            <p:nvPr/>
          </p:nvSpPr>
          <p:spPr>
            <a:xfrm>
              <a:off x="2988701" y="3771324"/>
              <a:ext cx="1163131" cy="369332"/>
            </a:xfrm>
            <a:prstGeom prst="rect">
              <a:avLst/>
            </a:prstGeom>
            <a:noFill/>
          </p:spPr>
          <p:txBody>
            <a:bodyPr wrap="square" rtlCol="0">
              <a:spAutoFit/>
            </a:bodyPr>
            <a:lstStyle/>
            <a:p>
              <a:pPr algn="l"/>
              <a:r>
                <a:rPr lang="en-US" altLang="zh-CN" dirty="0" smtClean="0">
                  <a:solidFill>
                    <a:schemeClr val="accent5"/>
                  </a:solidFill>
                  <a:latin typeface="微软雅黑" panose="020B0503020204020204" pitchFamily="34" charset="-122"/>
                  <a:ea typeface="微软雅黑" panose="020B0503020204020204" pitchFamily="34" charset="-122"/>
                </a:rPr>
                <a:t>replicate</a:t>
              </a:r>
              <a:endParaRPr lang="zh-CN" altLang="en-US" dirty="0" smtClean="0">
                <a:solidFill>
                  <a:schemeClr val="accent5"/>
                </a:solidFill>
                <a:latin typeface="微软雅黑" panose="020B0503020204020204" pitchFamily="34" charset="-122"/>
                <a:ea typeface="微软雅黑" panose="020B0503020204020204" pitchFamily="34" charset="-122"/>
              </a:endParaRPr>
            </a:p>
          </p:txBody>
        </p:sp>
        <p:sp>
          <p:nvSpPr>
            <p:cNvPr id="38" name="文本框 37"/>
            <p:cNvSpPr txBox="1"/>
            <p:nvPr/>
          </p:nvSpPr>
          <p:spPr>
            <a:xfrm>
              <a:off x="2988701" y="4811986"/>
              <a:ext cx="1163131" cy="369332"/>
            </a:xfrm>
            <a:prstGeom prst="rect">
              <a:avLst/>
            </a:prstGeom>
            <a:noFill/>
          </p:spPr>
          <p:txBody>
            <a:bodyPr wrap="square" rtlCol="0">
              <a:spAutoFit/>
            </a:bodyPr>
            <a:lstStyle/>
            <a:p>
              <a:pPr algn="l"/>
              <a:r>
                <a:rPr lang="en-US" altLang="zh-CN" dirty="0" smtClean="0">
                  <a:solidFill>
                    <a:schemeClr val="accent5"/>
                  </a:solidFill>
                  <a:latin typeface="微软雅黑" panose="020B0503020204020204" pitchFamily="34" charset="-122"/>
                  <a:ea typeface="微软雅黑" panose="020B0503020204020204" pitchFamily="34" charset="-122"/>
                </a:rPr>
                <a:t>replicate</a:t>
              </a:r>
              <a:endParaRPr lang="zh-CN" altLang="en-US" dirty="0" smtClean="0">
                <a:solidFill>
                  <a:schemeClr val="accent5"/>
                </a:solidFill>
                <a:latin typeface="微软雅黑" panose="020B0503020204020204" pitchFamily="34" charset="-122"/>
                <a:ea typeface="微软雅黑" panose="020B0503020204020204" pitchFamily="34" charset="-122"/>
              </a:endParaRPr>
            </a:p>
          </p:txBody>
        </p:sp>
      </p:grpSp>
      <p:sp>
        <p:nvSpPr>
          <p:cNvPr id="46" name="文本框 45"/>
          <p:cNvSpPr txBox="1"/>
          <p:nvPr/>
        </p:nvSpPr>
        <p:spPr>
          <a:xfrm>
            <a:off x="4827019" y="5995290"/>
            <a:ext cx="1584099" cy="369332"/>
          </a:xfrm>
          <a:prstGeom prst="rect">
            <a:avLst/>
          </a:prstGeom>
          <a:noFill/>
        </p:spPr>
        <p:txBody>
          <a:bodyPr wrap="square" rtlCol="0">
            <a:spAutoFit/>
          </a:bodyPr>
          <a:lstStyle/>
          <a:p>
            <a:pPr algn="ctr"/>
            <a:r>
              <a:rPr lang="en-US" altLang="zh-CN" dirty="0" smtClean="0">
                <a:solidFill>
                  <a:schemeClr val="bg1"/>
                </a:solidFill>
                <a:latin typeface="微软雅黑" panose="020B0503020204020204" pitchFamily="34" charset="-122"/>
                <a:ea typeface="微软雅黑" panose="020B0503020204020204" pitchFamily="34" charset="-122"/>
              </a:rPr>
              <a:t>5.1.1 - 1</a:t>
            </a:r>
            <a:endParaRPr lang="zh-CN" altLang="en-US" dirty="0" smtClean="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08153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0-#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45"/>
                                        </p:tgtEl>
                                        <p:attrNameLst>
                                          <p:attrName>style.visibility</p:attrName>
                                        </p:attrNameLst>
                                      </p:cBhvr>
                                      <p:to>
                                        <p:strVal val="visible"/>
                                      </p:to>
                                    </p:set>
                                    <p:anim calcmode="lin" valueType="num">
                                      <p:cBhvr additive="base">
                                        <p:cTn id="13" dur="500" fill="hold"/>
                                        <p:tgtEl>
                                          <p:spTgt spid="45"/>
                                        </p:tgtEl>
                                        <p:attrNameLst>
                                          <p:attrName>ppt_x</p:attrName>
                                        </p:attrNameLst>
                                      </p:cBhvr>
                                      <p:tavLst>
                                        <p:tav tm="0">
                                          <p:val>
                                            <p:strVal val="0-#ppt_w/2"/>
                                          </p:val>
                                        </p:tav>
                                        <p:tav tm="100000">
                                          <p:val>
                                            <p:strVal val="#ppt_x"/>
                                          </p:val>
                                        </p:tav>
                                      </p:tavLst>
                                    </p:anim>
                                    <p:anim calcmode="lin" valueType="num">
                                      <p:cBhvr additive="base">
                                        <p:cTn id="14" dur="500" fill="hold"/>
                                        <p:tgtEl>
                                          <p:spTgt spid="4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0A0F23"/>
        </a:solidFill>
        <a:effectLst/>
      </p:bgPr>
    </p:bg>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xmlns="" id="{CBDC52CD-1D62-48AF-A9DF-9F18AEA2B1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01385" y="-114300"/>
            <a:ext cx="1301859" cy="920356"/>
          </a:xfrm>
          <a:prstGeom prst="rect">
            <a:avLst/>
          </a:prstGeom>
        </p:spPr>
      </p:pic>
      <p:pic>
        <p:nvPicPr>
          <p:cNvPr id="14" name="图片 13">
            <a:extLst>
              <a:ext uri="{FF2B5EF4-FFF2-40B4-BE49-F238E27FC236}">
                <a16:creationId xmlns:a16="http://schemas.microsoft.com/office/drawing/2014/main" xmlns="" id="{F78DA958-9B1B-47DA-A870-8C0B3A7D8866}"/>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b="63537"/>
          <a:stretch/>
        </p:blipFill>
        <p:spPr>
          <a:xfrm>
            <a:off x="11184164" y="217733"/>
            <a:ext cx="572339" cy="337210"/>
          </a:xfrm>
          <a:prstGeom prst="rect">
            <a:avLst/>
          </a:prstGeom>
        </p:spPr>
      </p:pic>
      <p:cxnSp>
        <p:nvCxnSpPr>
          <p:cNvPr id="15" name="直接连接符 14">
            <a:extLst>
              <a:ext uri="{FF2B5EF4-FFF2-40B4-BE49-F238E27FC236}">
                <a16:creationId xmlns:a16="http://schemas.microsoft.com/office/drawing/2014/main" xmlns="" id="{93240A06-D526-4907-A163-94ABB41190CC}"/>
              </a:ext>
            </a:extLst>
          </p:cNvPr>
          <p:cNvCxnSpPr/>
          <p:nvPr/>
        </p:nvCxnSpPr>
        <p:spPr>
          <a:xfrm>
            <a:off x="11103244" y="225825"/>
            <a:ext cx="0" cy="2435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xmlns="" id="{74C59758-12AB-44A5-92FA-DB52904027AE}"/>
              </a:ext>
            </a:extLst>
          </p:cNvPr>
          <p:cNvSpPr/>
          <p:nvPr/>
        </p:nvSpPr>
        <p:spPr>
          <a:xfrm>
            <a:off x="802332" y="1287114"/>
            <a:ext cx="10765483" cy="2169825"/>
          </a:xfrm>
          <a:prstGeom prst="rect">
            <a:avLst/>
          </a:prstGeom>
        </p:spPr>
        <p:txBody>
          <a:bodyPr wrap="square">
            <a:spAutoFit/>
          </a:bodyPr>
          <a:lstStyle/>
          <a:p>
            <a:pPr indent="457200">
              <a:lnSpc>
                <a:spcPct val="150000"/>
              </a:lnSpc>
            </a:pPr>
            <a:r>
              <a:rPr lang="zh-CN" altLang="en-US" dirty="0" smtClean="0">
                <a:solidFill>
                  <a:prstClr val="white"/>
                </a:solidFill>
                <a:latin typeface="微软雅黑" panose="020B0503020204020204" pitchFamily="34" charset="-122"/>
                <a:ea typeface="微软雅黑" panose="020B0503020204020204" pitchFamily="34" charset="-122"/>
              </a:rPr>
              <a:t>所有的</a:t>
            </a:r>
            <a:r>
              <a:rPr lang="en-US" altLang="zh-CN" dirty="0" smtClean="0">
                <a:solidFill>
                  <a:prstClr val="white"/>
                </a:solidFill>
                <a:latin typeface="微软雅黑" panose="020B0503020204020204" pitchFamily="34" charset="-122"/>
                <a:ea typeface="微软雅黑" panose="020B0503020204020204" pitchFamily="34" charset="-122"/>
              </a:rPr>
              <a:t>slave</a:t>
            </a:r>
            <a:r>
              <a:rPr lang="zh-CN" altLang="en-US" dirty="0" smtClean="0">
                <a:solidFill>
                  <a:prstClr val="white"/>
                </a:solidFill>
                <a:latin typeface="微软雅黑" panose="020B0503020204020204" pitchFamily="34" charset="-122"/>
                <a:ea typeface="微软雅黑" panose="020B0503020204020204" pitchFamily="34" charset="-122"/>
              </a:rPr>
              <a:t>节点都从</a:t>
            </a:r>
            <a:r>
              <a:rPr lang="en-US" altLang="zh-CN" dirty="0" smtClean="0">
                <a:solidFill>
                  <a:prstClr val="white"/>
                </a:solidFill>
                <a:latin typeface="微软雅黑" panose="020B0503020204020204" pitchFamily="34" charset="-122"/>
                <a:ea typeface="微软雅黑" panose="020B0503020204020204" pitchFamily="34" charset="-122"/>
              </a:rPr>
              <a:t>master</a:t>
            </a:r>
            <a:r>
              <a:rPr lang="zh-CN" altLang="en-US" dirty="0" smtClean="0">
                <a:solidFill>
                  <a:prstClr val="white"/>
                </a:solidFill>
                <a:latin typeface="微软雅黑" panose="020B0503020204020204" pitchFamily="34" charset="-122"/>
                <a:ea typeface="微软雅黑" panose="020B0503020204020204" pitchFamily="34" charset="-122"/>
              </a:rPr>
              <a:t>节点同步数据，会增加</a:t>
            </a:r>
            <a:r>
              <a:rPr lang="en-US" altLang="zh-CN" dirty="0" smtClean="0">
                <a:solidFill>
                  <a:prstClr val="white"/>
                </a:solidFill>
                <a:latin typeface="微软雅黑" panose="020B0503020204020204" pitchFamily="34" charset="-122"/>
                <a:ea typeface="微软雅黑" panose="020B0503020204020204" pitchFamily="34" charset="-122"/>
              </a:rPr>
              <a:t>master</a:t>
            </a:r>
            <a:r>
              <a:rPr lang="zh-CN" altLang="en-US" dirty="0" smtClean="0">
                <a:solidFill>
                  <a:prstClr val="white"/>
                </a:solidFill>
                <a:latin typeface="微软雅黑" panose="020B0503020204020204" pitchFamily="34" charset="-122"/>
                <a:ea typeface="微软雅黑" panose="020B0503020204020204" pitchFamily="34" charset="-122"/>
              </a:rPr>
              <a:t>的负担，为了减少</a:t>
            </a:r>
            <a:r>
              <a:rPr lang="zh-CN" altLang="en-US" dirty="0">
                <a:solidFill>
                  <a:prstClr val="white"/>
                </a:solidFill>
                <a:latin typeface="微软雅黑" panose="020B0503020204020204" pitchFamily="34" charset="-122"/>
                <a:ea typeface="微软雅黑" panose="020B0503020204020204" pitchFamily="34" charset="-122"/>
              </a:rPr>
              <a:t>这</a:t>
            </a:r>
            <a:r>
              <a:rPr lang="zh-CN" altLang="en-US" dirty="0" smtClean="0">
                <a:solidFill>
                  <a:prstClr val="white"/>
                </a:solidFill>
                <a:latin typeface="微软雅黑" panose="020B0503020204020204" pitchFamily="34" charset="-122"/>
                <a:ea typeface="微软雅黑" panose="020B0503020204020204" pitchFamily="34" charset="-122"/>
              </a:rPr>
              <a:t>种压力，</a:t>
            </a:r>
            <a:r>
              <a:rPr lang="en-US" altLang="zh-CN" dirty="0" err="1" smtClean="0">
                <a:solidFill>
                  <a:prstClr val="white"/>
                </a:solidFill>
                <a:latin typeface="微软雅黑" panose="020B0503020204020204" pitchFamily="34" charset="-122"/>
                <a:ea typeface="微软雅黑" panose="020B0503020204020204" pitchFamily="34" charset="-122"/>
              </a:rPr>
              <a:t>redis</a:t>
            </a:r>
            <a:r>
              <a:rPr lang="zh-CN" altLang="en-US" dirty="0" smtClean="0">
                <a:solidFill>
                  <a:prstClr val="white"/>
                </a:solidFill>
                <a:latin typeface="微软雅黑" panose="020B0503020204020204" pitchFamily="34" charset="-122"/>
                <a:ea typeface="微软雅黑" panose="020B0503020204020204" pitchFamily="34" charset="-122"/>
              </a:rPr>
              <a:t>提供了从从同步的功能。只一部分</a:t>
            </a:r>
            <a:r>
              <a:rPr lang="en-US" altLang="zh-CN" dirty="0" smtClean="0">
                <a:solidFill>
                  <a:prstClr val="white"/>
                </a:solidFill>
                <a:latin typeface="微软雅黑" panose="020B0503020204020204" pitchFamily="34" charset="-122"/>
                <a:ea typeface="微软雅黑" panose="020B0503020204020204" pitchFamily="34" charset="-122"/>
              </a:rPr>
              <a:t>slave</a:t>
            </a:r>
            <a:r>
              <a:rPr lang="zh-CN" altLang="en-US" dirty="0" smtClean="0">
                <a:solidFill>
                  <a:prstClr val="white"/>
                </a:solidFill>
                <a:latin typeface="微软雅黑" panose="020B0503020204020204" pitchFamily="34" charset="-122"/>
                <a:ea typeface="微软雅黑" panose="020B0503020204020204" pitchFamily="34" charset="-122"/>
              </a:rPr>
              <a:t>节点直接从</a:t>
            </a:r>
            <a:r>
              <a:rPr lang="en-US" altLang="zh-CN" dirty="0" smtClean="0">
                <a:solidFill>
                  <a:prstClr val="white"/>
                </a:solidFill>
                <a:latin typeface="微软雅黑" panose="020B0503020204020204" pitchFamily="34" charset="-122"/>
                <a:ea typeface="微软雅黑" panose="020B0503020204020204" pitchFamily="34" charset="-122"/>
              </a:rPr>
              <a:t>master</a:t>
            </a:r>
            <a:r>
              <a:rPr lang="zh-CN" altLang="en-US" dirty="0" smtClean="0">
                <a:solidFill>
                  <a:prstClr val="white"/>
                </a:solidFill>
                <a:latin typeface="微软雅黑" panose="020B0503020204020204" pitchFamily="34" charset="-122"/>
                <a:ea typeface="微软雅黑" panose="020B0503020204020204" pitchFamily="34" charset="-122"/>
              </a:rPr>
              <a:t>同步数据，其它的</a:t>
            </a:r>
            <a:r>
              <a:rPr lang="en-US" altLang="zh-CN" dirty="0" smtClean="0">
                <a:solidFill>
                  <a:prstClr val="white"/>
                </a:solidFill>
                <a:latin typeface="微软雅黑" panose="020B0503020204020204" pitchFamily="34" charset="-122"/>
                <a:ea typeface="微软雅黑" panose="020B0503020204020204" pitchFamily="34" charset="-122"/>
              </a:rPr>
              <a:t>slave</a:t>
            </a:r>
            <a:r>
              <a:rPr lang="zh-CN" altLang="en-US" dirty="0" smtClean="0">
                <a:solidFill>
                  <a:prstClr val="white"/>
                </a:solidFill>
                <a:latin typeface="微软雅黑" panose="020B0503020204020204" pitchFamily="34" charset="-122"/>
                <a:ea typeface="微软雅黑" panose="020B0503020204020204" pitchFamily="34" charset="-122"/>
              </a:rPr>
              <a:t>节点再从这部分</a:t>
            </a:r>
            <a:r>
              <a:rPr lang="en-US" altLang="zh-CN" dirty="0" smtClean="0">
                <a:solidFill>
                  <a:prstClr val="white"/>
                </a:solidFill>
                <a:latin typeface="微软雅黑" panose="020B0503020204020204" pitchFamily="34" charset="-122"/>
                <a:ea typeface="微软雅黑" panose="020B0503020204020204" pitchFamily="34" charset="-122"/>
              </a:rPr>
              <a:t>slave</a:t>
            </a:r>
            <a:r>
              <a:rPr lang="zh-CN" altLang="en-US" dirty="0" smtClean="0">
                <a:solidFill>
                  <a:prstClr val="white"/>
                </a:solidFill>
                <a:latin typeface="微软雅黑" panose="020B0503020204020204" pitchFamily="34" charset="-122"/>
                <a:ea typeface="微软雅黑" panose="020B0503020204020204" pitchFamily="34" charset="-122"/>
              </a:rPr>
              <a:t>节点同步数据。</a:t>
            </a:r>
            <a:endParaRPr lang="en-US" altLang="zh-CN" dirty="0" smtClean="0">
              <a:solidFill>
                <a:prstClr val="white"/>
              </a:solidFill>
              <a:latin typeface="微软雅黑" panose="020B0503020204020204" pitchFamily="34" charset="-122"/>
              <a:ea typeface="微软雅黑" panose="020B0503020204020204" pitchFamily="34" charset="-122"/>
            </a:endParaRPr>
          </a:p>
          <a:p>
            <a:pPr indent="457200">
              <a:lnSpc>
                <a:spcPct val="150000"/>
              </a:lnSpc>
            </a:pPr>
            <a:r>
              <a:rPr lang="zh-CN" altLang="en-US" dirty="0" smtClean="0">
                <a:solidFill>
                  <a:prstClr val="white"/>
                </a:solidFill>
                <a:latin typeface="微软雅黑" panose="020B0503020204020204" pitchFamily="34" charset="-122"/>
                <a:ea typeface="微软雅黑" panose="020B0503020204020204" pitchFamily="34" charset="-122"/>
              </a:rPr>
              <a:t>从从同步会加重间接同步的</a:t>
            </a:r>
            <a:r>
              <a:rPr lang="en-US" altLang="zh-CN" dirty="0" smtClean="0">
                <a:solidFill>
                  <a:prstClr val="white"/>
                </a:solidFill>
                <a:latin typeface="微软雅黑" panose="020B0503020204020204" pitchFamily="34" charset="-122"/>
                <a:ea typeface="微软雅黑" panose="020B0503020204020204" pitchFamily="34" charset="-122"/>
              </a:rPr>
              <a:t>slave</a:t>
            </a:r>
            <a:r>
              <a:rPr lang="zh-CN" altLang="en-US" dirty="0" smtClean="0">
                <a:solidFill>
                  <a:prstClr val="white"/>
                </a:solidFill>
                <a:latin typeface="微软雅黑" panose="020B0503020204020204" pitchFamily="34" charset="-122"/>
                <a:ea typeface="微软雅黑" panose="020B0503020204020204" pitchFamily="34" charset="-122"/>
              </a:rPr>
              <a:t>节点数据的延迟。如图</a:t>
            </a:r>
            <a:r>
              <a:rPr lang="en-US" altLang="zh-CN" dirty="0" smtClean="0">
                <a:solidFill>
                  <a:prstClr val="white"/>
                </a:solidFill>
                <a:latin typeface="微软雅黑" panose="020B0503020204020204" pitchFamily="34" charset="-122"/>
                <a:ea typeface="微软雅黑" panose="020B0503020204020204" pitchFamily="34" charset="-122"/>
              </a:rPr>
              <a:t>5.1.2 - 1 </a:t>
            </a:r>
            <a:r>
              <a:rPr lang="zh-CN" altLang="en-US" dirty="0" smtClean="0">
                <a:solidFill>
                  <a:prstClr val="white"/>
                </a:solidFill>
                <a:latin typeface="微软雅黑" panose="020B0503020204020204" pitchFamily="34" charset="-122"/>
                <a:ea typeface="微软雅黑" panose="020B0503020204020204" pitchFamily="34" charset="-122"/>
              </a:rPr>
              <a:t>是一主四从的结构，其中</a:t>
            </a:r>
            <a:r>
              <a:rPr lang="en-US" altLang="zh-CN" dirty="0" smtClean="0">
                <a:solidFill>
                  <a:prstClr val="white"/>
                </a:solidFill>
                <a:latin typeface="微软雅黑" panose="020B0503020204020204" pitchFamily="34" charset="-122"/>
                <a:ea typeface="微软雅黑" panose="020B0503020204020204" pitchFamily="34" charset="-122"/>
              </a:rPr>
              <a:t>slave3</a:t>
            </a:r>
            <a:r>
              <a:rPr lang="zh-CN" altLang="en-US" dirty="0" smtClean="0">
                <a:solidFill>
                  <a:prstClr val="white"/>
                </a:solidFill>
                <a:latin typeface="微软雅黑" panose="020B0503020204020204" pitchFamily="34" charset="-122"/>
                <a:ea typeface="微软雅黑" panose="020B0503020204020204" pitchFamily="34" charset="-122"/>
              </a:rPr>
              <a:t>和</a:t>
            </a:r>
            <a:r>
              <a:rPr lang="en-US" altLang="zh-CN" dirty="0" smtClean="0">
                <a:solidFill>
                  <a:prstClr val="white"/>
                </a:solidFill>
                <a:latin typeface="微软雅黑" panose="020B0503020204020204" pitchFamily="34" charset="-122"/>
                <a:ea typeface="微软雅黑" panose="020B0503020204020204" pitchFamily="34" charset="-122"/>
              </a:rPr>
              <a:t>slave4</a:t>
            </a:r>
            <a:r>
              <a:rPr lang="zh-CN" altLang="en-US" dirty="0">
                <a:solidFill>
                  <a:prstClr val="white"/>
                </a:solidFill>
                <a:latin typeface="微软雅黑" panose="020B0503020204020204" pitchFamily="34" charset="-122"/>
                <a:ea typeface="微软雅黑" panose="020B0503020204020204" pitchFamily="34" charset="-122"/>
              </a:rPr>
              <a:t>这</a:t>
            </a:r>
            <a:r>
              <a:rPr lang="zh-CN" altLang="en-US" dirty="0" smtClean="0">
                <a:solidFill>
                  <a:prstClr val="white"/>
                </a:solidFill>
                <a:latin typeface="微软雅黑" panose="020B0503020204020204" pitchFamily="34" charset="-122"/>
                <a:ea typeface="微软雅黑" panose="020B0503020204020204" pitchFamily="34" charset="-122"/>
              </a:rPr>
              <a:t>两个节点，间接同步数据。</a:t>
            </a:r>
            <a:endParaRPr lang="zh-CN" altLang="en-US" dirty="0">
              <a:solidFill>
                <a:prstClr val="white"/>
              </a:solidFill>
              <a:latin typeface="微软雅黑" panose="020B0503020204020204" pitchFamily="34" charset="-122"/>
              <a:ea typeface="微软雅黑" panose="020B0503020204020204" pitchFamily="34" charset="-122"/>
            </a:endParaRPr>
          </a:p>
        </p:txBody>
      </p:sp>
      <p:sp>
        <p:nvSpPr>
          <p:cNvPr id="10" name="TextBox 9"/>
          <p:cNvSpPr txBox="1"/>
          <p:nvPr/>
        </p:nvSpPr>
        <p:spPr>
          <a:xfrm>
            <a:off x="704850" y="605109"/>
            <a:ext cx="8883650" cy="523220"/>
          </a:xfrm>
          <a:prstGeom prst="rect">
            <a:avLst/>
          </a:prstGeom>
          <a:noFill/>
        </p:spPr>
        <p:txBody>
          <a:bodyPr wrap="square" rtlCol="0">
            <a:spAutoFit/>
          </a:bodyPr>
          <a:lstStyle/>
          <a:p>
            <a:pPr>
              <a:defRPr/>
            </a:pPr>
            <a:r>
              <a:rPr lang="en-US" altLang="zh-CN"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5.1.2 </a:t>
            </a:r>
            <a:r>
              <a:rPr lang="zh-CN" altLang="en-US"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从从同步</a:t>
            </a:r>
          </a:p>
        </p:txBody>
      </p:sp>
      <p:grpSp>
        <p:nvGrpSpPr>
          <p:cNvPr id="2" name="组合 1"/>
          <p:cNvGrpSpPr/>
          <p:nvPr/>
        </p:nvGrpSpPr>
        <p:grpSpPr>
          <a:xfrm>
            <a:off x="1449588" y="3865736"/>
            <a:ext cx="7615368" cy="2722922"/>
            <a:chOff x="1449588" y="3865736"/>
            <a:chExt cx="7615368" cy="2722922"/>
          </a:xfrm>
        </p:grpSpPr>
        <p:grpSp>
          <p:nvGrpSpPr>
            <p:cNvPr id="8" name="组合 7"/>
            <p:cNvGrpSpPr/>
            <p:nvPr/>
          </p:nvGrpSpPr>
          <p:grpSpPr>
            <a:xfrm>
              <a:off x="1449588" y="3865736"/>
              <a:ext cx="5032799" cy="2722922"/>
              <a:chOff x="1449588" y="3386770"/>
              <a:chExt cx="5032799" cy="2722922"/>
            </a:xfrm>
          </p:grpSpPr>
          <p:sp>
            <p:nvSpPr>
              <p:cNvPr id="12" name="椭圆 11"/>
              <p:cNvSpPr/>
              <p:nvPr/>
            </p:nvSpPr>
            <p:spPr>
              <a:xfrm>
                <a:off x="1449588" y="3807937"/>
                <a:ext cx="1554869" cy="1083378"/>
              </a:xfrm>
              <a:prstGeom prst="ellipse">
                <a:avLst/>
              </a:prstGeom>
              <a:solidFill>
                <a:schemeClr val="accent4">
                  <a:lumMod val="75000"/>
                </a:schemeClr>
              </a:solidFill>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2400" dirty="0" smtClean="0"/>
                  <a:t>master</a:t>
                </a:r>
                <a:endParaRPr lang="zh-CN" altLang="en-US" sz="2400" dirty="0"/>
              </a:p>
            </p:txBody>
          </p:sp>
          <p:sp>
            <p:nvSpPr>
              <p:cNvPr id="16" name="椭圆 15"/>
              <p:cNvSpPr/>
              <p:nvPr/>
            </p:nvSpPr>
            <p:spPr>
              <a:xfrm>
                <a:off x="4706146" y="3386770"/>
                <a:ext cx="1447911" cy="982030"/>
              </a:xfrm>
              <a:prstGeom prst="ellipse">
                <a:avLst/>
              </a:prstGeom>
              <a:solidFill>
                <a:schemeClr val="accent5">
                  <a:lumMod val="60000"/>
                  <a:lumOff val="40000"/>
                </a:schemeClr>
              </a:solidFill>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2400" dirty="0" smtClean="0"/>
                  <a:t>slave1</a:t>
                </a:r>
                <a:endParaRPr lang="zh-CN" altLang="en-US" sz="2400" dirty="0"/>
              </a:p>
            </p:txBody>
          </p:sp>
          <p:cxnSp>
            <p:nvCxnSpPr>
              <p:cNvPr id="17" name="曲线连接符 16"/>
              <p:cNvCxnSpPr>
                <a:stCxn id="12" idx="6"/>
                <a:endCxn id="16" idx="2"/>
              </p:cNvCxnSpPr>
              <p:nvPr/>
            </p:nvCxnSpPr>
            <p:spPr>
              <a:xfrm flipV="1">
                <a:off x="3004457" y="3877785"/>
                <a:ext cx="1701689" cy="471841"/>
              </a:xfrm>
              <a:prstGeom prst="curvedConnector3">
                <a:avLst/>
              </a:prstGeom>
              <a:ln w="25400" cmpd="sng">
                <a:solidFill>
                  <a:srgbClr val="FFC000"/>
                </a:solidFill>
                <a:prstDash val="solid"/>
                <a:headEnd type="none"/>
                <a:tailEnd type="arrow"/>
              </a:ln>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a:xfrm>
                <a:off x="3495956" y="3488058"/>
                <a:ext cx="1163131" cy="369332"/>
              </a:xfrm>
              <a:prstGeom prst="rect">
                <a:avLst/>
              </a:prstGeom>
              <a:noFill/>
            </p:spPr>
            <p:txBody>
              <a:bodyPr wrap="square" rtlCol="0">
                <a:spAutoFit/>
              </a:bodyPr>
              <a:lstStyle/>
              <a:p>
                <a:pPr algn="l"/>
                <a:r>
                  <a:rPr lang="en-US" altLang="zh-CN" dirty="0" smtClean="0">
                    <a:solidFill>
                      <a:schemeClr val="accent5"/>
                    </a:solidFill>
                    <a:latin typeface="微软雅黑" panose="020B0503020204020204" pitchFamily="34" charset="-122"/>
                    <a:ea typeface="微软雅黑" panose="020B0503020204020204" pitchFamily="34" charset="-122"/>
                  </a:rPr>
                  <a:t>replicate</a:t>
                </a:r>
                <a:endParaRPr lang="zh-CN" altLang="en-US" dirty="0" smtClean="0">
                  <a:solidFill>
                    <a:schemeClr val="accent5"/>
                  </a:solidFill>
                  <a:latin typeface="微软雅黑" panose="020B0503020204020204" pitchFamily="34" charset="-122"/>
                  <a:ea typeface="微软雅黑" panose="020B0503020204020204" pitchFamily="34" charset="-122"/>
                </a:endParaRPr>
              </a:p>
            </p:txBody>
          </p:sp>
          <p:sp>
            <p:nvSpPr>
              <p:cNvPr id="19" name="文本框 18"/>
              <p:cNvSpPr txBox="1"/>
              <p:nvPr/>
            </p:nvSpPr>
            <p:spPr>
              <a:xfrm>
                <a:off x="4377815" y="5740360"/>
                <a:ext cx="2104572" cy="369332"/>
              </a:xfrm>
              <a:prstGeom prst="rect">
                <a:avLst/>
              </a:prstGeom>
              <a:noFill/>
            </p:spPr>
            <p:txBody>
              <a:bodyPr wrap="square" rtlCol="0">
                <a:spAutoFit/>
              </a:bodyPr>
              <a:lstStyle/>
              <a:p>
                <a:pPr algn="ctr"/>
                <a:r>
                  <a:rPr lang="zh-CN" altLang="en-US" dirty="0" smtClean="0">
                    <a:solidFill>
                      <a:schemeClr val="bg1"/>
                    </a:solidFill>
                    <a:latin typeface="微软雅黑" panose="020B0503020204020204" pitchFamily="34" charset="-122"/>
                    <a:ea typeface="微软雅黑" panose="020B0503020204020204" pitchFamily="34" charset="-122"/>
                  </a:rPr>
                  <a:t>图</a:t>
                </a:r>
                <a:r>
                  <a:rPr lang="en-US" altLang="zh-CN" dirty="0" smtClean="0">
                    <a:solidFill>
                      <a:schemeClr val="bg1"/>
                    </a:solidFill>
                    <a:latin typeface="微软雅黑" panose="020B0503020204020204" pitchFamily="34" charset="-122"/>
                    <a:ea typeface="微软雅黑" panose="020B0503020204020204" pitchFamily="34" charset="-122"/>
                  </a:rPr>
                  <a:t>5.1.2 - 1</a:t>
                </a:r>
                <a:endParaRPr lang="zh-CN" altLang="en-US" dirty="0" smtClean="0">
                  <a:solidFill>
                    <a:schemeClr val="bg1"/>
                  </a:solidFill>
                  <a:latin typeface="微软雅黑" panose="020B0503020204020204" pitchFamily="34" charset="-122"/>
                  <a:ea typeface="微软雅黑" panose="020B0503020204020204" pitchFamily="34" charset="-122"/>
                </a:endParaRPr>
              </a:p>
            </p:txBody>
          </p:sp>
        </p:grpSp>
        <p:sp>
          <p:nvSpPr>
            <p:cNvPr id="20" name="椭圆 19"/>
            <p:cNvSpPr/>
            <p:nvPr/>
          </p:nvSpPr>
          <p:spPr>
            <a:xfrm>
              <a:off x="4784608" y="5087136"/>
              <a:ext cx="1447911" cy="982030"/>
            </a:xfrm>
            <a:prstGeom prst="ellipse">
              <a:avLst/>
            </a:prstGeom>
            <a:solidFill>
              <a:schemeClr val="accent5">
                <a:lumMod val="60000"/>
                <a:lumOff val="40000"/>
              </a:schemeClr>
            </a:solidFill>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2400" dirty="0" smtClean="0"/>
                <a:t>slave2</a:t>
              </a:r>
              <a:endParaRPr lang="zh-CN" altLang="en-US" sz="2400" dirty="0"/>
            </a:p>
          </p:txBody>
        </p:sp>
        <p:sp>
          <p:nvSpPr>
            <p:cNvPr id="21" name="椭圆 20"/>
            <p:cNvSpPr/>
            <p:nvPr/>
          </p:nvSpPr>
          <p:spPr>
            <a:xfrm>
              <a:off x="7525370" y="3865736"/>
              <a:ext cx="1447911" cy="982030"/>
            </a:xfrm>
            <a:prstGeom prst="ellipse">
              <a:avLst/>
            </a:prstGeom>
            <a:solidFill>
              <a:schemeClr val="accent5">
                <a:lumMod val="60000"/>
                <a:lumOff val="40000"/>
              </a:schemeClr>
            </a:solidFill>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2400" dirty="0" smtClean="0"/>
                <a:t>slave3</a:t>
              </a:r>
              <a:endParaRPr lang="zh-CN" altLang="en-US" sz="2400" dirty="0"/>
            </a:p>
          </p:txBody>
        </p:sp>
        <p:sp>
          <p:nvSpPr>
            <p:cNvPr id="22" name="椭圆 21"/>
            <p:cNvSpPr/>
            <p:nvPr/>
          </p:nvSpPr>
          <p:spPr>
            <a:xfrm>
              <a:off x="7617045" y="5072622"/>
              <a:ext cx="1447911" cy="982030"/>
            </a:xfrm>
            <a:prstGeom prst="ellipse">
              <a:avLst/>
            </a:prstGeom>
            <a:solidFill>
              <a:schemeClr val="accent5">
                <a:lumMod val="60000"/>
                <a:lumOff val="40000"/>
              </a:schemeClr>
            </a:solidFill>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2400" dirty="0" smtClean="0"/>
                <a:t>slave4</a:t>
              </a:r>
              <a:endParaRPr lang="zh-CN" altLang="en-US" sz="2400" dirty="0"/>
            </a:p>
          </p:txBody>
        </p:sp>
        <p:cxnSp>
          <p:nvCxnSpPr>
            <p:cNvPr id="23" name="曲线连接符 22"/>
            <p:cNvCxnSpPr>
              <a:stCxn id="12" idx="6"/>
            </p:cNvCxnSpPr>
            <p:nvPr/>
          </p:nvCxnSpPr>
          <p:spPr>
            <a:xfrm>
              <a:off x="3004457" y="4828592"/>
              <a:ext cx="1886857" cy="698886"/>
            </a:xfrm>
            <a:prstGeom prst="curvedConnector3">
              <a:avLst/>
            </a:prstGeom>
            <a:ln w="25400" cmpd="sng">
              <a:solidFill>
                <a:srgbClr val="FFC000"/>
              </a:solidFill>
              <a:prstDash val="solid"/>
              <a:headEnd type="none"/>
              <a:tailEnd type="arrow"/>
            </a:ln>
          </p:spPr>
          <p:style>
            <a:lnRef idx="1">
              <a:schemeClr val="accent1"/>
            </a:lnRef>
            <a:fillRef idx="0">
              <a:schemeClr val="accent1"/>
            </a:fillRef>
            <a:effectRef idx="0">
              <a:schemeClr val="accent1"/>
            </a:effectRef>
            <a:fontRef idx="minor">
              <a:schemeClr val="tx1"/>
            </a:fontRef>
          </p:style>
        </p:cxnSp>
        <p:cxnSp>
          <p:nvCxnSpPr>
            <p:cNvPr id="24" name="曲线连接符 23"/>
            <p:cNvCxnSpPr>
              <a:stCxn id="20" idx="6"/>
              <a:endCxn id="22" idx="2"/>
            </p:cNvCxnSpPr>
            <p:nvPr/>
          </p:nvCxnSpPr>
          <p:spPr>
            <a:xfrm flipV="1">
              <a:off x="6232519" y="5563637"/>
              <a:ext cx="1384526" cy="14514"/>
            </a:xfrm>
            <a:prstGeom prst="curvedConnector3">
              <a:avLst>
                <a:gd name="adj1" fmla="val 50000"/>
              </a:avLst>
            </a:prstGeom>
            <a:ln w="25400" cmpd="sng">
              <a:solidFill>
                <a:srgbClr val="FFC000"/>
              </a:solidFill>
              <a:prstDash val="solid"/>
              <a:headEnd type="none"/>
              <a:tailEnd type="arrow"/>
            </a:ln>
          </p:spPr>
          <p:style>
            <a:lnRef idx="1">
              <a:schemeClr val="accent1"/>
            </a:lnRef>
            <a:fillRef idx="0">
              <a:schemeClr val="accent1"/>
            </a:fillRef>
            <a:effectRef idx="0">
              <a:schemeClr val="accent1"/>
            </a:effectRef>
            <a:fontRef idx="minor">
              <a:schemeClr val="tx1"/>
            </a:fontRef>
          </p:style>
        </p:cxnSp>
        <p:cxnSp>
          <p:nvCxnSpPr>
            <p:cNvPr id="27" name="曲线连接符 26"/>
            <p:cNvCxnSpPr>
              <a:stCxn id="16" idx="6"/>
              <a:endCxn id="21" idx="2"/>
            </p:cNvCxnSpPr>
            <p:nvPr/>
          </p:nvCxnSpPr>
          <p:spPr>
            <a:xfrm>
              <a:off x="6154057" y="4356751"/>
              <a:ext cx="1371313" cy="12700"/>
            </a:xfrm>
            <a:prstGeom prst="curvedConnector3">
              <a:avLst>
                <a:gd name="adj1" fmla="val 50000"/>
              </a:avLst>
            </a:prstGeom>
            <a:ln w="25400" cmpd="sng">
              <a:solidFill>
                <a:srgbClr val="FFC000"/>
              </a:solidFill>
              <a:prstDash val="solid"/>
              <a:headEnd type="none"/>
              <a:tailEnd type="arrow"/>
            </a:ln>
          </p:spPr>
          <p:style>
            <a:lnRef idx="1">
              <a:schemeClr val="accent1"/>
            </a:lnRef>
            <a:fillRef idx="0">
              <a:schemeClr val="accent1"/>
            </a:fillRef>
            <a:effectRef idx="0">
              <a:schemeClr val="accent1"/>
            </a:effectRef>
            <a:fontRef idx="minor">
              <a:schemeClr val="tx1"/>
            </a:fontRef>
          </p:style>
        </p:cxnSp>
        <p:sp>
          <p:nvSpPr>
            <p:cNvPr id="30" name="文本框 29"/>
            <p:cNvSpPr txBox="1"/>
            <p:nvPr/>
          </p:nvSpPr>
          <p:spPr>
            <a:xfrm>
              <a:off x="3713949" y="4730104"/>
              <a:ext cx="1163131" cy="369332"/>
            </a:xfrm>
            <a:prstGeom prst="rect">
              <a:avLst/>
            </a:prstGeom>
            <a:noFill/>
          </p:spPr>
          <p:txBody>
            <a:bodyPr wrap="square" rtlCol="0">
              <a:spAutoFit/>
            </a:bodyPr>
            <a:lstStyle/>
            <a:p>
              <a:pPr algn="l"/>
              <a:r>
                <a:rPr lang="en-US" altLang="zh-CN" dirty="0" smtClean="0">
                  <a:solidFill>
                    <a:schemeClr val="accent5"/>
                  </a:solidFill>
                  <a:latin typeface="微软雅黑" panose="020B0503020204020204" pitchFamily="34" charset="-122"/>
                  <a:ea typeface="微软雅黑" panose="020B0503020204020204" pitchFamily="34" charset="-122"/>
                </a:rPr>
                <a:t>replicate</a:t>
              </a:r>
              <a:endParaRPr lang="zh-CN" altLang="en-US" dirty="0" smtClean="0">
                <a:solidFill>
                  <a:schemeClr val="accent5"/>
                </a:solidFill>
                <a:latin typeface="微软雅黑" panose="020B0503020204020204" pitchFamily="34" charset="-122"/>
                <a:ea typeface="微软雅黑" panose="020B0503020204020204" pitchFamily="34" charset="-122"/>
              </a:endParaRPr>
            </a:p>
          </p:txBody>
        </p:sp>
        <p:sp>
          <p:nvSpPr>
            <p:cNvPr id="31" name="文本框 30"/>
            <p:cNvSpPr txBox="1"/>
            <p:nvPr/>
          </p:nvSpPr>
          <p:spPr>
            <a:xfrm>
              <a:off x="6258147" y="5130114"/>
              <a:ext cx="1163131" cy="369332"/>
            </a:xfrm>
            <a:prstGeom prst="rect">
              <a:avLst/>
            </a:prstGeom>
            <a:noFill/>
          </p:spPr>
          <p:txBody>
            <a:bodyPr wrap="square" rtlCol="0">
              <a:spAutoFit/>
            </a:bodyPr>
            <a:lstStyle/>
            <a:p>
              <a:pPr algn="l"/>
              <a:r>
                <a:rPr lang="en-US" altLang="zh-CN" dirty="0" smtClean="0">
                  <a:solidFill>
                    <a:schemeClr val="accent5"/>
                  </a:solidFill>
                  <a:latin typeface="微软雅黑" panose="020B0503020204020204" pitchFamily="34" charset="-122"/>
                  <a:ea typeface="微软雅黑" panose="020B0503020204020204" pitchFamily="34" charset="-122"/>
                </a:rPr>
                <a:t>replicate</a:t>
              </a:r>
              <a:endParaRPr lang="zh-CN" altLang="en-US" dirty="0" smtClean="0">
                <a:solidFill>
                  <a:schemeClr val="accent5"/>
                </a:solidFill>
                <a:latin typeface="微软雅黑" panose="020B0503020204020204" pitchFamily="34" charset="-122"/>
                <a:ea typeface="微软雅黑" panose="020B0503020204020204" pitchFamily="34" charset="-122"/>
              </a:endParaRPr>
            </a:p>
          </p:txBody>
        </p:sp>
        <p:sp>
          <p:nvSpPr>
            <p:cNvPr id="32" name="文本框 31"/>
            <p:cNvSpPr txBox="1"/>
            <p:nvPr/>
          </p:nvSpPr>
          <p:spPr>
            <a:xfrm>
              <a:off x="6232519" y="3967024"/>
              <a:ext cx="1163131" cy="369332"/>
            </a:xfrm>
            <a:prstGeom prst="rect">
              <a:avLst/>
            </a:prstGeom>
            <a:noFill/>
          </p:spPr>
          <p:txBody>
            <a:bodyPr wrap="square" rtlCol="0">
              <a:spAutoFit/>
            </a:bodyPr>
            <a:lstStyle/>
            <a:p>
              <a:pPr algn="l"/>
              <a:r>
                <a:rPr lang="en-US" altLang="zh-CN" dirty="0" smtClean="0">
                  <a:solidFill>
                    <a:schemeClr val="accent5"/>
                  </a:solidFill>
                  <a:latin typeface="微软雅黑" panose="020B0503020204020204" pitchFamily="34" charset="-122"/>
                  <a:ea typeface="微软雅黑" panose="020B0503020204020204" pitchFamily="34" charset="-122"/>
                </a:rPr>
                <a:t>replicate</a:t>
              </a:r>
              <a:endParaRPr lang="zh-CN" altLang="en-US" dirty="0" smtClean="0">
                <a:solidFill>
                  <a:schemeClr val="accent5"/>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2256162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0A0F23"/>
        </a:solidFill>
        <a:effectLst/>
      </p:bgPr>
    </p:bg>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xmlns="" id="{CBDC52CD-1D62-48AF-A9DF-9F18AEA2B1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01385" y="-114300"/>
            <a:ext cx="1301859" cy="920356"/>
          </a:xfrm>
          <a:prstGeom prst="rect">
            <a:avLst/>
          </a:prstGeom>
        </p:spPr>
      </p:pic>
      <p:pic>
        <p:nvPicPr>
          <p:cNvPr id="14" name="图片 13">
            <a:extLst>
              <a:ext uri="{FF2B5EF4-FFF2-40B4-BE49-F238E27FC236}">
                <a16:creationId xmlns:a16="http://schemas.microsoft.com/office/drawing/2014/main" xmlns="" id="{F78DA958-9B1B-47DA-A870-8C0B3A7D8866}"/>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b="63537"/>
          <a:stretch/>
        </p:blipFill>
        <p:spPr>
          <a:xfrm>
            <a:off x="11184164" y="217733"/>
            <a:ext cx="572339" cy="337210"/>
          </a:xfrm>
          <a:prstGeom prst="rect">
            <a:avLst/>
          </a:prstGeom>
        </p:spPr>
      </p:pic>
      <p:cxnSp>
        <p:nvCxnSpPr>
          <p:cNvPr id="15" name="直接连接符 14">
            <a:extLst>
              <a:ext uri="{FF2B5EF4-FFF2-40B4-BE49-F238E27FC236}">
                <a16:creationId xmlns:a16="http://schemas.microsoft.com/office/drawing/2014/main" xmlns="" id="{93240A06-D526-4907-A163-94ABB41190CC}"/>
              </a:ext>
            </a:extLst>
          </p:cNvPr>
          <p:cNvCxnSpPr/>
          <p:nvPr/>
        </p:nvCxnSpPr>
        <p:spPr>
          <a:xfrm>
            <a:off x="11103244" y="225825"/>
            <a:ext cx="0" cy="2435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xmlns="" id="{74C59758-12AB-44A5-92FA-DB52904027AE}"/>
              </a:ext>
            </a:extLst>
          </p:cNvPr>
          <p:cNvSpPr/>
          <p:nvPr/>
        </p:nvSpPr>
        <p:spPr>
          <a:xfrm>
            <a:off x="802332" y="1287114"/>
            <a:ext cx="10765483" cy="5170646"/>
          </a:xfrm>
          <a:prstGeom prst="rect">
            <a:avLst/>
          </a:prstGeom>
        </p:spPr>
        <p:txBody>
          <a:bodyPr wrap="square">
            <a:spAutoFit/>
          </a:bodyPr>
          <a:lstStyle/>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zh-CN" altLang="en-US" sz="2000" b="1" dirty="0">
                <a:solidFill>
                  <a:prstClr val="white"/>
                </a:solidFill>
                <a:latin typeface="微软雅黑" panose="020B0503020204020204" pitchFamily="34" charset="-122"/>
                <a:ea typeface="微软雅黑" panose="020B0503020204020204" pitchFamily="34" charset="-122"/>
              </a:rPr>
              <a:t>增</a:t>
            </a:r>
            <a:r>
              <a:rPr lang="zh-CN" altLang="en-US" sz="2000" b="1" dirty="0" smtClean="0">
                <a:solidFill>
                  <a:prstClr val="white"/>
                </a:solidFill>
                <a:latin typeface="微软雅黑" panose="020B0503020204020204" pitchFamily="34" charset="-122"/>
                <a:ea typeface="微软雅黑" panose="020B0503020204020204" pitchFamily="34" charset="-122"/>
              </a:rPr>
              <a:t>量同步</a:t>
            </a:r>
            <a:endParaRPr kumimoji="0" lang="en-US" altLang="zh-CN" sz="2000" b="1"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endParaRPr>
          </a:p>
          <a:p>
            <a:pPr marL="0" marR="0" lvl="0" indent="457200" algn="l" defTabSz="914400" rtl="0" eaLnBrk="1" fontAlgn="auto" latinLnBrk="0" hangingPunct="1">
              <a:lnSpc>
                <a:spcPct val="150000"/>
              </a:lnSpc>
              <a:spcBef>
                <a:spcPts val="0"/>
              </a:spcBef>
              <a:spcAft>
                <a:spcPts val="0"/>
              </a:spcAft>
              <a:buClrTx/>
              <a:buSzTx/>
              <a:buFontTx/>
              <a:buNone/>
              <a:tabLst/>
              <a:defRPr/>
            </a:pPr>
            <a:r>
              <a:rPr kumimoji="0" lang="en-US" altLang="zh-CN" sz="1800" b="0" i="0" u="none" strike="noStrike" kern="1200" cap="none" spc="0" normalizeH="0" baseline="0" noProof="0" dirty="0" err="1" smtClean="0">
                <a:ln>
                  <a:noFill/>
                </a:ln>
                <a:solidFill>
                  <a:prstClr val="white"/>
                </a:solidFill>
                <a:effectLst/>
                <a:uLnTx/>
                <a:uFillTx/>
                <a:latin typeface="微软雅黑" panose="020B0503020204020204" pitchFamily="34" charset="-122"/>
                <a:ea typeface="微软雅黑" panose="020B0503020204020204" pitchFamily="34" charset="-122"/>
                <a:cs typeface="+mn-cs"/>
              </a:rPr>
              <a:t>redis</a:t>
            </a:r>
            <a:r>
              <a:rPr kumimoji="0" lang="zh-CN" altLang="en-US" sz="1800"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rPr>
              <a:t>同步的是指令流，</a:t>
            </a:r>
            <a:r>
              <a:rPr kumimoji="0" lang="en-US" altLang="zh-CN" sz="1800"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rPr>
              <a:t>master</a:t>
            </a:r>
            <a:r>
              <a:rPr kumimoji="0" lang="zh-CN" altLang="en-US" sz="1800"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rPr>
              <a:t>节点会将哪些对自己的状态产生修改性影响的指令记录到本地的内存</a:t>
            </a:r>
            <a:r>
              <a:rPr kumimoji="0" lang="en-US" altLang="zh-CN" sz="1800"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rPr>
              <a:t>buffer</a:t>
            </a:r>
            <a:r>
              <a:rPr kumimoji="0" lang="zh-CN" altLang="en-US" sz="1800"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rPr>
              <a:t>中。然后异步将</a:t>
            </a:r>
            <a:r>
              <a:rPr kumimoji="0" lang="en-US" altLang="zh-CN" sz="1800"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rPr>
              <a:t>buffer</a:t>
            </a:r>
            <a:r>
              <a:rPr kumimoji="0" lang="zh-CN" altLang="en-US" sz="1800"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rPr>
              <a:t>中的指令同步到</a:t>
            </a:r>
            <a:r>
              <a:rPr kumimoji="0" lang="en-US" altLang="zh-CN" sz="1800"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rPr>
              <a:t>slave</a:t>
            </a:r>
            <a:r>
              <a:rPr kumimoji="0" lang="zh-CN" altLang="en-US" sz="1800"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rPr>
              <a:t>节点。从节点一边执行同步的指令流以达到和主节点一样的状态，一边向主节点反馈自己同步的偏移量。</a:t>
            </a:r>
            <a:endParaRPr kumimoji="0" lang="en-US" altLang="zh-CN" sz="1800"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457200" algn="l" defTabSz="914400" rtl="0" eaLnBrk="1" fontAlgn="auto" latinLnBrk="0" hangingPunct="1">
              <a:lnSpc>
                <a:spcPct val="150000"/>
              </a:lnSpc>
              <a:spcBef>
                <a:spcPts val="0"/>
              </a:spcBef>
              <a:spcAft>
                <a:spcPts val="0"/>
              </a:spcAft>
              <a:buClrTx/>
              <a:buSzTx/>
              <a:buFontTx/>
              <a:buNone/>
              <a:tabLst/>
              <a:defRPr/>
            </a:pPr>
            <a:r>
              <a:rPr lang="en-US" altLang="zh-CN" dirty="0" err="1" smtClean="0">
                <a:solidFill>
                  <a:prstClr val="white"/>
                </a:solidFill>
                <a:latin typeface="微软雅黑" panose="020B0503020204020204" pitchFamily="34" charset="-122"/>
                <a:ea typeface="微软雅黑" panose="020B0503020204020204" pitchFamily="34" charset="-122"/>
              </a:rPr>
              <a:t>redis</a:t>
            </a:r>
            <a:r>
              <a:rPr lang="zh-CN" altLang="en-US" dirty="0" smtClean="0">
                <a:solidFill>
                  <a:prstClr val="white"/>
                </a:solidFill>
                <a:latin typeface="微软雅黑" panose="020B0503020204020204" pitchFamily="34" charset="-122"/>
                <a:ea typeface="微软雅黑" panose="020B0503020204020204" pitchFamily="34" charset="-122"/>
              </a:rPr>
              <a:t>的复制内存</a:t>
            </a:r>
            <a:r>
              <a:rPr lang="en-US" altLang="zh-CN" dirty="0" smtClean="0">
                <a:solidFill>
                  <a:prstClr val="white"/>
                </a:solidFill>
                <a:latin typeface="微软雅黑" panose="020B0503020204020204" pitchFamily="34" charset="-122"/>
                <a:ea typeface="微软雅黑" panose="020B0503020204020204" pitchFamily="34" charset="-122"/>
              </a:rPr>
              <a:t>buffer</a:t>
            </a:r>
            <a:r>
              <a:rPr lang="zh-CN" altLang="en-US" dirty="0" smtClean="0">
                <a:solidFill>
                  <a:prstClr val="white"/>
                </a:solidFill>
                <a:latin typeface="微软雅黑" panose="020B0503020204020204" pitchFamily="34" charset="-122"/>
                <a:ea typeface="微软雅黑" panose="020B0503020204020204" pitchFamily="34" charset="-122"/>
              </a:rPr>
              <a:t>是一个定长的环形数组，如果数据满了，就会从头开始覆盖。因此增量同步只能在主从节点数据差异小于这个定长数组的时候使用。当</a:t>
            </a:r>
            <a:r>
              <a:rPr lang="en-US" altLang="zh-CN" dirty="0" smtClean="0">
                <a:solidFill>
                  <a:prstClr val="white"/>
                </a:solidFill>
                <a:latin typeface="微软雅黑" panose="020B0503020204020204" pitchFamily="34" charset="-122"/>
                <a:ea typeface="微软雅黑" panose="020B0503020204020204" pitchFamily="34" charset="-122"/>
              </a:rPr>
              <a:t>slave</a:t>
            </a:r>
            <a:r>
              <a:rPr lang="zh-CN" altLang="en-US" dirty="0" smtClean="0">
                <a:solidFill>
                  <a:prstClr val="white"/>
                </a:solidFill>
                <a:latin typeface="微软雅黑" panose="020B0503020204020204" pitchFamily="34" charset="-122"/>
                <a:ea typeface="微软雅黑" panose="020B0503020204020204" pitchFamily="34" charset="-122"/>
              </a:rPr>
              <a:t>节点数据落后太多，只能通过另一种方式同步</a:t>
            </a:r>
            <a:r>
              <a:rPr lang="en-US" altLang="zh-CN" dirty="0" smtClean="0">
                <a:solidFill>
                  <a:prstClr val="white"/>
                </a:solidFill>
                <a:latin typeface="微软雅黑" panose="020B0503020204020204" pitchFamily="34" charset="-122"/>
                <a:ea typeface="微软雅黑" panose="020B0503020204020204" pitchFamily="34" charset="-122"/>
              </a:rPr>
              <a:t>– </a:t>
            </a:r>
            <a:r>
              <a:rPr lang="zh-CN" altLang="en-US" dirty="0" smtClean="0">
                <a:solidFill>
                  <a:prstClr val="white"/>
                </a:solidFill>
                <a:latin typeface="微软雅黑" panose="020B0503020204020204" pitchFamily="34" charset="-122"/>
                <a:ea typeface="微软雅黑" panose="020B0503020204020204" pitchFamily="34" charset="-122"/>
              </a:rPr>
              <a:t>快照同步</a:t>
            </a:r>
            <a:endParaRPr lang="en-US" altLang="zh-CN" dirty="0" smtClean="0">
              <a:solidFill>
                <a:prstClr val="white"/>
              </a:solidFill>
              <a:latin typeface="微软雅黑" panose="020B0503020204020204" pitchFamily="34" charset="-122"/>
              <a:ea typeface="微软雅黑" panose="020B0503020204020204" pitchFamily="34" charset="-122"/>
            </a:endParaRP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zh-CN" altLang="en-US" sz="2000" b="1" dirty="0">
                <a:solidFill>
                  <a:prstClr val="white"/>
                </a:solidFill>
                <a:latin typeface="微软雅黑" panose="020B0503020204020204" pitchFamily="34" charset="-122"/>
                <a:ea typeface="微软雅黑" panose="020B0503020204020204" pitchFamily="34" charset="-122"/>
              </a:rPr>
              <a:t>快</a:t>
            </a:r>
            <a:r>
              <a:rPr lang="zh-CN" altLang="en-US" sz="2000" b="1" dirty="0" smtClean="0">
                <a:solidFill>
                  <a:prstClr val="white"/>
                </a:solidFill>
                <a:latin typeface="微软雅黑" panose="020B0503020204020204" pitchFamily="34" charset="-122"/>
                <a:ea typeface="微软雅黑" panose="020B0503020204020204" pitchFamily="34" charset="-122"/>
              </a:rPr>
              <a:t>照同步</a:t>
            </a:r>
            <a:endParaRPr lang="en-US" altLang="zh-CN" sz="2000" b="1" dirty="0" smtClean="0">
              <a:solidFill>
                <a:prstClr val="white"/>
              </a:solidFill>
              <a:latin typeface="微软雅黑" panose="020B0503020204020204" pitchFamily="34" charset="-122"/>
              <a:ea typeface="微软雅黑" panose="020B0503020204020204" pitchFamily="34" charset="-122"/>
            </a:endParaRPr>
          </a:p>
          <a:p>
            <a:pPr marR="0" lvl="0" algn="l" defTabSz="914400" rtl="0" eaLnBrk="1" fontAlgn="auto" latinLnBrk="0" hangingPunct="1">
              <a:lnSpc>
                <a:spcPct val="150000"/>
              </a:lnSpc>
              <a:spcBef>
                <a:spcPts val="0"/>
              </a:spcBef>
              <a:spcAft>
                <a:spcPts val="0"/>
              </a:spcAft>
              <a:buClrTx/>
              <a:buSzTx/>
              <a:tabLst/>
              <a:defRPr/>
            </a:pPr>
            <a:r>
              <a:rPr lang="zh-CN" altLang="en-US" dirty="0" smtClean="0">
                <a:solidFill>
                  <a:prstClr val="white"/>
                </a:solidFill>
                <a:latin typeface="微软雅黑" panose="020B0503020204020204" pitchFamily="34" charset="-122"/>
                <a:ea typeface="微软雅黑" panose="020B0503020204020204" pitchFamily="34" charset="-122"/>
              </a:rPr>
              <a:t>快照同步是一个非常消耗资源的操作，它首先会在</a:t>
            </a:r>
            <a:r>
              <a:rPr lang="en-US" altLang="zh-CN" dirty="0" smtClean="0">
                <a:solidFill>
                  <a:prstClr val="white"/>
                </a:solidFill>
                <a:latin typeface="微软雅黑" panose="020B0503020204020204" pitchFamily="34" charset="-122"/>
                <a:ea typeface="微软雅黑" panose="020B0503020204020204" pitchFamily="34" charset="-122"/>
              </a:rPr>
              <a:t>master</a:t>
            </a:r>
            <a:r>
              <a:rPr lang="zh-CN" altLang="en-US" dirty="0" smtClean="0">
                <a:solidFill>
                  <a:prstClr val="white"/>
                </a:solidFill>
                <a:latin typeface="微软雅黑" panose="020B0503020204020204" pitchFamily="34" charset="-122"/>
                <a:ea typeface="微软雅黑" panose="020B0503020204020204" pitchFamily="34" charset="-122"/>
              </a:rPr>
              <a:t>节点进行一次</a:t>
            </a:r>
            <a:r>
              <a:rPr lang="en-US" altLang="zh-CN" dirty="0" err="1" smtClean="0">
                <a:solidFill>
                  <a:prstClr val="white"/>
                </a:solidFill>
                <a:latin typeface="微软雅黑" panose="020B0503020204020204" pitchFamily="34" charset="-122"/>
                <a:ea typeface="微软雅黑" panose="020B0503020204020204" pitchFamily="34" charset="-122"/>
              </a:rPr>
              <a:t>bgsave</a:t>
            </a:r>
            <a:r>
              <a:rPr lang="en-US" altLang="zh-CN" dirty="0" smtClean="0">
                <a:solidFill>
                  <a:prstClr val="white"/>
                </a:solidFill>
                <a:latin typeface="微软雅黑" panose="020B0503020204020204" pitchFamily="34" charset="-122"/>
                <a:ea typeface="微软雅黑" panose="020B0503020204020204" pitchFamily="34" charset="-122"/>
              </a:rPr>
              <a:t>,</a:t>
            </a:r>
            <a:r>
              <a:rPr lang="zh-CN" altLang="en-US" dirty="0" smtClean="0">
                <a:solidFill>
                  <a:prstClr val="white"/>
                </a:solidFill>
                <a:latin typeface="微软雅黑" panose="020B0503020204020204" pitchFamily="34" charset="-122"/>
                <a:ea typeface="微软雅黑" panose="020B0503020204020204" pitchFamily="34" charset="-122"/>
              </a:rPr>
              <a:t>将当前内存中的数据全部快照到磁盘文件中，然后再将快照文件的内容全部传送到</a:t>
            </a:r>
            <a:r>
              <a:rPr lang="en-US" altLang="zh-CN" dirty="0" smtClean="0">
                <a:solidFill>
                  <a:prstClr val="white"/>
                </a:solidFill>
                <a:latin typeface="微软雅黑" panose="020B0503020204020204" pitchFamily="34" charset="-122"/>
                <a:ea typeface="微软雅黑" panose="020B0503020204020204" pitchFamily="34" charset="-122"/>
              </a:rPr>
              <a:t>slave</a:t>
            </a:r>
            <a:r>
              <a:rPr lang="zh-CN" altLang="en-US" dirty="0" smtClean="0">
                <a:solidFill>
                  <a:prstClr val="white"/>
                </a:solidFill>
                <a:latin typeface="微软雅黑" panose="020B0503020204020204" pitchFamily="34" charset="-122"/>
                <a:ea typeface="微软雅黑" panose="020B0503020204020204" pitchFamily="34" charset="-122"/>
              </a:rPr>
              <a:t>节点。从节点接收完毕，立即执行一次全量加载，加载之前先把当前内存中的数据清空。加载完毕通知主节点继续进行增量同步。在同步过程中，主节点的</a:t>
            </a:r>
            <a:r>
              <a:rPr lang="en-US" altLang="zh-CN" dirty="0" smtClean="0">
                <a:solidFill>
                  <a:prstClr val="white"/>
                </a:solidFill>
                <a:latin typeface="微软雅黑" panose="020B0503020204020204" pitchFamily="34" charset="-122"/>
                <a:ea typeface="微软雅黑" panose="020B0503020204020204" pitchFamily="34" charset="-122"/>
              </a:rPr>
              <a:t>buffer</a:t>
            </a:r>
            <a:r>
              <a:rPr lang="zh-CN" altLang="en-US" dirty="0" smtClean="0">
                <a:solidFill>
                  <a:prstClr val="white"/>
                </a:solidFill>
                <a:latin typeface="微软雅黑" panose="020B0503020204020204" pitchFamily="34" charset="-122"/>
                <a:ea typeface="微软雅黑" panose="020B0503020204020204" pitchFamily="34" charset="-122"/>
              </a:rPr>
              <a:t>还在不停的向前移动，如果在同步的过程中，内存</a:t>
            </a:r>
            <a:r>
              <a:rPr lang="en-US" altLang="zh-CN" dirty="0" smtClean="0">
                <a:solidFill>
                  <a:prstClr val="white"/>
                </a:solidFill>
                <a:latin typeface="微软雅黑" panose="020B0503020204020204" pitchFamily="34" charset="-122"/>
                <a:ea typeface="微软雅黑" panose="020B0503020204020204" pitchFamily="34" charset="-122"/>
              </a:rPr>
              <a:t>buffer</a:t>
            </a:r>
            <a:r>
              <a:rPr lang="zh-CN" altLang="en-US" dirty="0">
                <a:solidFill>
                  <a:prstClr val="white"/>
                </a:solidFill>
                <a:latin typeface="微软雅黑" panose="020B0503020204020204" pitchFamily="34" charset="-122"/>
                <a:ea typeface="微软雅黑" panose="020B0503020204020204" pitchFamily="34" charset="-122"/>
              </a:rPr>
              <a:t>发</a:t>
            </a:r>
            <a:r>
              <a:rPr lang="zh-CN" altLang="en-US" dirty="0" smtClean="0">
                <a:solidFill>
                  <a:prstClr val="white"/>
                </a:solidFill>
                <a:latin typeface="微软雅黑" panose="020B0503020204020204" pitchFamily="34" charset="-122"/>
                <a:ea typeface="微软雅黑" panose="020B0503020204020204" pitchFamily="34" charset="-122"/>
              </a:rPr>
              <a:t>生了覆盖，则会再次触发快照</a:t>
            </a:r>
            <a:endParaRPr lang="en-US" altLang="zh-CN" dirty="0" smtClean="0">
              <a:solidFill>
                <a:prstClr val="white"/>
              </a:solidFill>
              <a:latin typeface="微软雅黑" panose="020B0503020204020204" pitchFamily="34" charset="-122"/>
              <a:ea typeface="微软雅黑" panose="020B0503020204020204" pitchFamily="34" charset="-122"/>
            </a:endParaRPr>
          </a:p>
        </p:txBody>
      </p:sp>
      <p:sp>
        <p:nvSpPr>
          <p:cNvPr id="10" name="TextBox 9"/>
          <p:cNvSpPr txBox="1"/>
          <p:nvPr/>
        </p:nvSpPr>
        <p:spPr>
          <a:xfrm>
            <a:off x="704850" y="605109"/>
            <a:ext cx="8883650" cy="523220"/>
          </a:xfrm>
          <a:prstGeom prst="rect">
            <a:avLst/>
          </a:prstGeom>
          <a:noFill/>
        </p:spPr>
        <p:txBody>
          <a:bodyPr wrap="square" rtlCol="0">
            <a:spAutoFit/>
          </a:bodyPr>
          <a:lstStyle/>
          <a:p>
            <a:pPr>
              <a:defRPr/>
            </a:pPr>
            <a:r>
              <a:rPr lang="en-US" altLang="zh-CN"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5.1.3 </a:t>
            </a:r>
            <a:r>
              <a:rPr lang="zh-CN" altLang="en-US"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同步的方式</a:t>
            </a:r>
          </a:p>
        </p:txBody>
      </p:sp>
    </p:spTree>
    <p:extLst>
      <p:ext uri="{BB962C8B-B14F-4D97-AF65-F5344CB8AC3E}">
        <p14:creationId xmlns:p14="http://schemas.microsoft.com/office/powerpoint/2010/main" val="3790427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heel(1)">
                                      <p:cBhvr>
                                        <p:cTn id="7"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0A0F23"/>
        </a:solidFill>
        <a:effectLst/>
      </p:bgPr>
    </p:bg>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xmlns="" id="{CBDC52CD-1D62-48AF-A9DF-9F18AEA2B1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01385" y="-114300"/>
            <a:ext cx="1301859" cy="920356"/>
          </a:xfrm>
          <a:prstGeom prst="rect">
            <a:avLst/>
          </a:prstGeom>
        </p:spPr>
      </p:pic>
      <p:pic>
        <p:nvPicPr>
          <p:cNvPr id="14" name="图片 13">
            <a:extLst>
              <a:ext uri="{FF2B5EF4-FFF2-40B4-BE49-F238E27FC236}">
                <a16:creationId xmlns:a16="http://schemas.microsoft.com/office/drawing/2014/main" xmlns="" id="{F78DA958-9B1B-47DA-A870-8C0B3A7D8866}"/>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b="63537"/>
          <a:stretch/>
        </p:blipFill>
        <p:spPr>
          <a:xfrm>
            <a:off x="11184164" y="217733"/>
            <a:ext cx="572339" cy="337210"/>
          </a:xfrm>
          <a:prstGeom prst="rect">
            <a:avLst/>
          </a:prstGeom>
        </p:spPr>
      </p:pic>
      <p:cxnSp>
        <p:nvCxnSpPr>
          <p:cNvPr id="15" name="直接连接符 14">
            <a:extLst>
              <a:ext uri="{FF2B5EF4-FFF2-40B4-BE49-F238E27FC236}">
                <a16:creationId xmlns:a16="http://schemas.microsoft.com/office/drawing/2014/main" xmlns="" id="{93240A06-D526-4907-A163-94ABB41190CC}"/>
              </a:ext>
            </a:extLst>
          </p:cNvPr>
          <p:cNvCxnSpPr/>
          <p:nvPr/>
        </p:nvCxnSpPr>
        <p:spPr>
          <a:xfrm>
            <a:off x="11103244" y="225825"/>
            <a:ext cx="0" cy="2435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xmlns="" id="{74C59758-12AB-44A5-92FA-DB52904027AE}"/>
              </a:ext>
            </a:extLst>
          </p:cNvPr>
          <p:cNvSpPr/>
          <p:nvPr/>
        </p:nvSpPr>
        <p:spPr>
          <a:xfrm>
            <a:off x="802332" y="1287114"/>
            <a:ext cx="10765483" cy="1754326"/>
          </a:xfrm>
          <a:prstGeom prst="rect">
            <a:avLst/>
          </a:prstGeom>
        </p:spPr>
        <p:txBody>
          <a:bodyPr wrap="square">
            <a:spAutoFit/>
          </a:bodyPr>
          <a:lstStyle/>
          <a:p>
            <a:pPr marR="0" lvl="0" algn="l" defTabSz="914400" rtl="0" eaLnBrk="1" fontAlgn="auto" latinLnBrk="0" hangingPunct="1">
              <a:lnSpc>
                <a:spcPct val="150000"/>
              </a:lnSpc>
              <a:spcBef>
                <a:spcPts val="0"/>
              </a:spcBef>
              <a:spcAft>
                <a:spcPts val="0"/>
              </a:spcAft>
              <a:buClrTx/>
              <a:buSzTx/>
              <a:tabLst/>
              <a:defRPr/>
            </a:pPr>
            <a:r>
              <a:rPr kumimoji="0" lang="zh-CN" altLang="en-US" sz="1800"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rPr>
              <a:t>同步。这样可能陷入快照同步的死循环。 如图</a:t>
            </a:r>
            <a:r>
              <a:rPr kumimoji="0" lang="en-US" altLang="zh-CN" sz="1800"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rPr>
              <a:t>5.1.3</a:t>
            </a:r>
            <a:r>
              <a:rPr kumimoji="0" lang="en-US" altLang="zh-CN" sz="1800" b="0" i="0" u="none" strike="noStrike" kern="1200" cap="none" spc="0" normalizeH="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rPr>
              <a:t> -1 </a:t>
            </a:r>
            <a:r>
              <a:rPr lang="zh-CN" altLang="en-US" dirty="0" smtClean="0">
                <a:solidFill>
                  <a:prstClr val="white"/>
                </a:solidFill>
                <a:latin typeface="微软雅黑" panose="020B0503020204020204" pitchFamily="34" charset="-122"/>
                <a:ea typeface="微软雅黑" panose="020B0503020204020204" pitchFamily="34" charset="-122"/>
              </a:rPr>
              <a:t>是快照同步的流程</a:t>
            </a:r>
            <a:endParaRPr lang="en-US" altLang="zh-CN" dirty="0" smtClean="0">
              <a:solidFill>
                <a:prstClr val="white"/>
              </a:solidFill>
              <a:latin typeface="微软雅黑" panose="020B0503020204020204" pitchFamily="34" charset="-122"/>
              <a:ea typeface="微软雅黑" panose="020B0503020204020204" pitchFamily="34" charset="-122"/>
            </a:endParaRPr>
          </a:p>
          <a:p>
            <a:pPr marR="0" lvl="0" indent="457200" algn="l" defTabSz="914400" rtl="0" eaLnBrk="1" fontAlgn="auto" latinLnBrk="0" hangingPunct="1">
              <a:lnSpc>
                <a:spcPct val="150000"/>
              </a:lnSpc>
              <a:spcBef>
                <a:spcPts val="0"/>
              </a:spcBef>
              <a:spcAft>
                <a:spcPts val="0"/>
              </a:spcAft>
              <a:buClrTx/>
              <a:buSzTx/>
              <a:tabLst/>
              <a:defRPr/>
            </a:pPr>
            <a:r>
              <a:rPr lang="en-US" altLang="zh-CN" dirty="0" err="1" smtClean="0">
                <a:solidFill>
                  <a:prstClr val="white"/>
                </a:solidFill>
                <a:latin typeface="微软雅黑" panose="020B0503020204020204" pitchFamily="34" charset="-122"/>
                <a:ea typeface="微软雅黑" panose="020B0503020204020204" pitchFamily="34" charset="-122"/>
              </a:rPr>
              <a:t>redis</a:t>
            </a:r>
            <a:r>
              <a:rPr lang="zh-CN" altLang="en-US" dirty="0" smtClean="0">
                <a:solidFill>
                  <a:prstClr val="white"/>
                </a:solidFill>
                <a:latin typeface="微软雅黑" panose="020B0503020204020204" pitchFamily="34" charset="-122"/>
                <a:ea typeface="微软雅黑" panose="020B0503020204020204" pitchFamily="34" charset="-122"/>
              </a:rPr>
              <a:t>主从模式不满足一致性。因为主从同步过程中，</a:t>
            </a:r>
            <a:r>
              <a:rPr lang="en-US" altLang="zh-CN" dirty="0" smtClean="0">
                <a:solidFill>
                  <a:prstClr val="white"/>
                </a:solidFill>
                <a:latin typeface="微软雅黑" panose="020B0503020204020204" pitchFamily="34" charset="-122"/>
                <a:ea typeface="微软雅黑" panose="020B0503020204020204" pitchFamily="34" charset="-122"/>
              </a:rPr>
              <a:t>slave</a:t>
            </a:r>
            <a:r>
              <a:rPr lang="zh-CN" altLang="en-US" dirty="0" smtClean="0">
                <a:solidFill>
                  <a:prstClr val="white"/>
                </a:solidFill>
                <a:latin typeface="微软雅黑" panose="020B0503020204020204" pitchFamily="34" charset="-122"/>
                <a:ea typeface="微软雅黑" panose="020B0503020204020204" pitchFamily="34" charset="-122"/>
              </a:rPr>
              <a:t>节点数据会有延迟。当</a:t>
            </a:r>
            <a:r>
              <a:rPr lang="en-US" altLang="zh-CN" dirty="0" smtClean="0">
                <a:solidFill>
                  <a:prstClr val="white"/>
                </a:solidFill>
                <a:latin typeface="微软雅黑" panose="020B0503020204020204" pitchFamily="34" charset="-122"/>
                <a:ea typeface="微软雅黑" panose="020B0503020204020204" pitchFamily="34" charset="-122"/>
              </a:rPr>
              <a:t>master</a:t>
            </a:r>
            <a:r>
              <a:rPr lang="zh-CN" altLang="en-US" dirty="0" smtClean="0">
                <a:solidFill>
                  <a:prstClr val="white"/>
                </a:solidFill>
                <a:latin typeface="微软雅黑" panose="020B0503020204020204" pitchFamily="34" charset="-122"/>
                <a:ea typeface="微软雅黑" panose="020B0503020204020204" pitchFamily="34" charset="-122"/>
              </a:rPr>
              <a:t>节点挂掉，</a:t>
            </a:r>
            <a:r>
              <a:rPr lang="en-US" altLang="zh-CN" dirty="0" smtClean="0">
                <a:solidFill>
                  <a:prstClr val="white"/>
                </a:solidFill>
                <a:latin typeface="微软雅黑" panose="020B0503020204020204" pitchFamily="34" charset="-122"/>
                <a:ea typeface="微软雅黑" panose="020B0503020204020204" pitchFamily="34" charset="-122"/>
              </a:rPr>
              <a:t>slave</a:t>
            </a:r>
            <a:r>
              <a:rPr lang="zh-CN" altLang="en-US" dirty="0" smtClean="0">
                <a:solidFill>
                  <a:prstClr val="white"/>
                </a:solidFill>
                <a:latin typeface="微软雅黑" panose="020B0503020204020204" pitchFamily="34" charset="-122"/>
                <a:ea typeface="微软雅黑" panose="020B0503020204020204" pitchFamily="34" charset="-122"/>
              </a:rPr>
              <a:t>节点被升级为</a:t>
            </a:r>
            <a:r>
              <a:rPr lang="en-US" altLang="zh-CN" dirty="0" smtClean="0">
                <a:solidFill>
                  <a:prstClr val="white"/>
                </a:solidFill>
                <a:latin typeface="微软雅黑" panose="020B0503020204020204" pitchFamily="34" charset="-122"/>
                <a:ea typeface="微软雅黑" panose="020B0503020204020204" pitchFamily="34" charset="-122"/>
              </a:rPr>
              <a:t>master</a:t>
            </a:r>
            <a:r>
              <a:rPr lang="zh-CN" altLang="en-US" dirty="0" smtClean="0">
                <a:solidFill>
                  <a:prstClr val="white"/>
                </a:solidFill>
                <a:latin typeface="微软雅黑" panose="020B0503020204020204" pitchFamily="34" charset="-122"/>
                <a:ea typeface="微软雅黑" panose="020B0503020204020204" pitchFamily="34" charset="-122"/>
              </a:rPr>
              <a:t>节点，会丢失一部分未来得及同步的数据。</a:t>
            </a:r>
            <a:endParaRPr lang="en-US" altLang="zh-CN" dirty="0" smtClean="0">
              <a:solidFill>
                <a:prstClr val="white"/>
              </a:solidFill>
              <a:latin typeface="微软雅黑" panose="020B0503020204020204" pitchFamily="34" charset="-122"/>
              <a:ea typeface="微软雅黑" panose="020B0503020204020204" pitchFamily="34" charset="-122"/>
            </a:endParaRPr>
          </a:p>
          <a:p>
            <a:pPr marR="0" lvl="0" indent="457200" algn="l" defTabSz="914400" rtl="0" eaLnBrk="1" fontAlgn="auto" latinLnBrk="0" hangingPunct="1">
              <a:lnSpc>
                <a:spcPct val="150000"/>
              </a:lnSpc>
              <a:spcBef>
                <a:spcPts val="0"/>
              </a:spcBef>
              <a:spcAft>
                <a:spcPts val="0"/>
              </a:spcAft>
              <a:buClrTx/>
              <a:buSzTx/>
              <a:tabLst/>
              <a:defRPr/>
            </a:pPr>
            <a:r>
              <a:rPr kumimoji="0" lang="zh-CN" altLang="en-US" sz="1800"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rPr>
              <a:t>为了减少快照同步</a:t>
            </a:r>
            <a:r>
              <a:rPr kumimoji="0" lang="en-US" altLang="zh-CN" sz="1800"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rPr>
              <a:t>master</a:t>
            </a:r>
            <a:r>
              <a:rPr kumimoji="0" lang="zh-CN" altLang="en-US" sz="1800"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rPr>
              <a:t>磁盘的压力，</a:t>
            </a:r>
            <a:r>
              <a:rPr kumimoji="0" lang="en-US" altLang="zh-CN" sz="1800" b="0" i="0" u="none" strike="noStrike" kern="1200" cap="none" spc="0" normalizeH="0" baseline="0" noProof="0" dirty="0" err="1" smtClean="0">
                <a:ln>
                  <a:noFill/>
                </a:ln>
                <a:solidFill>
                  <a:prstClr val="white"/>
                </a:solidFill>
                <a:effectLst/>
                <a:uLnTx/>
                <a:uFillTx/>
                <a:latin typeface="微软雅黑" panose="020B0503020204020204" pitchFamily="34" charset="-122"/>
                <a:ea typeface="微软雅黑" panose="020B0503020204020204" pitchFamily="34" charset="-122"/>
                <a:cs typeface="+mn-cs"/>
              </a:rPr>
              <a:t>redis</a:t>
            </a:r>
            <a:r>
              <a:rPr kumimoji="0" lang="zh-CN" altLang="en-US" sz="1800"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rPr>
              <a:t>提供</a:t>
            </a:r>
            <a:r>
              <a:rPr lang="zh-CN" altLang="en-US" b="1" dirty="0">
                <a:solidFill>
                  <a:srgbClr val="FFD343"/>
                </a:solidFill>
                <a:latin typeface="微软雅黑" panose="020B0503020204020204" pitchFamily="34" charset="-122"/>
                <a:ea typeface="微软雅黑" panose="020B0503020204020204" pitchFamily="34" charset="-122"/>
              </a:rPr>
              <a:t>无盘复</a:t>
            </a:r>
            <a:r>
              <a:rPr lang="zh-CN" altLang="en-US" b="1" dirty="0" smtClean="0">
                <a:solidFill>
                  <a:srgbClr val="FFD343"/>
                </a:solidFill>
                <a:latin typeface="微软雅黑" panose="020B0503020204020204" pitchFamily="34" charset="-122"/>
                <a:ea typeface="微软雅黑" panose="020B0503020204020204" pitchFamily="34" charset="-122"/>
              </a:rPr>
              <a:t>制</a:t>
            </a:r>
            <a:r>
              <a:rPr lang="zh-CN" altLang="en-US" dirty="0">
                <a:solidFill>
                  <a:prstClr val="white"/>
                </a:solidFill>
                <a:latin typeface="微软雅黑" panose="020B0503020204020204" pitchFamily="34" charset="-122"/>
                <a:ea typeface="微软雅黑" panose="020B0503020204020204" pitchFamily="34" charset="-122"/>
              </a:rPr>
              <a:t>功能</a:t>
            </a:r>
            <a:r>
              <a:rPr kumimoji="0" lang="zh-CN" altLang="en-US" sz="1800"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rPr>
              <a:t>，</a:t>
            </a:r>
            <a:r>
              <a:rPr kumimoji="0" lang="en-US" altLang="zh-CN" sz="1800"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rPr>
              <a:t>RDB</a:t>
            </a:r>
            <a:r>
              <a:rPr kumimoji="0" lang="zh-CN" altLang="en-US" sz="1800"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rPr>
              <a:t>文件不落盘直接发送到</a:t>
            </a:r>
            <a:r>
              <a:rPr kumimoji="0" lang="en-US" altLang="zh-CN" sz="1800"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rPr>
              <a:t>slave</a:t>
            </a:r>
            <a:r>
              <a:rPr kumimoji="0" lang="zh-CN" altLang="en-US" sz="1800"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rPr>
              <a:t>。</a:t>
            </a:r>
            <a:endParaRPr kumimoji="0" lang="en-US" altLang="zh-CN" sz="1800" b="0" i="0" u="none" strike="noStrike" kern="1200" cap="none" spc="0" normalizeH="0" baseline="0" noProof="0" dirty="0" smtClean="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0" name="TextBox 9"/>
          <p:cNvSpPr txBox="1"/>
          <p:nvPr/>
        </p:nvSpPr>
        <p:spPr>
          <a:xfrm>
            <a:off x="704850" y="605109"/>
            <a:ext cx="8883650" cy="523220"/>
          </a:xfrm>
          <a:prstGeom prst="rect">
            <a:avLst/>
          </a:prstGeom>
          <a:noFill/>
        </p:spPr>
        <p:txBody>
          <a:bodyPr wrap="square" rtlCol="0">
            <a:spAutoFit/>
          </a:bodyPr>
          <a:lstStyle/>
          <a:p>
            <a:pPr>
              <a:defRPr/>
            </a:pPr>
            <a:r>
              <a:rPr lang="en-US" altLang="zh-CN"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5.1.3 </a:t>
            </a:r>
            <a:r>
              <a:rPr lang="zh-CN" altLang="en-US"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同步的方式</a:t>
            </a:r>
          </a:p>
        </p:txBody>
      </p:sp>
      <p:grpSp>
        <p:nvGrpSpPr>
          <p:cNvPr id="31" name="组合 30"/>
          <p:cNvGrpSpPr/>
          <p:nvPr/>
        </p:nvGrpSpPr>
        <p:grpSpPr>
          <a:xfrm>
            <a:off x="2015644" y="3162975"/>
            <a:ext cx="7041270" cy="2802396"/>
            <a:chOff x="2015644" y="2495319"/>
            <a:chExt cx="7041270" cy="2802396"/>
          </a:xfrm>
        </p:grpSpPr>
        <p:sp>
          <p:nvSpPr>
            <p:cNvPr id="12" name="椭圆 11"/>
            <p:cNvSpPr/>
            <p:nvPr/>
          </p:nvSpPr>
          <p:spPr>
            <a:xfrm>
              <a:off x="2015644" y="2495319"/>
              <a:ext cx="1612927" cy="1006717"/>
            </a:xfrm>
            <a:prstGeom prst="ellipse">
              <a:avLst/>
            </a:prstGeom>
            <a:solidFill>
              <a:schemeClr val="accent4">
                <a:lumMod val="75000"/>
              </a:schemeClr>
            </a:solidFill>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2400" dirty="0" smtClean="0"/>
                <a:t>master</a:t>
              </a:r>
              <a:endParaRPr lang="zh-CN" altLang="en-US" sz="2400" dirty="0"/>
            </a:p>
          </p:txBody>
        </p:sp>
        <p:sp>
          <p:nvSpPr>
            <p:cNvPr id="16" name="椭圆 15"/>
            <p:cNvSpPr/>
            <p:nvPr/>
          </p:nvSpPr>
          <p:spPr>
            <a:xfrm>
              <a:off x="7101002" y="2520006"/>
              <a:ext cx="1638552" cy="982030"/>
            </a:xfrm>
            <a:prstGeom prst="ellipse">
              <a:avLst/>
            </a:prstGeom>
            <a:solidFill>
              <a:schemeClr val="accent5">
                <a:lumMod val="60000"/>
                <a:lumOff val="40000"/>
              </a:schemeClr>
            </a:solidFill>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2400" dirty="0" smtClean="0"/>
                <a:t>slave1</a:t>
              </a:r>
              <a:endParaRPr lang="zh-CN" altLang="en-US" sz="2400" dirty="0"/>
            </a:p>
          </p:txBody>
        </p:sp>
        <p:sp>
          <p:nvSpPr>
            <p:cNvPr id="3" name="矩形 2"/>
            <p:cNvSpPr/>
            <p:nvPr/>
          </p:nvSpPr>
          <p:spPr>
            <a:xfrm>
              <a:off x="2248792" y="4499429"/>
              <a:ext cx="1146628" cy="798286"/>
            </a:xfrm>
            <a:prstGeom prst="rect">
              <a:avLst/>
            </a:prstGeom>
            <a:solidFill>
              <a:schemeClr val="accent6">
                <a:lumMod val="75000"/>
              </a:schemeClr>
            </a:solidFill>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dirty="0" smtClean="0"/>
                <a:t>RDB</a:t>
              </a:r>
              <a:endParaRPr lang="zh-CN" altLang="en-US" dirty="0"/>
            </a:p>
          </p:txBody>
        </p:sp>
        <p:sp>
          <p:nvSpPr>
            <p:cNvPr id="17" name="矩形 16"/>
            <p:cNvSpPr/>
            <p:nvPr/>
          </p:nvSpPr>
          <p:spPr>
            <a:xfrm>
              <a:off x="7365939" y="4484915"/>
              <a:ext cx="1146628" cy="798286"/>
            </a:xfrm>
            <a:prstGeom prst="rect">
              <a:avLst/>
            </a:prstGeom>
            <a:solidFill>
              <a:schemeClr val="accent6">
                <a:lumMod val="75000"/>
              </a:schemeClr>
            </a:solidFill>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dirty="0" smtClean="0"/>
                <a:t>RDB</a:t>
              </a:r>
              <a:endParaRPr lang="zh-CN" altLang="en-US" dirty="0"/>
            </a:p>
          </p:txBody>
        </p:sp>
        <p:cxnSp>
          <p:nvCxnSpPr>
            <p:cNvPr id="5" name="直接箭头连接符 4"/>
            <p:cNvCxnSpPr>
              <a:stCxn id="12" idx="6"/>
              <a:endCxn id="16" idx="2"/>
            </p:cNvCxnSpPr>
            <p:nvPr/>
          </p:nvCxnSpPr>
          <p:spPr>
            <a:xfrm>
              <a:off x="3628571" y="2998678"/>
              <a:ext cx="3472431" cy="12343"/>
            </a:xfrm>
            <a:prstGeom prst="straightConnector1">
              <a:avLst/>
            </a:prstGeom>
            <a:ln w="25400" cmpd="sng">
              <a:solidFill>
                <a:srgbClr val="FFC000"/>
              </a:solidFill>
              <a:prstDash val="sysDot"/>
              <a:headEnd type="triangle"/>
              <a:tailEnd type="none"/>
            </a:ln>
          </p:spPr>
          <p:style>
            <a:lnRef idx="1">
              <a:schemeClr val="accent1"/>
            </a:lnRef>
            <a:fillRef idx="0">
              <a:schemeClr val="accent1"/>
            </a:fillRef>
            <a:effectRef idx="0">
              <a:schemeClr val="accent1"/>
            </a:effectRef>
            <a:fontRef idx="minor">
              <a:schemeClr val="tx1"/>
            </a:fontRef>
          </p:style>
        </p:cxnSp>
        <p:cxnSp>
          <p:nvCxnSpPr>
            <p:cNvPr id="7" name="直接箭头连接符 6"/>
            <p:cNvCxnSpPr>
              <a:stCxn id="12" idx="4"/>
              <a:endCxn id="3" idx="0"/>
            </p:cNvCxnSpPr>
            <p:nvPr/>
          </p:nvCxnSpPr>
          <p:spPr>
            <a:xfrm flipH="1">
              <a:off x="2822106" y="3502036"/>
              <a:ext cx="2" cy="997393"/>
            </a:xfrm>
            <a:prstGeom prst="straightConnector1">
              <a:avLst/>
            </a:prstGeom>
            <a:ln w="25400" cmpd="sng">
              <a:solidFill>
                <a:srgbClr val="FFC000"/>
              </a:solidFill>
              <a:prstDash val="solid"/>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a:stCxn id="3" idx="3"/>
              <a:endCxn id="17" idx="1"/>
            </p:cNvCxnSpPr>
            <p:nvPr/>
          </p:nvCxnSpPr>
          <p:spPr>
            <a:xfrm flipV="1">
              <a:off x="3395420" y="4884058"/>
              <a:ext cx="3970519" cy="14514"/>
            </a:xfrm>
            <a:prstGeom prst="straightConnector1">
              <a:avLst/>
            </a:prstGeom>
            <a:ln w="25400" cmpd="sng">
              <a:solidFill>
                <a:srgbClr val="FFC000"/>
              </a:solidFill>
              <a:prstDash val="solid"/>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a:stCxn id="17" idx="0"/>
              <a:endCxn id="16" idx="4"/>
            </p:cNvCxnSpPr>
            <p:nvPr/>
          </p:nvCxnSpPr>
          <p:spPr>
            <a:xfrm flipH="1" flipV="1">
              <a:off x="7920278" y="3502036"/>
              <a:ext cx="18975" cy="982879"/>
            </a:xfrm>
            <a:prstGeom prst="straightConnector1">
              <a:avLst/>
            </a:prstGeom>
            <a:ln w="25400" cmpd="sng">
              <a:solidFill>
                <a:srgbClr val="FFC000"/>
              </a:solidFill>
              <a:prstDash val="solid"/>
              <a:headEnd type="none"/>
              <a:tailEnd type="triangle"/>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a:xfrm>
              <a:off x="2793078" y="3860801"/>
              <a:ext cx="1350748" cy="369332"/>
            </a:xfrm>
            <a:prstGeom prst="rect">
              <a:avLst/>
            </a:prstGeom>
            <a:noFill/>
          </p:spPr>
          <p:txBody>
            <a:bodyPr wrap="square" rtlCol="0">
              <a:spAutoFit/>
            </a:bodyPr>
            <a:lstStyle/>
            <a:p>
              <a:pPr algn="l"/>
              <a:r>
                <a:rPr lang="en-US" altLang="zh-CN" dirty="0" smtClean="0">
                  <a:solidFill>
                    <a:schemeClr val="bg1"/>
                  </a:solidFill>
                  <a:latin typeface="微软雅黑" panose="020B0503020204020204" pitchFamily="34" charset="-122"/>
                  <a:ea typeface="微软雅黑" panose="020B0503020204020204" pitchFamily="34" charset="-122"/>
                </a:rPr>
                <a:t>1</a:t>
              </a:r>
              <a:r>
                <a:rPr lang="zh-CN" altLang="en-US" dirty="0" smtClean="0">
                  <a:solidFill>
                    <a:schemeClr val="bg1"/>
                  </a:solidFill>
                  <a:latin typeface="微软雅黑" panose="020B0503020204020204" pitchFamily="34" charset="-122"/>
                  <a:ea typeface="微软雅黑" panose="020B0503020204020204" pitchFamily="34" charset="-122"/>
                </a:rPr>
                <a:t>、</a:t>
              </a:r>
              <a:r>
                <a:rPr lang="en-US" altLang="zh-CN" dirty="0" err="1" smtClean="0">
                  <a:solidFill>
                    <a:schemeClr val="bg1"/>
                  </a:solidFill>
                  <a:latin typeface="微软雅黑" panose="020B0503020204020204" pitchFamily="34" charset="-122"/>
                  <a:ea typeface="微软雅黑" panose="020B0503020204020204" pitchFamily="34" charset="-122"/>
                </a:rPr>
                <a:t>bgsave</a:t>
              </a:r>
              <a:endParaRPr lang="zh-CN" altLang="en-US" dirty="0" smtClean="0">
                <a:solidFill>
                  <a:schemeClr val="bg1"/>
                </a:solidFill>
                <a:latin typeface="微软雅黑" panose="020B0503020204020204" pitchFamily="34" charset="-122"/>
                <a:ea typeface="微软雅黑" panose="020B0503020204020204" pitchFamily="34" charset="-122"/>
              </a:endParaRPr>
            </a:p>
          </p:txBody>
        </p:sp>
        <p:sp>
          <p:nvSpPr>
            <p:cNvPr id="22" name="文本框 21"/>
            <p:cNvSpPr txBox="1"/>
            <p:nvPr/>
          </p:nvSpPr>
          <p:spPr>
            <a:xfrm>
              <a:off x="4244925" y="4459516"/>
              <a:ext cx="2083304" cy="369332"/>
            </a:xfrm>
            <a:prstGeom prst="rect">
              <a:avLst/>
            </a:prstGeom>
            <a:noFill/>
          </p:spPr>
          <p:txBody>
            <a:bodyPr wrap="square" rtlCol="0">
              <a:spAutoFit/>
            </a:bodyPr>
            <a:lstStyle/>
            <a:p>
              <a:pPr algn="l"/>
              <a:r>
                <a:rPr lang="en-US" altLang="zh-CN" dirty="0" smtClean="0">
                  <a:solidFill>
                    <a:schemeClr val="bg1"/>
                  </a:solidFill>
                  <a:latin typeface="微软雅黑" panose="020B0503020204020204" pitchFamily="34" charset="-122"/>
                  <a:ea typeface="微软雅黑" panose="020B0503020204020204" pitchFamily="34" charset="-122"/>
                </a:rPr>
                <a:t>2</a:t>
              </a:r>
              <a:r>
                <a:rPr lang="zh-CN" altLang="en-US" dirty="0" smtClean="0">
                  <a:solidFill>
                    <a:schemeClr val="bg1"/>
                  </a:solidFill>
                  <a:latin typeface="微软雅黑" panose="020B0503020204020204" pitchFamily="34" charset="-122"/>
                  <a:ea typeface="微软雅黑" panose="020B0503020204020204" pitchFamily="34" charset="-122"/>
                </a:rPr>
                <a:t>、</a:t>
              </a:r>
              <a:r>
                <a:rPr lang="en-US" altLang="zh-CN" dirty="0" smtClean="0">
                  <a:solidFill>
                    <a:schemeClr val="bg1"/>
                  </a:solidFill>
                  <a:latin typeface="微软雅黑" panose="020B0503020204020204" pitchFamily="34" charset="-122"/>
                  <a:ea typeface="微软雅黑" panose="020B0503020204020204" pitchFamily="34" charset="-122"/>
                </a:rPr>
                <a:t>send </a:t>
              </a:r>
              <a:r>
                <a:rPr lang="en-US" altLang="zh-CN" dirty="0" err="1" smtClean="0">
                  <a:solidFill>
                    <a:schemeClr val="bg1"/>
                  </a:solidFill>
                  <a:latin typeface="微软雅黑" panose="020B0503020204020204" pitchFamily="34" charset="-122"/>
                  <a:ea typeface="微软雅黑" panose="020B0503020204020204" pitchFamily="34" charset="-122"/>
                </a:rPr>
                <a:t>rdb</a:t>
              </a:r>
              <a:r>
                <a:rPr lang="en-US" altLang="zh-CN" dirty="0" smtClean="0">
                  <a:solidFill>
                    <a:schemeClr val="bg1"/>
                  </a:solidFill>
                  <a:latin typeface="微软雅黑" panose="020B0503020204020204" pitchFamily="34" charset="-122"/>
                  <a:ea typeface="微软雅黑" panose="020B0503020204020204" pitchFamily="34" charset="-122"/>
                </a:rPr>
                <a:t> file</a:t>
              </a:r>
              <a:endParaRPr lang="zh-CN" altLang="en-US" dirty="0" smtClean="0">
                <a:solidFill>
                  <a:schemeClr val="bg1"/>
                </a:solidFill>
                <a:latin typeface="微软雅黑" panose="020B0503020204020204" pitchFamily="34" charset="-122"/>
                <a:ea typeface="微软雅黑" panose="020B0503020204020204" pitchFamily="34" charset="-122"/>
              </a:endParaRPr>
            </a:p>
          </p:txBody>
        </p:sp>
        <p:sp>
          <p:nvSpPr>
            <p:cNvPr id="23" name="文本框 22"/>
            <p:cNvSpPr txBox="1"/>
            <p:nvPr/>
          </p:nvSpPr>
          <p:spPr>
            <a:xfrm>
              <a:off x="7824957" y="3787038"/>
              <a:ext cx="1231957" cy="369332"/>
            </a:xfrm>
            <a:prstGeom prst="rect">
              <a:avLst/>
            </a:prstGeom>
            <a:noFill/>
          </p:spPr>
          <p:txBody>
            <a:bodyPr wrap="square" rtlCol="0">
              <a:spAutoFit/>
            </a:bodyPr>
            <a:lstStyle/>
            <a:p>
              <a:pPr algn="l"/>
              <a:r>
                <a:rPr lang="en-US" altLang="zh-CN" dirty="0">
                  <a:solidFill>
                    <a:schemeClr val="bg1"/>
                  </a:solidFill>
                  <a:latin typeface="微软雅黑" panose="020B0503020204020204" pitchFamily="34" charset="-122"/>
                  <a:ea typeface="微软雅黑" panose="020B0503020204020204" pitchFamily="34" charset="-122"/>
                </a:rPr>
                <a:t>3</a:t>
              </a:r>
              <a:r>
                <a:rPr lang="zh-CN" altLang="en-US" dirty="0" smtClean="0">
                  <a:solidFill>
                    <a:schemeClr val="bg1"/>
                  </a:solidFill>
                  <a:latin typeface="微软雅黑" panose="020B0503020204020204" pitchFamily="34" charset="-122"/>
                  <a:ea typeface="微软雅黑" panose="020B0503020204020204" pitchFamily="34" charset="-122"/>
                </a:rPr>
                <a:t>、</a:t>
              </a:r>
              <a:r>
                <a:rPr lang="en-US" altLang="zh-CN" dirty="0" smtClean="0">
                  <a:solidFill>
                    <a:schemeClr val="bg1"/>
                  </a:solidFill>
                  <a:latin typeface="微软雅黑" panose="020B0503020204020204" pitchFamily="34" charset="-122"/>
                  <a:ea typeface="微软雅黑" panose="020B0503020204020204" pitchFamily="34" charset="-122"/>
                </a:rPr>
                <a:t>load</a:t>
              </a:r>
              <a:endParaRPr lang="zh-CN" altLang="en-US" dirty="0" smtClean="0">
                <a:solidFill>
                  <a:schemeClr val="bg1"/>
                </a:solidFill>
                <a:latin typeface="微软雅黑" panose="020B0503020204020204" pitchFamily="34" charset="-122"/>
                <a:ea typeface="微软雅黑" panose="020B0503020204020204" pitchFamily="34" charset="-122"/>
              </a:endParaRPr>
            </a:p>
          </p:txBody>
        </p:sp>
        <p:cxnSp>
          <p:nvCxnSpPr>
            <p:cNvPr id="25" name="直接箭头连接符 24"/>
            <p:cNvCxnSpPr>
              <a:stCxn id="16" idx="3"/>
              <a:endCxn id="12" idx="5"/>
            </p:cNvCxnSpPr>
            <p:nvPr/>
          </p:nvCxnSpPr>
          <p:spPr>
            <a:xfrm flipH="1" flipV="1">
              <a:off x="3392363" y="3354606"/>
              <a:ext cx="3948599" cy="3615"/>
            </a:xfrm>
            <a:prstGeom prst="straightConnector1">
              <a:avLst/>
            </a:prstGeom>
            <a:ln w="25400" cmpd="sng">
              <a:solidFill>
                <a:srgbClr val="FFC000"/>
              </a:solidFill>
              <a:prstDash val="solid"/>
              <a:headEnd type="none"/>
              <a:tailEnd type="triangle"/>
            </a:ln>
          </p:spPr>
          <p:style>
            <a:lnRef idx="1">
              <a:schemeClr val="accent1"/>
            </a:lnRef>
            <a:fillRef idx="0">
              <a:schemeClr val="accent1"/>
            </a:fillRef>
            <a:effectRef idx="0">
              <a:schemeClr val="accent1"/>
            </a:effectRef>
            <a:fontRef idx="minor">
              <a:schemeClr val="tx1"/>
            </a:fontRef>
          </p:style>
        </p:cxnSp>
        <p:sp>
          <p:nvSpPr>
            <p:cNvPr id="27" name="文本框 26"/>
            <p:cNvSpPr txBox="1"/>
            <p:nvPr/>
          </p:nvSpPr>
          <p:spPr>
            <a:xfrm>
              <a:off x="4723466" y="3394031"/>
              <a:ext cx="1587343" cy="369332"/>
            </a:xfrm>
            <a:prstGeom prst="rect">
              <a:avLst/>
            </a:prstGeom>
            <a:noFill/>
          </p:spPr>
          <p:txBody>
            <a:bodyPr wrap="square" rtlCol="0">
              <a:spAutoFit/>
            </a:bodyPr>
            <a:lstStyle/>
            <a:p>
              <a:pPr algn="l"/>
              <a:r>
                <a:rPr lang="en-US" altLang="zh-CN" dirty="0" smtClean="0">
                  <a:solidFill>
                    <a:schemeClr val="bg1"/>
                  </a:solidFill>
                  <a:latin typeface="微软雅黑" panose="020B0503020204020204" pitchFamily="34" charset="-122"/>
                  <a:ea typeface="微软雅黑" panose="020B0503020204020204" pitchFamily="34" charset="-122"/>
                </a:rPr>
                <a:t>4</a:t>
              </a:r>
              <a:r>
                <a:rPr lang="zh-CN" altLang="en-US" dirty="0" smtClean="0">
                  <a:solidFill>
                    <a:schemeClr val="bg1"/>
                  </a:solidFill>
                  <a:latin typeface="微软雅黑" panose="020B0503020204020204" pitchFamily="34" charset="-122"/>
                  <a:ea typeface="微软雅黑" panose="020B0503020204020204" pitchFamily="34" charset="-122"/>
                </a:rPr>
                <a:t>、</a:t>
              </a:r>
              <a:r>
                <a:rPr lang="en-US" altLang="zh-CN" dirty="0" smtClean="0">
                  <a:solidFill>
                    <a:schemeClr val="bg1"/>
                  </a:solidFill>
                  <a:latin typeface="微软雅黑" panose="020B0503020204020204" pitchFamily="34" charset="-122"/>
                  <a:ea typeface="微软雅黑" panose="020B0503020204020204" pitchFamily="34" charset="-122"/>
                </a:rPr>
                <a:t>loaded</a:t>
              </a:r>
              <a:endParaRPr lang="zh-CN" altLang="en-US" dirty="0" smtClean="0">
                <a:solidFill>
                  <a:schemeClr val="bg1"/>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659969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0-#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1"/>
                                        </p:tgtEl>
                                        <p:attrNameLst>
                                          <p:attrName>style.visibility</p:attrName>
                                        </p:attrNameLst>
                                      </p:cBhvr>
                                      <p:to>
                                        <p:strVal val="visible"/>
                                      </p:to>
                                    </p:set>
                                    <p:anim calcmode="lin" valueType="num">
                                      <p:cBhvr additive="base">
                                        <p:cTn id="13" dur="500" fill="hold"/>
                                        <p:tgtEl>
                                          <p:spTgt spid="31"/>
                                        </p:tgtEl>
                                        <p:attrNameLst>
                                          <p:attrName>ppt_x</p:attrName>
                                        </p:attrNameLst>
                                      </p:cBhvr>
                                      <p:tavLst>
                                        <p:tav tm="0">
                                          <p:val>
                                            <p:strVal val="#ppt_x"/>
                                          </p:val>
                                        </p:tav>
                                        <p:tav tm="100000">
                                          <p:val>
                                            <p:strVal val="#ppt_x"/>
                                          </p:val>
                                        </p:tav>
                                      </p:tavLst>
                                    </p:anim>
                                    <p:anim calcmode="lin" valueType="num">
                                      <p:cBhvr additive="base">
                                        <p:cTn id="14"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0A0F23"/>
        </a:solidFill>
        <a:effectLst/>
      </p:bgPr>
    </p:bg>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xmlns="" id="{CBDC52CD-1D62-48AF-A9DF-9F18AEA2B1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01385" y="-114300"/>
            <a:ext cx="1301859" cy="920356"/>
          </a:xfrm>
          <a:prstGeom prst="rect">
            <a:avLst/>
          </a:prstGeom>
        </p:spPr>
      </p:pic>
      <p:pic>
        <p:nvPicPr>
          <p:cNvPr id="14" name="图片 13">
            <a:extLst>
              <a:ext uri="{FF2B5EF4-FFF2-40B4-BE49-F238E27FC236}">
                <a16:creationId xmlns:a16="http://schemas.microsoft.com/office/drawing/2014/main" xmlns="" id="{F78DA958-9B1B-47DA-A870-8C0B3A7D8866}"/>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b="63537"/>
          <a:stretch/>
        </p:blipFill>
        <p:spPr>
          <a:xfrm>
            <a:off x="11184164" y="217733"/>
            <a:ext cx="572339" cy="337210"/>
          </a:xfrm>
          <a:prstGeom prst="rect">
            <a:avLst/>
          </a:prstGeom>
        </p:spPr>
      </p:pic>
      <p:cxnSp>
        <p:nvCxnSpPr>
          <p:cNvPr id="15" name="直接连接符 14">
            <a:extLst>
              <a:ext uri="{FF2B5EF4-FFF2-40B4-BE49-F238E27FC236}">
                <a16:creationId xmlns:a16="http://schemas.microsoft.com/office/drawing/2014/main" xmlns="" id="{93240A06-D526-4907-A163-94ABB41190CC}"/>
              </a:ext>
            </a:extLst>
          </p:cNvPr>
          <p:cNvCxnSpPr/>
          <p:nvPr/>
        </p:nvCxnSpPr>
        <p:spPr>
          <a:xfrm>
            <a:off x="11103244" y="225825"/>
            <a:ext cx="0" cy="2435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xmlns="" id="{74C59758-12AB-44A5-92FA-DB52904027AE}"/>
              </a:ext>
            </a:extLst>
          </p:cNvPr>
          <p:cNvSpPr/>
          <p:nvPr/>
        </p:nvSpPr>
        <p:spPr>
          <a:xfrm>
            <a:off x="802332" y="1287114"/>
            <a:ext cx="10765483" cy="1289905"/>
          </a:xfrm>
          <a:prstGeom prst="rect">
            <a:avLst/>
          </a:prstGeom>
        </p:spPr>
        <p:txBody>
          <a:bodyPr wrap="square">
            <a:spAutoFit/>
          </a:bodyPr>
          <a:lstStyle/>
          <a:p>
            <a:pPr indent="457200">
              <a:lnSpc>
                <a:spcPct val="150000"/>
              </a:lnSpc>
            </a:pPr>
            <a:r>
              <a:rPr lang="zh-CN" altLang="en-US" dirty="0">
                <a:solidFill>
                  <a:prstClr val="white"/>
                </a:solidFill>
                <a:latin typeface="微软雅黑" panose="020B0503020204020204" pitchFamily="34" charset="-122"/>
                <a:ea typeface="微软雅黑" panose="020B0503020204020204" pitchFamily="34" charset="-122"/>
              </a:rPr>
              <a:t>主</a:t>
            </a:r>
            <a:r>
              <a:rPr lang="zh-CN" altLang="en-US" dirty="0" smtClean="0">
                <a:solidFill>
                  <a:prstClr val="white"/>
                </a:solidFill>
                <a:latin typeface="微软雅黑" panose="020B0503020204020204" pitchFamily="34" charset="-122"/>
                <a:ea typeface="微软雅黑" panose="020B0503020204020204" pitchFamily="34" charset="-122"/>
              </a:rPr>
              <a:t>从模式的主要痛点是当</a:t>
            </a:r>
            <a:r>
              <a:rPr lang="en-US" altLang="zh-CN" dirty="0" smtClean="0">
                <a:solidFill>
                  <a:prstClr val="white"/>
                </a:solidFill>
                <a:latin typeface="微软雅黑" panose="020B0503020204020204" pitchFamily="34" charset="-122"/>
                <a:ea typeface="微软雅黑" panose="020B0503020204020204" pitchFamily="34" charset="-122"/>
              </a:rPr>
              <a:t>master</a:t>
            </a:r>
            <a:r>
              <a:rPr lang="zh-CN" altLang="en-US" dirty="0" smtClean="0">
                <a:solidFill>
                  <a:prstClr val="white"/>
                </a:solidFill>
                <a:latin typeface="微软雅黑" panose="020B0503020204020204" pitchFamily="34" charset="-122"/>
                <a:ea typeface="微软雅黑" panose="020B0503020204020204" pitchFamily="34" charset="-122"/>
              </a:rPr>
              <a:t>节点挂掉，需要人工把</a:t>
            </a:r>
            <a:r>
              <a:rPr lang="en-US" altLang="zh-CN" dirty="0" smtClean="0">
                <a:solidFill>
                  <a:prstClr val="white"/>
                </a:solidFill>
                <a:latin typeface="微软雅黑" panose="020B0503020204020204" pitchFamily="34" charset="-122"/>
                <a:ea typeface="微软雅黑" panose="020B0503020204020204" pitchFamily="34" charset="-122"/>
              </a:rPr>
              <a:t>slave</a:t>
            </a:r>
            <a:r>
              <a:rPr lang="zh-CN" altLang="en-US" dirty="0" smtClean="0">
                <a:solidFill>
                  <a:prstClr val="white"/>
                </a:solidFill>
                <a:latin typeface="微软雅黑" panose="020B0503020204020204" pitchFamily="34" charset="-122"/>
                <a:ea typeface="微软雅黑" panose="020B0503020204020204" pitchFamily="34" charset="-122"/>
              </a:rPr>
              <a:t>节点切换成</a:t>
            </a:r>
            <a:r>
              <a:rPr lang="en-US" altLang="zh-CN" dirty="0" smtClean="0">
                <a:solidFill>
                  <a:prstClr val="white"/>
                </a:solidFill>
                <a:latin typeface="微软雅黑" panose="020B0503020204020204" pitchFamily="34" charset="-122"/>
                <a:ea typeface="微软雅黑" panose="020B0503020204020204" pitchFamily="34" charset="-122"/>
              </a:rPr>
              <a:t>master</a:t>
            </a:r>
            <a:r>
              <a:rPr lang="zh-CN" altLang="en-US" dirty="0" smtClean="0">
                <a:solidFill>
                  <a:prstClr val="white"/>
                </a:solidFill>
                <a:latin typeface="微软雅黑" panose="020B0503020204020204" pitchFamily="34" charset="-122"/>
                <a:ea typeface="微软雅黑" panose="020B0503020204020204" pitchFamily="34" charset="-122"/>
              </a:rPr>
              <a:t>节点。当问题发生时，往往不会很及时响应。且存在一定的运维成本。</a:t>
            </a:r>
            <a:r>
              <a:rPr lang="en-US" altLang="zh-CN" dirty="0" err="1" smtClean="0">
                <a:solidFill>
                  <a:prstClr val="white"/>
                </a:solidFill>
                <a:latin typeface="微软雅黑" panose="020B0503020204020204" pitchFamily="34" charset="-122"/>
                <a:ea typeface="微软雅黑" panose="020B0503020204020204" pitchFamily="34" charset="-122"/>
              </a:rPr>
              <a:t>redis</a:t>
            </a:r>
            <a:r>
              <a:rPr lang="zh-CN" altLang="en-US" dirty="0" smtClean="0">
                <a:solidFill>
                  <a:prstClr val="white"/>
                </a:solidFill>
                <a:latin typeface="微软雅黑" panose="020B0503020204020204" pitchFamily="34" charset="-122"/>
                <a:ea typeface="微软雅黑" panose="020B0503020204020204" pitchFamily="34" charset="-122"/>
              </a:rPr>
              <a:t>官方提供了一种自动的主从切换方案 </a:t>
            </a:r>
            <a:r>
              <a:rPr lang="en-US" altLang="zh-CN" dirty="0" smtClean="0">
                <a:solidFill>
                  <a:prstClr val="white"/>
                </a:solidFill>
                <a:latin typeface="微软雅黑" panose="020B0503020204020204" pitchFamily="34" charset="-122"/>
                <a:ea typeface="微软雅黑" panose="020B0503020204020204" pitchFamily="34" charset="-122"/>
              </a:rPr>
              <a:t>-- </a:t>
            </a:r>
            <a:r>
              <a:rPr lang="en-US" altLang="zh-CN" dirty="0" err="1" smtClean="0">
                <a:solidFill>
                  <a:prstClr val="white"/>
                </a:solidFill>
                <a:latin typeface="微软雅黑" panose="020B0503020204020204" pitchFamily="34" charset="-122"/>
                <a:ea typeface="微软雅黑" panose="020B0503020204020204" pitchFamily="34" charset="-122"/>
              </a:rPr>
              <a:t>redis</a:t>
            </a:r>
            <a:r>
              <a:rPr lang="en-US" altLang="zh-CN" dirty="0" smtClean="0">
                <a:solidFill>
                  <a:prstClr val="white"/>
                </a:solidFill>
                <a:latin typeface="微软雅黑" panose="020B0503020204020204" pitchFamily="34" charset="-122"/>
                <a:ea typeface="微软雅黑" panose="020B0503020204020204" pitchFamily="34" charset="-122"/>
              </a:rPr>
              <a:t> sentinel(</a:t>
            </a:r>
            <a:r>
              <a:rPr lang="zh-CN" altLang="en-US" dirty="0" smtClean="0">
                <a:solidFill>
                  <a:prstClr val="white"/>
                </a:solidFill>
                <a:latin typeface="微软雅黑" panose="020B0503020204020204" pitchFamily="34" charset="-122"/>
                <a:ea typeface="微软雅黑" panose="020B0503020204020204" pitchFamily="34" charset="-122"/>
              </a:rPr>
              <a:t>哨兵</a:t>
            </a:r>
            <a:r>
              <a:rPr lang="en-US" altLang="zh-CN" dirty="0" smtClean="0">
                <a:solidFill>
                  <a:prstClr val="white"/>
                </a:solidFill>
                <a:latin typeface="微软雅黑" panose="020B0503020204020204" pitchFamily="34" charset="-122"/>
                <a:ea typeface="微软雅黑" panose="020B0503020204020204" pitchFamily="34" charset="-122"/>
              </a:rPr>
              <a:t>)</a:t>
            </a:r>
          </a:p>
        </p:txBody>
      </p:sp>
      <p:sp>
        <p:nvSpPr>
          <p:cNvPr id="10" name="TextBox 9"/>
          <p:cNvSpPr txBox="1"/>
          <p:nvPr/>
        </p:nvSpPr>
        <p:spPr>
          <a:xfrm>
            <a:off x="704849" y="605109"/>
            <a:ext cx="10862965" cy="584775"/>
          </a:xfrm>
          <a:prstGeom prst="rect">
            <a:avLst/>
          </a:prstGeom>
          <a:noFill/>
        </p:spPr>
        <p:txBody>
          <a:bodyPr wrap="square" rtlCol="0">
            <a:spAutoFit/>
          </a:bodyPr>
          <a:lstStyle/>
          <a:p>
            <a:pPr>
              <a:defRPr/>
            </a:pPr>
            <a:r>
              <a:rPr lang="en-US" altLang="zh-CN" sz="32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5.2</a:t>
            </a:r>
            <a:r>
              <a:rPr lang="zh-CN" altLang="en-US" sz="32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、哨兵模式</a:t>
            </a:r>
          </a:p>
        </p:txBody>
      </p:sp>
    </p:spTree>
    <p:extLst>
      <p:ext uri="{BB962C8B-B14F-4D97-AF65-F5344CB8AC3E}">
        <p14:creationId xmlns:p14="http://schemas.microsoft.com/office/powerpoint/2010/main" val="4188985912"/>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0A0F23"/>
        </a:solidFill>
        <a:effectLst/>
      </p:bgPr>
    </p:bg>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xmlns="" id="{CBDC52CD-1D62-48AF-A9DF-9F18AEA2B1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01385" y="-114300"/>
            <a:ext cx="1301859" cy="920356"/>
          </a:xfrm>
          <a:prstGeom prst="rect">
            <a:avLst/>
          </a:prstGeom>
        </p:spPr>
      </p:pic>
      <p:pic>
        <p:nvPicPr>
          <p:cNvPr id="14" name="图片 13">
            <a:extLst>
              <a:ext uri="{FF2B5EF4-FFF2-40B4-BE49-F238E27FC236}">
                <a16:creationId xmlns:a16="http://schemas.microsoft.com/office/drawing/2014/main" xmlns="" id="{F78DA958-9B1B-47DA-A870-8C0B3A7D8866}"/>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b="63537"/>
          <a:stretch/>
        </p:blipFill>
        <p:spPr>
          <a:xfrm>
            <a:off x="11184164" y="217733"/>
            <a:ext cx="572339" cy="337210"/>
          </a:xfrm>
          <a:prstGeom prst="rect">
            <a:avLst/>
          </a:prstGeom>
        </p:spPr>
      </p:pic>
      <p:cxnSp>
        <p:nvCxnSpPr>
          <p:cNvPr id="15" name="直接连接符 14">
            <a:extLst>
              <a:ext uri="{FF2B5EF4-FFF2-40B4-BE49-F238E27FC236}">
                <a16:creationId xmlns:a16="http://schemas.microsoft.com/office/drawing/2014/main" xmlns="" id="{93240A06-D526-4907-A163-94ABB41190CC}"/>
              </a:ext>
            </a:extLst>
          </p:cNvPr>
          <p:cNvCxnSpPr/>
          <p:nvPr/>
        </p:nvCxnSpPr>
        <p:spPr>
          <a:xfrm>
            <a:off x="11103244" y="225825"/>
            <a:ext cx="0" cy="2435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704850" y="605109"/>
            <a:ext cx="7689850" cy="523220"/>
          </a:xfrm>
          <a:prstGeom prst="rect">
            <a:avLst/>
          </a:prstGeom>
          <a:noFill/>
        </p:spPr>
        <p:txBody>
          <a:bodyPr wrap="square" rtlCol="0">
            <a:spAutoFit/>
          </a:bodyPr>
          <a:lstStyle/>
          <a:p>
            <a:pPr>
              <a:defRPr/>
            </a:pPr>
            <a:r>
              <a:rPr lang="en-US" altLang="zh-CN"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5.2.1 </a:t>
            </a:r>
            <a:r>
              <a:rPr lang="zh-CN" altLang="en-US"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哨兵模式原理</a:t>
            </a:r>
          </a:p>
        </p:txBody>
      </p:sp>
      <p:grpSp>
        <p:nvGrpSpPr>
          <p:cNvPr id="64" name="组合 63"/>
          <p:cNvGrpSpPr/>
          <p:nvPr/>
        </p:nvGrpSpPr>
        <p:grpSpPr>
          <a:xfrm>
            <a:off x="751740" y="2486932"/>
            <a:ext cx="9544052" cy="3929251"/>
            <a:chOff x="751740" y="1206244"/>
            <a:chExt cx="9633906" cy="5209940"/>
          </a:xfrm>
        </p:grpSpPr>
        <p:sp>
          <p:nvSpPr>
            <p:cNvPr id="2" name="云形标注 1"/>
            <p:cNvSpPr/>
            <p:nvPr/>
          </p:nvSpPr>
          <p:spPr>
            <a:xfrm>
              <a:off x="751740" y="1559917"/>
              <a:ext cx="1612779" cy="835089"/>
            </a:xfrm>
            <a:prstGeom prst="cloudCallout">
              <a:avLst/>
            </a:prstGeom>
            <a:solidFill>
              <a:schemeClr val="bg1"/>
            </a:solidFill>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dirty="0" smtClean="0"/>
                <a:t>client</a:t>
              </a:r>
              <a:endParaRPr lang="zh-CN" altLang="en-US" dirty="0"/>
            </a:p>
          </p:txBody>
        </p:sp>
        <p:grpSp>
          <p:nvGrpSpPr>
            <p:cNvPr id="6" name="组合 5"/>
            <p:cNvGrpSpPr/>
            <p:nvPr/>
          </p:nvGrpSpPr>
          <p:grpSpPr>
            <a:xfrm>
              <a:off x="5104866" y="1206244"/>
              <a:ext cx="4696519" cy="2561378"/>
              <a:chOff x="4821791" y="1595463"/>
              <a:chExt cx="4957789" cy="2846499"/>
            </a:xfrm>
          </p:grpSpPr>
          <p:sp>
            <p:nvSpPr>
              <p:cNvPr id="3" name="矩形 2"/>
              <p:cNvSpPr/>
              <p:nvPr/>
            </p:nvSpPr>
            <p:spPr>
              <a:xfrm>
                <a:off x="4821791" y="1595463"/>
                <a:ext cx="4957789" cy="2846499"/>
              </a:xfrm>
              <a:prstGeom prst="rect">
                <a:avLst/>
              </a:prstGeom>
              <a:solidFill>
                <a:schemeClr val="accent6"/>
              </a:solidFill>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 name="圆角矩形 3"/>
              <p:cNvSpPr/>
              <p:nvPr/>
            </p:nvSpPr>
            <p:spPr>
              <a:xfrm>
                <a:off x="6429829" y="1860500"/>
                <a:ext cx="1741714" cy="826105"/>
              </a:xfrm>
              <a:prstGeom prst="roundRect">
                <a:avLst/>
              </a:prstGeom>
              <a:solidFill>
                <a:schemeClr val="bg1"/>
              </a:solidFill>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dirty="0" err="1" smtClean="0">
                    <a:solidFill>
                      <a:srgbClr val="7030A0"/>
                    </a:solidFill>
                  </a:rPr>
                  <a:t>redis</a:t>
                </a:r>
                <a:r>
                  <a:rPr lang="en-US" altLang="zh-CN" dirty="0" smtClean="0">
                    <a:solidFill>
                      <a:srgbClr val="7030A0"/>
                    </a:solidFill>
                  </a:rPr>
                  <a:t> sentinel</a:t>
                </a:r>
                <a:endParaRPr lang="zh-CN" altLang="en-US" dirty="0">
                  <a:solidFill>
                    <a:srgbClr val="7030A0"/>
                  </a:solidFill>
                </a:endParaRPr>
              </a:p>
            </p:txBody>
          </p:sp>
          <p:sp>
            <p:nvSpPr>
              <p:cNvPr id="12" name="圆角矩形 11"/>
              <p:cNvSpPr/>
              <p:nvPr/>
            </p:nvSpPr>
            <p:spPr>
              <a:xfrm>
                <a:off x="5181601" y="3224435"/>
                <a:ext cx="1741714" cy="826105"/>
              </a:xfrm>
              <a:prstGeom prst="roundRect">
                <a:avLst/>
              </a:prstGeom>
              <a:solidFill>
                <a:schemeClr val="bg1"/>
              </a:solidFill>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dirty="0" err="1" smtClean="0">
                    <a:solidFill>
                      <a:srgbClr val="7030A0"/>
                    </a:solidFill>
                  </a:rPr>
                  <a:t>redis</a:t>
                </a:r>
                <a:r>
                  <a:rPr lang="en-US" altLang="zh-CN" dirty="0" smtClean="0">
                    <a:solidFill>
                      <a:srgbClr val="7030A0"/>
                    </a:solidFill>
                  </a:rPr>
                  <a:t> sentinel</a:t>
                </a:r>
                <a:endParaRPr lang="zh-CN" altLang="en-US" dirty="0">
                  <a:solidFill>
                    <a:srgbClr val="7030A0"/>
                  </a:solidFill>
                </a:endParaRPr>
              </a:p>
            </p:txBody>
          </p:sp>
          <p:sp>
            <p:nvSpPr>
              <p:cNvPr id="16" name="圆角矩形 15"/>
              <p:cNvSpPr/>
              <p:nvPr/>
            </p:nvSpPr>
            <p:spPr>
              <a:xfrm>
                <a:off x="7785100" y="3224435"/>
                <a:ext cx="1741714" cy="826105"/>
              </a:xfrm>
              <a:prstGeom prst="roundRect">
                <a:avLst/>
              </a:prstGeom>
              <a:solidFill>
                <a:schemeClr val="bg1"/>
              </a:solidFill>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dirty="0" err="1" smtClean="0">
                    <a:solidFill>
                      <a:srgbClr val="7030A0"/>
                    </a:solidFill>
                  </a:rPr>
                  <a:t>redis</a:t>
                </a:r>
                <a:r>
                  <a:rPr lang="en-US" altLang="zh-CN" dirty="0" smtClean="0">
                    <a:solidFill>
                      <a:srgbClr val="7030A0"/>
                    </a:solidFill>
                  </a:rPr>
                  <a:t> sentinel</a:t>
                </a:r>
                <a:endParaRPr lang="zh-CN" altLang="en-US" dirty="0">
                  <a:solidFill>
                    <a:srgbClr val="7030A0"/>
                  </a:solidFill>
                </a:endParaRPr>
              </a:p>
            </p:txBody>
          </p:sp>
        </p:grpSp>
        <p:cxnSp>
          <p:nvCxnSpPr>
            <p:cNvPr id="8" name="直接箭头连接符 7"/>
            <p:cNvCxnSpPr>
              <a:stCxn id="4" idx="1"/>
              <a:endCxn id="12" idx="0"/>
            </p:cNvCxnSpPr>
            <p:nvPr/>
          </p:nvCxnSpPr>
          <p:spPr>
            <a:xfrm flipH="1">
              <a:off x="6270678" y="1816412"/>
              <a:ext cx="357484" cy="855637"/>
            </a:xfrm>
            <a:prstGeom prst="straightConnector1">
              <a:avLst/>
            </a:prstGeom>
            <a:ln w="25400" cmpd="sng">
              <a:solidFill>
                <a:srgbClr val="FFC00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a:stCxn id="16" idx="1"/>
              <a:endCxn id="12" idx="3"/>
            </p:cNvCxnSpPr>
            <p:nvPr/>
          </p:nvCxnSpPr>
          <p:spPr>
            <a:xfrm flipH="1">
              <a:off x="7095642" y="3043728"/>
              <a:ext cx="816370" cy="0"/>
            </a:xfrm>
            <a:prstGeom prst="straightConnector1">
              <a:avLst/>
            </a:prstGeom>
            <a:ln w="25400" cmpd="sng">
              <a:solidFill>
                <a:srgbClr val="FFC00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a:stCxn id="16" idx="0"/>
              <a:endCxn id="4" idx="3"/>
            </p:cNvCxnSpPr>
            <p:nvPr/>
          </p:nvCxnSpPr>
          <p:spPr>
            <a:xfrm flipH="1" flipV="1">
              <a:off x="8278090" y="1816412"/>
              <a:ext cx="458886" cy="855637"/>
            </a:xfrm>
            <a:prstGeom prst="straightConnector1">
              <a:avLst/>
            </a:prstGeom>
            <a:ln w="25400" cmpd="sng">
              <a:solidFill>
                <a:srgbClr val="FFC00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24" name="椭圆 23"/>
            <p:cNvSpPr/>
            <p:nvPr/>
          </p:nvSpPr>
          <p:spPr>
            <a:xfrm>
              <a:off x="2108427" y="4789603"/>
              <a:ext cx="1612927" cy="1006717"/>
            </a:xfrm>
            <a:prstGeom prst="ellipse">
              <a:avLst/>
            </a:prstGeom>
            <a:solidFill>
              <a:schemeClr val="accent4">
                <a:lumMod val="75000"/>
              </a:schemeClr>
            </a:solidFill>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2400" dirty="0" smtClean="0"/>
                <a:t>master</a:t>
              </a:r>
              <a:endParaRPr lang="zh-CN" altLang="en-US" sz="2400" dirty="0"/>
            </a:p>
          </p:txBody>
        </p:sp>
        <p:sp>
          <p:nvSpPr>
            <p:cNvPr id="25" name="椭圆 24"/>
            <p:cNvSpPr/>
            <p:nvPr/>
          </p:nvSpPr>
          <p:spPr>
            <a:xfrm>
              <a:off x="6288291" y="4399373"/>
              <a:ext cx="1447911" cy="982030"/>
            </a:xfrm>
            <a:prstGeom prst="ellipse">
              <a:avLst/>
            </a:prstGeom>
            <a:solidFill>
              <a:schemeClr val="accent5">
                <a:lumMod val="60000"/>
                <a:lumOff val="40000"/>
              </a:schemeClr>
            </a:solidFill>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2400" dirty="0" smtClean="0"/>
                <a:t>slave</a:t>
              </a:r>
              <a:endParaRPr lang="zh-CN" altLang="en-US" sz="2400" dirty="0"/>
            </a:p>
          </p:txBody>
        </p:sp>
        <p:sp>
          <p:nvSpPr>
            <p:cNvPr id="26" name="椭圆 25"/>
            <p:cNvSpPr/>
            <p:nvPr/>
          </p:nvSpPr>
          <p:spPr>
            <a:xfrm>
              <a:off x="8937735" y="5064822"/>
              <a:ext cx="1447911" cy="982030"/>
            </a:xfrm>
            <a:prstGeom prst="ellipse">
              <a:avLst/>
            </a:prstGeom>
            <a:solidFill>
              <a:schemeClr val="accent5">
                <a:lumMod val="60000"/>
                <a:lumOff val="40000"/>
              </a:schemeClr>
            </a:solidFill>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2400" dirty="0" smtClean="0"/>
                <a:t>slave</a:t>
              </a:r>
              <a:endParaRPr lang="zh-CN" altLang="en-US" sz="2400" dirty="0"/>
            </a:p>
          </p:txBody>
        </p:sp>
        <p:cxnSp>
          <p:nvCxnSpPr>
            <p:cNvPr id="28" name="曲线连接符 27"/>
            <p:cNvCxnSpPr>
              <a:stCxn id="2" idx="1"/>
              <a:endCxn id="24" idx="1"/>
            </p:cNvCxnSpPr>
            <p:nvPr/>
          </p:nvCxnSpPr>
          <p:spPr>
            <a:xfrm rot="16200000" flipH="1">
              <a:off x="679924" y="3272322"/>
              <a:ext cx="2542916" cy="786505"/>
            </a:xfrm>
            <a:prstGeom prst="curvedConnector3">
              <a:avLst/>
            </a:prstGeom>
            <a:ln w="25400" cmpd="sng">
              <a:solidFill>
                <a:srgbClr val="FFC000"/>
              </a:solidFill>
              <a:prstDash val="solid"/>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0" name="曲线连接符 29"/>
            <p:cNvCxnSpPr>
              <a:stCxn id="2" idx="2"/>
              <a:endCxn id="3" idx="1"/>
            </p:cNvCxnSpPr>
            <p:nvPr/>
          </p:nvCxnSpPr>
          <p:spPr>
            <a:xfrm>
              <a:off x="2363175" y="1977462"/>
              <a:ext cx="2741691" cy="509471"/>
            </a:xfrm>
            <a:prstGeom prst="curvedConnector3">
              <a:avLst/>
            </a:prstGeom>
            <a:ln w="25400" cmpd="sng">
              <a:solidFill>
                <a:srgbClr val="FFC000"/>
              </a:solidFill>
              <a:prstDash val="solid"/>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2" name="曲线连接符 31"/>
            <p:cNvCxnSpPr>
              <a:stCxn id="24" idx="6"/>
              <a:endCxn id="25" idx="2"/>
            </p:cNvCxnSpPr>
            <p:nvPr/>
          </p:nvCxnSpPr>
          <p:spPr>
            <a:xfrm flipV="1">
              <a:off x="3721354" y="4890388"/>
              <a:ext cx="2566937" cy="402574"/>
            </a:xfrm>
            <a:prstGeom prst="curvedConnector3">
              <a:avLst/>
            </a:prstGeom>
            <a:ln w="25400" cmpd="sng">
              <a:solidFill>
                <a:srgbClr val="FFC000"/>
              </a:solidFill>
              <a:prstDash val="solid"/>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5" name="曲线连接符 34"/>
            <p:cNvCxnSpPr>
              <a:stCxn id="24" idx="5"/>
              <a:endCxn id="26" idx="2"/>
            </p:cNvCxnSpPr>
            <p:nvPr/>
          </p:nvCxnSpPr>
          <p:spPr>
            <a:xfrm rot="5400000" flipH="1" flipV="1">
              <a:off x="6164913" y="2876069"/>
              <a:ext cx="93053" cy="5452589"/>
            </a:xfrm>
            <a:prstGeom prst="curvedConnector4">
              <a:avLst>
                <a:gd name="adj1" fmla="val -245666"/>
                <a:gd name="adj2" fmla="val 52166"/>
              </a:avLst>
            </a:prstGeom>
            <a:ln w="25400" cmpd="sng">
              <a:solidFill>
                <a:srgbClr val="FFC000"/>
              </a:solidFill>
              <a:prstDash val="solid"/>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a:stCxn id="3" idx="2"/>
              <a:endCxn id="25" idx="0"/>
            </p:cNvCxnSpPr>
            <p:nvPr/>
          </p:nvCxnSpPr>
          <p:spPr>
            <a:xfrm flipH="1">
              <a:off x="7012247" y="3767622"/>
              <a:ext cx="440879" cy="631751"/>
            </a:xfrm>
            <a:prstGeom prst="straightConnector1">
              <a:avLst/>
            </a:prstGeom>
            <a:ln w="25400" cmpd="sng">
              <a:solidFill>
                <a:srgbClr val="FFC00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a:stCxn id="3" idx="2"/>
              <a:endCxn id="26" idx="0"/>
            </p:cNvCxnSpPr>
            <p:nvPr/>
          </p:nvCxnSpPr>
          <p:spPr>
            <a:xfrm>
              <a:off x="7453126" y="3767622"/>
              <a:ext cx="2208565" cy="1297200"/>
            </a:xfrm>
            <a:prstGeom prst="straightConnector1">
              <a:avLst/>
            </a:prstGeom>
            <a:ln w="25400" cmpd="sng">
              <a:solidFill>
                <a:srgbClr val="FFC00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a:stCxn id="3" idx="2"/>
              <a:endCxn id="24" idx="0"/>
            </p:cNvCxnSpPr>
            <p:nvPr/>
          </p:nvCxnSpPr>
          <p:spPr>
            <a:xfrm flipH="1">
              <a:off x="2914891" y="3767622"/>
              <a:ext cx="4538235" cy="1021981"/>
            </a:xfrm>
            <a:prstGeom prst="straightConnector1">
              <a:avLst/>
            </a:prstGeom>
            <a:ln w="25400" cmpd="sng">
              <a:solidFill>
                <a:srgbClr val="FFC00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63" name="文本框 62"/>
            <p:cNvSpPr txBox="1"/>
            <p:nvPr/>
          </p:nvSpPr>
          <p:spPr>
            <a:xfrm>
              <a:off x="5004822" y="6046852"/>
              <a:ext cx="2007424" cy="369332"/>
            </a:xfrm>
            <a:prstGeom prst="rect">
              <a:avLst/>
            </a:prstGeom>
            <a:noFill/>
          </p:spPr>
          <p:txBody>
            <a:bodyPr wrap="square" rtlCol="0">
              <a:spAutoFit/>
            </a:bodyPr>
            <a:lstStyle/>
            <a:p>
              <a:pPr algn="ctr"/>
              <a:r>
                <a:rPr lang="zh-CN" altLang="en-US" dirty="0" smtClean="0">
                  <a:solidFill>
                    <a:schemeClr val="bg1"/>
                  </a:solidFill>
                  <a:latin typeface="微软雅黑" panose="020B0503020204020204" pitchFamily="34" charset="-122"/>
                  <a:ea typeface="微软雅黑" panose="020B0503020204020204" pitchFamily="34" charset="-122"/>
                </a:rPr>
                <a:t>图</a:t>
              </a:r>
              <a:r>
                <a:rPr lang="en-US" altLang="zh-CN" dirty="0" smtClean="0">
                  <a:solidFill>
                    <a:schemeClr val="bg1"/>
                  </a:solidFill>
                  <a:latin typeface="微软雅黑" panose="020B0503020204020204" pitchFamily="34" charset="-122"/>
                  <a:ea typeface="微软雅黑" panose="020B0503020204020204" pitchFamily="34" charset="-122"/>
                </a:rPr>
                <a:t>5.2.1 - 1</a:t>
              </a:r>
              <a:endParaRPr lang="zh-CN" altLang="en-US" dirty="0" smtClean="0">
                <a:solidFill>
                  <a:schemeClr val="bg1"/>
                </a:solidFill>
                <a:latin typeface="微软雅黑" panose="020B0503020204020204" pitchFamily="34" charset="-122"/>
                <a:ea typeface="微软雅黑" panose="020B0503020204020204" pitchFamily="34" charset="-122"/>
              </a:endParaRPr>
            </a:p>
          </p:txBody>
        </p:sp>
      </p:grpSp>
      <p:sp>
        <p:nvSpPr>
          <p:cNvPr id="27" name="矩形 26">
            <a:extLst>
              <a:ext uri="{FF2B5EF4-FFF2-40B4-BE49-F238E27FC236}">
                <a16:creationId xmlns:a16="http://schemas.microsoft.com/office/drawing/2014/main" xmlns="" id="{74C59758-12AB-44A5-92FA-DB52904027AE}"/>
              </a:ext>
            </a:extLst>
          </p:cNvPr>
          <p:cNvSpPr/>
          <p:nvPr/>
        </p:nvSpPr>
        <p:spPr>
          <a:xfrm>
            <a:off x="751740" y="1149778"/>
            <a:ext cx="10765483" cy="923330"/>
          </a:xfrm>
          <a:prstGeom prst="rect">
            <a:avLst/>
          </a:prstGeom>
        </p:spPr>
        <p:txBody>
          <a:bodyPr wrap="square">
            <a:spAutoFit/>
          </a:bodyPr>
          <a:lstStyle/>
          <a:p>
            <a:pPr indent="457200">
              <a:lnSpc>
                <a:spcPct val="150000"/>
              </a:lnSpc>
            </a:pPr>
            <a:r>
              <a:rPr lang="en-US" altLang="zh-CN" dirty="0" smtClean="0">
                <a:solidFill>
                  <a:prstClr val="white"/>
                </a:solidFill>
                <a:latin typeface="微软雅黑" panose="020B0503020204020204" pitchFamily="34" charset="-122"/>
                <a:ea typeface="微软雅黑" panose="020B0503020204020204" pitchFamily="34" charset="-122"/>
              </a:rPr>
              <a:t>sentinel</a:t>
            </a:r>
            <a:r>
              <a:rPr lang="zh-CN" altLang="en-US" dirty="0" smtClean="0">
                <a:solidFill>
                  <a:prstClr val="white"/>
                </a:solidFill>
                <a:latin typeface="微软雅黑" panose="020B0503020204020204" pitchFamily="34" charset="-122"/>
                <a:ea typeface="微软雅黑" panose="020B0503020204020204" pitchFamily="34" charset="-122"/>
              </a:rPr>
              <a:t>是一个单独的进程，负责持续的监控主从节点，当</a:t>
            </a:r>
            <a:r>
              <a:rPr lang="en-US" altLang="zh-CN" dirty="0" smtClean="0">
                <a:solidFill>
                  <a:prstClr val="white"/>
                </a:solidFill>
                <a:latin typeface="微软雅黑" panose="020B0503020204020204" pitchFamily="34" charset="-122"/>
                <a:ea typeface="微软雅黑" panose="020B0503020204020204" pitchFamily="34" charset="-122"/>
              </a:rPr>
              <a:t>master</a:t>
            </a:r>
            <a:r>
              <a:rPr lang="zh-CN" altLang="en-US" dirty="0" smtClean="0">
                <a:solidFill>
                  <a:prstClr val="white"/>
                </a:solidFill>
                <a:latin typeface="微软雅黑" panose="020B0503020204020204" pitchFamily="34" charset="-122"/>
                <a:ea typeface="微软雅黑" panose="020B0503020204020204" pitchFamily="34" charset="-122"/>
              </a:rPr>
              <a:t>节点挂掉时，自动选择一个最优的</a:t>
            </a:r>
            <a:r>
              <a:rPr lang="en-US" altLang="zh-CN" dirty="0" smtClean="0">
                <a:solidFill>
                  <a:prstClr val="white"/>
                </a:solidFill>
                <a:latin typeface="微软雅黑" panose="020B0503020204020204" pitchFamily="34" charset="-122"/>
                <a:ea typeface="微软雅黑" panose="020B0503020204020204" pitchFamily="34" charset="-122"/>
              </a:rPr>
              <a:t>slave</a:t>
            </a:r>
            <a:r>
              <a:rPr lang="zh-CN" altLang="en-US" dirty="0" smtClean="0">
                <a:solidFill>
                  <a:prstClr val="white"/>
                </a:solidFill>
                <a:latin typeface="微软雅黑" panose="020B0503020204020204" pitchFamily="34" charset="-122"/>
                <a:ea typeface="微软雅黑" panose="020B0503020204020204" pitchFamily="34" charset="-122"/>
              </a:rPr>
              <a:t>节点切换为主节点。如图</a:t>
            </a:r>
            <a:r>
              <a:rPr lang="en-US" altLang="zh-CN" dirty="0" smtClean="0">
                <a:solidFill>
                  <a:prstClr val="white"/>
                </a:solidFill>
                <a:latin typeface="微软雅黑" panose="020B0503020204020204" pitchFamily="34" charset="-122"/>
                <a:ea typeface="微软雅黑" panose="020B0503020204020204" pitchFamily="34" charset="-122"/>
              </a:rPr>
              <a:t>5.2.1 -1 </a:t>
            </a:r>
            <a:r>
              <a:rPr lang="zh-CN" altLang="en-US" dirty="0" smtClean="0">
                <a:solidFill>
                  <a:prstClr val="white"/>
                </a:solidFill>
                <a:latin typeface="微软雅黑" panose="020B0503020204020204" pitchFamily="34" charset="-122"/>
                <a:ea typeface="微软雅黑" panose="020B0503020204020204" pitchFamily="34" charset="-122"/>
              </a:rPr>
              <a:t>是一个哨兵模式的示意图</a:t>
            </a:r>
            <a:endParaRPr lang="zh-CN" altLang="en-US" dirty="0">
              <a:solidFill>
                <a:prstClr val="white"/>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325766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additive="base">
                                        <p:cTn id="7" dur="500" fill="hold"/>
                                        <p:tgtEl>
                                          <p:spTgt spid="27"/>
                                        </p:tgtEl>
                                        <p:attrNameLst>
                                          <p:attrName>ppt_x</p:attrName>
                                        </p:attrNameLst>
                                      </p:cBhvr>
                                      <p:tavLst>
                                        <p:tav tm="0">
                                          <p:val>
                                            <p:strVal val="0-#ppt_w/2"/>
                                          </p:val>
                                        </p:tav>
                                        <p:tav tm="100000">
                                          <p:val>
                                            <p:strVal val="#ppt_x"/>
                                          </p:val>
                                        </p:tav>
                                      </p:tavLst>
                                    </p:anim>
                                    <p:anim calcmode="lin" valueType="num">
                                      <p:cBhvr additive="base">
                                        <p:cTn id="8" dur="500" fill="hold"/>
                                        <p:tgtEl>
                                          <p:spTgt spid="2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64"/>
                                        </p:tgtEl>
                                        <p:attrNameLst>
                                          <p:attrName>style.visibility</p:attrName>
                                        </p:attrNameLst>
                                      </p:cBhvr>
                                      <p:to>
                                        <p:strVal val="visible"/>
                                      </p:to>
                                    </p:set>
                                    <p:anim calcmode="lin" valueType="num">
                                      <p:cBhvr additive="base">
                                        <p:cTn id="13" dur="500" fill="hold"/>
                                        <p:tgtEl>
                                          <p:spTgt spid="64"/>
                                        </p:tgtEl>
                                        <p:attrNameLst>
                                          <p:attrName>ppt_x</p:attrName>
                                        </p:attrNameLst>
                                      </p:cBhvr>
                                      <p:tavLst>
                                        <p:tav tm="0">
                                          <p:val>
                                            <p:strVal val="0-#ppt_w/2"/>
                                          </p:val>
                                        </p:tav>
                                        <p:tav tm="100000">
                                          <p:val>
                                            <p:strVal val="#ppt_x"/>
                                          </p:val>
                                        </p:tav>
                                      </p:tavLst>
                                    </p:anim>
                                    <p:anim calcmode="lin" valueType="num">
                                      <p:cBhvr additive="base">
                                        <p:cTn id="14" dur="500" fill="hold"/>
                                        <p:tgtEl>
                                          <p:spTgt spid="6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0A0F23"/>
        </a:solidFill>
        <a:effectLst/>
      </p:bgPr>
    </p:bg>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xmlns="" id="{CBDC52CD-1D62-48AF-A9DF-9F18AEA2B1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01385" y="-114300"/>
            <a:ext cx="1301859" cy="920356"/>
          </a:xfrm>
          <a:prstGeom prst="rect">
            <a:avLst/>
          </a:prstGeom>
        </p:spPr>
      </p:pic>
      <p:pic>
        <p:nvPicPr>
          <p:cNvPr id="14" name="图片 13">
            <a:extLst>
              <a:ext uri="{FF2B5EF4-FFF2-40B4-BE49-F238E27FC236}">
                <a16:creationId xmlns:a16="http://schemas.microsoft.com/office/drawing/2014/main" xmlns="" id="{F78DA958-9B1B-47DA-A870-8C0B3A7D8866}"/>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b="63537"/>
          <a:stretch/>
        </p:blipFill>
        <p:spPr>
          <a:xfrm>
            <a:off x="11184164" y="217733"/>
            <a:ext cx="572339" cy="337210"/>
          </a:xfrm>
          <a:prstGeom prst="rect">
            <a:avLst/>
          </a:prstGeom>
        </p:spPr>
      </p:pic>
      <p:cxnSp>
        <p:nvCxnSpPr>
          <p:cNvPr id="15" name="直接连接符 14">
            <a:extLst>
              <a:ext uri="{FF2B5EF4-FFF2-40B4-BE49-F238E27FC236}">
                <a16:creationId xmlns:a16="http://schemas.microsoft.com/office/drawing/2014/main" xmlns="" id="{93240A06-D526-4907-A163-94ABB41190CC}"/>
              </a:ext>
            </a:extLst>
          </p:cNvPr>
          <p:cNvCxnSpPr/>
          <p:nvPr/>
        </p:nvCxnSpPr>
        <p:spPr>
          <a:xfrm>
            <a:off x="11103244" y="225825"/>
            <a:ext cx="0" cy="2435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xmlns="" id="{74C59758-12AB-44A5-92FA-DB52904027AE}"/>
              </a:ext>
            </a:extLst>
          </p:cNvPr>
          <p:cNvSpPr/>
          <p:nvPr/>
        </p:nvSpPr>
        <p:spPr>
          <a:xfrm>
            <a:off x="802332" y="1287114"/>
            <a:ext cx="10765483" cy="1754326"/>
          </a:xfrm>
          <a:prstGeom prst="rect">
            <a:avLst/>
          </a:prstGeom>
        </p:spPr>
        <p:txBody>
          <a:bodyPr wrap="square">
            <a:spAutoFit/>
          </a:bodyPr>
          <a:lstStyle/>
          <a:p>
            <a:pPr indent="457200">
              <a:lnSpc>
                <a:spcPct val="150000"/>
              </a:lnSpc>
            </a:pPr>
            <a:r>
              <a:rPr lang="zh-CN" altLang="en-US" dirty="0" smtClean="0">
                <a:solidFill>
                  <a:prstClr val="white"/>
                </a:solidFill>
                <a:latin typeface="微软雅黑" panose="020B0503020204020204" pitchFamily="34" charset="-122"/>
                <a:ea typeface="微软雅黑" panose="020B0503020204020204" pitchFamily="34" charset="-122"/>
              </a:rPr>
              <a:t>主从模式下，客户端是直接连接</a:t>
            </a:r>
            <a:r>
              <a:rPr lang="en-US" altLang="zh-CN" dirty="0" smtClean="0">
                <a:solidFill>
                  <a:prstClr val="white"/>
                </a:solidFill>
                <a:latin typeface="微软雅黑" panose="020B0503020204020204" pitchFamily="34" charset="-122"/>
                <a:ea typeface="微软雅黑" panose="020B0503020204020204" pitchFamily="34" charset="-122"/>
              </a:rPr>
              <a:t>master</a:t>
            </a:r>
            <a:r>
              <a:rPr lang="zh-CN" altLang="en-US" dirty="0" smtClean="0">
                <a:solidFill>
                  <a:prstClr val="white"/>
                </a:solidFill>
                <a:latin typeface="微软雅黑" panose="020B0503020204020204" pitchFamily="34" charset="-122"/>
                <a:ea typeface="微软雅黑" panose="020B0503020204020204" pitchFamily="34" charset="-122"/>
              </a:rPr>
              <a:t>节点。</a:t>
            </a:r>
            <a:endParaRPr lang="en-US" altLang="zh-CN" dirty="0" smtClean="0">
              <a:solidFill>
                <a:prstClr val="white"/>
              </a:solidFill>
              <a:latin typeface="微软雅黑" panose="020B0503020204020204" pitchFamily="34" charset="-122"/>
              <a:ea typeface="微软雅黑" panose="020B0503020204020204" pitchFamily="34" charset="-122"/>
            </a:endParaRPr>
          </a:p>
          <a:p>
            <a:pPr indent="457200">
              <a:lnSpc>
                <a:spcPct val="150000"/>
              </a:lnSpc>
            </a:pPr>
            <a:r>
              <a:rPr lang="zh-CN" altLang="en-US" dirty="0" smtClean="0">
                <a:solidFill>
                  <a:prstClr val="white"/>
                </a:solidFill>
                <a:latin typeface="微软雅黑" panose="020B0503020204020204" pitchFamily="34" charset="-122"/>
                <a:ea typeface="微软雅黑" panose="020B0503020204020204" pitchFamily="34" charset="-122"/>
              </a:rPr>
              <a:t>哨兵模式下，客户端连接的方式和主从模式有区别。客户端连接</a:t>
            </a:r>
            <a:r>
              <a:rPr lang="en-US" altLang="zh-CN" dirty="0" err="1" smtClean="0">
                <a:solidFill>
                  <a:prstClr val="white"/>
                </a:solidFill>
                <a:latin typeface="微软雅黑" panose="020B0503020204020204" pitchFamily="34" charset="-122"/>
                <a:ea typeface="微软雅黑" panose="020B0503020204020204" pitchFamily="34" charset="-122"/>
              </a:rPr>
              <a:t>redis</a:t>
            </a:r>
            <a:r>
              <a:rPr lang="zh-CN" altLang="en-US" dirty="0" smtClean="0">
                <a:solidFill>
                  <a:prstClr val="white"/>
                </a:solidFill>
                <a:latin typeface="微软雅黑" panose="020B0503020204020204" pitchFamily="34" charset="-122"/>
                <a:ea typeface="微软雅黑" panose="020B0503020204020204" pitchFamily="34" charset="-122"/>
              </a:rPr>
              <a:t>时，会先连接</a:t>
            </a:r>
            <a:r>
              <a:rPr lang="en-US" altLang="zh-CN" dirty="0" smtClean="0">
                <a:solidFill>
                  <a:prstClr val="white"/>
                </a:solidFill>
                <a:latin typeface="微软雅黑" panose="020B0503020204020204" pitchFamily="34" charset="-122"/>
                <a:ea typeface="微软雅黑" panose="020B0503020204020204" pitchFamily="34" charset="-122"/>
              </a:rPr>
              <a:t>sentinel</a:t>
            </a:r>
            <a:r>
              <a:rPr lang="zh-CN" altLang="en-US" dirty="0" smtClean="0">
                <a:solidFill>
                  <a:prstClr val="white"/>
                </a:solidFill>
                <a:latin typeface="微软雅黑" panose="020B0503020204020204" pitchFamily="34" charset="-122"/>
                <a:ea typeface="微软雅黑" panose="020B0503020204020204" pitchFamily="34" charset="-122"/>
              </a:rPr>
              <a:t>，通过</a:t>
            </a:r>
            <a:r>
              <a:rPr lang="en-US" altLang="zh-CN" dirty="0" smtClean="0">
                <a:solidFill>
                  <a:prstClr val="white"/>
                </a:solidFill>
                <a:latin typeface="微软雅黑" panose="020B0503020204020204" pitchFamily="34" charset="-122"/>
                <a:ea typeface="微软雅黑" panose="020B0503020204020204" pitchFamily="34" charset="-122"/>
              </a:rPr>
              <a:t>sentinel</a:t>
            </a:r>
            <a:r>
              <a:rPr lang="zh-CN" altLang="en-US" dirty="0" smtClean="0">
                <a:solidFill>
                  <a:prstClr val="white"/>
                </a:solidFill>
                <a:latin typeface="微软雅黑" panose="020B0503020204020204" pitchFamily="34" charset="-122"/>
                <a:ea typeface="微软雅黑" panose="020B0503020204020204" pitchFamily="34" charset="-122"/>
              </a:rPr>
              <a:t>来查询主节点的地址，然后再连接主节点进行数据交互。当主节点发生故障时，</a:t>
            </a:r>
            <a:r>
              <a:rPr lang="en-US" altLang="zh-CN" dirty="0" smtClean="0">
                <a:solidFill>
                  <a:prstClr val="white"/>
                </a:solidFill>
                <a:latin typeface="微软雅黑" panose="020B0503020204020204" pitchFamily="34" charset="-122"/>
                <a:ea typeface="微软雅黑" panose="020B0503020204020204" pitchFamily="34" charset="-122"/>
              </a:rPr>
              <a:t>sentinel</a:t>
            </a:r>
            <a:r>
              <a:rPr lang="zh-CN" altLang="en-US" dirty="0" smtClean="0">
                <a:solidFill>
                  <a:prstClr val="white"/>
                </a:solidFill>
                <a:latin typeface="微软雅黑" panose="020B0503020204020204" pitchFamily="34" charset="-122"/>
                <a:ea typeface="微软雅黑" panose="020B0503020204020204" pitchFamily="34" charset="-122"/>
              </a:rPr>
              <a:t>会通知客户端主节点变化的事件。客户端会从</a:t>
            </a:r>
            <a:r>
              <a:rPr lang="en-US" altLang="zh-CN" dirty="0" smtClean="0">
                <a:solidFill>
                  <a:prstClr val="white"/>
                </a:solidFill>
                <a:latin typeface="微软雅黑" panose="020B0503020204020204" pitchFamily="34" charset="-122"/>
                <a:ea typeface="微软雅黑" panose="020B0503020204020204" pitchFamily="34" charset="-122"/>
              </a:rPr>
              <a:t>sentinel</a:t>
            </a:r>
            <a:r>
              <a:rPr lang="zh-CN" altLang="en-US" dirty="0" smtClean="0">
                <a:solidFill>
                  <a:prstClr val="white"/>
                </a:solidFill>
                <a:latin typeface="微软雅黑" panose="020B0503020204020204" pitchFamily="34" charset="-122"/>
                <a:ea typeface="微软雅黑" panose="020B0503020204020204" pitchFamily="34" charset="-122"/>
              </a:rPr>
              <a:t>查询到最新的</a:t>
            </a:r>
            <a:r>
              <a:rPr lang="en-US" altLang="zh-CN" dirty="0" smtClean="0">
                <a:solidFill>
                  <a:prstClr val="white"/>
                </a:solidFill>
                <a:latin typeface="微软雅黑" panose="020B0503020204020204" pitchFamily="34" charset="-122"/>
                <a:ea typeface="微软雅黑" panose="020B0503020204020204" pitchFamily="34" charset="-122"/>
              </a:rPr>
              <a:t>mater</a:t>
            </a:r>
            <a:r>
              <a:rPr lang="zh-CN" altLang="en-US" dirty="0" smtClean="0">
                <a:solidFill>
                  <a:prstClr val="white"/>
                </a:solidFill>
                <a:latin typeface="微软雅黑" panose="020B0503020204020204" pitchFamily="34" charset="-122"/>
                <a:ea typeface="微软雅黑" panose="020B0503020204020204" pitchFamily="34" charset="-122"/>
              </a:rPr>
              <a:t>地址并连接到新的</a:t>
            </a:r>
            <a:r>
              <a:rPr lang="en-US" altLang="zh-CN" dirty="0" smtClean="0">
                <a:solidFill>
                  <a:prstClr val="white"/>
                </a:solidFill>
                <a:latin typeface="微软雅黑" panose="020B0503020204020204" pitchFamily="34" charset="-122"/>
                <a:ea typeface="微软雅黑" panose="020B0503020204020204" pitchFamily="34" charset="-122"/>
              </a:rPr>
              <a:t>master</a:t>
            </a:r>
            <a:r>
              <a:rPr lang="zh-CN" altLang="en-US" dirty="0" smtClean="0">
                <a:solidFill>
                  <a:prstClr val="white"/>
                </a:solidFill>
                <a:latin typeface="微软雅黑" panose="020B0503020204020204" pitchFamily="34" charset="-122"/>
                <a:ea typeface="微软雅黑" panose="020B0503020204020204" pitchFamily="34" charset="-122"/>
              </a:rPr>
              <a:t>。</a:t>
            </a:r>
            <a:endParaRPr lang="zh-CN" altLang="en-US" dirty="0">
              <a:solidFill>
                <a:prstClr val="white"/>
              </a:solidFill>
              <a:latin typeface="微软雅黑" panose="020B0503020204020204" pitchFamily="34" charset="-122"/>
              <a:ea typeface="微软雅黑" panose="020B0503020204020204" pitchFamily="34" charset="-122"/>
            </a:endParaRPr>
          </a:p>
        </p:txBody>
      </p:sp>
      <p:sp>
        <p:nvSpPr>
          <p:cNvPr id="10" name="TextBox 9"/>
          <p:cNvSpPr txBox="1"/>
          <p:nvPr/>
        </p:nvSpPr>
        <p:spPr>
          <a:xfrm>
            <a:off x="704850" y="605109"/>
            <a:ext cx="8883650" cy="523220"/>
          </a:xfrm>
          <a:prstGeom prst="rect">
            <a:avLst/>
          </a:prstGeom>
          <a:noFill/>
        </p:spPr>
        <p:txBody>
          <a:bodyPr wrap="square" rtlCol="0">
            <a:spAutoFit/>
          </a:bodyPr>
          <a:lstStyle/>
          <a:p>
            <a:pPr>
              <a:defRPr/>
            </a:pPr>
            <a:r>
              <a:rPr lang="en-US" altLang="zh-CN"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5.2.2  </a:t>
            </a:r>
            <a:r>
              <a:rPr lang="zh-CN" altLang="en-US"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客户端如何连接？</a:t>
            </a:r>
          </a:p>
        </p:txBody>
      </p:sp>
    </p:spTree>
    <p:extLst>
      <p:ext uri="{BB962C8B-B14F-4D97-AF65-F5344CB8AC3E}">
        <p14:creationId xmlns:p14="http://schemas.microsoft.com/office/powerpoint/2010/main" val="3576821587"/>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0A0F23"/>
        </a:solidFill>
        <a:effectLst/>
      </p:bgPr>
    </p:bg>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xmlns="" id="{CBDC52CD-1D62-48AF-A9DF-9F18AEA2B1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01385" y="-114300"/>
            <a:ext cx="1301859" cy="920356"/>
          </a:xfrm>
          <a:prstGeom prst="rect">
            <a:avLst/>
          </a:prstGeom>
        </p:spPr>
      </p:pic>
      <p:pic>
        <p:nvPicPr>
          <p:cNvPr id="14" name="图片 13">
            <a:extLst>
              <a:ext uri="{FF2B5EF4-FFF2-40B4-BE49-F238E27FC236}">
                <a16:creationId xmlns:a16="http://schemas.microsoft.com/office/drawing/2014/main" xmlns="" id="{F78DA958-9B1B-47DA-A870-8C0B3A7D8866}"/>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b="63537"/>
          <a:stretch/>
        </p:blipFill>
        <p:spPr>
          <a:xfrm>
            <a:off x="11184164" y="217733"/>
            <a:ext cx="572339" cy="337210"/>
          </a:xfrm>
          <a:prstGeom prst="rect">
            <a:avLst/>
          </a:prstGeom>
        </p:spPr>
      </p:pic>
      <p:cxnSp>
        <p:nvCxnSpPr>
          <p:cNvPr id="15" name="直接连接符 14">
            <a:extLst>
              <a:ext uri="{FF2B5EF4-FFF2-40B4-BE49-F238E27FC236}">
                <a16:creationId xmlns:a16="http://schemas.microsoft.com/office/drawing/2014/main" xmlns="" id="{93240A06-D526-4907-A163-94ABB41190CC}"/>
              </a:ext>
            </a:extLst>
          </p:cNvPr>
          <p:cNvCxnSpPr/>
          <p:nvPr/>
        </p:nvCxnSpPr>
        <p:spPr>
          <a:xfrm>
            <a:off x="11103244" y="225825"/>
            <a:ext cx="0" cy="2435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extBox 9"/>
          <p:cNvSpPr txBox="1"/>
          <p:nvPr/>
        </p:nvSpPr>
        <p:spPr>
          <a:xfrm>
            <a:off x="857250" y="806056"/>
            <a:ext cx="8883650" cy="523220"/>
          </a:xfrm>
          <a:prstGeom prst="rect">
            <a:avLst/>
          </a:prstGeom>
          <a:noFill/>
        </p:spPr>
        <p:txBody>
          <a:bodyPr wrap="square" rtlCol="0">
            <a:spAutoFit/>
          </a:bodyPr>
          <a:lstStyle/>
          <a:p>
            <a:pPr>
              <a:defRPr/>
            </a:pPr>
            <a:r>
              <a:rPr lang="en-US" altLang="zh-CN"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5.2.3 </a:t>
            </a:r>
            <a:r>
              <a:rPr lang="zh-CN" altLang="en-US"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哨兵模式下的一致性</a:t>
            </a:r>
          </a:p>
        </p:txBody>
      </p:sp>
      <p:sp>
        <p:nvSpPr>
          <p:cNvPr id="12" name="矩形 11">
            <a:extLst>
              <a:ext uri="{FF2B5EF4-FFF2-40B4-BE49-F238E27FC236}">
                <a16:creationId xmlns:a16="http://schemas.microsoft.com/office/drawing/2014/main" xmlns="" id="{74C59758-12AB-44A5-92FA-DB52904027AE}"/>
              </a:ext>
            </a:extLst>
          </p:cNvPr>
          <p:cNvSpPr/>
          <p:nvPr/>
        </p:nvSpPr>
        <p:spPr>
          <a:xfrm>
            <a:off x="857250" y="1472287"/>
            <a:ext cx="10765483" cy="2585323"/>
          </a:xfrm>
          <a:prstGeom prst="rect">
            <a:avLst/>
          </a:prstGeom>
        </p:spPr>
        <p:txBody>
          <a:bodyPr wrap="square">
            <a:spAutoFit/>
          </a:bodyPr>
          <a:lstStyle/>
          <a:p>
            <a:pPr indent="457200">
              <a:lnSpc>
                <a:spcPct val="150000"/>
              </a:lnSpc>
            </a:pPr>
            <a:r>
              <a:rPr lang="zh-CN" altLang="en-US" dirty="0">
                <a:solidFill>
                  <a:prstClr val="white"/>
                </a:solidFill>
                <a:latin typeface="微软雅黑" panose="020B0503020204020204" pitchFamily="34" charset="-122"/>
                <a:ea typeface="微软雅黑" panose="020B0503020204020204" pitchFamily="34" charset="-122"/>
              </a:rPr>
              <a:t>哨</a:t>
            </a:r>
            <a:r>
              <a:rPr lang="zh-CN" altLang="en-US" dirty="0" smtClean="0">
                <a:solidFill>
                  <a:prstClr val="white"/>
                </a:solidFill>
                <a:latin typeface="微软雅黑" panose="020B0503020204020204" pitchFamily="34" charset="-122"/>
                <a:ea typeface="微软雅黑" panose="020B0503020204020204" pitchFamily="34" charset="-122"/>
              </a:rPr>
              <a:t>兵模式是在主从模式基础上增加了自动监控的功能，</a:t>
            </a:r>
            <a:r>
              <a:rPr lang="en-US" altLang="zh-CN" dirty="0" smtClean="0">
                <a:solidFill>
                  <a:prstClr val="white"/>
                </a:solidFill>
                <a:latin typeface="微软雅黑" panose="020B0503020204020204" pitchFamily="34" charset="-122"/>
                <a:ea typeface="微软雅黑" panose="020B0503020204020204" pitchFamily="34" charset="-122"/>
              </a:rPr>
              <a:t>master</a:t>
            </a:r>
            <a:r>
              <a:rPr lang="zh-CN" altLang="en-US" dirty="0" smtClean="0">
                <a:solidFill>
                  <a:prstClr val="white"/>
                </a:solidFill>
                <a:latin typeface="微软雅黑" panose="020B0503020204020204" pitchFamily="34" charset="-122"/>
                <a:ea typeface="微软雅黑" panose="020B0503020204020204" pitchFamily="34" charset="-122"/>
              </a:rPr>
              <a:t>节点和</a:t>
            </a:r>
            <a:r>
              <a:rPr lang="en-US" altLang="zh-CN" dirty="0" smtClean="0">
                <a:solidFill>
                  <a:prstClr val="white"/>
                </a:solidFill>
                <a:latin typeface="微软雅黑" panose="020B0503020204020204" pitchFamily="34" charset="-122"/>
                <a:ea typeface="微软雅黑" panose="020B0503020204020204" pitchFamily="34" charset="-122"/>
              </a:rPr>
              <a:t>slave</a:t>
            </a:r>
            <a:r>
              <a:rPr lang="zh-CN" altLang="en-US" dirty="0" smtClean="0">
                <a:solidFill>
                  <a:prstClr val="white"/>
                </a:solidFill>
                <a:latin typeface="微软雅黑" panose="020B0503020204020204" pitchFamily="34" charset="-122"/>
                <a:ea typeface="微软雅黑" panose="020B0503020204020204" pitchFamily="34" charset="-122"/>
              </a:rPr>
              <a:t>节点</a:t>
            </a:r>
            <a:r>
              <a:rPr lang="zh-CN" altLang="en-US" dirty="0">
                <a:solidFill>
                  <a:prstClr val="white"/>
                </a:solidFill>
                <a:latin typeface="微软雅黑" panose="020B0503020204020204" pitchFamily="34" charset="-122"/>
                <a:ea typeface="微软雅黑" panose="020B0503020204020204" pitchFamily="34" charset="-122"/>
              </a:rPr>
              <a:t>保</a:t>
            </a:r>
            <a:r>
              <a:rPr lang="zh-CN" altLang="en-US" dirty="0" smtClean="0">
                <a:solidFill>
                  <a:prstClr val="white"/>
                </a:solidFill>
                <a:latin typeface="微软雅黑" panose="020B0503020204020204" pitchFamily="34" charset="-122"/>
                <a:ea typeface="微软雅黑" panose="020B0503020204020204" pitchFamily="34" charset="-122"/>
              </a:rPr>
              <a:t>持同步的机制并没有改变。因此还是存在丢失数据的可能性。</a:t>
            </a:r>
            <a:r>
              <a:rPr lang="en-US" altLang="zh-CN" dirty="0" smtClean="0">
                <a:solidFill>
                  <a:prstClr val="white"/>
                </a:solidFill>
                <a:latin typeface="微软雅黑" panose="020B0503020204020204" pitchFamily="34" charset="-122"/>
                <a:ea typeface="微软雅黑" panose="020B0503020204020204" pitchFamily="34" charset="-122"/>
              </a:rPr>
              <a:t>sentinel</a:t>
            </a:r>
            <a:r>
              <a:rPr lang="zh-CN" altLang="en-US" dirty="0" smtClean="0">
                <a:solidFill>
                  <a:prstClr val="white"/>
                </a:solidFill>
                <a:latin typeface="微软雅黑" panose="020B0503020204020204" pitchFamily="34" charset="-122"/>
                <a:ea typeface="微软雅黑" panose="020B0503020204020204" pitchFamily="34" charset="-122"/>
              </a:rPr>
              <a:t>无法保证消息完全不丢失，但能够尽量保证消息少丢失。可以通过下面两个选项限制主从延迟过大</a:t>
            </a:r>
            <a:endParaRPr lang="en-US" altLang="zh-CN" dirty="0" smtClean="0">
              <a:solidFill>
                <a:prstClr val="white"/>
              </a:solidFill>
              <a:latin typeface="微软雅黑" panose="020B0503020204020204" pitchFamily="34" charset="-122"/>
              <a:ea typeface="微软雅黑" panose="020B0503020204020204" pitchFamily="34" charset="-122"/>
            </a:endParaRPr>
          </a:p>
          <a:p>
            <a:pPr indent="457200">
              <a:lnSpc>
                <a:spcPct val="150000"/>
              </a:lnSpc>
            </a:pPr>
            <a:r>
              <a:rPr lang="en-US" altLang="zh-CN" dirty="0" smtClean="0">
                <a:solidFill>
                  <a:prstClr val="white"/>
                </a:solidFill>
                <a:latin typeface="微软雅黑" panose="020B0503020204020204" pitchFamily="34" charset="-122"/>
                <a:ea typeface="微软雅黑" panose="020B0503020204020204" pitchFamily="34" charset="-122"/>
              </a:rPr>
              <a:t>min-slaves-to-write 1     # </a:t>
            </a:r>
            <a:r>
              <a:rPr lang="zh-CN" altLang="en-US" dirty="0" smtClean="0">
                <a:solidFill>
                  <a:prstClr val="white"/>
                </a:solidFill>
                <a:latin typeface="微软雅黑" panose="020B0503020204020204" pitchFamily="34" charset="-122"/>
                <a:ea typeface="微软雅黑" panose="020B0503020204020204" pitchFamily="34" charset="-122"/>
              </a:rPr>
              <a:t>主节点必须至少有一个从节点在进行正常复制</a:t>
            </a:r>
            <a:endParaRPr lang="en-US" altLang="zh-CN" dirty="0" smtClean="0">
              <a:solidFill>
                <a:prstClr val="white"/>
              </a:solidFill>
              <a:latin typeface="微软雅黑" panose="020B0503020204020204" pitchFamily="34" charset="-122"/>
              <a:ea typeface="微软雅黑" panose="020B0503020204020204" pitchFamily="34" charset="-122"/>
            </a:endParaRPr>
          </a:p>
          <a:p>
            <a:pPr indent="457200">
              <a:lnSpc>
                <a:spcPct val="150000"/>
              </a:lnSpc>
            </a:pPr>
            <a:r>
              <a:rPr lang="en-US" altLang="zh-CN" dirty="0" smtClean="0">
                <a:solidFill>
                  <a:prstClr val="white"/>
                </a:solidFill>
                <a:latin typeface="微软雅黑" panose="020B0503020204020204" pitchFamily="34" charset="-122"/>
                <a:ea typeface="微软雅黑" panose="020B0503020204020204" pitchFamily="34" charset="-122"/>
              </a:rPr>
              <a:t>min-slaves-max-lag 10   # </a:t>
            </a:r>
            <a:r>
              <a:rPr lang="zh-CN" altLang="en-US" dirty="0" smtClean="0">
                <a:solidFill>
                  <a:prstClr val="white"/>
                </a:solidFill>
                <a:latin typeface="微软雅黑" panose="020B0503020204020204" pitchFamily="34" charset="-122"/>
                <a:ea typeface="微软雅黑" panose="020B0503020204020204" pitchFamily="34" charset="-122"/>
              </a:rPr>
              <a:t>正常复制的判断依据，该配置表示</a:t>
            </a:r>
            <a:r>
              <a:rPr lang="en-US" altLang="zh-CN" dirty="0" smtClean="0">
                <a:solidFill>
                  <a:prstClr val="white"/>
                </a:solidFill>
                <a:latin typeface="微软雅黑" panose="020B0503020204020204" pitchFamily="34" charset="-122"/>
                <a:ea typeface="微软雅黑" panose="020B0503020204020204" pitchFamily="34" charset="-122"/>
              </a:rPr>
              <a:t>10</a:t>
            </a:r>
            <a:r>
              <a:rPr lang="zh-CN" altLang="en-US" dirty="0" smtClean="0">
                <a:solidFill>
                  <a:prstClr val="white"/>
                </a:solidFill>
                <a:latin typeface="微软雅黑" panose="020B0503020204020204" pitchFamily="34" charset="-122"/>
                <a:ea typeface="微软雅黑" panose="020B0503020204020204" pitchFamily="34" charset="-122"/>
              </a:rPr>
              <a:t>秒内如果没有收到</a:t>
            </a:r>
            <a:r>
              <a:rPr lang="en-US" altLang="zh-CN" dirty="0" smtClean="0">
                <a:solidFill>
                  <a:prstClr val="white"/>
                </a:solidFill>
                <a:latin typeface="微软雅黑" panose="020B0503020204020204" pitchFamily="34" charset="-122"/>
                <a:ea typeface="微软雅黑" panose="020B0503020204020204" pitchFamily="34" charset="-122"/>
              </a:rPr>
              <a:t>slave</a:t>
            </a:r>
            <a:r>
              <a:rPr lang="zh-CN" altLang="en-US" dirty="0" smtClean="0">
                <a:solidFill>
                  <a:prstClr val="white"/>
                </a:solidFill>
                <a:latin typeface="微软雅黑" panose="020B0503020204020204" pitchFamily="34" charset="-122"/>
                <a:ea typeface="微软雅黑" panose="020B0503020204020204" pitchFamily="34" charset="-122"/>
              </a:rPr>
              <a:t>节点反馈，意味着同步不正常。</a:t>
            </a:r>
            <a:endParaRPr lang="zh-CN" altLang="en-US" dirty="0">
              <a:solidFill>
                <a:prstClr val="white"/>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260518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0A0F23"/>
        </a:solidFill>
        <a:effectLst/>
      </p:bgPr>
    </p:bg>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xmlns="" id="{CBDC52CD-1D62-48AF-A9DF-9F18AEA2B1F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801385" y="-114300"/>
            <a:ext cx="1301859" cy="920356"/>
          </a:xfrm>
          <a:prstGeom prst="rect">
            <a:avLst/>
          </a:prstGeom>
        </p:spPr>
      </p:pic>
      <p:pic>
        <p:nvPicPr>
          <p:cNvPr id="14" name="图片 13">
            <a:extLst>
              <a:ext uri="{FF2B5EF4-FFF2-40B4-BE49-F238E27FC236}">
                <a16:creationId xmlns:a16="http://schemas.microsoft.com/office/drawing/2014/main" xmlns="" id="{F78DA958-9B1B-47DA-A870-8C0B3A7D8866}"/>
              </a:ext>
            </a:extLst>
          </p:cNvPr>
          <p:cNvPicPr>
            <a:picLocks noChangeAspect="1"/>
          </p:cNvPicPr>
          <p:nvPr/>
        </p:nvPicPr>
        <p:blipFill rotWithShape="1">
          <a:blip r:embed="rId4" cstate="print">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rcRect b="63537"/>
          <a:stretch/>
        </p:blipFill>
        <p:spPr>
          <a:xfrm>
            <a:off x="11184164" y="217733"/>
            <a:ext cx="572339" cy="337210"/>
          </a:xfrm>
          <a:prstGeom prst="rect">
            <a:avLst/>
          </a:prstGeom>
        </p:spPr>
      </p:pic>
      <p:cxnSp>
        <p:nvCxnSpPr>
          <p:cNvPr id="15" name="直接连接符 14">
            <a:extLst>
              <a:ext uri="{FF2B5EF4-FFF2-40B4-BE49-F238E27FC236}">
                <a16:creationId xmlns:a16="http://schemas.microsoft.com/office/drawing/2014/main" xmlns="" id="{93240A06-D526-4907-A163-94ABB41190CC}"/>
              </a:ext>
            </a:extLst>
          </p:cNvPr>
          <p:cNvCxnSpPr/>
          <p:nvPr/>
        </p:nvCxnSpPr>
        <p:spPr>
          <a:xfrm>
            <a:off x="11103244" y="225825"/>
            <a:ext cx="0" cy="2435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xmlns="" id="{74C59758-12AB-44A5-92FA-DB52904027AE}"/>
              </a:ext>
            </a:extLst>
          </p:cNvPr>
          <p:cNvSpPr/>
          <p:nvPr/>
        </p:nvSpPr>
        <p:spPr>
          <a:xfrm>
            <a:off x="704849" y="2067154"/>
            <a:ext cx="10765483" cy="3416320"/>
          </a:xfrm>
          <a:prstGeom prst="rect">
            <a:avLst/>
          </a:prstGeom>
        </p:spPr>
        <p:txBody>
          <a:bodyPr wrap="square">
            <a:spAutoFit/>
          </a:bodyPr>
          <a:lstStyle/>
          <a:p>
            <a:pPr indent="457200">
              <a:lnSpc>
                <a:spcPct val="150000"/>
              </a:lnSpc>
            </a:pPr>
            <a:r>
              <a:rPr lang="en-US" altLang="zh-CN" dirty="0" err="1" smtClean="0">
                <a:solidFill>
                  <a:prstClr val="white"/>
                </a:solidFill>
                <a:latin typeface="微软雅黑" panose="020B0503020204020204" pitchFamily="34" charset="-122"/>
                <a:ea typeface="微软雅黑" panose="020B0503020204020204" pitchFamily="34" charset="-122"/>
              </a:rPr>
              <a:t>codis</a:t>
            </a:r>
            <a:r>
              <a:rPr lang="zh-CN" altLang="en-US" dirty="0" smtClean="0">
                <a:solidFill>
                  <a:prstClr val="white"/>
                </a:solidFill>
                <a:latin typeface="微软雅黑" panose="020B0503020204020204" pitchFamily="34" charset="-122"/>
                <a:ea typeface="微软雅黑" panose="020B0503020204020204" pitchFamily="34" charset="-122"/>
              </a:rPr>
              <a:t>是前豌豆荚中间件团队开源的</a:t>
            </a:r>
            <a:r>
              <a:rPr lang="en-US" altLang="zh-CN" dirty="0" err="1" smtClean="0">
                <a:solidFill>
                  <a:prstClr val="white"/>
                </a:solidFill>
                <a:latin typeface="微软雅黑" panose="020B0503020204020204" pitchFamily="34" charset="-122"/>
                <a:ea typeface="微软雅黑" panose="020B0503020204020204" pitchFamily="34" charset="-122"/>
              </a:rPr>
              <a:t>redis</a:t>
            </a:r>
            <a:r>
              <a:rPr lang="zh-CN" altLang="en-US" dirty="0" smtClean="0">
                <a:solidFill>
                  <a:prstClr val="white"/>
                </a:solidFill>
                <a:latin typeface="微软雅黑" panose="020B0503020204020204" pitchFamily="34" charset="-122"/>
                <a:ea typeface="微软雅黑" panose="020B0503020204020204" pitchFamily="34" charset="-122"/>
              </a:rPr>
              <a:t>集群解决方案。从</a:t>
            </a:r>
            <a:r>
              <a:rPr lang="en-US" altLang="zh-CN" dirty="0" err="1" smtClean="0">
                <a:solidFill>
                  <a:prstClr val="white"/>
                </a:solidFill>
                <a:latin typeface="微软雅黑" panose="020B0503020204020204" pitchFamily="34" charset="-122"/>
                <a:ea typeface="微软雅黑" panose="020B0503020204020204" pitchFamily="34" charset="-122"/>
              </a:rPr>
              <a:t>redis</a:t>
            </a:r>
            <a:r>
              <a:rPr lang="zh-CN" altLang="en-US" dirty="0" smtClean="0">
                <a:solidFill>
                  <a:prstClr val="white"/>
                </a:solidFill>
                <a:latin typeface="微软雅黑" panose="020B0503020204020204" pitchFamily="34" charset="-122"/>
                <a:ea typeface="微软雅黑" panose="020B0503020204020204" pitchFamily="34" charset="-122"/>
              </a:rPr>
              <a:t>的广泛流行到</a:t>
            </a:r>
            <a:r>
              <a:rPr lang="en-US" altLang="zh-CN" dirty="0" err="1" smtClean="0">
                <a:solidFill>
                  <a:prstClr val="white"/>
                </a:solidFill>
                <a:latin typeface="微软雅黑" panose="020B0503020204020204" pitchFamily="34" charset="-122"/>
                <a:ea typeface="微软雅黑" panose="020B0503020204020204" pitchFamily="34" charset="-122"/>
              </a:rPr>
              <a:t>redis</a:t>
            </a:r>
            <a:r>
              <a:rPr lang="en-US" altLang="zh-CN" dirty="0" smtClean="0">
                <a:solidFill>
                  <a:prstClr val="white"/>
                </a:solidFill>
                <a:latin typeface="微软雅黑" panose="020B0503020204020204" pitchFamily="34" charset="-122"/>
                <a:ea typeface="微软雅黑" panose="020B0503020204020204" pitchFamily="34" charset="-122"/>
              </a:rPr>
              <a:t> cluster</a:t>
            </a:r>
            <a:r>
              <a:rPr lang="zh-CN" altLang="en-US" dirty="0" smtClean="0">
                <a:solidFill>
                  <a:prstClr val="white"/>
                </a:solidFill>
                <a:latin typeface="微软雅黑" panose="020B0503020204020204" pitchFamily="34" charset="-122"/>
                <a:ea typeface="微软雅黑" panose="020B0503020204020204" pitchFamily="34" charset="-122"/>
              </a:rPr>
              <a:t>的广泛使用，中间相隔了好多年，</a:t>
            </a:r>
            <a:r>
              <a:rPr lang="en-US" altLang="zh-CN" dirty="0" err="1" smtClean="0">
                <a:solidFill>
                  <a:prstClr val="white"/>
                </a:solidFill>
                <a:latin typeface="微软雅黑" panose="020B0503020204020204" pitchFamily="34" charset="-122"/>
                <a:ea typeface="微软雅黑" panose="020B0503020204020204" pitchFamily="34" charset="-122"/>
              </a:rPr>
              <a:t>codis</a:t>
            </a:r>
            <a:r>
              <a:rPr lang="zh-CN" altLang="en-US" dirty="0" smtClean="0">
                <a:solidFill>
                  <a:prstClr val="white"/>
                </a:solidFill>
                <a:latin typeface="微软雅黑" panose="020B0503020204020204" pitchFamily="34" charset="-122"/>
                <a:ea typeface="微软雅黑" panose="020B0503020204020204" pitchFamily="34" charset="-122"/>
              </a:rPr>
              <a:t>的出现填补了这块市场的空缺，并被业界很多大公司在生产环境使用。目前</a:t>
            </a:r>
            <a:r>
              <a:rPr lang="en-US" altLang="zh-CN" dirty="0" err="1" smtClean="0">
                <a:solidFill>
                  <a:prstClr val="white"/>
                </a:solidFill>
                <a:latin typeface="微软雅黑" panose="020B0503020204020204" pitchFamily="34" charset="-122"/>
                <a:ea typeface="微软雅黑" panose="020B0503020204020204" pitchFamily="34" charset="-122"/>
              </a:rPr>
              <a:t>codis</a:t>
            </a:r>
            <a:r>
              <a:rPr lang="zh-CN" altLang="en-US" dirty="0">
                <a:solidFill>
                  <a:prstClr val="white"/>
                </a:solidFill>
                <a:latin typeface="微软雅黑" panose="020B0503020204020204" pitchFamily="34" charset="-122"/>
                <a:ea typeface="微软雅黑" panose="020B0503020204020204" pitchFamily="34" charset="-122"/>
              </a:rPr>
              <a:t>最</a:t>
            </a:r>
            <a:r>
              <a:rPr lang="zh-CN" altLang="en-US" dirty="0" smtClean="0">
                <a:solidFill>
                  <a:prstClr val="white"/>
                </a:solidFill>
                <a:latin typeface="微软雅黑" panose="020B0503020204020204" pitchFamily="34" charset="-122"/>
                <a:ea typeface="微软雅黑" panose="020B0503020204020204" pitchFamily="34" charset="-122"/>
              </a:rPr>
              <a:t>新的稳定版本是</a:t>
            </a:r>
            <a:r>
              <a:rPr lang="en-US" altLang="zh-CN" dirty="0" smtClean="0">
                <a:solidFill>
                  <a:prstClr val="white"/>
                </a:solidFill>
                <a:latin typeface="微软雅黑" panose="020B0503020204020204" pitchFamily="34" charset="-122"/>
                <a:ea typeface="微软雅黑" panose="020B0503020204020204" pitchFamily="34" charset="-122"/>
              </a:rPr>
              <a:t>3.2</a:t>
            </a:r>
            <a:r>
              <a:rPr lang="zh-CN" altLang="en-US" dirty="0" smtClean="0">
                <a:solidFill>
                  <a:prstClr val="white"/>
                </a:solidFill>
                <a:latin typeface="微软雅黑" panose="020B0503020204020204" pitchFamily="34" charset="-122"/>
                <a:ea typeface="微软雅黑" panose="020B0503020204020204" pitchFamily="34" charset="-122"/>
              </a:rPr>
              <a:t>。</a:t>
            </a:r>
            <a:endParaRPr lang="en-US" altLang="zh-CN" dirty="0" smtClean="0">
              <a:solidFill>
                <a:prstClr val="white"/>
              </a:solidFill>
              <a:latin typeface="微软雅黑" panose="020B0503020204020204" pitchFamily="34" charset="-122"/>
              <a:ea typeface="微软雅黑" panose="020B0503020204020204" pitchFamily="34" charset="-122"/>
            </a:endParaRPr>
          </a:p>
          <a:p>
            <a:pPr indent="457200">
              <a:lnSpc>
                <a:spcPct val="150000"/>
              </a:lnSpc>
            </a:pPr>
            <a:r>
              <a:rPr lang="en-US" altLang="zh-CN" dirty="0" err="1">
                <a:solidFill>
                  <a:prstClr val="white"/>
                </a:solidFill>
                <a:latin typeface="微软雅黑" panose="020B0503020204020204" pitchFamily="34" charset="-122"/>
                <a:ea typeface="微软雅黑" panose="020B0503020204020204" pitchFamily="34" charset="-122"/>
              </a:rPr>
              <a:t>Codis</a:t>
            </a:r>
            <a:r>
              <a:rPr lang="en-US" altLang="zh-CN" dirty="0">
                <a:solidFill>
                  <a:prstClr val="white"/>
                </a:solidFill>
                <a:latin typeface="微软雅黑" panose="020B0503020204020204" pitchFamily="34" charset="-122"/>
                <a:ea typeface="微软雅黑" panose="020B0503020204020204" pitchFamily="34" charset="-122"/>
              </a:rPr>
              <a:t> 3.x </a:t>
            </a:r>
            <a:r>
              <a:rPr lang="zh-CN" altLang="en-US" dirty="0" smtClean="0">
                <a:solidFill>
                  <a:prstClr val="white"/>
                </a:solidFill>
                <a:latin typeface="微软雅黑" panose="020B0503020204020204" pitchFamily="34" charset="-122"/>
                <a:ea typeface="微软雅黑" panose="020B0503020204020204" pitchFamily="34" charset="-122"/>
              </a:rPr>
              <a:t>由</a:t>
            </a:r>
            <a:r>
              <a:rPr lang="zh-CN" altLang="en-US" dirty="0">
                <a:solidFill>
                  <a:prstClr val="white"/>
                </a:solidFill>
                <a:latin typeface="微软雅黑" panose="020B0503020204020204" pitchFamily="34" charset="-122"/>
                <a:ea typeface="微软雅黑" panose="020B0503020204020204" pitchFamily="34" charset="-122"/>
              </a:rPr>
              <a:t>主</a:t>
            </a:r>
            <a:r>
              <a:rPr lang="zh-CN" altLang="en-US" dirty="0" smtClean="0">
                <a:solidFill>
                  <a:prstClr val="white"/>
                </a:solidFill>
                <a:latin typeface="微软雅黑" panose="020B0503020204020204" pitchFamily="34" charset="-122"/>
                <a:ea typeface="微软雅黑" panose="020B0503020204020204" pitchFamily="34" charset="-122"/>
              </a:rPr>
              <a:t>要由以</a:t>
            </a:r>
            <a:r>
              <a:rPr lang="zh-CN" altLang="en-US" dirty="0">
                <a:solidFill>
                  <a:prstClr val="white"/>
                </a:solidFill>
                <a:latin typeface="微软雅黑" panose="020B0503020204020204" pitchFamily="34" charset="-122"/>
                <a:ea typeface="微软雅黑" panose="020B0503020204020204" pitchFamily="34" charset="-122"/>
              </a:rPr>
              <a:t>下组件组成</a:t>
            </a:r>
            <a:r>
              <a:rPr lang="zh-CN" altLang="en-US" dirty="0" smtClean="0">
                <a:solidFill>
                  <a:prstClr val="white"/>
                </a:solidFill>
                <a:latin typeface="微软雅黑" panose="020B0503020204020204" pitchFamily="34" charset="-122"/>
                <a:ea typeface="微软雅黑" panose="020B0503020204020204" pitchFamily="34" charset="-122"/>
              </a:rPr>
              <a:t>：</a:t>
            </a:r>
            <a:endParaRPr lang="en-US" altLang="zh-CN" dirty="0" smtClean="0">
              <a:solidFill>
                <a:prstClr val="white"/>
              </a:solidFill>
              <a:latin typeface="微软雅黑" panose="020B0503020204020204" pitchFamily="34" charset="-122"/>
              <a:ea typeface="微软雅黑" panose="020B0503020204020204" pitchFamily="34" charset="-122"/>
            </a:endParaRPr>
          </a:p>
          <a:p>
            <a:pPr indent="457200">
              <a:lnSpc>
                <a:spcPct val="150000"/>
              </a:lnSpc>
            </a:pPr>
            <a:r>
              <a:rPr lang="en-US" altLang="zh-CN" dirty="0" err="1" smtClean="0">
                <a:solidFill>
                  <a:prstClr val="white"/>
                </a:solidFill>
                <a:latin typeface="微软雅黑" panose="020B0503020204020204" pitchFamily="34" charset="-122"/>
                <a:ea typeface="微软雅黑" panose="020B0503020204020204" pitchFamily="34" charset="-122"/>
              </a:rPr>
              <a:t>Codis</a:t>
            </a:r>
            <a:r>
              <a:rPr lang="en-US" altLang="zh-CN" dirty="0" smtClean="0">
                <a:solidFill>
                  <a:prstClr val="white"/>
                </a:solidFill>
                <a:latin typeface="微软雅黑" panose="020B0503020204020204" pitchFamily="34" charset="-122"/>
                <a:ea typeface="微软雅黑" panose="020B0503020204020204" pitchFamily="34" charset="-122"/>
              </a:rPr>
              <a:t> </a:t>
            </a:r>
            <a:r>
              <a:rPr lang="en-US" altLang="zh-CN" dirty="0">
                <a:solidFill>
                  <a:prstClr val="white"/>
                </a:solidFill>
                <a:latin typeface="微软雅黑" panose="020B0503020204020204" pitchFamily="34" charset="-122"/>
                <a:ea typeface="微软雅黑" panose="020B0503020204020204" pitchFamily="34" charset="-122"/>
              </a:rPr>
              <a:t>Server</a:t>
            </a:r>
            <a:r>
              <a:rPr lang="zh-CN" altLang="en-US" dirty="0">
                <a:solidFill>
                  <a:prstClr val="white"/>
                </a:solidFill>
                <a:latin typeface="微软雅黑" panose="020B0503020204020204" pitchFamily="34" charset="-122"/>
                <a:ea typeface="微软雅黑" panose="020B0503020204020204" pitchFamily="34" charset="-122"/>
              </a:rPr>
              <a:t>：基于 </a:t>
            </a:r>
            <a:r>
              <a:rPr lang="en-US" altLang="zh-CN" dirty="0">
                <a:solidFill>
                  <a:prstClr val="white"/>
                </a:solidFill>
                <a:latin typeface="微软雅黑" panose="020B0503020204020204" pitchFamily="34" charset="-122"/>
                <a:ea typeface="微软雅黑" panose="020B0503020204020204" pitchFamily="34" charset="-122"/>
              </a:rPr>
              <a:t>redis-3.2.8 </a:t>
            </a:r>
            <a:r>
              <a:rPr lang="zh-CN" altLang="en-US" dirty="0">
                <a:solidFill>
                  <a:prstClr val="white"/>
                </a:solidFill>
                <a:latin typeface="微软雅黑" panose="020B0503020204020204" pitchFamily="34" charset="-122"/>
                <a:ea typeface="微软雅黑" panose="020B0503020204020204" pitchFamily="34" charset="-122"/>
              </a:rPr>
              <a:t>分支开发。增加了额外的数据结构，以支持 </a:t>
            </a:r>
            <a:r>
              <a:rPr lang="en-US" altLang="zh-CN" dirty="0">
                <a:solidFill>
                  <a:prstClr val="white"/>
                </a:solidFill>
                <a:latin typeface="微软雅黑" panose="020B0503020204020204" pitchFamily="34" charset="-122"/>
                <a:ea typeface="微软雅黑" panose="020B0503020204020204" pitchFamily="34" charset="-122"/>
              </a:rPr>
              <a:t>slot </a:t>
            </a:r>
            <a:r>
              <a:rPr lang="zh-CN" altLang="en-US" dirty="0">
                <a:solidFill>
                  <a:prstClr val="white"/>
                </a:solidFill>
                <a:latin typeface="微软雅黑" panose="020B0503020204020204" pitchFamily="34" charset="-122"/>
                <a:ea typeface="微软雅黑" panose="020B0503020204020204" pitchFamily="34" charset="-122"/>
              </a:rPr>
              <a:t>有关的操作以及数据迁移指令</a:t>
            </a:r>
            <a:r>
              <a:rPr lang="zh-CN" altLang="en-US" dirty="0" smtClean="0">
                <a:solidFill>
                  <a:prstClr val="white"/>
                </a:solidFill>
                <a:latin typeface="微软雅黑" panose="020B0503020204020204" pitchFamily="34" charset="-122"/>
                <a:ea typeface="微软雅黑" panose="020B0503020204020204" pitchFamily="34" charset="-122"/>
              </a:rPr>
              <a:t>。多个</a:t>
            </a:r>
            <a:r>
              <a:rPr lang="en-US" altLang="zh-CN" dirty="0" err="1" smtClean="0">
                <a:solidFill>
                  <a:prstClr val="white"/>
                </a:solidFill>
                <a:latin typeface="微软雅黑" panose="020B0503020204020204" pitchFamily="34" charset="-122"/>
                <a:ea typeface="微软雅黑" panose="020B0503020204020204" pitchFamily="34" charset="-122"/>
              </a:rPr>
              <a:t>Codis</a:t>
            </a:r>
            <a:r>
              <a:rPr lang="en-US" altLang="zh-CN" dirty="0" smtClean="0">
                <a:solidFill>
                  <a:prstClr val="white"/>
                </a:solidFill>
                <a:latin typeface="微软雅黑" panose="020B0503020204020204" pitchFamily="34" charset="-122"/>
                <a:ea typeface="微软雅黑" panose="020B0503020204020204" pitchFamily="34" charset="-122"/>
              </a:rPr>
              <a:t> Server</a:t>
            </a:r>
            <a:r>
              <a:rPr lang="zh-CN" altLang="en-US" dirty="0" smtClean="0">
                <a:solidFill>
                  <a:prstClr val="white"/>
                </a:solidFill>
                <a:latin typeface="微软雅黑" panose="020B0503020204020204" pitchFamily="34" charset="-122"/>
                <a:ea typeface="微软雅黑" panose="020B0503020204020204" pitchFamily="34" charset="-122"/>
              </a:rPr>
              <a:t>组成逻辑概念上的</a:t>
            </a:r>
            <a:r>
              <a:rPr lang="en-US" altLang="zh-CN" dirty="0" err="1" smtClean="0">
                <a:solidFill>
                  <a:prstClr val="white"/>
                </a:solidFill>
                <a:latin typeface="微软雅黑" panose="020B0503020204020204" pitchFamily="34" charset="-122"/>
                <a:ea typeface="微软雅黑" panose="020B0503020204020204" pitchFamily="34" charset="-122"/>
              </a:rPr>
              <a:t>Codis</a:t>
            </a:r>
            <a:r>
              <a:rPr lang="en-US" altLang="zh-CN" dirty="0" smtClean="0">
                <a:solidFill>
                  <a:prstClr val="white"/>
                </a:solidFill>
                <a:latin typeface="微软雅黑" panose="020B0503020204020204" pitchFamily="34" charset="-122"/>
                <a:ea typeface="微软雅黑" panose="020B0503020204020204" pitchFamily="34" charset="-122"/>
              </a:rPr>
              <a:t> Group</a:t>
            </a:r>
            <a:endParaRPr lang="zh-CN" altLang="en-US" dirty="0">
              <a:solidFill>
                <a:prstClr val="white"/>
              </a:solidFill>
              <a:latin typeface="微软雅黑" panose="020B0503020204020204" pitchFamily="34" charset="-122"/>
              <a:ea typeface="微软雅黑" panose="020B0503020204020204" pitchFamily="34" charset="-122"/>
            </a:endParaRPr>
          </a:p>
          <a:p>
            <a:pPr indent="457200">
              <a:lnSpc>
                <a:spcPct val="150000"/>
              </a:lnSpc>
            </a:pPr>
            <a:r>
              <a:rPr lang="en-US" altLang="zh-CN" dirty="0" err="1">
                <a:solidFill>
                  <a:prstClr val="white"/>
                </a:solidFill>
                <a:latin typeface="微软雅黑" panose="020B0503020204020204" pitchFamily="34" charset="-122"/>
                <a:ea typeface="微软雅黑" panose="020B0503020204020204" pitchFamily="34" charset="-122"/>
              </a:rPr>
              <a:t>Codis</a:t>
            </a:r>
            <a:r>
              <a:rPr lang="en-US" altLang="zh-CN" dirty="0">
                <a:solidFill>
                  <a:prstClr val="white"/>
                </a:solidFill>
                <a:latin typeface="微软雅黑" panose="020B0503020204020204" pitchFamily="34" charset="-122"/>
                <a:ea typeface="微软雅黑" panose="020B0503020204020204" pitchFamily="34" charset="-122"/>
              </a:rPr>
              <a:t> Proxy</a:t>
            </a:r>
            <a:r>
              <a:rPr lang="zh-CN" altLang="en-US" dirty="0">
                <a:solidFill>
                  <a:prstClr val="white"/>
                </a:solidFill>
                <a:latin typeface="微软雅黑" panose="020B0503020204020204" pitchFamily="34" charset="-122"/>
                <a:ea typeface="微软雅黑" panose="020B0503020204020204" pitchFamily="34" charset="-122"/>
              </a:rPr>
              <a:t>：客户端连接的</a:t>
            </a:r>
            <a:r>
              <a:rPr lang="en-US" altLang="zh-CN" dirty="0" err="1">
                <a:solidFill>
                  <a:prstClr val="white"/>
                </a:solidFill>
                <a:latin typeface="微软雅黑" panose="020B0503020204020204" pitchFamily="34" charset="-122"/>
                <a:ea typeface="微软雅黑" panose="020B0503020204020204" pitchFamily="34" charset="-122"/>
              </a:rPr>
              <a:t>Redis</a:t>
            </a:r>
            <a:r>
              <a:rPr lang="zh-CN" altLang="en-US" dirty="0">
                <a:solidFill>
                  <a:prstClr val="white"/>
                </a:solidFill>
                <a:latin typeface="微软雅黑" panose="020B0503020204020204" pitchFamily="34" charset="-122"/>
                <a:ea typeface="微软雅黑" panose="020B0503020204020204" pitchFamily="34" charset="-122"/>
              </a:rPr>
              <a:t>代理服务</a:t>
            </a:r>
            <a:r>
              <a:rPr lang="en-US" altLang="zh-CN" dirty="0">
                <a:solidFill>
                  <a:prstClr val="white"/>
                </a:solidFill>
                <a:latin typeface="微软雅黑" panose="020B0503020204020204" pitchFamily="34" charset="-122"/>
                <a:ea typeface="微软雅黑" panose="020B0503020204020204" pitchFamily="34" charset="-122"/>
              </a:rPr>
              <a:t>, </a:t>
            </a:r>
            <a:r>
              <a:rPr lang="zh-CN" altLang="en-US" dirty="0">
                <a:solidFill>
                  <a:prstClr val="white"/>
                </a:solidFill>
                <a:latin typeface="微软雅黑" panose="020B0503020204020204" pitchFamily="34" charset="-122"/>
                <a:ea typeface="微软雅黑" panose="020B0503020204020204" pitchFamily="34" charset="-122"/>
              </a:rPr>
              <a:t>实现了</a:t>
            </a:r>
            <a:r>
              <a:rPr lang="en-US" altLang="zh-CN" dirty="0" err="1">
                <a:solidFill>
                  <a:prstClr val="white"/>
                </a:solidFill>
                <a:latin typeface="微软雅黑" panose="020B0503020204020204" pitchFamily="34" charset="-122"/>
                <a:ea typeface="微软雅黑" panose="020B0503020204020204" pitchFamily="34" charset="-122"/>
              </a:rPr>
              <a:t>Redis</a:t>
            </a:r>
            <a:r>
              <a:rPr lang="zh-CN" altLang="en-US" dirty="0">
                <a:solidFill>
                  <a:prstClr val="white"/>
                </a:solidFill>
                <a:latin typeface="微软雅黑" panose="020B0503020204020204" pitchFamily="34" charset="-122"/>
                <a:ea typeface="微软雅黑" panose="020B0503020204020204" pitchFamily="34" charset="-122"/>
              </a:rPr>
              <a:t>协议。除不支持部分命令，表现和原生</a:t>
            </a:r>
            <a:r>
              <a:rPr lang="en-US" altLang="zh-CN" dirty="0" err="1">
                <a:solidFill>
                  <a:prstClr val="white"/>
                </a:solidFill>
                <a:latin typeface="微软雅黑" panose="020B0503020204020204" pitchFamily="34" charset="-122"/>
                <a:ea typeface="微软雅黑" panose="020B0503020204020204" pitchFamily="34" charset="-122"/>
              </a:rPr>
              <a:t>redis</a:t>
            </a:r>
            <a:r>
              <a:rPr lang="zh-CN" altLang="en-US" dirty="0">
                <a:solidFill>
                  <a:prstClr val="white"/>
                </a:solidFill>
                <a:latin typeface="微软雅黑" panose="020B0503020204020204" pitchFamily="34" charset="-122"/>
                <a:ea typeface="微软雅黑" panose="020B0503020204020204" pitchFamily="34" charset="-122"/>
              </a:rPr>
              <a:t>没有区别</a:t>
            </a:r>
            <a:r>
              <a:rPr lang="zh-CN" altLang="en-US" dirty="0" smtClean="0">
                <a:solidFill>
                  <a:prstClr val="white"/>
                </a:solidFill>
                <a:latin typeface="微软雅黑" panose="020B0503020204020204" pitchFamily="34" charset="-122"/>
                <a:ea typeface="微软雅黑" panose="020B0503020204020204" pitchFamily="34" charset="-122"/>
              </a:rPr>
              <a:t>。</a:t>
            </a:r>
            <a:endParaRPr lang="zh-CN" altLang="en-US" dirty="0">
              <a:solidFill>
                <a:prstClr val="white"/>
              </a:solidFill>
              <a:latin typeface="微软雅黑" panose="020B0503020204020204" pitchFamily="34" charset="-122"/>
              <a:ea typeface="微软雅黑" panose="020B0503020204020204" pitchFamily="34" charset="-122"/>
            </a:endParaRPr>
          </a:p>
        </p:txBody>
      </p:sp>
      <p:sp>
        <p:nvSpPr>
          <p:cNvPr id="10" name="TextBox 9"/>
          <p:cNvSpPr txBox="1"/>
          <p:nvPr/>
        </p:nvSpPr>
        <p:spPr>
          <a:xfrm>
            <a:off x="704849" y="605109"/>
            <a:ext cx="10862965" cy="584775"/>
          </a:xfrm>
          <a:prstGeom prst="rect">
            <a:avLst/>
          </a:prstGeom>
          <a:noFill/>
        </p:spPr>
        <p:txBody>
          <a:bodyPr wrap="square" rtlCol="0">
            <a:spAutoFit/>
          </a:bodyPr>
          <a:lstStyle/>
          <a:p>
            <a:pPr>
              <a:defRPr/>
            </a:pPr>
            <a:r>
              <a:rPr lang="en-US" altLang="zh-CN" sz="32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5.3</a:t>
            </a:r>
            <a:r>
              <a:rPr lang="zh-CN" altLang="en-US" sz="32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a:t>
            </a:r>
            <a:r>
              <a:rPr lang="en-US" altLang="zh-CN" sz="3200" b="1" dirty="0" err="1">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codis</a:t>
            </a:r>
            <a:endParaRPr lang="zh-CN" altLang="en-US" sz="32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endParaRPr>
          </a:p>
        </p:txBody>
      </p:sp>
      <p:sp>
        <p:nvSpPr>
          <p:cNvPr id="8" name="TextBox 9"/>
          <p:cNvSpPr txBox="1"/>
          <p:nvPr/>
        </p:nvSpPr>
        <p:spPr>
          <a:xfrm>
            <a:off x="714643" y="1386073"/>
            <a:ext cx="7689850" cy="523220"/>
          </a:xfrm>
          <a:prstGeom prst="rect">
            <a:avLst/>
          </a:prstGeom>
          <a:noFill/>
        </p:spPr>
        <p:txBody>
          <a:bodyPr wrap="square" rtlCol="0">
            <a:spAutoFit/>
          </a:bodyPr>
          <a:lstStyle/>
          <a:p>
            <a:pPr>
              <a:defRPr/>
            </a:pPr>
            <a:r>
              <a:rPr lang="en-US" altLang="zh-CN"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5.3.1 </a:t>
            </a:r>
            <a:r>
              <a:rPr lang="en-US" altLang="zh-CN" sz="2800" b="1" dirty="0" err="1">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codis</a:t>
            </a:r>
            <a:r>
              <a:rPr lang="zh-CN" altLang="en-US"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架构及出现历史原因</a:t>
            </a:r>
          </a:p>
        </p:txBody>
      </p:sp>
    </p:spTree>
    <p:extLst>
      <p:ext uri="{BB962C8B-B14F-4D97-AF65-F5344CB8AC3E}">
        <p14:creationId xmlns:p14="http://schemas.microsoft.com/office/powerpoint/2010/main" val="3547914417"/>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horizont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0A0F23"/>
        </a:solidFill>
        <a:effectLst/>
      </p:bgPr>
    </p:bg>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xmlns="" id="{CBDC52CD-1D62-48AF-A9DF-9F18AEA2B1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01385" y="-114300"/>
            <a:ext cx="1301859" cy="920356"/>
          </a:xfrm>
          <a:prstGeom prst="rect">
            <a:avLst/>
          </a:prstGeom>
        </p:spPr>
      </p:pic>
      <p:pic>
        <p:nvPicPr>
          <p:cNvPr id="14" name="图片 13">
            <a:extLst>
              <a:ext uri="{FF2B5EF4-FFF2-40B4-BE49-F238E27FC236}">
                <a16:creationId xmlns:a16="http://schemas.microsoft.com/office/drawing/2014/main" xmlns="" id="{F78DA958-9B1B-47DA-A870-8C0B3A7D8866}"/>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b="63537"/>
          <a:stretch/>
        </p:blipFill>
        <p:spPr>
          <a:xfrm>
            <a:off x="11184164" y="217733"/>
            <a:ext cx="572339" cy="337210"/>
          </a:xfrm>
          <a:prstGeom prst="rect">
            <a:avLst/>
          </a:prstGeom>
        </p:spPr>
      </p:pic>
      <p:cxnSp>
        <p:nvCxnSpPr>
          <p:cNvPr id="15" name="直接连接符 14">
            <a:extLst>
              <a:ext uri="{FF2B5EF4-FFF2-40B4-BE49-F238E27FC236}">
                <a16:creationId xmlns:a16="http://schemas.microsoft.com/office/drawing/2014/main" xmlns="" id="{93240A06-D526-4907-A163-94ABB41190CC}"/>
              </a:ext>
            </a:extLst>
          </p:cNvPr>
          <p:cNvCxnSpPr/>
          <p:nvPr/>
        </p:nvCxnSpPr>
        <p:spPr>
          <a:xfrm>
            <a:off x="11103244" y="225825"/>
            <a:ext cx="0" cy="2435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xmlns="" id="{74C59758-12AB-44A5-92FA-DB52904027AE}"/>
              </a:ext>
            </a:extLst>
          </p:cNvPr>
          <p:cNvSpPr/>
          <p:nvPr/>
        </p:nvSpPr>
        <p:spPr>
          <a:xfrm>
            <a:off x="704848" y="1741839"/>
            <a:ext cx="10765483" cy="3416320"/>
          </a:xfrm>
          <a:prstGeom prst="rect">
            <a:avLst/>
          </a:prstGeom>
        </p:spPr>
        <p:txBody>
          <a:bodyPr wrap="square">
            <a:spAutoFit/>
          </a:bodyPr>
          <a:lstStyle/>
          <a:p>
            <a:pPr indent="457200">
              <a:lnSpc>
                <a:spcPct val="150000"/>
              </a:lnSpc>
            </a:pPr>
            <a:r>
              <a:rPr lang="en-US" altLang="zh-CN" dirty="0" err="1" smtClean="0">
                <a:solidFill>
                  <a:prstClr val="white"/>
                </a:solidFill>
                <a:latin typeface="微软雅黑" panose="020B0503020204020204" pitchFamily="34" charset="-122"/>
                <a:ea typeface="微软雅黑" panose="020B0503020204020204" pitchFamily="34" charset="-122"/>
              </a:rPr>
              <a:t>Codis</a:t>
            </a:r>
            <a:r>
              <a:rPr lang="en-US" altLang="zh-CN" dirty="0" smtClean="0">
                <a:solidFill>
                  <a:prstClr val="white"/>
                </a:solidFill>
                <a:latin typeface="微软雅黑" panose="020B0503020204020204" pitchFamily="34" charset="-122"/>
                <a:ea typeface="微软雅黑" panose="020B0503020204020204" pitchFamily="34" charset="-122"/>
              </a:rPr>
              <a:t> </a:t>
            </a:r>
            <a:r>
              <a:rPr lang="en-US" altLang="zh-CN" dirty="0">
                <a:solidFill>
                  <a:prstClr val="white"/>
                </a:solidFill>
                <a:latin typeface="微软雅黑" panose="020B0503020204020204" pitchFamily="34" charset="-122"/>
                <a:ea typeface="微软雅黑" panose="020B0503020204020204" pitchFamily="34" charset="-122"/>
              </a:rPr>
              <a:t>Dashboard</a:t>
            </a:r>
            <a:r>
              <a:rPr lang="zh-CN" altLang="en-US" dirty="0">
                <a:solidFill>
                  <a:prstClr val="white"/>
                </a:solidFill>
                <a:latin typeface="微软雅黑" panose="020B0503020204020204" pitchFamily="34" charset="-122"/>
                <a:ea typeface="微软雅黑" panose="020B0503020204020204" pitchFamily="34" charset="-122"/>
              </a:rPr>
              <a:t>：集群管理工具，支持 </a:t>
            </a:r>
            <a:r>
              <a:rPr lang="en-US" altLang="zh-CN" dirty="0" err="1">
                <a:solidFill>
                  <a:prstClr val="white"/>
                </a:solidFill>
                <a:latin typeface="微软雅黑" panose="020B0503020204020204" pitchFamily="34" charset="-122"/>
                <a:ea typeface="微软雅黑" panose="020B0503020204020204" pitchFamily="34" charset="-122"/>
              </a:rPr>
              <a:t>codis</a:t>
            </a:r>
            <a:r>
              <a:rPr lang="en-US" altLang="zh-CN" dirty="0">
                <a:solidFill>
                  <a:prstClr val="white"/>
                </a:solidFill>
                <a:latin typeface="微软雅黑" panose="020B0503020204020204" pitchFamily="34" charset="-122"/>
                <a:ea typeface="微软雅黑" panose="020B0503020204020204" pitchFamily="34" charset="-122"/>
              </a:rPr>
              <a:t>-proxy</a:t>
            </a:r>
            <a:r>
              <a:rPr lang="zh-CN" altLang="en-US" dirty="0">
                <a:solidFill>
                  <a:prstClr val="white"/>
                </a:solidFill>
                <a:latin typeface="微软雅黑" panose="020B0503020204020204" pitchFamily="34" charset="-122"/>
                <a:ea typeface="微软雅黑" panose="020B0503020204020204" pitchFamily="34" charset="-122"/>
              </a:rPr>
              <a:t>、</a:t>
            </a:r>
            <a:r>
              <a:rPr lang="en-US" altLang="zh-CN" dirty="0" err="1">
                <a:solidFill>
                  <a:prstClr val="white"/>
                </a:solidFill>
                <a:latin typeface="微软雅黑" panose="020B0503020204020204" pitchFamily="34" charset="-122"/>
                <a:ea typeface="微软雅黑" panose="020B0503020204020204" pitchFamily="34" charset="-122"/>
              </a:rPr>
              <a:t>codis</a:t>
            </a:r>
            <a:r>
              <a:rPr lang="en-US" altLang="zh-CN" dirty="0">
                <a:solidFill>
                  <a:prstClr val="white"/>
                </a:solidFill>
                <a:latin typeface="微软雅黑" panose="020B0503020204020204" pitchFamily="34" charset="-122"/>
                <a:ea typeface="微软雅黑" panose="020B0503020204020204" pitchFamily="34" charset="-122"/>
              </a:rPr>
              <a:t>-server </a:t>
            </a:r>
            <a:r>
              <a:rPr lang="zh-CN" altLang="en-US" dirty="0">
                <a:solidFill>
                  <a:prstClr val="white"/>
                </a:solidFill>
                <a:latin typeface="微软雅黑" panose="020B0503020204020204" pitchFamily="34" charset="-122"/>
                <a:ea typeface="微软雅黑" panose="020B0503020204020204" pitchFamily="34" charset="-122"/>
              </a:rPr>
              <a:t>的添加、删除，以</a:t>
            </a:r>
            <a:r>
              <a:rPr lang="zh-CN" altLang="en-US" dirty="0" smtClean="0">
                <a:solidFill>
                  <a:prstClr val="white"/>
                </a:solidFill>
                <a:latin typeface="微软雅黑" panose="020B0503020204020204" pitchFamily="34" charset="-122"/>
                <a:ea typeface="微软雅黑" panose="020B0503020204020204" pitchFamily="34" charset="-122"/>
              </a:rPr>
              <a:t>及数据</a:t>
            </a:r>
            <a:r>
              <a:rPr lang="zh-CN" altLang="en-US" dirty="0">
                <a:solidFill>
                  <a:prstClr val="white"/>
                </a:solidFill>
                <a:latin typeface="微软雅黑" panose="020B0503020204020204" pitchFamily="34" charset="-122"/>
                <a:ea typeface="微软雅黑" panose="020B0503020204020204" pitchFamily="34" charset="-122"/>
              </a:rPr>
              <a:t>迁移等操作。在集群状态发生改变时，</a:t>
            </a:r>
            <a:r>
              <a:rPr lang="en-US" altLang="zh-CN" dirty="0" err="1">
                <a:solidFill>
                  <a:prstClr val="white"/>
                </a:solidFill>
                <a:latin typeface="微软雅黑" panose="020B0503020204020204" pitchFamily="34" charset="-122"/>
                <a:ea typeface="微软雅黑" panose="020B0503020204020204" pitchFamily="34" charset="-122"/>
              </a:rPr>
              <a:t>codis</a:t>
            </a:r>
            <a:r>
              <a:rPr lang="en-US" altLang="zh-CN" dirty="0">
                <a:solidFill>
                  <a:prstClr val="white"/>
                </a:solidFill>
                <a:latin typeface="微软雅黑" panose="020B0503020204020204" pitchFamily="34" charset="-122"/>
                <a:ea typeface="微软雅黑" panose="020B0503020204020204" pitchFamily="34" charset="-122"/>
              </a:rPr>
              <a:t>-dashboard </a:t>
            </a:r>
            <a:r>
              <a:rPr lang="zh-CN" altLang="en-US" dirty="0">
                <a:solidFill>
                  <a:prstClr val="white"/>
                </a:solidFill>
                <a:latin typeface="微软雅黑" panose="020B0503020204020204" pitchFamily="34" charset="-122"/>
                <a:ea typeface="微软雅黑" panose="020B0503020204020204" pitchFamily="34" charset="-122"/>
              </a:rPr>
              <a:t>维护集群下所有 </a:t>
            </a:r>
            <a:r>
              <a:rPr lang="en-US" altLang="zh-CN" dirty="0" err="1">
                <a:solidFill>
                  <a:prstClr val="white"/>
                </a:solidFill>
                <a:latin typeface="微软雅黑" panose="020B0503020204020204" pitchFamily="34" charset="-122"/>
                <a:ea typeface="微软雅黑" panose="020B0503020204020204" pitchFamily="34" charset="-122"/>
              </a:rPr>
              <a:t>codis</a:t>
            </a:r>
            <a:r>
              <a:rPr lang="en-US" altLang="zh-CN" dirty="0">
                <a:solidFill>
                  <a:prstClr val="white"/>
                </a:solidFill>
                <a:latin typeface="微软雅黑" panose="020B0503020204020204" pitchFamily="34" charset="-122"/>
                <a:ea typeface="微软雅黑" panose="020B0503020204020204" pitchFamily="34" charset="-122"/>
              </a:rPr>
              <a:t>-proxy </a:t>
            </a:r>
            <a:r>
              <a:rPr lang="zh-CN" altLang="en-US" dirty="0">
                <a:solidFill>
                  <a:prstClr val="white"/>
                </a:solidFill>
                <a:latin typeface="微软雅黑" panose="020B0503020204020204" pitchFamily="34" charset="-122"/>
                <a:ea typeface="微软雅黑" panose="020B0503020204020204" pitchFamily="34" charset="-122"/>
              </a:rPr>
              <a:t>的状态的一致性</a:t>
            </a:r>
            <a:r>
              <a:rPr lang="zh-CN" altLang="en-US" dirty="0" smtClean="0">
                <a:solidFill>
                  <a:prstClr val="white"/>
                </a:solidFill>
                <a:latin typeface="微软雅黑" panose="020B0503020204020204" pitchFamily="34" charset="-122"/>
                <a:ea typeface="微软雅黑" panose="020B0503020204020204" pitchFamily="34" charset="-122"/>
              </a:rPr>
              <a:t>。</a:t>
            </a:r>
            <a:endParaRPr lang="zh-CN" altLang="en-US" dirty="0">
              <a:solidFill>
                <a:prstClr val="white"/>
              </a:solidFill>
              <a:latin typeface="微软雅黑" panose="020B0503020204020204" pitchFamily="34" charset="-122"/>
              <a:ea typeface="微软雅黑" panose="020B0503020204020204" pitchFamily="34" charset="-122"/>
            </a:endParaRPr>
          </a:p>
          <a:p>
            <a:pPr indent="457200">
              <a:lnSpc>
                <a:spcPct val="150000"/>
              </a:lnSpc>
            </a:pPr>
            <a:r>
              <a:rPr lang="en-US" altLang="zh-CN" dirty="0" err="1">
                <a:solidFill>
                  <a:prstClr val="white"/>
                </a:solidFill>
                <a:latin typeface="微软雅黑" panose="020B0503020204020204" pitchFamily="34" charset="-122"/>
                <a:ea typeface="微软雅黑" panose="020B0503020204020204" pitchFamily="34" charset="-122"/>
              </a:rPr>
              <a:t>Codis</a:t>
            </a:r>
            <a:r>
              <a:rPr lang="en-US" altLang="zh-CN" dirty="0">
                <a:solidFill>
                  <a:prstClr val="white"/>
                </a:solidFill>
                <a:latin typeface="微软雅黑" panose="020B0503020204020204" pitchFamily="34" charset="-122"/>
                <a:ea typeface="微软雅黑" panose="020B0503020204020204" pitchFamily="34" charset="-122"/>
              </a:rPr>
              <a:t> Admin</a:t>
            </a:r>
            <a:r>
              <a:rPr lang="zh-CN" altLang="en-US" dirty="0">
                <a:solidFill>
                  <a:prstClr val="white"/>
                </a:solidFill>
                <a:latin typeface="微软雅黑" panose="020B0503020204020204" pitchFamily="34" charset="-122"/>
                <a:ea typeface="微软雅黑" panose="020B0503020204020204" pitchFamily="34" charset="-122"/>
              </a:rPr>
              <a:t>：集群管理的命令行工具</a:t>
            </a:r>
            <a:r>
              <a:rPr lang="zh-CN" altLang="en-US" dirty="0" smtClean="0">
                <a:solidFill>
                  <a:prstClr val="white"/>
                </a:solidFill>
                <a:latin typeface="微软雅黑" panose="020B0503020204020204" pitchFamily="34" charset="-122"/>
                <a:ea typeface="微软雅黑" panose="020B0503020204020204" pitchFamily="34" charset="-122"/>
              </a:rPr>
              <a:t>。可</a:t>
            </a:r>
            <a:r>
              <a:rPr lang="zh-CN" altLang="en-US" dirty="0">
                <a:solidFill>
                  <a:prstClr val="white"/>
                </a:solidFill>
                <a:latin typeface="微软雅黑" panose="020B0503020204020204" pitchFamily="34" charset="-122"/>
                <a:ea typeface="微软雅黑" panose="020B0503020204020204" pitchFamily="34" charset="-122"/>
              </a:rPr>
              <a:t>用于控制 </a:t>
            </a:r>
            <a:r>
              <a:rPr lang="en-US" altLang="zh-CN" dirty="0" err="1">
                <a:solidFill>
                  <a:prstClr val="white"/>
                </a:solidFill>
                <a:latin typeface="微软雅黑" panose="020B0503020204020204" pitchFamily="34" charset="-122"/>
                <a:ea typeface="微软雅黑" panose="020B0503020204020204" pitchFamily="34" charset="-122"/>
              </a:rPr>
              <a:t>codis</a:t>
            </a:r>
            <a:r>
              <a:rPr lang="en-US" altLang="zh-CN" dirty="0">
                <a:solidFill>
                  <a:prstClr val="white"/>
                </a:solidFill>
                <a:latin typeface="微软雅黑" panose="020B0503020204020204" pitchFamily="34" charset="-122"/>
                <a:ea typeface="微软雅黑" panose="020B0503020204020204" pitchFamily="34" charset="-122"/>
              </a:rPr>
              <a:t>-proxy</a:t>
            </a:r>
            <a:r>
              <a:rPr lang="zh-CN" altLang="en-US" dirty="0">
                <a:solidFill>
                  <a:prstClr val="white"/>
                </a:solidFill>
                <a:latin typeface="微软雅黑" panose="020B0503020204020204" pitchFamily="34" charset="-122"/>
                <a:ea typeface="微软雅黑" panose="020B0503020204020204" pitchFamily="34" charset="-122"/>
              </a:rPr>
              <a:t>、</a:t>
            </a:r>
            <a:r>
              <a:rPr lang="en-US" altLang="zh-CN" dirty="0" err="1">
                <a:solidFill>
                  <a:prstClr val="white"/>
                </a:solidFill>
                <a:latin typeface="微软雅黑" panose="020B0503020204020204" pitchFamily="34" charset="-122"/>
                <a:ea typeface="微软雅黑" panose="020B0503020204020204" pitchFamily="34" charset="-122"/>
              </a:rPr>
              <a:t>codis</a:t>
            </a:r>
            <a:r>
              <a:rPr lang="en-US" altLang="zh-CN" dirty="0">
                <a:solidFill>
                  <a:prstClr val="white"/>
                </a:solidFill>
                <a:latin typeface="微软雅黑" panose="020B0503020204020204" pitchFamily="34" charset="-122"/>
                <a:ea typeface="微软雅黑" panose="020B0503020204020204" pitchFamily="34" charset="-122"/>
              </a:rPr>
              <a:t>-dashboard </a:t>
            </a:r>
            <a:r>
              <a:rPr lang="zh-CN" altLang="en-US" dirty="0">
                <a:solidFill>
                  <a:prstClr val="white"/>
                </a:solidFill>
                <a:latin typeface="微软雅黑" panose="020B0503020204020204" pitchFamily="34" charset="-122"/>
                <a:ea typeface="微软雅黑" panose="020B0503020204020204" pitchFamily="34" charset="-122"/>
              </a:rPr>
              <a:t>状态以及访问外部存储</a:t>
            </a:r>
            <a:r>
              <a:rPr lang="zh-CN" altLang="en-US" dirty="0" smtClean="0">
                <a:solidFill>
                  <a:prstClr val="white"/>
                </a:solidFill>
                <a:latin typeface="微软雅黑" panose="020B0503020204020204" pitchFamily="34" charset="-122"/>
                <a:ea typeface="微软雅黑" panose="020B0503020204020204" pitchFamily="34" charset="-122"/>
              </a:rPr>
              <a:t>。</a:t>
            </a:r>
            <a:endParaRPr lang="zh-CN" altLang="en-US" dirty="0">
              <a:solidFill>
                <a:prstClr val="white"/>
              </a:solidFill>
              <a:latin typeface="微软雅黑" panose="020B0503020204020204" pitchFamily="34" charset="-122"/>
              <a:ea typeface="微软雅黑" panose="020B0503020204020204" pitchFamily="34" charset="-122"/>
            </a:endParaRPr>
          </a:p>
          <a:p>
            <a:pPr indent="457200">
              <a:lnSpc>
                <a:spcPct val="150000"/>
              </a:lnSpc>
            </a:pPr>
            <a:r>
              <a:rPr lang="en-US" altLang="zh-CN" dirty="0">
                <a:solidFill>
                  <a:prstClr val="white"/>
                </a:solidFill>
                <a:latin typeface="微软雅黑" panose="020B0503020204020204" pitchFamily="34" charset="-122"/>
                <a:ea typeface="微软雅黑" panose="020B0503020204020204" pitchFamily="34" charset="-122"/>
              </a:rPr>
              <a:t>Storage</a:t>
            </a:r>
            <a:r>
              <a:rPr lang="zh-CN" altLang="en-US" dirty="0">
                <a:solidFill>
                  <a:prstClr val="white"/>
                </a:solidFill>
                <a:latin typeface="微软雅黑" panose="020B0503020204020204" pitchFamily="34" charset="-122"/>
                <a:ea typeface="微软雅黑" panose="020B0503020204020204" pitchFamily="34" charset="-122"/>
              </a:rPr>
              <a:t>：为集群状态提供外部存储。目前仅提供了 </a:t>
            </a:r>
            <a:r>
              <a:rPr lang="en-US" altLang="zh-CN" dirty="0">
                <a:solidFill>
                  <a:prstClr val="white"/>
                </a:solidFill>
                <a:latin typeface="微软雅黑" panose="020B0503020204020204" pitchFamily="34" charset="-122"/>
                <a:ea typeface="微软雅黑" panose="020B0503020204020204" pitchFamily="34" charset="-122"/>
              </a:rPr>
              <a:t>Zookeeper</a:t>
            </a:r>
            <a:r>
              <a:rPr lang="zh-CN" altLang="en-US" dirty="0">
                <a:solidFill>
                  <a:prstClr val="white"/>
                </a:solidFill>
                <a:latin typeface="微软雅黑" panose="020B0503020204020204" pitchFamily="34" charset="-122"/>
                <a:ea typeface="微软雅黑" panose="020B0503020204020204" pitchFamily="34" charset="-122"/>
              </a:rPr>
              <a:t>、</a:t>
            </a:r>
            <a:r>
              <a:rPr lang="en-US" altLang="zh-CN" dirty="0" err="1">
                <a:solidFill>
                  <a:prstClr val="white"/>
                </a:solidFill>
                <a:latin typeface="微软雅黑" panose="020B0503020204020204" pitchFamily="34" charset="-122"/>
                <a:ea typeface="微软雅黑" panose="020B0503020204020204" pitchFamily="34" charset="-122"/>
              </a:rPr>
              <a:t>Etcd</a:t>
            </a:r>
            <a:r>
              <a:rPr lang="zh-CN" altLang="en-US" dirty="0">
                <a:solidFill>
                  <a:prstClr val="white"/>
                </a:solidFill>
                <a:latin typeface="微软雅黑" panose="020B0503020204020204" pitchFamily="34" charset="-122"/>
                <a:ea typeface="微软雅黑" panose="020B0503020204020204" pitchFamily="34" charset="-122"/>
              </a:rPr>
              <a:t>、</a:t>
            </a:r>
            <a:r>
              <a:rPr lang="en-US" altLang="zh-CN" dirty="0">
                <a:solidFill>
                  <a:prstClr val="white"/>
                </a:solidFill>
                <a:latin typeface="微软雅黑" panose="020B0503020204020204" pitchFamily="34" charset="-122"/>
                <a:ea typeface="微软雅黑" panose="020B0503020204020204" pitchFamily="34" charset="-122"/>
              </a:rPr>
              <a:t>Fs </a:t>
            </a:r>
            <a:r>
              <a:rPr lang="zh-CN" altLang="en-US" dirty="0">
                <a:solidFill>
                  <a:prstClr val="white"/>
                </a:solidFill>
                <a:latin typeface="微软雅黑" panose="020B0503020204020204" pitchFamily="34" charset="-122"/>
                <a:ea typeface="微软雅黑" panose="020B0503020204020204" pitchFamily="34" charset="-122"/>
              </a:rPr>
              <a:t>三种实现，可自行扩展</a:t>
            </a:r>
            <a:r>
              <a:rPr lang="zh-CN" altLang="en-US" dirty="0" smtClean="0">
                <a:solidFill>
                  <a:prstClr val="white"/>
                </a:solidFill>
                <a:latin typeface="微软雅黑" panose="020B0503020204020204" pitchFamily="34" charset="-122"/>
                <a:ea typeface="微软雅黑" panose="020B0503020204020204" pitchFamily="34" charset="-122"/>
              </a:rPr>
              <a:t>。</a:t>
            </a:r>
            <a:endParaRPr lang="en-US" altLang="zh-CN" dirty="0" smtClean="0">
              <a:solidFill>
                <a:prstClr val="white"/>
              </a:solidFill>
              <a:latin typeface="微软雅黑" panose="020B0503020204020204" pitchFamily="34" charset="-122"/>
              <a:ea typeface="微软雅黑" panose="020B0503020204020204" pitchFamily="34" charset="-122"/>
            </a:endParaRPr>
          </a:p>
          <a:p>
            <a:pPr indent="457200">
              <a:lnSpc>
                <a:spcPct val="150000"/>
              </a:lnSpc>
            </a:pPr>
            <a:endParaRPr lang="en-US" altLang="zh-CN" dirty="0" smtClean="0">
              <a:solidFill>
                <a:prstClr val="white"/>
              </a:solidFill>
              <a:latin typeface="微软雅黑" panose="020B0503020204020204" pitchFamily="34" charset="-122"/>
              <a:ea typeface="微软雅黑" panose="020B0503020204020204" pitchFamily="34" charset="-122"/>
            </a:endParaRPr>
          </a:p>
          <a:p>
            <a:pPr indent="457200">
              <a:lnSpc>
                <a:spcPct val="150000"/>
              </a:lnSpc>
            </a:pPr>
            <a:r>
              <a:rPr lang="zh-CN" altLang="en-US" dirty="0" smtClean="0">
                <a:solidFill>
                  <a:prstClr val="white"/>
                </a:solidFill>
                <a:latin typeface="微软雅黑" panose="020B0503020204020204" pitchFamily="34" charset="-122"/>
                <a:ea typeface="微软雅黑" panose="020B0503020204020204" pitchFamily="34" charset="-122"/>
              </a:rPr>
              <a:t>如图</a:t>
            </a:r>
            <a:r>
              <a:rPr lang="en-US" altLang="zh-CN" dirty="0" smtClean="0">
                <a:solidFill>
                  <a:schemeClr val="bg1"/>
                </a:solidFill>
                <a:latin typeface="微软雅黑" panose="020B0503020204020204" pitchFamily="34" charset="-122"/>
                <a:ea typeface="微软雅黑" panose="020B0503020204020204" pitchFamily="34" charset="-122"/>
              </a:rPr>
              <a:t>5.3.1-1</a:t>
            </a:r>
            <a:r>
              <a:rPr lang="zh-CN" altLang="en-US" dirty="0" smtClean="0">
                <a:solidFill>
                  <a:schemeClr val="bg1"/>
                </a:solidFill>
                <a:latin typeface="微软雅黑" panose="020B0503020204020204" pitchFamily="34" charset="-122"/>
                <a:ea typeface="微软雅黑" panose="020B0503020204020204" pitchFamily="34" charset="-122"/>
              </a:rPr>
              <a:t>，</a:t>
            </a:r>
            <a:r>
              <a:rPr lang="zh-CN" altLang="en-US" dirty="0">
                <a:solidFill>
                  <a:schemeClr val="bg1"/>
                </a:solidFill>
                <a:latin typeface="微软雅黑" panose="020B0503020204020204" pitchFamily="34" charset="-122"/>
                <a:ea typeface="微软雅黑" panose="020B0503020204020204" pitchFamily="34" charset="-122"/>
              </a:rPr>
              <a:t>展</a:t>
            </a:r>
            <a:r>
              <a:rPr lang="zh-CN" altLang="en-US" dirty="0" smtClean="0">
                <a:solidFill>
                  <a:schemeClr val="bg1"/>
                </a:solidFill>
                <a:latin typeface="微软雅黑" panose="020B0503020204020204" pitchFamily="34" charset="-122"/>
                <a:ea typeface="微软雅黑" panose="020B0503020204020204" pitchFamily="34" charset="-122"/>
              </a:rPr>
              <a:t>示了</a:t>
            </a:r>
            <a:r>
              <a:rPr lang="en-US" altLang="zh-CN" dirty="0" err="1" smtClean="0">
                <a:solidFill>
                  <a:schemeClr val="bg1"/>
                </a:solidFill>
                <a:latin typeface="微软雅黑" panose="020B0503020204020204" pitchFamily="34" charset="-122"/>
                <a:ea typeface="微软雅黑" panose="020B0503020204020204" pitchFamily="34" charset="-122"/>
              </a:rPr>
              <a:t>codis</a:t>
            </a:r>
            <a:r>
              <a:rPr lang="zh-CN" altLang="en-US" dirty="0" smtClean="0">
                <a:solidFill>
                  <a:schemeClr val="bg1"/>
                </a:solidFill>
                <a:latin typeface="微软雅黑" panose="020B0503020204020204" pitchFamily="34" charset="-122"/>
                <a:ea typeface="微软雅黑" panose="020B0503020204020204" pitchFamily="34" charset="-122"/>
              </a:rPr>
              <a:t>集群的基本架构</a:t>
            </a:r>
            <a:endParaRPr lang="en-US" altLang="zh-CN" dirty="0">
              <a:solidFill>
                <a:prstClr val="white"/>
              </a:solidFill>
              <a:latin typeface="微软雅黑" panose="020B0503020204020204" pitchFamily="34" charset="-122"/>
              <a:ea typeface="微软雅黑" panose="020B0503020204020204" pitchFamily="34" charset="-122"/>
            </a:endParaRPr>
          </a:p>
          <a:p>
            <a:pPr indent="457200">
              <a:lnSpc>
                <a:spcPct val="150000"/>
              </a:lnSpc>
            </a:pPr>
            <a:endParaRPr lang="zh-CN" altLang="en-US" dirty="0">
              <a:solidFill>
                <a:prstClr val="white"/>
              </a:solidFill>
              <a:latin typeface="微软雅黑" panose="020B0503020204020204" pitchFamily="34" charset="-122"/>
              <a:ea typeface="微软雅黑" panose="020B0503020204020204" pitchFamily="34" charset="-122"/>
            </a:endParaRPr>
          </a:p>
        </p:txBody>
      </p:sp>
      <p:sp>
        <p:nvSpPr>
          <p:cNvPr id="8" name="TextBox 9"/>
          <p:cNvSpPr txBox="1"/>
          <p:nvPr/>
        </p:nvSpPr>
        <p:spPr>
          <a:xfrm>
            <a:off x="714643" y="1121351"/>
            <a:ext cx="7689850" cy="523220"/>
          </a:xfrm>
          <a:prstGeom prst="rect">
            <a:avLst/>
          </a:prstGeom>
          <a:noFill/>
        </p:spPr>
        <p:txBody>
          <a:bodyPr wrap="square" rtlCol="0">
            <a:spAutoFit/>
          </a:bodyPr>
          <a:lstStyle/>
          <a:p>
            <a:pPr>
              <a:defRPr/>
            </a:pPr>
            <a:r>
              <a:rPr lang="en-US" altLang="zh-CN"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5.3.1 </a:t>
            </a:r>
            <a:r>
              <a:rPr lang="en-US" altLang="zh-CN" sz="2800" b="1" dirty="0" err="1">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codis</a:t>
            </a:r>
            <a:r>
              <a:rPr lang="zh-CN" altLang="en-US"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架构及出现历史原因</a:t>
            </a:r>
          </a:p>
        </p:txBody>
      </p:sp>
    </p:spTree>
    <p:extLst>
      <p:ext uri="{BB962C8B-B14F-4D97-AF65-F5344CB8AC3E}">
        <p14:creationId xmlns:p14="http://schemas.microsoft.com/office/powerpoint/2010/main" val="1825810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0A0F23"/>
        </a:solidFill>
        <a:effectLst/>
      </p:bgPr>
    </p:bg>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xmlns="" id="{CBDC52CD-1D62-48AF-A9DF-9F18AEA2B1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01385" y="-114300"/>
            <a:ext cx="1301859" cy="920356"/>
          </a:xfrm>
          <a:prstGeom prst="rect">
            <a:avLst/>
          </a:prstGeom>
        </p:spPr>
      </p:pic>
      <p:pic>
        <p:nvPicPr>
          <p:cNvPr id="14" name="图片 13">
            <a:extLst>
              <a:ext uri="{FF2B5EF4-FFF2-40B4-BE49-F238E27FC236}">
                <a16:creationId xmlns:a16="http://schemas.microsoft.com/office/drawing/2014/main" xmlns="" id="{F78DA958-9B1B-47DA-A870-8C0B3A7D8866}"/>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b="63537"/>
          <a:stretch/>
        </p:blipFill>
        <p:spPr>
          <a:xfrm>
            <a:off x="11184164" y="217733"/>
            <a:ext cx="572339" cy="337210"/>
          </a:xfrm>
          <a:prstGeom prst="rect">
            <a:avLst/>
          </a:prstGeom>
        </p:spPr>
      </p:pic>
      <p:cxnSp>
        <p:nvCxnSpPr>
          <p:cNvPr id="15" name="直接连接符 14">
            <a:extLst>
              <a:ext uri="{FF2B5EF4-FFF2-40B4-BE49-F238E27FC236}">
                <a16:creationId xmlns:a16="http://schemas.microsoft.com/office/drawing/2014/main" xmlns="" id="{93240A06-D526-4907-A163-94ABB41190CC}"/>
              </a:ext>
            </a:extLst>
          </p:cNvPr>
          <p:cNvCxnSpPr/>
          <p:nvPr/>
        </p:nvCxnSpPr>
        <p:spPr>
          <a:xfrm>
            <a:off x="11103244" y="225825"/>
            <a:ext cx="0" cy="2435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704850" y="605109"/>
            <a:ext cx="7689850" cy="523220"/>
          </a:xfrm>
          <a:prstGeom prst="rect">
            <a:avLst/>
          </a:prstGeom>
          <a:noFill/>
        </p:spPr>
        <p:txBody>
          <a:bodyPr wrap="square" rtlCol="0">
            <a:spAutoFit/>
          </a:bodyPr>
          <a:lstStyle/>
          <a:p>
            <a:pPr>
              <a:defRPr/>
            </a:pPr>
            <a:r>
              <a:rPr lang="en-US" altLang="zh-CN"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5.3.1 </a:t>
            </a:r>
            <a:r>
              <a:rPr lang="en-US" altLang="zh-CN" sz="2800" b="1" dirty="0" err="1">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codis</a:t>
            </a:r>
            <a:r>
              <a:rPr lang="zh-CN" altLang="en-US"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架构及出现历史原因</a:t>
            </a:r>
          </a:p>
        </p:txBody>
      </p:sp>
      <p:grpSp>
        <p:nvGrpSpPr>
          <p:cNvPr id="79" name="组合 78"/>
          <p:cNvGrpSpPr/>
          <p:nvPr/>
        </p:nvGrpSpPr>
        <p:grpSpPr>
          <a:xfrm>
            <a:off x="1104556" y="1348458"/>
            <a:ext cx="10100407" cy="5244652"/>
            <a:chOff x="1656096" y="1232346"/>
            <a:chExt cx="10100407" cy="5244652"/>
          </a:xfrm>
        </p:grpSpPr>
        <p:grpSp>
          <p:nvGrpSpPr>
            <p:cNvPr id="76" name="组合 75"/>
            <p:cNvGrpSpPr/>
            <p:nvPr/>
          </p:nvGrpSpPr>
          <p:grpSpPr>
            <a:xfrm>
              <a:off x="1656096" y="1232346"/>
              <a:ext cx="10100407" cy="5244652"/>
              <a:chOff x="1656096" y="1232346"/>
              <a:chExt cx="10100407" cy="5244652"/>
            </a:xfrm>
          </p:grpSpPr>
          <p:sp>
            <p:nvSpPr>
              <p:cNvPr id="3" name="圆角矩形 2"/>
              <p:cNvSpPr/>
              <p:nvPr/>
            </p:nvSpPr>
            <p:spPr>
              <a:xfrm>
                <a:off x="2090056" y="2786888"/>
                <a:ext cx="1611086" cy="583975"/>
              </a:xfrm>
              <a:prstGeom prst="roundRect">
                <a:avLst/>
              </a:prstGeom>
              <a:solidFill>
                <a:schemeClr val="accent5"/>
              </a:solidFill>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dirty="0" err="1" smtClean="0"/>
                  <a:t>codis</a:t>
                </a:r>
                <a:r>
                  <a:rPr lang="en-US" altLang="zh-CN" dirty="0" smtClean="0"/>
                  <a:t>-proxy</a:t>
                </a:r>
                <a:endParaRPr lang="zh-CN" altLang="en-US" dirty="0"/>
              </a:p>
            </p:txBody>
          </p:sp>
          <p:sp>
            <p:nvSpPr>
              <p:cNvPr id="12" name="圆角矩形 11"/>
              <p:cNvSpPr/>
              <p:nvPr/>
            </p:nvSpPr>
            <p:spPr>
              <a:xfrm>
                <a:off x="1656096" y="3998685"/>
                <a:ext cx="1611086" cy="457201"/>
              </a:xfrm>
              <a:prstGeom prst="roundRect">
                <a:avLst/>
              </a:prstGeom>
              <a:solidFill>
                <a:schemeClr val="accent4"/>
              </a:solidFill>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dirty="0" err="1" smtClean="0"/>
                  <a:t>codis</a:t>
                </a:r>
                <a:r>
                  <a:rPr lang="en-US" altLang="zh-CN" dirty="0" smtClean="0"/>
                  <a:t>-group</a:t>
                </a:r>
                <a:endParaRPr lang="zh-CN" altLang="en-US" dirty="0"/>
              </a:p>
            </p:txBody>
          </p:sp>
          <p:sp>
            <p:nvSpPr>
              <p:cNvPr id="16" name="圆角矩形 15"/>
              <p:cNvSpPr/>
              <p:nvPr/>
            </p:nvSpPr>
            <p:spPr>
              <a:xfrm>
                <a:off x="4125512" y="3998685"/>
                <a:ext cx="1611086" cy="457201"/>
              </a:xfrm>
              <a:prstGeom prst="roundRect">
                <a:avLst/>
              </a:prstGeom>
              <a:solidFill>
                <a:schemeClr val="accent4"/>
              </a:solidFill>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dirty="0" err="1" smtClean="0"/>
                  <a:t>codis</a:t>
                </a:r>
                <a:r>
                  <a:rPr lang="en-US" altLang="zh-CN" dirty="0" smtClean="0"/>
                  <a:t>-group</a:t>
                </a:r>
                <a:endParaRPr lang="zh-CN" altLang="en-US" dirty="0"/>
              </a:p>
            </p:txBody>
          </p:sp>
          <p:sp>
            <p:nvSpPr>
              <p:cNvPr id="17" name="圆角矩形 16"/>
              <p:cNvSpPr/>
              <p:nvPr/>
            </p:nvSpPr>
            <p:spPr>
              <a:xfrm>
                <a:off x="6594928" y="3998685"/>
                <a:ext cx="1611086" cy="457201"/>
              </a:xfrm>
              <a:prstGeom prst="roundRect">
                <a:avLst/>
              </a:prstGeom>
              <a:solidFill>
                <a:schemeClr val="accent4"/>
              </a:solidFill>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dirty="0" err="1" smtClean="0"/>
                  <a:t>codis</a:t>
                </a:r>
                <a:r>
                  <a:rPr lang="en-US" altLang="zh-CN" dirty="0" smtClean="0"/>
                  <a:t>-group</a:t>
                </a:r>
                <a:endParaRPr lang="zh-CN" altLang="en-US" dirty="0"/>
              </a:p>
            </p:txBody>
          </p:sp>
          <p:grpSp>
            <p:nvGrpSpPr>
              <p:cNvPr id="6" name="组合 5"/>
              <p:cNvGrpSpPr/>
              <p:nvPr/>
            </p:nvGrpSpPr>
            <p:grpSpPr>
              <a:xfrm>
                <a:off x="8972172" y="4561114"/>
                <a:ext cx="2784331" cy="1915884"/>
                <a:chOff x="8665029" y="4876800"/>
                <a:chExt cx="2784331" cy="1915884"/>
              </a:xfrm>
            </p:grpSpPr>
            <p:sp>
              <p:nvSpPr>
                <p:cNvPr id="4" name="矩形 3"/>
                <p:cNvSpPr/>
                <p:nvPr/>
              </p:nvSpPr>
              <p:spPr>
                <a:xfrm>
                  <a:off x="8665029" y="4876800"/>
                  <a:ext cx="2590245" cy="1915884"/>
                </a:xfrm>
                <a:prstGeom prst="rect">
                  <a:avLst/>
                </a:prstGeom>
                <a:solidFill>
                  <a:schemeClr val="bg2">
                    <a:lumMod val="50000"/>
                  </a:schemeClr>
                </a:solidFill>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圆角矩形 17"/>
                <p:cNvSpPr/>
                <p:nvPr/>
              </p:nvSpPr>
              <p:spPr>
                <a:xfrm>
                  <a:off x="8824502" y="5036457"/>
                  <a:ext cx="1669327" cy="478972"/>
                </a:xfrm>
                <a:prstGeom prst="roundRect">
                  <a:avLst/>
                </a:prstGeom>
                <a:solidFill>
                  <a:schemeClr val="accent6">
                    <a:lumMod val="75000"/>
                  </a:schemeClr>
                </a:solidFill>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dirty="0" smtClean="0"/>
                    <a:t>codis-server:0</a:t>
                  </a:r>
                  <a:endParaRPr lang="zh-CN" altLang="en-US" dirty="0"/>
                </a:p>
              </p:txBody>
            </p:sp>
            <p:sp>
              <p:nvSpPr>
                <p:cNvPr id="20" name="圆角矩形 19"/>
                <p:cNvSpPr/>
                <p:nvPr/>
              </p:nvSpPr>
              <p:spPr>
                <a:xfrm>
                  <a:off x="8824502" y="5622903"/>
                  <a:ext cx="1669327" cy="478972"/>
                </a:xfrm>
                <a:prstGeom prst="roundRect">
                  <a:avLst/>
                </a:prstGeom>
                <a:solidFill>
                  <a:schemeClr val="accent6">
                    <a:lumMod val="75000"/>
                  </a:schemeClr>
                </a:solidFill>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dirty="0" smtClean="0"/>
                    <a:t>codis-server:1</a:t>
                  </a:r>
                  <a:endParaRPr lang="zh-CN" altLang="en-US" dirty="0"/>
                </a:p>
              </p:txBody>
            </p:sp>
            <p:sp>
              <p:nvSpPr>
                <p:cNvPr id="21" name="圆角矩形 20"/>
                <p:cNvSpPr/>
                <p:nvPr/>
              </p:nvSpPr>
              <p:spPr>
                <a:xfrm>
                  <a:off x="8824502" y="6209349"/>
                  <a:ext cx="1669327" cy="478972"/>
                </a:xfrm>
                <a:prstGeom prst="roundRect">
                  <a:avLst/>
                </a:prstGeom>
                <a:solidFill>
                  <a:schemeClr val="accent6">
                    <a:lumMod val="75000"/>
                  </a:schemeClr>
                </a:solidFill>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dirty="0" smtClean="0"/>
                    <a:t>codis-server:2</a:t>
                  </a:r>
                  <a:endParaRPr lang="zh-CN" altLang="en-US" dirty="0"/>
                </a:p>
              </p:txBody>
            </p:sp>
            <p:sp>
              <p:nvSpPr>
                <p:cNvPr id="5" name="文本框 4"/>
                <p:cNvSpPr txBox="1"/>
                <p:nvPr/>
              </p:nvSpPr>
              <p:spPr>
                <a:xfrm>
                  <a:off x="10536044" y="5122054"/>
                  <a:ext cx="910368" cy="307777"/>
                </a:xfrm>
                <a:prstGeom prst="rect">
                  <a:avLst/>
                </a:prstGeom>
                <a:noFill/>
              </p:spPr>
              <p:txBody>
                <a:bodyPr wrap="square" rtlCol="0">
                  <a:spAutoFit/>
                </a:bodyPr>
                <a:lstStyle/>
                <a:p>
                  <a:pPr algn="l"/>
                  <a:r>
                    <a:rPr lang="en-US" altLang="zh-CN" sz="1400" dirty="0" smtClean="0">
                      <a:latin typeface="微软雅黑" panose="020B0503020204020204" pitchFamily="34" charset="-122"/>
                      <a:ea typeface="微软雅黑" panose="020B0503020204020204" pitchFamily="34" charset="-122"/>
                    </a:rPr>
                    <a:t>master</a:t>
                  </a:r>
                  <a:endParaRPr lang="zh-CN" altLang="en-US" sz="1400" dirty="0" smtClean="0">
                    <a:latin typeface="微软雅黑" panose="020B0503020204020204" pitchFamily="34" charset="-122"/>
                    <a:ea typeface="微软雅黑" panose="020B0503020204020204" pitchFamily="34" charset="-122"/>
                  </a:endParaRPr>
                </a:p>
              </p:txBody>
            </p:sp>
            <p:sp>
              <p:nvSpPr>
                <p:cNvPr id="22" name="文本框 21"/>
                <p:cNvSpPr txBox="1"/>
                <p:nvPr/>
              </p:nvSpPr>
              <p:spPr>
                <a:xfrm>
                  <a:off x="10538992" y="5708500"/>
                  <a:ext cx="910368" cy="307777"/>
                </a:xfrm>
                <a:prstGeom prst="rect">
                  <a:avLst/>
                </a:prstGeom>
                <a:noFill/>
              </p:spPr>
              <p:txBody>
                <a:bodyPr wrap="square" rtlCol="0">
                  <a:spAutoFit/>
                </a:bodyPr>
                <a:lstStyle/>
                <a:p>
                  <a:pPr algn="l"/>
                  <a:r>
                    <a:rPr lang="en-US" altLang="zh-CN" sz="1400" dirty="0" smtClean="0">
                      <a:latin typeface="微软雅黑" panose="020B0503020204020204" pitchFamily="34" charset="-122"/>
                      <a:ea typeface="微软雅黑" panose="020B0503020204020204" pitchFamily="34" charset="-122"/>
                    </a:rPr>
                    <a:t>slave</a:t>
                  </a:r>
                  <a:endParaRPr lang="zh-CN" altLang="en-US" sz="1400" dirty="0" smtClean="0">
                    <a:latin typeface="微软雅黑" panose="020B0503020204020204" pitchFamily="34" charset="-122"/>
                    <a:ea typeface="微软雅黑" panose="020B0503020204020204" pitchFamily="34" charset="-122"/>
                  </a:endParaRPr>
                </a:p>
              </p:txBody>
            </p:sp>
            <p:sp>
              <p:nvSpPr>
                <p:cNvPr id="23" name="文本框 22"/>
                <p:cNvSpPr txBox="1"/>
                <p:nvPr/>
              </p:nvSpPr>
              <p:spPr>
                <a:xfrm>
                  <a:off x="10536044" y="6294946"/>
                  <a:ext cx="910368" cy="307777"/>
                </a:xfrm>
                <a:prstGeom prst="rect">
                  <a:avLst/>
                </a:prstGeom>
                <a:noFill/>
              </p:spPr>
              <p:txBody>
                <a:bodyPr wrap="square" rtlCol="0">
                  <a:spAutoFit/>
                </a:bodyPr>
                <a:lstStyle/>
                <a:p>
                  <a:pPr algn="l"/>
                  <a:r>
                    <a:rPr lang="en-US" altLang="zh-CN" sz="1400" dirty="0" smtClean="0">
                      <a:latin typeface="微软雅黑" panose="020B0503020204020204" pitchFamily="34" charset="-122"/>
                      <a:ea typeface="微软雅黑" panose="020B0503020204020204" pitchFamily="34" charset="-122"/>
                    </a:rPr>
                    <a:t>slave</a:t>
                  </a:r>
                  <a:endParaRPr lang="zh-CN" altLang="en-US" sz="1400" dirty="0" smtClean="0">
                    <a:latin typeface="微软雅黑" panose="020B0503020204020204" pitchFamily="34" charset="-122"/>
                    <a:ea typeface="微软雅黑" panose="020B0503020204020204" pitchFamily="34" charset="-122"/>
                  </a:endParaRPr>
                </a:p>
              </p:txBody>
            </p:sp>
          </p:grpSp>
          <p:sp>
            <p:nvSpPr>
              <p:cNvPr id="24" name="圆角矩形 23"/>
              <p:cNvSpPr/>
              <p:nvPr/>
            </p:nvSpPr>
            <p:spPr>
              <a:xfrm>
                <a:off x="4238496" y="2780676"/>
                <a:ext cx="1611086" cy="583975"/>
              </a:xfrm>
              <a:prstGeom prst="roundRect">
                <a:avLst/>
              </a:prstGeom>
              <a:solidFill>
                <a:schemeClr val="accent5"/>
              </a:solidFill>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dirty="0" err="1" smtClean="0"/>
                  <a:t>codis</a:t>
                </a:r>
                <a:r>
                  <a:rPr lang="en-US" altLang="zh-CN" dirty="0" smtClean="0"/>
                  <a:t>-proxy</a:t>
                </a:r>
                <a:endParaRPr lang="zh-CN" altLang="en-US" dirty="0"/>
              </a:p>
            </p:txBody>
          </p:sp>
          <p:sp>
            <p:nvSpPr>
              <p:cNvPr id="25" name="圆角矩形 24"/>
              <p:cNvSpPr/>
              <p:nvPr/>
            </p:nvSpPr>
            <p:spPr>
              <a:xfrm>
                <a:off x="6386936" y="2780675"/>
                <a:ext cx="1611086" cy="583975"/>
              </a:xfrm>
              <a:prstGeom prst="roundRect">
                <a:avLst/>
              </a:prstGeom>
              <a:solidFill>
                <a:schemeClr val="accent5"/>
              </a:solidFill>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dirty="0" err="1" smtClean="0"/>
                  <a:t>codis</a:t>
                </a:r>
                <a:r>
                  <a:rPr lang="en-US" altLang="zh-CN" dirty="0" smtClean="0"/>
                  <a:t>-proxy</a:t>
                </a:r>
                <a:endParaRPr lang="zh-CN" altLang="en-US" dirty="0"/>
              </a:p>
            </p:txBody>
          </p:sp>
          <p:sp>
            <p:nvSpPr>
              <p:cNvPr id="7" name="云形标注 6"/>
              <p:cNvSpPr/>
              <p:nvPr/>
            </p:nvSpPr>
            <p:spPr>
              <a:xfrm>
                <a:off x="8857956" y="1232346"/>
                <a:ext cx="1886857" cy="807838"/>
              </a:xfrm>
              <a:prstGeom prst="cloudCallout">
                <a:avLst/>
              </a:prstGeom>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dirty="0" smtClean="0">
                    <a:solidFill>
                      <a:schemeClr val="bg1"/>
                    </a:solidFill>
                  </a:rPr>
                  <a:t>zookeeper</a:t>
                </a:r>
                <a:endParaRPr lang="zh-CN" altLang="en-US" dirty="0">
                  <a:solidFill>
                    <a:schemeClr val="bg1"/>
                  </a:solidFill>
                </a:endParaRPr>
              </a:p>
            </p:txBody>
          </p:sp>
          <p:sp>
            <p:nvSpPr>
              <p:cNvPr id="26" name="云形标注 25"/>
              <p:cNvSpPr/>
              <p:nvPr/>
            </p:nvSpPr>
            <p:spPr>
              <a:xfrm>
                <a:off x="9131645" y="2492811"/>
                <a:ext cx="2430772" cy="807838"/>
              </a:xfrm>
              <a:prstGeom prst="cloudCallout">
                <a:avLst/>
              </a:prstGeom>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dirty="0" err="1" smtClean="0">
                    <a:solidFill>
                      <a:schemeClr val="bg1"/>
                    </a:solidFill>
                  </a:rPr>
                  <a:t>redis</a:t>
                </a:r>
                <a:r>
                  <a:rPr lang="en-US" altLang="zh-CN" dirty="0" smtClean="0">
                    <a:solidFill>
                      <a:schemeClr val="bg1"/>
                    </a:solidFill>
                  </a:rPr>
                  <a:t>-sentinel</a:t>
                </a:r>
                <a:endParaRPr lang="zh-CN" altLang="en-US" dirty="0">
                  <a:solidFill>
                    <a:schemeClr val="bg1"/>
                  </a:solidFill>
                </a:endParaRPr>
              </a:p>
            </p:txBody>
          </p:sp>
          <p:sp>
            <p:nvSpPr>
              <p:cNvPr id="27" name="圆角矩形 26"/>
              <p:cNvSpPr/>
              <p:nvPr/>
            </p:nvSpPr>
            <p:spPr>
              <a:xfrm>
                <a:off x="4549775" y="1553028"/>
                <a:ext cx="2045153" cy="583975"/>
              </a:xfrm>
              <a:prstGeom prst="roundRect">
                <a:avLst/>
              </a:prstGeom>
              <a:solidFill>
                <a:schemeClr val="accent2">
                  <a:lumMod val="75000"/>
                </a:schemeClr>
              </a:solidFill>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dirty="0" err="1" smtClean="0"/>
                  <a:t>codis</a:t>
                </a:r>
                <a:r>
                  <a:rPr lang="en-US" altLang="zh-CN" dirty="0" smtClean="0"/>
                  <a:t>-dashboard</a:t>
                </a:r>
                <a:endParaRPr lang="zh-CN" altLang="en-US" dirty="0"/>
              </a:p>
            </p:txBody>
          </p:sp>
          <p:sp>
            <p:nvSpPr>
              <p:cNvPr id="28" name="矩形 27"/>
              <p:cNvSpPr/>
              <p:nvPr/>
            </p:nvSpPr>
            <p:spPr>
              <a:xfrm>
                <a:off x="1959429" y="1335314"/>
                <a:ext cx="1001485" cy="435429"/>
              </a:xfrm>
              <a:prstGeom prst="rect">
                <a:avLst/>
              </a:prstGeom>
              <a:solidFill>
                <a:srgbClr val="00B050"/>
              </a:solidFill>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dirty="0" smtClean="0"/>
                  <a:t>client</a:t>
                </a:r>
                <a:endParaRPr lang="zh-CN" altLang="en-US" dirty="0"/>
              </a:p>
            </p:txBody>
          </p:sp>
          <p:cxnSp>
            <p:nvCxnSpPr>
              <p:cNvPr id="30" name="直接箭头连接符 29"/>
              <p:cNvCxnSpPr>
                <a:stCxn id="28" idx="2"/>
                <a:endCxn id="3" idx="0"/>
              </p:cNvCxnSpPr>
              <p:nvPr/>
            </p:nvCxnSpPr>
            <p:spPr>
              <a:xfrm>
                <a:off x="2460172" y="1770743"/>
                <a:ext cx="435427" cy="1016145"/>
              </a:xfrm>
              <a:prstGeom prst="straightConnector1">
                <a:avLst/>
              </a:prstGeom>
              <a:ln w="25400" cmpd="sng">
                <a:solidFill>
                  <a:srgbClr val="FFC000"/>
                </a:solidFill>
                <a:prstDash val="solid"/>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a:stCxn id="3" idx="2"/>
                <a:endCxn id="12" idx="0"/>
              </p:cNvCxnSpPr>
              <p:nvPr/>
            </p:nvCxnSpPr>
            <p:spPr>
              <a:xfrm flipH="1">
                <a:off x="2461639" y="3370863"/>
                <a:ext cx="433960" cy="627822"/>
              </a:xfrm>
              <a:prstGeom prst="straightConnector1">
                <a:avLst/>
              </a:prstGeom>
              <a:ln w="25400" cmpd="sng">
                <a:solidFill>
                  <a:srgbClr val="FFC000"/>
                </a:solidFill>
                <a:prstDash val="solid"/>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4" name="直接箭头连接符 33"/>
              <p:cNvCxnSpPr>
                <a:stCxn id="3" idx="2"/>
                <a:endCxn id="16" idx="0"/>
              </p:cNvCxnSpPr>
              <p:nvPr/>
            </p:nvCxnSpPr>
            <p:spPr>
              <a:xfrm>
                <a:off x="2895599" y="3370863"/>
                <a:ext cx="2035456" cy="627822"/>
              </a:xfrm>
              <a:prstGeom prst="straightConnector1">
                <a:avLst/>
              </a:prstGeom>
              <a:ln w="25400" cmpd="sng">
                <a:solidFill>
                  <a:srgbClr val="FFC000"/>
                </a:solidFill>
                <a:prstDash val="solid"/>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a:stCxn id="3" idx="2"/>
                <a:endCxn id="17" idx="0"/>
              </p:cNvCxnSpPr>
              <p:nvPr/>
            </p:nvCxnSpPr>
            <p:spPr>
              <a:xfrm>
                <a:off x="2895599" y="3370863"/>
                <a:ext cx="4504872" cy="627822"/>
              </a:xfrm>
              <a:prstGeom prst="straightConnector1">
                <a:avLst/>
              </a:prstGeom>
              <a:ln w="25400" cmpd="sng">
                <a:solidFill>
                  <a:srgbClr val="FFC000"/>
                </a:solidFill>
                <a:prstDash val="solid"/>
                <a:headEnd type="none"/>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a:stCxn id="24" idx="2"/>
                <a:endCxn id="16" idx="0"/>
              </p:cNvCxnSpPr>
              <p:nvPr/>
            </p:nvCxnSpPr>
            <p:spPr>
              <a:xfrm flipH="1">
                <a:off x="4931055" y="3364651"/>
                <a:ext cx="112984" cy="634034"/>
              </a:xfrm>
              <a:prstGeom prst="straightConnector1">
                <a:avLst/>
              </a:prstGeom>
              <a:ln w="25400" cmpd="sng">
                <a:solidFill>
                  <a:srgbClr val="FFC000"/>
                </a:solidFill>
                <a:prstDash val="solid"/>
                <a:headEnd type="none"/>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a:stCxn id="24" idx="2"/>
                <a:endCxn id="17" idx="0"/>
              </p:cNvCxnSpPr>
              <p:nvPr/>
            </p:nvCxnSpPr>
            <p:spPr>
              <a:xfrm>
                <a:off x="5044039" y="3364651"/>
                <a:ext cx="2356432" cy="634034"/>
              </a:xfrm>
              <a:prstGeom prst="straightConnector1">
                <a:avLst/>
              </a:prstGeom>
              <a:ln w="25400" cmpd="sng">
                <a:solidFill>
                  <a:srgbClr val="FFC000"/>
                </a:solidFill>
                <a:prstDash val="solid"/>
                <a:headEnd type="none"/>
                <a:tailEnd type="triangle"/>
              </a:ln>
            </p:spPr>
            <p:style>
              <a:lnRef idx="1">
                <a:schemeClr val="accent1"/>
              </a:lnRef>
              <a:fillRef idx="0">
                <a:schemeClr val="accent1"/>
              </a:fillRef>
              <a:effectRef idx="0">
                <a:schemeClr val="accent1"/>
              </a:effectRef>
              <a:fontRef idx="minor">
                <a:schemeClr val="tx1"/>
              </a:fontRef>
            </p:style>
          </p:cxnSp>
          <p:cxnSp>
            <p:nvCxnSpPr>
              <p:cNvPr id="44" name="直接箭头连接符 43"/>
              <p:cNvCxnSpPr>
                <a:stCxn id="24" idx="2"/>
                <a:endCxn id="12" idx="0"/>
              </p:cNvCxnSpPr>
              <p:nvPr/>
            </p:nvCxnSpPr>
            <p:spPr>
              <a:xfrm flipH="1">
                <a:off x="2461639" y="3364651"/>
                <a:ext cx="2582400" cy="634034"/>
              </a:xfrm>
              <a:prstGeom prst="straightConnector1">
                <a:avLst/>
              </a:prstGeom>
              <a:ln w="25400" cmpd="sng">
                <a:solidFill>
                  <a:srgbClr val="FFC000"/>
                </a:solidFill>
                <a:prstDash val="solid"/>
                <a:headEnd type="none"/>
                <a:tailEnd type="triangle"/>
              </a:ln>
            </p:spPr>
            <p:style>
              <a:lnRef idx="1">
                <a:schemeClr val="accent1"/>
              </a:lnRef>
              <a:fillRef idx="0">
                <a:schemeClr val="accent1"/>
              </a:fillRef>
              <a:effectRef idx="0">
                <a:schemeClr val="accent1"/>
              </a:effectRef>
              <a:fontRef idx="minor">
                <a:schemeClr val="tx1"/>
              </a:fontRef>
            </p:style>
          </p:cxnSp>
          <p:cxnSp>
            <p:nvCxnSpPr>
              <p:cNvPr id="46" name="直接箭头连接符 45"/>
              <p:cNvCxnSpPr>
                <a:stCxn id="25" idx="2"/>
                <a:endCxn id="16" idx="0"/>
              </p:cNvCxnSpPr>
              <p:nvPr/>
            </p:nvCxnSpPr>
            <p:spPr>
              <a:xfrm flipH="1">
                <a:off x="4931055" y="3364650"/>
                <a:ext cx="2261424" cy="634035"/>
              </a:xfrm>
              <a:prstGeom prst="straightConnector1">
                <a:avLst/>
              </a:prstGeom>
              <a:ln w="25400" cmpd="sng">
                <a:solidFill>
                  <a:srgbClr val="FFC000"/>
                </a:solidFill>
                <a:prstDash val="solid"/>
                <a:headEnd type="none"/>
                <a:tailEnd type="triangle"/>
              </a:ln>
            </p:spPr>
            <p:style>
              <a:lnRef idx="1">
                <a:schemeClr val="accent1"/>
              </a:lnRef>
              <a:fillRef idx="0">
                <a:schemeClr val="accent1"/>
              </a:fillRef>
              <a:effectRef idx="0">
                <a:schemeClr val="accent1"/>
              </a:effectRef>
              <a:fontRef idx="minor">
                <a:schemeClr val="tx1"/>
              </a:fontRef>
            </p:style>
          </p:cxnSp>
          <p:cxnSp>
            <p:nvCxnSpPr>
              <p:cNvPr id="48" name="直接箭头连接符 47"/>
              <p:cNvCxnSpPr>
                <a:stCxn id="25" idx="2"/>
                <a:endCxn id="17" idx="0"/>
              </p:cNvCxnSpPr>
              <p:nvPr/>
            </p:nvCxnSpPr>
            <p:spPr>
              <a:xfrm>
                <a:off x="7192479" y="3364650"/>
                <a:ext cx="207992" cy="634035"/>
              </a:xfrm>
              <a:prstGeom prst="straightConnector1">
                <a:avLst/>
              </a:prstGeom>
              <a:ln w="25400" cmpd="sng">
                <a:solidFill>
                  <a:srgbClr val="FFC000"/>
                </a:solidFill>
                <a:prstDash val="solid"/>
                <a:headEnd type="none"/>
                <a:tailEnd type="triangle"/>
              </a:ln>
            </p:spPr>
            <p:style>
              <a:lnRef idx="1">
                <a:schemeClr val="accent1"/>
              </a:lnRef>
              <a:fillRef idx="0">
                <a:schemeClr val="accent1"/>
              </a:fillRef>
              <a:effectRef idx="0">
                <a:schemeClr val="accent1"/>
              </a:effectRef>
              <a:fontRef idx="minor">
                <a:schemeClr val="tx1"/>
              </a:fontRef>
            </p:style>
          </p:cxnSp>
          <p:cxnSp>
            <p:nvCxnSpPr>
              <p:cNvPr id="50" name="直接箭头连接符 49"/>
              <p:cNvCxnSpPr>
                <a:stCxn id="25" idx="2"/>
              </p:cNvCxnSpPr>
              <p:nvPr/>
            </p:nvCxnSpPr>
            <p:spPr>
              <a:xfrm flipH="1">
                <a:off x="2574623" y="3364650"/>
                <a:ext cx="4617856" cy="634035"/>
              </a:xfrm>
              <a:prstGeom prst="straightConnector1">
                <a:avLst/>
              </a:prstGeom>
              <a:ln w="25400" cmpd="sng">
                <a:solidFill>
                  <a:srgbClr val="FFC000"/>
                </a:solidFill>
                <a:prstDash val="solid"/>
                <a:headEnd type="none"/>
                <a:tailEnd type="triangle"/>
              </a:ln>
            </p:spPr>
            <p:style>
              <a:lnRef idx="1">
                <a:schemeClr val="accent1"/>
              </a:lnRef>
              <a:fillRef idx="0">
                <a:schemeClr val="accent1"/>
              </a:fillRef>
              <a:effectRef idx="0">
                <a:schemeClr val="accent1"/>
              </a:effectRef>
              <a:fontRef idx="minor">
                <a:schemeClr val="tx1"/>
              </a:fontRef>
            </p:style>
          </p:cxnSp>
          <p:cxnSp>
            <p:nvCxnSpPr>
              <p:cNvPr id="52" name="直接箭头连接符 51"/>
              <p:cNvCxnSpPr>
                <a:stCxn id="27" idx="2"/>
                <a:endCxn id="3" idx="0"/>
              </p:cNvCxnSpPr>
              <p:nvPr/>
            </p:nvCxnSpPr>
            <p:spPr>
              <a:xfrm flipH="1">
                <a:off x="2895599" y="2137003"/>
                <a:ext cx="2676753" cy="649885"/>
              </a:xfrm>
              <a:prstGeom prst="straightConnector1">
                <a:avLst/>
              </a:prstGeom>
              <a:ln w="25400" cmpd="sng">
                <a:solidFill>
                  <a:schemeClr val="accent1"/>
                </a:solidFill>
                <a:prstDash val="solid"/>
                <a:headEnd type="none"/>
                <a:tailEnd type="triangle"/>
              </a:ln>
            </p:spPr>
            <p:style>
              <a:lnRef idx="1">
                <a:schemeClr val="accent1"/>
              </a:lnRef>
              <a:fillRef idx="0">
                <a:schemeClr val="accent1"/>
              </a:fillRef>
              <a:effectRef idx="0">
                <a:schemeClr val="accent1"/>
              </a:effectRef>
              <a:fontRef idx="minor">
                <a:schemeClr val="tx1"/>
              </a:fontRef>
            </p:style>
          </p:cxnSp>
          <p:cxnSp>
            <p:nvCxnSpPr>
              <p:cNvPr id="55" name="直接箭头连接符 54"/>
              <p:cNvCxnSpPr>
                <a:stCxn id="27" idx="2"/>
                <a:endCxn id="24" idx="0"/>
              </p:cNvCxnSpPr>
              <p:nvPr/>
            </p:nvCxnSpPr>
            <p:spPr>
              <a:xfrm flipH="1">
                <a:off x="5044039" y="2137003"/>
                <a:ext cx="528313" cy="643673"/>
              </a:xfrm>
              <a:prstGeom prst="straightConnector1">
                <a:avLst/>
              </a:prstGeom>
              <a:ln w="25400" cmpd="sng">
                <a:solidFill>
                  <a:schemeClr val="accent1"/>
                </a:solidFill>
                <a:prstDash val="solid"/>
                <a:headEnd type="none"/>
                <a:tailEnd type="triangle"/>
              </a:ln>
            </p:spPr>
            <p:style>
              <a:lnRef idx="1">
                <a:schemeClr val="accent1"/>
              </a:lnRef>
              <a:fillRef idx="0">
                <a:schemeClr val="accent1"/>
              </a:fillRef>
              <a:effectRef idx="0">
                <a:schemeClr val="accent1"/>
              </a:effectRef>
              <a:fontRef idx="minor">
                <a:schemeClr val="tx1"/>
              </a:fontRef>
            </p:style>
          </p:cxnSp>
          <p:cxnSp>
            <p:nvCxnSpPr>
              <p:cNvPr id="57" name="直接箭头连接符 56"/>
              <p:cNvCxnSpPr>
                <a:stCxn id="27" idx="2"/>
                <a:endCxn id="25" idx="0"/>
              </p:cNvCxnSpPr>
              <p:nvPr/>
            </p:nvCxnSpPr>
            <p:spPr>
              <a:xfrm>
                <a:off x="5572352" y="2137003"/>
                <a:ext cx="1620127" cy="643672"/>
              </a:xfrm>
              <a:prstGeom prst="straightConnector1">
                <a:avLst/>
              </a:prstGeom>
              <a:ln w="25400" cmpd="sng">
                <a:solidFill>
                  <a:schemeClr val="accent1"/>
                </a:solidFill>
                <a:prstDash val="solid"/>
                <a:headEnd type="none"/>
                <a:tailEnd type="triangle"/>
              </a:ln>
            </p:spPr>
            <p:style>
              <a:lnRef idx="1">
                <a:schemeClr val="accent1"/>
              </a:lnRef>
              <a:fillRef idx="0">
                <a:schemeClr val="accent1"/>
              </a:fillRef>
              <a:effectRef idx="0">
                <a:schemeClr val="accent1"/>
              </a:effectRef>
              <a:fontRef idx="minor">
                <a:schemeClr val="tx1"/>
              </a:fontRef>
            </p:style>
          </p:cxnSp>
          <p:sp>
            <p:nvSpPr>
              <p:cNvPr id="58" name="文本框 57"/>
              <p:cNvSpPr txBox="1"/>
              <p:nvPr/>
            </p:nvSpPr>
            <p:spPr>
              <a:xfrm>
                <a:off x="4378337" y="2304022"/>
                <a:ext cx="2045153" cy="369332"/>
              </a:xfrm>
              <a:prstGeom prst="rect">
                <a:avLst/>
              </a:prstGeom>
              <a:noFill/>
            </p:spPr>
            <p:txBody>
              <a:bodyPr wrap="square" rtlCol="0">
                <a:spAutoFit/>
              </a:bodyPr>
              <a:lstStyle/>
              <a:p>
                <a:pPr algn="ctr"/>
                <a:r>
                  <a:rPr lang="en-US" altLang="zh-CN" i="1" dirty="0" smtClean="0">
                    <a:solidFill>
                      <a:schemeClr val="accent2"/>
                    </a:solidFill>
                    <a:latin typeface="微软雅黑" panose="020B0503020204020204" pitchFamily="34" charset="-122"/>
                    <a:ea typeface="微软雅黑" panose="020B0503020204020204" pitchFamily="34" charset="-122"/>
                  </a:rPr>
                  <a:t>RESTful API</a:t>
                </a:r>
                <a:endParaRPr lang="zh-CN" altLang="en-US" i="1" dirty="0" smtClean="0">
                  <a:solidFill>
                    <a:schemeClr val="accent2"/>
                  </a:solidFill>
                  <a:latin typeface="微软雅黑" panose="020B0503020204020204" pitchFamily="34" charset="-122"/>
                  <a:ea typeface="微软雅黑" panose="020B0503020204020204" pitchFamily="34" charset="-122"/>
                </a:endParaRPr>
              </a:p>
            </p:txBody>
          </p:sp>
          <p:cxnSp>
            <p:nvCxnSpPr>
              <p:cNvPr id="60" name="曲线连接符 59"/>
              <p:cNvCxnSpPr>
                <a:stCxn id="25" idx="0"/>
                <a:endCxn id="7" idx="0"/>
              </p:cNvCxnSpPr>
              <p:nvPr/>
            </p:nvCxnSpPr>
            <p:spPr>
              <a:xfrm rot="5400000" flipH="1" flipV="1">
                <a:off x="7455939" y="1372805"/>
                <a:ext cx="1144410" cy="1671330"/>
              </a:xfrm>
              <a:prstGeom prst="curvedConnector2">
                <a:avLst/>
              </a:prstGeom>
              <a:ln w="25400" cmpd="sng">
                <a:solidFill>
                  <a:srgbClr val="C00000"/>
                </a:solidFill>
                <a:prstDash val="sysDash"/>
                <a:headEnd type="none"/>
                <a:tailEnd type="triangle"/>
              </a:ln>
            </p:spPr>
            <p:style>
              <a:lnRef idx="1">
                <a:schemeClr val="accent1"/>
              </a:lnRef>
              <a:fillRef idx="0">
                <a:schemeClr val="accent1"/>
              </a:fillRef>
              <a:effectRef idx="0">
                <a:schemeClr val="accent1"/>
              </a:effectRef>
              <a:fontRef idx="minor">
                <a:schemeClr val="tx1"/>
              </a:fontRef>
            </p:style>
          </p:cxnSp>
          <p:cxnSp>
            <p:nvCxnSpPr>
              <p:cNvPr id="62" name="直接箭头连接符 61"/>
              <p:cNvCxnSpPr>
                <a:stCxn id="27" idx="3"/>
                <a:endCxn id="26" idx="3"/>
              </p:cNvCxnSpPr>
              <p:nvPr/>
            </p:nvCxnSpPr>
            <p:spPr>
              <a:xfrm>
                <a:off x="6594928" y="1845016"/>
                <a:ext cx="3752103" cy="693984"/>
              </a:xfrm>
              <a:prstGeom prst="straightConnector1">
                <a:avLst/>
              </a:prstGeom>
              <a:ln w="25400" cmpd="sng">
                <a:solidFill>
                  <a:srgbClr val="00B0F0"/>
                </a:solidFill>
                <a:prstDash val="solid"/>
                <a:headEnd type="none"/>
                <a:tailEnd type="triangle"/>
              </a:ln>
            </p:spPr>
            <p:style>
              <a:lnRef idx="1">
                <a:schemeClr val="accent1"/>
              </a:lnRef>
              <a:fillRef idx="0">
                <a:schemeClr val="accent1"/>
              </a:fillRef>
              <a:effectRef idx="0">
                <a:schemeClr val="accent1"/>
              </a:effectRef>
              <a:fontRef idx="minor">
                <a:schemeClr val="tx1"/>
              </a:fontRef>
            </p:style>
          </p:cxnSp>
          <p:cxnSp>
            <p:nvCxnSpPr>
              <p:cNvPr id="64" name="直接箭头连接符 63"/>
              <p:cNvCxnSpPr>
                <a:stCxn id="26" idx="1"/>
                <a:endCxn id="4" idx="0"/>
              </p:cNvCxnSpPr>
              <p:nvPr/>
            </p:nvCxnSpPr>
            <p:spPr>
              <a:xfrm flipH="1">
                <a:off x="10267295" y="3299789"/>
                <a:ext cx="79736" cy="1261325"/>
              </a:xfrm>
              <a:prstGeom prst="straightConnector1">
                <a:avLst/>
              </a:prstGeom>
              <a:ln w="25400" cmpd="sng">
                <a:solidFill>
                  <a:srgbClr val="00B0F0"/>
                </a:solidFill>
                <a:prstDash val="solid"/>
                <a:headEnd type="none"/>
                <a:tailEnd type="triangle"/>
              </a:ln>
            </p:spPr>
            <p:style>
              <a:lnRef idx="1">
                <a:schemeClr val="accent1"/>
              </a:lnRef>
              <a:fillRef idx="0">
                <a:schemeClr val="accent1"/>
              </a:fillRef>
              <a:effectRef idx="0">
                <a:schemeClr val="accent1"/>
              </a:effectRef>
              <a:fontRef idx="minor">
                <a:schemeClr val="tx1"/>
              </a:fontRef>
            </p:style>
          </p:cxnSp>
          <p:sp>
            <p:nvSpPr>
              <p:cNvPr id="65" name="文本框 64"/>
              <p:cNvSpPr txBox="1"/>
              <p:nvPr/>
            </p:nvSpPr>
            <p:spPr>
              <a:xfrm>
                <a:off x="8028144" y="2081999"/>
                <a:ext cx="1103501" cy="369332"/>
              </a:xfrm>
              <a:prstGeom prst="rect">
                <a:avLst/>
              </a:prstGeom>
              <a:noFill/>
            </p:spPr>
            <p:txBody>
              <a:bodyPr wrap="square" rtlCol="0">
                <a:spAutoFit/>
              </a:bodyPr>
              <a:lstStyle/>
              <a:p>
                <a:pPr algn="l"/>
                <a:r>
                  <a:rPr lang="en-US" altLang="zh-CN" i="1" dirty="0" smtClean="0">
                    <a:solidFill>
                      <a:schemeClr val="accent2"/>
                    </a:solidFill>
                    <a:latin typeface="微软雅黑" panose="020B0503020204020204" pitchFamily="34" charset="-122"/>
                    <a:ea typeface="微软雅黑" panose="020B0503020204020204" pitchFamily="34" charset="-122"/>
                  </a:rPr>
                  <a:t>monitor</a:t>
                </a:r>
                <a:endParaRPr lang="zh-CN" altLang="en-US" i="1" dirty="0" smtClean="0">
                  <a:solidFill>
                    <a:schemeClr val="accent2"/>
                  </a:solidFill>
                  <a:latin typeface="微软雅黑" panose="020B0503020204020204" pitchFamily="34" charset="-122"/>
                  <a:ea typeface="微软雅黑" panose="020B0503020204020204" pitchFamily="34" charset="-122"/>
                </a:endParaRPr>
              </a:p>
            </p:txBody>
          </p:sp>
          <p:sp>
            <p:nvSpPr>
              <p:cNvPr id="67" name="文本框 66"/>
              <p:cNvSpPr txBox="1"/>
              <p:nvPr/>
            </p:nvSpPr>
            <p:spPr>
              <a:xfrm>
                <a:off x="10344703" y="3526970"/>
                <a:ext cx="400110" cy="1034143"/>
              </a:xfrm>
              <a:prstGeom prst="rect">
                <a:avLst/>
              </a:prstGeom>
              <a:noFill/>
            </p:spPr>
            <p:txBody>
              <a:bodyPr vert="eaVert" wrap="square" rtlCol="0">
                <a:spAutoFit/>
              </a:bodyPr>
              <a:lstStyle/>
              <a:p>
                <a:pPr algn="l"/>
                <a:r>
                  <a:rPr lang="en-US" altLang="zh-CN" sz="1400" dirty="0" err="1" smtClean="0">
                    <a:solidFill>
                      <a:schemeClr val="bg1"/>
                    </a:solidFill>
                    <a:latin typeface="微软雅黑" panose="020B0503020204020204" pitchFamily="34" charset="-122"/>
                    <a:ea typeface="微软雅黑" panose="020B0503020204020204" pitchFamily="34" charset="-122"/>
                  </a:rPr>
                  <a:t>HA:ping</a:t>
                </a:r>
                <a:endParaRPr lang="zh-CN" altLang="en-US" sz="1400" dirty="0" smtClean="0">
                  <a:solidFill>
                    <a:schemeClr val="bg1"/>
                  </a:solidFill>
                  <a:latin typeface="微软雅黑" panose="020B0503020204020204" pitchFamily="34" charset="-122"/>
                  <a:ea typeface="微软雅黑" panose="020B0503020204020204" pitchFamily="34" charset="-122"/>
                </a:endParaRPr>
              </a:p>
            </p:txBody>
          </p:sp>
          <p:cxnSp>
            <p:nvCxnSpPr>
              <p:cNvPr id="69" name="直接箭头连接符 68"/>
              <p:cNvCxnSpPr>
                <a:stCxn id="17" idx="3"/>
              </p:cNvCxnSpPr>
              <p:nvPr/>
            </p:nvCxnSpPr>
            <p:spPr>
              <a:xfrm>
                <a:off x="8206014" y="4227286"/>
                <a:ext cx="3356403" cy="333827"/>
              </a:xfrm>
              <a:prstGeom prst="straightConnector1">
                <a:avLst/>
              </a:prstGeom>
              <a:ln w="25400" cmpd="sng">
                <a:solidFill>
                  <a:schemeClr val="accent1"/>
                </a:solidFill>
                <a:prstDash val="sysDash"/>
                <a:headEnd type="none"/>
                <a:tailEnd type="triangle"/>
              </a:ln>
            </p:spPr>
            <p:style>
              <a:lnRef idx="1">
                <a:schemeClr val="accent1"/>
              </a:lnRef>
              <a:fillRef idx="0">
                <a:schemeClr val="accent1"/>
              </a:fillRef>
              <a:effectRef idx="0">
                <a:schemeClr val="accent1"/>
              </a:effectRef>
              <a:fontRef idx="minor">
                <a:schemeClr val="tx1"/>
              </a:fontRef>
            </p:style>
          </p:cxnSp>
          <p:cxnSp>
            <p:nvCxnSpPr>
              <p:cNvPr id="71" name="直接箭头连接符 70"/>
              <p:cNvCxnSpPr>
                <a:stCxn id="17" idx="2"/>
              </p:cNvCxnSpPr>
              <p:nvPr/>
            </p:nvCxnSpPr>
            <p:spPr>
              <a:xfrm>
                <a:off x="7400471" y="4455886"/>
                <a:ext cx="1571701" cy="2021112"/>
              </a:xfrm>
              <a:prstGeom prst="straightConnector1">
                <a:avLst/>
              </a:prstGeom>
              <a:ln w="25400" cmpd="sng">
                <a:solidFill>
                  <a:schemeClr val="accent1"/>
                </a:solidFill>
                <a:prstDash val="sysDash"/>
                <a:headEnd type="none"/>
                <a:tailEnd type="triangle"/>
              </a:ln>
            </p:spPr>
            <p:style>
              <a:lnRef idx="1">
                <a:schemeClr val="accent1"/>
              </a:lnRef>
              <a:fillRef idx="0">
                <a:schemeClr val="accent1"/>
              </a:fillRef>
              <a:effectRef idx="0">
                <a:schemeClr val="accent1"/>
              </a:effectRef>
              <a:fontRef idx="minor">
                <a:schemeClr val="tx1"/>
              </a:fontRef>
            </p:style>
          </p:cxnSp>
        </p:grpSp>
        <p:sp>
          <p:nvSpPr>
            <p:cNvPr id="78" name="文本框 77"/>
            <p:cNvSpPr txBox="1"/>
            <p:nvPr/>
          </p:nvSpPr>
          <p:spPr>
            <a:xfrm>
              <a:off x="4125512" y="5893663"/>
              <a:ext cx="1711552" cy="369332"/>
            </a:xfrm>
            <a:prstGeom prst="rect">
              <a:avLst/>
            </a:prstGeom>
            <a:noFill/>
          </p:spPr>
          <p:txBody>
            <a:bodyPr wrap="square" rtlCol="0">
              <a:spAutoFit/>
            </a:bodyPr>
            <a:lstStyle/>
            <a:p>
              <a:pPr algn="ctr"/>
              <a:r>
                <a:rPr lang="zh-CN" altLang="en-US" dirty="0" smtClean="0">
                  <a:solidFill>
                    <a:schemeClr val="bg1"/>
                  </a:solidFill>
                  <a:latin typeface="微软雅黑" panose="020B0503020204020204" pitchFamily="34" charset="-122"/>
                  <a:ea typeface="微软雅黑" panose="020B0503020204020204" pitchFamily="34" charset="-122"/>
                </a:rPr>
                <a:t>图</a:t>
              </a:r>
              <a:r>
                <a:rPr lang="en-US" altLang="zh-CN" dirty="0" smtClean="0">
                  <a:solidFill>
                    <a:schemeClr val="bg1"/>
                  </a:solidFill>
                  <a:latin typeface="微软雅黑" panose="020B0503020204020204" pitchFamily="34" charset="-122"/>
                  <a:ea typeface="微软雅黑" panose="020B0503020204020204" pitchFamily="34" charset="-122"/>
                </a:rPr>
                <a:t>5.3.1-1</a:t>
              </a:r>
              <a:endParaRPr lang="zh-CN" altLang="en-US" dirty="0" smtClean="0">
                <a:solidFill>
                  <a:schemeClr val="bg1"/>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2425754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9"/>
                                        </p:tgtEl>
                                        <p:attrNameLst>
                                          <p:attrName>style.visibility</p:attrName>
                                        </p:attrNameLst>
                                      </p:cBhvr>
                                      <p:to>
                                        <p:strVal val="visible"/>
                                      </p:to>
                                    </p:set>
                                    <p:animEffect transition="in" filter="fade">
                                      <p:cBhvr>
                                        <p:cTn id="7" dur="1000"/>
                                        <p:tgtEl>
                                          <p:spTgt spid="79"/>
                                        </p:tgtEl>
                                      </p:cBhvr>
                                    </p:animEffect>
                                    <p:anim calcmode="lin" valueType="num">
                                      <p:cBhvr>
                                        <p:cTn id="8" dur="1000" fill="hold"/>
                                        <p:tgtEl>
                                          <p:spTgt spid="79"/>
                                        </p:tgtEl>
                                        <p:attrNameLst>
                                          <p:attrName>ppt_x</p:attrName>
                                        </p:attrNameLst>
                                      </p:cBhvr>
                                      <p:tavLst>
                                        <p:tav tm="0">
                                          <p:val>
                                            <p:strVal val="#ppt_x"/>
                                          </p:val>
                                        </p:tav>
                                        <p:tav tm="100000">
                                          <p:val>
                                            <p:strVal val="#ppt_x"/>
                                          </p:val>
                                        </p:tav>
                                      </p:tavLst>
                                    </p:anim>
                                    <p:anim calcmode="lin" valueType="num">
                                      <p:cBhvr>
                                        <p:cTn id="9" dur="1000" fill="hold"/>
                                        <p:tgtEl>
                                          <p:spTgt spid="7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0A0F23"/>
        </a:solidFill>
        <a:effectLst/>
      </p:bgPr>
    </p:bg>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xmlns="" id="{CBDC52CD-1D62-48AF-A9DF-9F18AEA2B1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01385" y="-114300"/>
            <a:ext cx="1301859" cy="920356"/>
          </a:xfrm>
          <a:prstGeom prst="rect">
            <a:avLst/>
          </a:prstGeom>
        </p:spPr>
      </p:pic>
      <p:pic>
        <p:nvPicPr>
          <p:cNvPr id="14" name="图片 13">
            <a:extLst>
              <a:ext uri="{FF2B5EF4-FFF2-40B4-BE49-F238E27FC236}">
                <a16:creationId xmlns:a16="http://schemas.microsoft.com/office/drawing/2014/main" xmlns="" id="{F78DA958-9B1B-47DA-A870-8C0B3A7D8866}"/>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b="63537"/>
          <a:stretch/>
        </p:blipFill>
        <p:spPr>
          <a:xfrm>
            <a:off x="11184164" y="217733"/>
            <a:ext cx="572339" cy="337210"/>
          </a:xfrm>
          <a:prstGeom prst="rect">
            <a:avLst/>
          </a:prstGeom>
        </p:spPr>
      </p:pic>
      <p:cxnSp>
        <p:nvCxnSpPr>
          <p:cNvPr id="15" name="直接连接符 14">
            <a:extLst>
              <a:ext uri="{FF2B5EF4-FFF2-40B4-BE49-F238E27FC236}">
                <a16:creationId xmlns:a16="http://schemas.microsoft.com/office/drawing/2014/main" xmlns="" id="{93240A06-D526-4907-A163-94ABB41190CC}"/>
              </a:ext>
            </a:extLst>
          </p:cNvPr>
          <p:cNvCxnSpPr/>
          <p:nvPr/>
        </p:nvCxnSpPr>
        <p:spPr>
          <a:xfrm>
            <a:off x="11103244" y="225825"/>
            <a:ext cx="0" cy="2435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extBox 9"/>
          <p:cNvSpPr txBox="1"/>
          <p:nvPr/>
        </p:nvSpPr>
        <p:spPr>
          <a:xfrm>
            <a:off x="802332" y="838482"/>
            <a:ext cx="8883650" cy="523220"/>
          </a:xfrm>
          <a:prstGeom prst="rect">
            <a:avLst/>
          </a:prstGeom>
          <a:noFill/>
        </p:spPr>
        <p:txBody>
          <a:bodyPr wrap="square" rtlCol="0">
            <a:spAutoFit/>
          </a:bodyPr>
          <a:lstStyle/>
          <a:p>
            <a:pPr>
              <a:defRPr/>
            </a:pPr>
            <a:r>
              <a:rPr lang="en-US" altLang="zh-CN" sz="2800" b="1" dirty="0" smtClean="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5.3.2 </a:t>
            </a:r>
            <a:r>
              <a:rPr lang="en-US" altLang="zh-CN" sz="2800" b="1" dirty="0" err="1">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codis</a:t>
            </a:r>
            <a:r>
              <a:rPr lang="zh-CN" altLang="en-US"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集群数据的路由？</a:t>
            </a:r>
          </a:p>
        </p:txBody>
      </p:sp>
      <p:sp>
        <p:nvSpPr>
          <p:cNvPr id="12" name="矩形 11">
            <a:extLst>
              <a:ext uri="{FF2B5EF4-FFF2-40B4-BE49-F238E27FC236}">
                <a16:creationId xmlns:a16="http://schemas.microsoft.com/office/drawing/2014/main" xmlns="" id="{74C59758-12AB-44A5-92FA-DB52904027AE}"/>
              </a:ext>
            </a:extLst>
          </p:cNvPr>
          <p:cNvSpPr/>
          <p:nvPr/>
        </p:nvSpPr>
        <p:spPr>
          <a:xfrm>
            <a:off x="704849" y="1568100"/>
            <a:ext cx="10765483" cy="1754326"/>
          </a:xfrm>
          <a:prstGeom prst="rect">
            <a:avLst/>
          </a:prstGeom>
        </p:spPr>
        <p:txBody>
          <a:bodyPr wrap="square">
            <a:spAutoFit/>
          </a:bodyPr>
          <a:lstStyle/>
          <a:p>
            <a:pPr indent="457200">
              <a:lnSpc>
                <a:spcPct val="150000"/>
              </a:lnSpc>
            </a:pPr>
            <a:r>
              <a:rPr lang="en-US" altLang="zh-CN" dirty="0" err="1" smtClean="0">
                <a:solidFill>
                  <a:prstClr val="white"/>
                </a:solidFill>
                <a:latin typeface="微软雅黑" panose="020B0503020204020204" pitchFamily="34" charset="-122"/>
                <a:ea typeface="微软雅黑" panose="020B0503020204020204" pitchFamily="34" charset="-122"/>
              </a:rPr>
              <a:t>codis</a:t>
            </a:r>
            <a:r>
              <a:rPr lang="zh-CN" altLang="en-US" dirty="0" smtClean="0">
                <a:solidFill>
                  <a:prstClr val="white"/>
                </a:solidFill>
                <a:latin typeface="微软雅黑" panose="020B0503020204020204" pitchFamily="34" charset="-122"/>
                <a:ea typeface="微软雅黑" panose="020B0503020204020204" pitchFamily="34" charset="-122"/>
              </a:rPr>
              <a:t>默认划分为</a:t>
            </a:r>
            <a:r>
              <a:rPr lang="en-US" altLang="zh-CN" dirty="0" smtClean="0">
                <a:solidFill>
                  <a:prstClr val="white"/>
                </a:solidFill>
                <a:latin typeface="微软雅黑" panose="020B0503020204020204" pitchFamily="34" charset="-122"/>
                <a:ea typeface="微软雅黑" panose="020B0503020204020204" pitchFamily="34" charset="-122"/>
              </a:rPr>
              <a:t>1024</a:t>
            </a:r>
            <a:r>
              <a:rPr lang="zh-CN" altLang="en-US" dirty="0" smtClean="0">
                <a:solidFill>
                  <a:prstClr val="white"/>
                </a:solidFill>
                <a:latin typeface="微软雅黑" panose="020B0503020204020204" pitchFamily="34" charset="-122"/>
                <a:ea typeface="微软雅黑" panose="020B0503020204020204" pitchFamily="34" charset="-122"/>
              </a:rPr>
              <a:t>个槽位，</a:t>
            </a:r>
            <a:r>
              <a:rPr lang="en-US" altLang="zh-CN" dirty="0" err="1" smtClean="0">
                <a:solidFill>
                  <a:prstClr val="white"/>
                </a:solidFill>
                <a:latin typeface="微软雅黑" panose="020B0503020204020204" pitchFamily="34" charset="-122"/>
                <a:ea typeface="微软雅黑" panose="020B0503020204020204" pitchFamily="34" charset="-122"/>
              </a:rPr>
              <a:t>codis</a:t>
            </a:r>
            <a:r>
              <a:rPr lang="en-US" altLang="zh-CN" dirty="0">
                <a:solidFill>
                  <a:prstClr val="white"/>
                </a:solidFill>
                <a:latin typeface="微软雅黑" panose="020B0503020204020204" pitchFamily="34" charset="-122"/>
                <a:ea typeface="微软雅黑" panose="020B0503020204020204" pitchFamily="34" charset="-122"/>
              </a:rPr>
              <a:t> </a:t>
            </a:r>
            <a:r>
              <a:rPr lang="en-US" altLang="zh-CN" dirty="0" smtClean="0">
                <a:solidFill>
                  <a:prstClr val="white"/>
                </a:solidFill>
                <a:latin typeface="微软雅黑" panose="020B0503020204020204" pitchFamily="34" charset="-122"/>
                <a:ea typeface="微软雅黑" panose="020B0503020204020204" pitchFamily="34" charset="-122"/>
              </a:rPr>
              <a:t>proxy </a:t>
            </a:r>
            <a:r>
              <a:rPr lang="zh-CN" altLang="en-US" dirty="0" smtClean="0">
                <a:solidFill>
                  <a:prstClr val="white"/>
                </a:solidFill>
                <a:latin typeface="微软雅黑" panose="020B0503020204020204" pitchFamily="34" charset="-122"/>
                <a:ea typeface="微软雅黑" panose="020B0503020204020204" pitchFamily="34" charset="-122"/>
              </a:rPr>
              <a:t>决定</a:t>
            </a:r>
            <a:r>
              <a:rPr lang="en-US" altLang="zh-CN" dirty="0" smtClean="0">
                <a:solidFill>
                  <a:prstClr val="white"/>
                </a:solidFill>
                <a:latin typeface="微软雅黑" panose="020B0503020204020204" pitchFamily="34" charset="-122"/>
                <a:ea typeface="微软雅黑" panose="020B0503020204020204" pitchFamily="34" charset="-122"/>
              </a:rPr>
              <a:t>key</a:t>
            </a:r>
            <a:r>
              <a:rPr lang="zh-CN" altLang="en-US" dirty="0">
                <a:solidFill>
                  <a:prstClr val="white"/>
                </a:solidFill>
                <a:latin typeface="微软雅黑" panose="020B0503020204020204" pitchFamily="34" charset="-122"/>
                <a:ea typeface="微软雅黑" panose="020B0503020204020204" pitchFamily="34" charset="-122"/>
              </a:rPr>
              <a:t>存</a:t>
            </a:r>
            <a:r>
              <a:rPr lang="zh-CN" altLang="en-US" dirty="0" smtClean="0">
                <a:solidFill>
                  <a:prstClr val="white"/>
                </a:solidFill>
                <a:latin typeface="微软雅黑" panose="020B0503020204020204" pitchFamily="34" charset="-122"/>
                <a:ea typeface="微软雅黑" panose="020B0503020204020204" pitchFamily="34" charset="-122"/>
              </a:rPr>
              <a:t>储在具体哪个槽位。</a:t>
            </a:r>
            <a:r>
              <a:rPr lang="en-US" altLang="zh-CN" dirty="0" err="1" smtClean="0">
                <a:solidFill>
                  <a:prstClr val="white"/>
                </a:solidFill>
                <a:latin typeface="微软雅黑" panose="020B0503020204020204" pitchFamily="34" charset="-122"/>
                <a:ea typeface="微软雅黑" panose="020B0503020204020204" pitchFamily="34" charset="-122"/>
              </a:rPr>
              <a:t>codis</a:t>
            </a:r>
            <a:r>
              <a:rPr lang="en-US" altLang="zh-CN" dirty="0" smtClean="0">
                <a:solidFill>
                  <a:prstClr val="white"/>
                </a:solidFill>
                <a:latin typeface="微软雅黑" panose="020B0503020204020204" pitchFamily="34" charset="-122"/>
                <a:ea typeface="微软雅黑" panose="020B0503020204020204" pitchFamily="34" charset="-122"/>
              </a:rPr>
              <a:t> proxy</a:t>
            </a:r>
            <a:r>
              <a:rPr lang="zh-CN" altLang="en-US" dirty="0" smtClean="0">
                <a:solidFill>
                  <a:prstClr val="white"/>
                </a:solidFill>
                <a:latin typeface="微软雅黑" panose="020B0503020204020204" pitchFamily="34" charset="-122"/>
                <a:ea typeface="微软雅黑" panose="020B0503020204020204" pitchFamily="34" charset="-122"/>
              </a:rPr>
              <a:t>首先对</a:t>
            </a:r>
            <a:r>
              <a:rPr lang="en-US" altLang="zh-CN" dirty="0" smtClean="0">
                <a:solidFill>
                  <a:prstClr val="white"/>
                </a:solidFill>
                <a:latin typeface="微软雅黑" panose="020B0503020204020204" pitchFamily="34" charset="-122"/>
                <a:ea typeface="微软雅黑" panose="020B0503020204020204" pitchFamily="34" charset="-122"/>
              </a:rPr>
              <a:t>key</a:t>
            </a:r>
            <a:r>
              <a:rPr lang="zh-CN" altLang="en-US" dirty="0" smtClean="0">
                <a:solidFill>
                  <a:prstClr val="white"/>
                </a:solidFill>
                <a:latin typeface="微软雅黑" panose="020B0503020204020204" pitchFamily="34" charset="-122"/>
                <a:ea typeface="微软雅黑" panose="020B0503020204020204" pitchFamily="34" charset="-122"/>
              </a:rPr>
              <a:t>进行</a:t>
            </a:r>
            <a:r>
              <a:rPr lang="en-US" altLang="zh-CN" dirty="0" smtClean="0">
                <a:solidFill>
                  <a:prstClr val="white"/>
                </a:solidFill>
                <a:latin typeface="微软雅黑" panose="020B0503020204020204" pitchFamily="34" charset="-122"/>
                <a:ea typeface="微软雅黑" panose="020B0503020204020204" pitchFamily="34" charset="-122"/>
              </a:rPr>
              <a:t>hash</a:t>
            </a:r>
            <a:r>
              <a:rPr lang="zh-CN" altLang="en-US" dirty="0" smtClean="0">
                <a:solidFill>
                  <a:prstClr val="white"/>
                </a:solidFill>
                <a:latin typeface="微软雅黑" panose="020B0503020204020204" pitchFamily="34" charset="-122"/>
                <a:ea typeface="微软雅黑" panose="020B0503020204020204" pitchFamily="34" charset="-122"/>
              </a:rPr>
              <a:t>值计算，再将</a:t>
            </a:r>
            <a:r>
              <a:rPr lang="en-US" altLang="zh-CN" dirty="0" smtClean="0">
                <a:solidFill>
                  <a:prstClr val="white"/>
                </a:solidFill>
                <a:latin typeface="微软雅黑" panose="020B0503020204020204" pitchFamily="34" charset="-122"/>
                <a:ea typeface="微软雅黑" panose="020B0503020204020204" pitchFamily="34" charset="-122"/>
              </a:rPr>
              <a:t>hash</a:t>
            </a:r>
            <a:r>
              <a:rPr lang="zh-CN" altLang="en-US" dirty="0" smtClean="0">
                <a:solidFill>
                  <a:prstClr val="white"/>
                </a:solidFill>
                <a:latin typeface="微软雅黑" panose="020B0503020204020204" pitchFamily="34" charset="-122"/>
                <a:ea typeface="微软雅黑" panose="020B0503020204020204" pitchFamily="34" charset="-122"/>
              </a:rPr>
              <a:t>后的整数值对</a:t>
            </a:r>
            <a:r>
              <a:rPr lang="en-US" altLang="zh-CN" dirty="0" smtClean="0">
                <a:solidFill>
                  <a:prstClr val="white"/>
                </a:solidFill>
                <a:latin typeface="微软雅黑" panose="020B0503020204020204" pitchFamily="34" charset="-122"/>
                <a:ea typeface="微软雅黑" panose="020B0503020204020204" pitchFamily="34" charset="-122"/>
              </a:rPr>
              <a:t>1024</a:t>
            </a:r>
            <a:r>
              <a:rPr lang="zh-CN" altLang="en-US" dirty="0" smtClean="0">
                <a:solidFill>
                  <a:prstClr val="white"/>
                </a:solidFill>
                <a:latin typeface="微软雅黑" panose="020B0503020204020204" pitchFamily="34" charset="-122"/>
                <a:ea typeface="微软雅黑" panose="020B0503020204020204" pitchFamily="34" charset="-122"/>
              </a:rPr>
              <a:t>求余，所得余数就是对应的槽位。 </a:t>
            </a:r>
            <a:r>
              <a:rPr lang="en-US" altLang="zh-CN" dirty="0" err="1" smtClean="0">
                <a:solidFill>
                  <a:prstClr val="white"/>
                </a:solidFill>
                <a:latin typeface="微软雅黑" panose="020B0503020204020204" pitchFamily="34" charset="-122"/>
                <a:ea typeface="微软雅黑" panose="020B0503020204020204" pitchFamily="34" charset="-122"/>
              </a:rPr>
              <a:t>codis</a:t>
            </a:r>
            <a:r>
              <a:rPr lang="en-US" altLang="zh-CN" dirty="0" smtClean="0">
                <a:solidFill>
                  <a:prstClr val="white"/>
                </a:solidFill>
                <a:latin typeface="微软雅黑" panose="020B0503020204020204" pitchFamily="34" charset="-122"/>
                <a:ea typeface="微软雅黑" panose="020B0503020204020204" pitchFamily="34" charset="-122"/>
              </a:rPr>
              <a:t> proxy </a:t>
            </a:r>
            <a:r>
              <a:rPr lang="zh-CN" altLang="en-US" dirty="0" smtClean="0">
                <a:solidFill>
                  <a:prstClr val="white"/>
                </a:solidFill>
                <a:latin typeface="微软雅黑" panose="020B0503020204020204" pitchFamily="34" charset="-122"/>
                <a:ea typeface="微软雅黑" panose="020B0503020204020204" pitchFamily="34" charset="-122"/>
              </a:rPr>
              <a:t>从</a:t>
            </a:r>
            <a:r>
              <a:rPr lang="en-US" altLang="zh-CN" dirty="0" smtClean="0">
                <a:solidFill>
                  <a:prstClr val="white"/>
                </a:solidFill>
                <a:latin typeface="微软雅黑" panose="020B0503020204020204" pitchFamily="34" charset="-122"/>
                <a:ea typeface="微软雅黑" panose="020B0503020204020204" pitchFamily="34" charset="-122"/>
              </a:rPr>
              <a:t>storage</a:t>
            </a:r>
            <a:r>
              <a:rPr lang="zh-CN" altLang="en-US" dirty="0" smtClean="0">
                <a:solidFill>
                  <a:prstClr val="white"/>
                </a:solidFill>
                <a:latin typeface="微软雅黑" panose="020B0503020204020204" pitchFamily="34" charset="-122"/>
                <a:ea typeface="微软雅黑" panose="020B0503020204020204" pitchFamily="34" charset="-122"/>
              </a:rPr>
              <a:t>同步了元信息，从而可以确定每个槽位所对应的</a:t>
            </a:r>
            <a:r>
              <a:rPr lang="en-US" altLang="zh-CN" dirty="0" err="1" smtClean="0">
                <a:solidFill>
                  <a:prstClr val="white"/>
                </a:solidFill>
                <a:latin typeface="微软雅黑" panose="020B0503020204020204" pitchFamily="34" charset="-122"/>
                <a:ea typeface="微软雅黑" panose="020B0503020204020204" pitchFamily="34" charset="-122"/>
              </a:rPr>
              <a:t>codis</a:t>
            </a:r>
            <a:r>
              <a:rPr lang="en-US" altLang="zh-CN" dirty="0" smtClean="0">
                <a:solidFill>
                  <a:prstClr val="white"/>
                </a:solidFill>
                <a:latin typeface="微软雅黑" panose="020B0503020204020204" pitchFamily="34" charset="-122"/>
                <a:ea typeface="微软雅黑" panose="020B0503020204020204" pitchFamily="34" charset="-122"/>
              </a:rPr>
              <a:t> server</a:t>
            </a:r>
            <a:r>
              <a:rPr lang="zh-CN" altLang="en-US" dirty="0" smtClean="0">
                <a:solidFill>
                  <a:prstClr val="white"/>
                </a:solidFill>
                <a:latin typeface="微软雅黑" panose="020B0503020204020204" pitchFamily="34" charset="-122"/>
                <a:ea typeface="微软雅黑" panose="020B0503020204020204" pitchFamily="34" charset="-122"/>
              </a:rPr>
              <a:t>。并将命令发送到对应的</a:t>
            </a:r>
            <a:r>
              <a:rPr lang="en-US" altLang="zh-CN" dirty="0" err="1" smtClean="0">
                <a:solidFill>
                  <a:prstClr val="white"/>
                </a:solidFill>
                <a:latin typeface="微软雅黑" panose="020B0503020204020204" pitchFamily="34" charset="-122"/>
                <a:ea typeface="微软雅黑" panose="020B0503020204020204" pitchFamily="34" charset="-122"/>
              </a:rPr>
              <a:t>codis</a:t>
            </a:r>
            <a:r>
              <a:rPr lang="en-US" altLang="zh-CN" dirty="0" smtClean="0">
                <a:solidFill>
                  <a:prstClr val="white"/>
                </a:solidFill>
                <a:latin typeface="微软雅黑" panose="020B0503020204020204" pitchFamily="34" charset="-122"/>
                <a:ea typeface="微软雅黑" panose="020B0503020204020204" pitchFamily="34" charset="-122"/>
              </a:rPr>
              <a:t> server </a:t>
            </a:r>
            <a:r>
              <a:rPr lang="zh-CN" altLang="en-US" dirty="0" smtClean="0">
                <a:solidFill>
                  <a:prstClr val="white"/>
                </a:solidFill>
                <a:latin typeface="微软雅黑" panose="020B0503020204020204" pitchFamily="34" charset="-122"/>
                <a:ea typeface="微软雅黑" panose="020B0503020204020204" pitchFamily="34" charset="-122"/>
              </a:rPr>
              <a:t>执行。</a:t>
            </a:r>
            <a:endParaRPr lang="en-US" altLang="zh-CN" dirty="0" smtClean="0">
              <a:solidFill>
                <a:prstClr val="white"/>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802424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0A0F23"/>
        </a:solidFill>
        <a:effectLst/>
      </p:bgPr>
    </p:bg>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xmlns="" id="{CBDC52CD-1D62-48AF-A9DF-9F18AEA2B1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01385" y="-114300"/>
            <a:ext cx="1301859" cy="920356"/>
          </a:xfrm>
          <a:prstGeom prst="rect">
            <a:avLst/>
          </a:prstGeom>
        </p:spPr>
      </p:pic>
      <p:pic>
        <p:nvPicPr>
          <p:cNvPr id="14" name="图片 13">
            <a:extLst>
              <a:ext uri="{FF2B5EF4-FFF2-40B4-BE49-F238E27FC236}">
                <a16:creationId xmlns:a16="http://schemas.microsoft.com/office/drawing/2014/main" xmlns="" id="{F78DA958-9B1B-47DA-A870-8C0B3A7D8866}"/>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b="63537"/>
          <a:stretch/>
        </p:blipFill>
        <p:spPr>
          <a:xfrm>
            <a:off x="11184164" y="217733"/>
            <a:ext cx="572339" cy="337210"/>
          </a:xfrm>
          <a:prstGeom prst="rect">
            <a:avLst/>
          </a:prstGeom>
        </p:spPr>
      </p:pic>
      <p:cxnSp>
        <p:nvCxnSpPr>
          <p:cNvPr id="15" name="直接连接符 14">
            <a:extLst>
              <a:ext uri="{FF2B5EF4-FFF2-40B4-BE49-F238E27FC236}">
                <a16:creationId xmlns:a16="http://schemas.microsoft.com/office/drawing/2014/main" xmlns="" id="{93240A06-D526-4907-A163-94ABB41190CC}"/>
              </a:ext>
            </a:extLst>
          </p:cNvPr>
          <p:cNvCxnSpPr/>
          <p:nvPr/>
        </p:nvCxnSpPr>
        <p:spPr>
          <a:xfrm>
            <a:off x="11103244" y="225825"/>
            <a:ext cx="0" cy="2435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xmlns="" id="{74C59758-12AB-44A5-92FA-DB52904027AE}"/>
              </a:ext>
            </a:extLst>
          </p:cNvPr>
          <p:cNvSpPr/>
          <p:nvPr/>
        </p:nvSpPr>
        <p:spPr>
          <a:xfrm>
            <a:off x="802331" y="1621221"/>
            <a:ext cx="10765483" cy="1338828"/>
          </a:xfrm>
          <a:prstGeom prst="rect">
            <a:avLst/>
          </a:prstGeom>
        </p:spPr>
        <p:txBody>
          <a:bodyPr wrap="square">
            <a:spAutoFit/>
          </a:bodyPr>
          <a:lstStyle/>
          <a:p>
            <a:pPr indent="457200">
              <a:lnSpc>
                <a:spcPct val="150000"/>
              </a:lnSpc>
            </a:pPr>
            <a:r>
              <a:rPr lang="en-US" altLang="zh-CN" dirty="0" err="1" smtClean="0">
                <a:solidFill>
                  <a:prstClr val="white"/>
                </a:solidFill>
                <a:latin typeface="微软雅黑" panose="020B0503020204020204" pitchFamily="34" charset="-122"/>
                <a:ea typeface="微软雅黑" panose="020B0503020204020204" pitchFamily="34" charset="-122"/>
              </a:rPr>
              <a:t>codis</a:t>
            </a:r>
            <a:r>
              <a:rPr lang="zh-CN" altLang="en-US" dirty="0" smtClean="0">
                <a:solidFill>
                  <a:prstClr val="white"/>
                </a:solidFill>
                <a:latin typeface="微软雅黑" panose="020B0503020204020204" pitchFamily="34" charset="-122"/>
                <a:ea typeface="微软雅黑" panose="020B0503020204020204" pitchFamily="34" charset="-122"/>
              </a:rPr>
              <a:t>是无状态的，它只是一个转发代理中间件。因此理论上支持无限横向拓展。</a:t>
            </a:r>
            <a:endParaRPr lang="en-US" altLang="zh-CN" dirty="0" smtClean="0">
              <a:solidFill>
                <a:prstClr val="white"/>
              </a:solidFill>
              <a:latin typeface="微软雅黑" panose="020B0503020204020204" pitchFamily="34" charset="-122"/>
              <a:ea typeface="微软雅黑" panose="020B0503020204020204" pitchFamily="34" charset="-122"/>
            </a:endParaRPr>
          </a:p>
          <a:p>
            <a:pPr indent="457200">
              <a:lnSpc>
                <a:spcPct val="150000"/>
              </a:lnSpc>
            </a:pPr>
            <a:r>
              <a:rPr lang="zh-CN" altLang="en-US" dirty="0" smtClean="0">
                <a:solidFill>
                  <a:prstClr val="white"/>
                </a:solidFill>
                <a:latin typeface="微软雅黑" panose="020B0503020204020204" pitchFamily="34" charset="-122"/>
                <a:ea typeface="微软雅黑" panose="020B0503020204020204" pitchFamily="34" charset="-122"/>
              </a:rPr>
              <a:t>因为</a:t>
            </a:r>
            <a:r>
              <a:rPr lang="en-US" altLang="zh-CN" dirty="0" err="1" smtClean="0">
                <a:solidFill>
                  <a:prstClr val="white"/>
                </a:solidFill>
                <a:latin typeface="微软雅黑" panose="020B0503020204020204" pitchFamily="34" charset="-122"/>
                <a:ea typeface="微软雅黑" panose="020B0503020204020204" pitchFamily="34" charset="-122"/>
              </a:rPr>
              <a:t>codis</a:t>
            </a:r>
            <a:r>
              <a:rPr lang="en-US" altLang="zh-CN" dirty="0" smtClean="0">
                <a:solidFill>
                  <a:prstClr val="white"/>
                </a:solidFill>
                <a:latin typeface="微软雅黑" panose="020B0503020204020204" pitchFamily="34" charset="-122"/>
                <a:ea typeface="微软雅黑" panose="020B0503020204020204" pitchFamily="34" charset="-122"/>
              </a:rPr>
              <a:t>-proxy</a:t>
            </a:r>
            <a:r>
              <a:rPr lang="zh-CN" altLang="en-US" dirty="0">
                <a:solidFill>
                  <a:prstClr val="white"/>
                </a:solidFill>
                <a:latin typeface="微软雅黑" panose="020B0503020204020204" pitchFamily="34" charset="-122"/>
                <a:ea typeface="微软雅黑" panose="020B0503020204020204" pitchFamily="34" charset="-122"/>
              </a:rPr>
              <a:t>负</a:t>
            </a:r>
            <a:r>
              <a:rPr lang="zh-CN" altLang="en-US" dirty="0" smtClean="0">
                <a:solidFill>
                  <a:prstClr val="white"/>
                </a:solidFill>
                <a:latin typeface="微软雅黑" panose="020B0503020204020204" pitchFamily="34" charset="-122"/>
                <a:ea typeface="微软雅黑" panose="020B0503020204020204" pitchFamily="34" charset="-122"/>
              </a:rPr>
              <a:t>责</a:t>
            </a:r>
            <a:r>
              <a:rPr lang="en-US" altLang="zh-CN" dirty="0" smtClean="0">
                <a:solidFill>
                  <a:prstClr val="white"/>
                </a:solidFill>
                <a:latin typeface="微软雅黑" panose="020B0503020204020204" pitchFamily="34" charset="-122"/>
                <a:ea typeface="微软雅黑" panose="020B0503020204020204" pitchFamily="34" charset="-122"/>
              </a:rPr>
              <a:t>key</a:t>
            </a:r>
            <a:r>
              <a:rPr lang="zh-CN" altLang="en-US" dirty="0" smtClean="0">
                <a:solidFill>
                  <a:prstClr val="white"/>
                </a:solidFill>
                <a:latin typeface="微软雅黑" panose="020B0503020204020204" pitchFamily="34" charset="-122"/>
                <a:ea typeface="微软雅黑" panose="020B0503020204020204" pitchFamily="34" charset="-122"/>
              </a:rPr>
              <a:t>的路</a:t>
            </a:r>
            <a:r>
              <a:rPr lang="zh-CN" altLang="en-US" dirty="0">
                <a:solidFill>
                  <a:prstClr val="white"/>
                </a:solidFill>
                <a:latin typeface="微软雅黑" panose="020B0503020204020204" pitchFamily="34" charset="-122"/>
                <a:ea typeface="微软雅黑" panose="020B0503020204020204" pitchFamily="34" charset="-122"/>
              </a:rPr>
              <a:t>由</a:t>
            </a:r>
            <a:r>
              <a:rPr lang="zh-CN" altLang="en-US" dirty="0" smtClean="0">
                <a:solidFill>
                  <a:prstClr val="white"/>
                </a:solidFill>
                <a:latin typeface="微软雅黑" panose="020B0503020204020204" pitchFamily="34" charset="-122"/>
                <a:ea typeface="微软雅黑" panose="020B0503020204020204" pitchFamily="34" charset="-122"/>
              </a:rPr>
              <a:t>，所以集</a:t>
            </a:r>
            <a:r>
              <a:rPr lang="zh-CN" altLang="en-US" dirty="0">
                <a:solidFill>
                  <a:prstClr val="white"/>
                </a:solidFill>
                <a:latin typeface="微软雅黑" panose="020B0503020204020204" pitchFamily="34" charset="-122"/>
                <a:ea typeface="微软雅黑" panose="020B0503020204020204" pitchFamily="34" charset="-122"/>
              </a:rPr>
              <a:t>群的变化，对客户端来说是透明</a:t>
            </a:r>
            <a:r>
              <a:rPr lang="zh-CN" altLang="en-US" dirty="0" smtClean="0">
                <a:solidFill>
                  <a:prstClr val="white"/>
                </a:solidFill>
                <a:latin typeface="微软雅黑" panose="020B0503020204020204" pitchFamily="34" charset="-122"/>
                <a:ea typeface="微软雅黑" panose="020B0503020204020204" pitchFamily="34" charset="-122"/>
              </a:rPr>
              <a:t>的，客户端也无需感知集群的变化，和操作原生的</a:t>
            </a:r>
            <a:r>
              <a:rPr lang="en-US" altLang="zh-CN" dirty="0" err="1" smtClean="0">
                <a:solidFill>
                  <a:prstClr val="white"/>
                </a:solidFill>
                <a:latin typeface="微软雅黑" panose="020B0503020204020204" pitchFamily="34" charset="-122"/>
                <a:ea typeface="微软雅黑" panose="020B0503020204020204" pitchFamily="34" charset="-122"/>
              </a:rPr>
              <a:t>redis</a:t>
            </a:r>
            <a:r>
              <a:rPr lang="zh-CN" altLang="en-US" dirty="0">
                <a:solidFill>
                  <a:prstClr val="white"/>
                </a:solidFill>
                <a:latin typeface="微软雅黑" panose="020B0503020204020204" pitchFamily="34" charset="-122"/>
                <a:ea typeface="微软雅黑" panose="020B0503020204020204" pitchFamily="34" charset="-122"/>
              </a:rPr>
              <a:t>并</a:t>
            </a:r>
            <a:r>
              <a:rPr lang="zh-CN" altLang="en-US" dirty="0" smtClean="0">
                <a:solidFill>
                  <a:prstClr val="white"/>
                </a:solidFill>
                <a:latin typeface="微软雅黑" panose="020B0503020204020204" pitchFamily="34" charset="-122"/>
                <a:ea typeface="微软雅黑" panose="020B0503020204020204" pitchFamily="34" charset="-122"/>
              </a:rPr>
              <a:t>无差别。</a:t>
            </a:r>
            <a:endParaRPr lang="zh-CN" altLang="en-US" dirty="0">
              <a:solidFill>
                <a:prstClr val="white"/>
              </a:solidFill>
              <a:latin typeface="微软雅黑" panose="020B0503020204020204" pitchFamily="34" charset="-122"/>
              <a:ea typeface="微软雅黑" panose="020B0503020204020204" pitchFamily="34" charset="-122"/>
            </a:endParaRPr>
          </a:p>
        </p:txBody>
      </p:sp>
      <p:sp>
        <p:nvSpPr>
          <p:cNvPr id="10" name="TextBox 9"/>
          <p:cNvSpPr txBox="1"/>
          <p:nvPr/>
        </p:nvSpPr>
        <p:spPr>
          <a:xfrm>
            <a:off x="704850" y="866719"/>
            <a:ext cx="8883650" cy="523220"/>
          </a:xfrm>
          <a:prstGeom prst="rect">
            <a:avLst/>
          </a:prstGeom>
          <a:noFill/>
        </p:spPr>
        <p:txBody>
          <a:bodyPr wrap="square" rtlCol="0">
            <a:spAutoFit/>
          </a:bodyPr>
          <a:lstStyle/>
          <a:p>
            <a:pPr>
              <a:defRPr/>
            </a:pPr>
            <a:r>
              <a:rPr lang="en-US" altLang="zh-CN" sz="2800" b="1" dirty="0" smtClean="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5.3.3 </a:t>
            </a:r>
            <a:r>
              <a:rPr lang="zh-CN" altLang="en-US"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客户端连接及如何感知集群变化？</a:t>
            </a:r>
          </a:p>
        </p:txBody>
      </p:sp>
    </p:spTree>
    <p:extLst>
      <p:ext uri="{BB962C8B-B14F-4D97-AF65-F5344CB8AC3E}">
        <p14:creationId xmlns:p14="http://schemas.microsoft.com/office/powerpoint/2010/main" val="2698428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horizont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0A0F23"/>
        </a:solidFill>
        <a:effectLst/>
      </p:bgPr>
    </p:bg>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xmlns="" id="{CBDC52CD-1D62-48AF-A9DF-9F18AEA2B1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01385" y="-114300"/>
            <a:ext cx="1301859" cy="920356"/>
          </a:xfrm>
          <a:prstGeom prst="rect">
            <a:avLst/>
          </a:prstGeom>
        </p:spPr>
      </p:pic>
      <p:pic>
        <p:nvPicPr>
          <p:cNvPr id="14" name="图片 13">
            <a:extLst>
              <a:ext uri="{FF2B5EF4-FFF2-40B4-BE49-F238E27FC236}">
                <a16:creationId xmlns:a16="http://schemas.microsoft.com/office/drawing/2014/main" xmlns="" id="{F78DA958-9B1B-47DA-A870-8C0B3A7D8866}"/>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b="63537"/>
          <a:stretch/>
        </p:blipFill>
        <p:spPr>
          <a:xfrm>
            <a:off x="11184164" y="217733"/>
            <a:ext cx="572339" cy="337210"/>
          </a:xfrm>
          <a:prstGeom prst="rect">
            <a:avLst/>
          </a:prstGeom>
        </p:spPr>
      </p:pic>
      <p:cxnSp>
        <p:nvCxnSpPr>
          <p:cNvPr id="15" name="直接连接符 14">
            <a:extLst>
              <a:ext uri="{FF2B5EF4-FFF2-40B4-BE49-F238E27FC236}">
                <a16:creationId xmlns:a16="http://schemas.microsoft.com/office/drawing/2014/main" xmlns="" id="{93240A06-D526-4907-A163-94ABB41190CC}"/>
              </a:ext>
            </a:extLst>
          </p:cNvPr>
          <p:cNvCxnSpPr/>
          <p:nvPr/>
        </p:nvCxnSpPr>
        <p:spPr>
          <a:xfrm>
            <a:off x="11103244" y="225825"/>
            <a:ext cx="0" cy="2435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TextBox 9"/>
          <p:cNvSpPr txBox="1"/>
          <p:nvPr/>
        </p:nvSpPr>
        <p:spPr>
          <a:xfrm>
            <a:off x="704849" y="904497"/>
            <a:ext cx="10862965" cy="523220"/>
          </a:xfrm>
          <a:prstGeom prst="rect">
            <a:avLst/>
          </a:prstGeom>
          <a:noFill/>
        </p:spPr>
        <p:txBody>
          <a:bodyPr wrap="square" rtlCol="0">
            <a:spAutoFit/>
          </a:bodyPr>
          <a:lstStyle/>
          <a:p>
            <a:pPr>
              <a:defRPr/>
            </a:pPr>
            <a:r>
              <a:rPr lang="en-US" altLang="zh-CN" sz="2800" b="1" dirty="0" smtClean="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5.3.4 </a:t>
            </a:r>
            <a:r>
              <a:rPr lang="zh-CN" altLang="en-US"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扩容（缩容）时</a:t>
            </a:r>
            <a:r>
              <a:rPr lang="en-US" altLang="zh-CN" sz="2800" b="1" dirty="0" err="1">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codis</a:t>
            </a:r>
            <a:r>
              <a:rPr lang="zh-CN" altLang="en-US"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如何处理对迁移过程中数据的访问？</a:t>
            </a:r>
          </a:p>
        </p:txBody>
      </p:sp>
      <p:sp>
        <p:nvSpPr>
          <p:cNvPr id="16" name="矩形 15">
            <a:extLst>
              <a:ext uri="{FF2B5EF4-FFF2-40B4-BE49-F238E27FC236}">
                <a16:creationId xmlns:a16="http://schemas.microsoft.com/office/drawing/2014/main" xmlns="" id="{74C59758-12AB-44A5-92FA-DB52904027AE}"/>
              </a:ext>
            </a:extLst>
          </p:cNvPr>
          <p:cNvSpPr/>
          <p:nvPr/>
        </p:nvSpPr>
        <p:spPr>
          <a:xfrm>
            <a:off x="704848" y="1636420"/>
            <a:ext cx="10765483" cy="2169825"/>
          </a:xfrm>
          <a:prstGeom prst="rect">
            <a:avLst/>
          </a:prstGeom>
        </p:spPr>
        <p:txBody>
          <a:bodyPr wrap="square">
            <a:spAutoFit/>
          </a:bodyPr>
          <a:lstStyle/>
          <a:p>
            <a:pPr indent="457200">
              <a:lnSpc>
                <a:spcPct val="150000"/>
              </a:lnSpc>
            </a:pPr>
            <a:r>
              <a:rPr lang="zh-CN" altLang="en-US" dirty="0" smtClean="0">
                <a:solidFill>
                  <a:prstClr val="white"/>
                </a:solidFill>
                <a:latin typeface="微软雅黑" panose="020B0503020204020204" pitchFamily="34" charset="-122"/>
                <a:ea typeface="微软雅黑" panose="020B0503020204020204" pitchFamily="34" charset="-122"/>
              </a:rPr>
              <a:t>在整个迁移过程中，</a:t>
            </a:r>
            <a:r>
              <a:rPr lang="en-US" altLang="zh-CN" dirty="0" err="1" smtClean="0">
                <a:solidFill>
                  <a:prstClr val="white"/>
                </a:solidFill>
                <a:latin typeface="微软雅黑" panose="020B0503020204020204" pitchFamily="34" charset="-122"/>
                <a:ea typeface="微软雅黑" panose="020B0503020204020204" pitchFamily="34" charset="-122"/>
              </a:rPr>
              <a:t>codis</a:t>
            </a:r>
            <a:r>
              <a:rPr lang="zh-CN" altLang="en-US" dirty="0" smtClean="0">
                <a:solidFill>
                  <a:prstClr val="white"/>
                </a:solidFill>
                <a:latin typeface="微软雅黑" panose="020B0503020204020204" pitchFamily="34" charset="-122"/>
                <a:ea typeface="微软雅黑" panose="020B0503020204020204" pitchFamily="34" charset="-122"/>
              </a:rPr>
              <a:t>还是会收到新的请求打在当前正在迁移的槽位上，此时</a:t>
            </a:r>
            <a:r>
              <a:rPr lang="en-US" altLang="zh-CN" dirty="0" smtClean="0">
                <a:solidFill>
                  <a:prstClr val="white"/>
                </a:solidFill>
                <a:latin typeface="微软雅黑" panose="020B0503020204020204" pitchFamily="34" charset="-122"/>
                <a:ea typeface="微软雅黑" panose="020B0503020204020204" pitchFamily="34" charset="-122"/>
              </a:rPr>
              <a:t>key</a:t>
            </a:r>
            <a:r>
              <a:rPr lang="zh-CN" altLang="en-US" dirty="0" smtClean="0">
                <a:solidFill>
                  <a:prstClr val="white"/>
                </a:solidFill>
                <a:latin typeface="微软雅黑" panose="020B0503020204020204" pitchFamily="34" charset="-122"/>
                <a:ea typeface="微软雅黑" panose="020B0503020204020204" pitchFamily="34" charset="-122"/>
              </a:rPr>
              <a:t>可能存在于新旧两个槽位。</a:t>
            </a:r>
            <a:r>
              <a:rPr lang="zh-CN" altLang="en-US" dirty="0">
                <a:solidFill>
                  <a:prstClr val="white"/>
                </a:solidFill>
                <a:latin typeface="微软雅黑" panose="020B0503020204020204" pitchFamily="34" charset="-122"/>
                <a:ea typeface="微软雅黑" panose="020B0503020204020204" pitchFamily="34" charset="-122"/>
              </a:rPr>
              <a:t>如</a:t>
            </a:r>
            <a:r>
              <a:rPr lang="zh-CN" altLang="en-US" dirty="0" smtClean="0">
                <a:solidFill>
                  <a:prstClr val="white"/>
                </a:solidFill>
                <a:latin typeface="微软雅黑" panose="020B0503020204020204" pitchFamily="34" charset="-122"/>
                <a:ea typeface="微软雅黑" panose="020B0503020204020204" pitchFamily="34" charset="-122"/>
              </a:rPr>
              <a:t>果要判断当前</a:t>
            </a:r>
            <a:r>
              <a:rPr lang="en-US" altLang="zh-CN" dirty="0" smtClean="0">
                <a:solidFill>
                  <a:prstClr val="white"/>
                </a:solidFill>
                <a:latin typeface="微软雅黑" panose="020B0503020204020204" pitchFamily="34" charset="-122"/>
                <a:ea typeface="微软雅黑" panose="020B0503020204020204" pitchFamily="34" charset="-122"/>
              </a:rPr>
              <a:t>key</a:t>
            </a:r>
            <a:r>
              <a:rPr lang="zh-CN" altLang="en-US" dirty="0" smtClean="0">
                <a:solidFill>
                  <a:prstClr val="white"/>
                </a:solidFill>
                <a:latin typeface="微软雅黑" panose="020B0503020204020204" pitchFamily="34" charset="-122"/>
                <a:ea typeface="微软雅黑" panose="020B0503020204020204" pitchFamily="34" charset="-122"/>
              </a:rPr>
              <a:t>具体是在哪个槽，不免会增加额外的处理。</a:t>
            </a:r>
            <a:r>
              <a:rPr lang="en-US" altLang="zh-CN" dirty="0" err="1" smtClean="0">
                <a:solidFill>
                  <a:prstClr val="white"/>
                </a:solidFill>
                <a:latin typeface="微软雅黑" panose="020B0503020204020204" pitchFamily="34" charset="-122"/>
                <a:ea typeface="微软雅黑" panose="020B0503020204020204" pitchFamily="34" charset="-122"/>
              </a:rPr>
              <a:t>codis</a:t>
            </a:r>
            <a:r>
              <a:rPr lang="zh-CN" altLang="en-US" dirty="0" smtClean="0">
                <a:solidFill>
                  <a:prstClr val="white"/>
                </a:solidFill>
                <a:latin typeface="微软雅黑" panose="020B0503020204020204" pitchFamily="34" charset="-122"/>
                <a:ea typeface="微软雅黑" panose="020B0503020204020204" pitchFamily="34" charset="-122"/>
              </a:rPr>
              <a:t>巧妙的避开了这个问题，当请求打在正在迁移的槽位，</a:t>
            </a:r>
            <a:r>
              <a:rPr lang="en-US" altLang="zh-CN" dirty="0" err="1" smtClean="0">
                <a:solidFill>
                  <a:prstClr val="white"/>
                </a:solidFill>
                <a:latin typeface="微软雅黑" panose="020B0503020204020204" pitchFamily="34" charset="-122"/>
                <a:ea typeface="微软雅黑" panose="020B0503020204020204" pitchFamily="34" charset="-122"/>
              </a:rPr>
              <a:t>codis</a:t>
            </a:r>
            <a:r>
              <a:rPr lang="zh-CN" altLang="en-US" dirty="0" smtClean="0">
                <a:solidFill>
                  <a:prstClr val="white"/>
                </a:solidFill>
                <a:latin typeface="微软雅黑" panose="020B0503020204020204" pitchFamily="34" charset="-122"/>
                <a:ea typeface="微软雅黑" panose="020B0503020204020204" pitchFamily="34" charset="-122"/>
              </a:rPr>
              <a:t>强制对当前的单个</a:t>
            </a:r>
            <a:r>
              <a:rPr lang="en-US" altLang="zh-CN" dirty="0" smtClean="0">
                <a:solidFill>
                  <a:prstClr val="white"/>
                </a:solidFill>
                <a:latin typeface="微软雅黑" panose="020B0503020204020204" pitchFamily="34" charset="-122"/>
                <a:ea typeface="微软雅黑" panose="020B0503020204020204" pitchFamily="34" charset="-122"/>
              </a:rPr>
              <a:t>key</a:t>
            </a:r>
            <a:r>
              <a:rPr lang="zh-CN" altLang="en-US" dirty="0" smtClean="0">
                <a:solidFill>
                  <a:prstClr val="white"/>
                </a:solidFill>
                <a:latin typeface="微软雅黑" panose="020B0503020204020204" pitchFamily="34" charset="-122"/>
                <a:ea typeface="微软雅黑" panose="020B0503020204020204" pitchFamily="34" charset="-122"/>
              </a:rPr>
              <a:t>进行迁移，迁移完成后，再讲请求转发到新的</a:t>
            </a:r>
            <a:r>
              <a:rPr lang="en-US" altLang="zh-CN" dirty="0" err="1" smtClean="0">
                <a:solidFill>
                  <a:prstClr val="white"/>
                </a:solidFill>
                <a:latin typeface="微软雅黑" panose="020B0503020204020204" pitchFamily="34" charset="-122"/>
                <a:ea typeface="微软雅黑" panose="020B0503020204020204" pitchFamily="34" charset="-122"/>
              </a:rPr>
              <a:t>redis</a:t>
            </a:r>
            <a:r>
              <a:rPr lang="en-US" altLang="zh-CN" dirty="0" smtClean="0">
                <a:solidFill>
                  <a:prstClr val="white"/>
                </a:solidFill>
                <a:latin typeface="微软雅黑" panose="020B0503020204020204" pitchFamily="34" charset="-122"/>
                <a:ea typeface="微软雅黑" panose="020B0503020204020204" pitchFamily="34" charset="-122"/>
              </a:rPr>
              <a:t> server</a:t>
            </a:r>
            <a:r>
              <a:rPr lang="zh-CN" altLang="en-US" dirty="0" smtClean="0">
                <a:solidFill>
                  <a:prstClr val="white"/>
                </a:solidFill>
                <a:latin typeface="微软雅黑" panose="020B0503020204020204" pitchFamily="34" charset="-122"/>
                <a:ea typeface="微软雅黑" panose="020B0503020204020204" pitchFamily="34" charset="-122"/>
              </a:rPr>
              <a:t>。</a:t>
            </a:r>
            <a:endParaRPr lang="en-US" altLang="zh-CN" dirty="0">
              <a:solidFill>
                <a:prstClr val="white"/>
              </a:solidFill>
              <a:latin typeface="微软雅黑" panose="020B0503020204020204" pitchFamily="34" charset="-122"/>
              <a:ea typeface="微软雅黑" panose="020B0503020204020204" pitchFamily="34" charset="-122"/>
            </a:endParaRPr>
          </a:p>
          <a:p>
            <a:pPr indent="457200">
              <a:lnSpc>
                <a:spcPct val="150000"/>
              </a:lnSpc>
            </a:pPr>
            <a:endParaRPr lang="en-US" altLang="zh-CN" dirty="0" smtClean="0">
              <a:solidFill>
                <a:prstClr val="white"/>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973971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0A0F23"/>
        </a:solidFill>
        <a:effectLst/>
      </p:bgPr>
    </p:bg>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xmlns="" id="{CBDC52CD-1D62-48AF-A9DF-9F18AEA2B1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01385" y="-114300"/>
            <a:ext cx="1301859" cy="920356"/>
          </a:xfrm>
          <a:prstGeom prst="rect">
            <a:avLst/>
          </a:prstGeom>
        </p:spPr>
      </p:pic>
      <p:pic>
        <p:nvPicPr>
          <p:cNvPr id="14" name="图片 13">
            <a:extLst>
              <a:ext uri="{FF2B5EF4-FFF2-40B4-BE49-F238E27FC236}">
                <a16:creationId xmlns:a16="http://schemas.microsoft.com/office/drawing/2014/main" xmlns="" id="{F78DA958-9B1B-47DA-A870-8C0B3A7D8866}"/>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b="63537"/>
          <a:stretch/>
        </p:blipFill>
        <p:spPr>
          <a:xfrm>
            <a:off x="11184164" y="217733"/>
            <a:ext cx="572339" cy="337210"/>
          </a:xfrm>
          <a:prstGeom prst="rect">
            <a:avLst/>
          </a:prstGeom>
        </p:spPr>
      </p:pic>
      <p:cxnSp>
        <p:nvCxnSpPr>
          <p:cNvPr id="15" name="直接连接符 14">
            <a:extLst>
              <a:ext uri="{FF2B5EF4-FFF2-40B4-BE49-F238E27FC236}">
                <a16:creationId xmlns:a16="http://schemas.microsoft.com/office/drawing/2014/main" xmlns="" id="{93240A06-D526-4907-A163-94ABB41190CC}"/>
              </a:ext>
            </a:extLst>
          </p:cNvPr>
          <p:cNvCxnSpPr/>
          <p:nvPr/>
        </p:nvCxnSpPr>
        <p:spPr>
          <a:xfrm>
            <a:off x="11103244" y="225825"/>
            <a:ext cx="0" cy="2435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704849" y="878425"/>
            <a:ext cx="8883650" cy="523220"/>
          </a:xfrm>
          <a:prstGeom prst="rect">
            <a:avLst/>
          </a:prstGeom>
          <a:noFill/>
        </p:spPr>
        <p:txBody>
          <a:bodyPr wrap="square" rtlCol="0">
            <a:spAutoFit/>
          </a:bodyPr>
          <a:lstStyle/>
          <a:p>
            <a:pPr>
              <a:defRPr/>
            </a:pPr>
            <a:r>
              <a:rPr lang="en-US" altLang="zh-CN"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5.3.4 </a:t>
            </a:r>
            <a:r>
              <a:rPr lang="zh-CN" altLang="en-US"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扩容（缩容）时</a:t>
            </a:r>
            <a:r>
              <a:rPr lang="en-US" altLang="zh-CN" sz="2800" b="1" dirty="0" err="1">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codis</a:t>
            </a:r>
            <a:r>
              <a:rPr lang="zh-CN" altLang="en-US"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如何迁移数据？</a:t>
            </a:r>
          </a:p>
        </p:txBody>
      </p:sp>
      <p:sp>
        <p:nvSpPr>
          <p:cNvPr id="8" name="矩形 7">
            <a:extLst>
              <a:ext uri="{FF2B5EF4-FFF2-40B4-BE49-F238E27FC236}">
                <a16:creationId xmlns:a16="http://schemas.microsoft.com/office/drawing/2014/main" xmlns="" id="{74C59758-12AB-44A5-92FA-DB52904027AE}"/>
              </a:ext>
            </a:extLst>
          </p:cNvPr>
          <p:cNvSpPr/>
          <p:nvPr/>
        </p:nvSpPr>
        <p:spPr>
          <a:xfrm>
            <a:off x="704849" y="1739772"/>
            <a:ext cx="10765483" cy="1705403"/>
          </a:xfrm>
          <a:prstGeom prst="rect">
            <a:avLst/>
          </a:prstGeom>
        </p:spPr>
        <p:txBody>
          <a:bodyPr wrap="square">
            <a:spAutoFit/>
          </a:bodyPr>
          <a:lstStyle/>
          <a:p>
            <a:pPr indent="457200">
              <a:lnSpc>
                <a:spcPct val="150000"/>
              </a:lnSpc>
            </a:pPr>
            <a:r>
              <a:rPr lang="en-US" altLang="zh-CN" dirty="0" err="1" smtClean="0">
                <a:solidFill>
                  <a:prstClr val="white"/>
                </a:solidFill>
                <a:latin typeface="微软雅黑" panose="020B0503020204020204" pitchFamily="34" charset="-122"/>
                <a:ea typeface="微软雅黑" panose="020B0503020204020204" pitchFamily="34" charset="-122"/>
              </a:rPr>
              <a:t>codis</a:t>
            </a:r>
            <a:r>
              <a:rPr lang="zh-CN" altLang="en-US" dirty="0" smtClean="0">
                <a:solidFill>
                  <a:prstClr val="white"/>
                </a:solidFill>
                <a:latin typeface="微软雅黑" panose="020B0503020204020204" pitchFamily="34" charset="-122"/>
                <a:ea typeface="微软雅黑" panose="020B0503020204020204" pitchFamily="34" charset="-122"/>
              </a:rPr>
              <a:t>在逻辑上默认划分了</a:t>
            </a:r>
            <a:r>
              <a:rPr lang="en-US" altLang="zh-CN" dirty="0" smtClean="0">
                <a:solidFill>
                  <a:prstClr val="white"/>
                </a:solidFill>
                <a:latin typeface="微软雅黑" panose="020B0503020204020204" pitchFamily="34" charset="-122"/>
                <a:ea typeface="微软雅黑" panose="020B0503020204020204" pitchFamily="34" charset="-122"/>
              </a:rPr>
              <a:t>1024</a:t>
            </a:r>
            <a:r>
              <a:rPr lang="zh-CN" altLang="en-US" dirty="0" smtClean="0">
                <a:solidFill>
                  <a:prstClr val="white"/>
                </a:solidFill>
                <a:latin typeface="微软雅黑" panose="020B0503020204020204" pitchFamily="34" charset="-122"/>
                <a:ea typeface="微软雅黑" panose="020B0503020204020204" pitchFamily="34" charset="-122"/>
              </a:rPr>
              <a:t>个槽位。当</a:t>
            </a:r>
            <a:r>
              <a:rPr lang="en-US" altLang="zh-CN" dirty="0" err="1" smtClean="0">
                <a:solidFill>
                  <a:prstClr val="white"/>
                </a:solidFill>
                <a:latin typeface="微软雅黑" panose="020B0503020204020204" pitchFamily="34" charset="-122"/>
                <a:ea typeface="微软雅黑" panose="020B0503020204020204" pitchFamily="34" charset="-122"/>
              </a:rPr>
              <a:t>codis</a:t>
            </a:r>
            <a:r>
              <a:rPr lang="zh-CN" altLang="en-US" dirty="0" smtClean="0">
                <a:solidFill>
                  <a:prstClr val="white"/>
                </a:solidFill>
                <a:latin typeface="微软雅黑" panose="020B0503020204020204" pitchFamily="34" charset="-122"/>
                <a:ea typeface="微软雅黑" panose="020B0503020204020204" pitchFamily="34" charset="-122"/>
              </a:rPr>
              <a:t>不停机扩容或缩容时。需要迁移一部分槽位到其它</a:t>
            </a:r>
            <a:r>
              <a:rPr lang="en-US" altLang="zh-CN" dirty="0" err="1" smtClean="0">
                <a:solidFill>
                  <a:prstClr val="white"/>
                </a:solidFill>
                <a:latin typeface="微软雅黑" panose="020B0503020204020204" pitchFamily="34" charset="-122"/>
                <a:ea typeface="微软雅黑" panose="020B0503020204020204" pitchFamily="34" charset="-122"/>
              </a:rPr>
              <a:t>codis</a:t>
            </a:r>
            <a:r>
              <a:rPr lang="en-US" altLang="zh-CN" dirty="0" smtClean="0">
                <a:solidFill>
                  <a:prstClr val="white"/>
                </a:solidFill>
                <a:latin typeface="微软雅黑" panose="020B0503020204020204" pitchFamily="34" charset="-122"/>
                <a:ea typeface="微软雅黑" panose="020B0503020204020204" pitchFamily="34" charset="-122"/>
              </a:rPr>
              <a:t> server</a:t>
            </a:r>
            <a:r>
              <a:rPr lang="zh-CN" altLang="en-US" dirty="0" smtClean="0">
                <a:solidFill>
                  <a:prstClr val="white"/>
                </a:solidFill>
                <a:latin typeface="微软雅黑" panose="020B0503020204020204" pitchFamily="34" charset="-122"/>
                <a:ea typeface="微软雅黑" panose="020B0503020204020204" pitchFamily="34" charset="-122"/>
              </a:rPr>
              <a:t>。这就需要知道这些待迁移槽位到底存储了哪些</a:t>
            </a:r>
            <a:r>
              <a:rPr lang="en-US" altLang="zh-CN" dirty="0" smtClean="0">
                <a:solidFill>
                  <a:prstClr val="white"/>
                </a:solidFill>
                <a:latin typeface="微软雅黑" panose="020B0503020204020204" pitchFamily="34" charset="-122"/>
                <a:ea typeface="微软雅黑" panose="020B0503020204020204" pitchFamily="34" charset="-122"/>
              </a:rPr>
              <a:t>key</a:t>
            </a:r>
            <a:r>
              <a:rPr lang="zh-CN" altLang="en-US" dirty="0" smtClean="0">
                <a:solidFill>
                  <a:prstClr val="white"/>
                </a:solidFill>
                <a:latin typeface="微软雅黑" panose="020B0503020204020204" pitchFamily="34" charset="-122"/>
                <a:ea typeface="微软雅黑" panose="020B0503020204020204" pitchFamily="34" charset="-122"/>
              </a:rPr>
              <a:t>。原生的</a:t>
            </a:r>
            <a:r>
              <a:rPr lang="en-US" altLang="zh-CN" dirty="0" err="1" smtClean="0">
                <a:solidFill>
                  <a:prstClr val="white"/>
                </a:solidFill>
                <a:latin typeface="微软雅黑" panose="020B0503020204020204" pitchFamily="34" charset="-122"/>
                <a:ea typeface="微软雅黑" panose="020B0503020204020204" pitchFamily="34" charset="-122"/>
              </a:rPr>
              <a:t>redis</a:t>
            </a:r>
            <a:r>
              <a:rPr lang="zh-CN" altLang="en-US" dirty="0" smtClean="0">
                <a:solidFill>
                  <a:prstClr val="white"/>
                </a:solidFill>
                <a:latin typeface="微软雅黑" panose="020B0503020204020204" pitchFamily="34" charset="-122"/>
                <a:ea typeface="微软雅黑" panose="020B0503020204020204" pitchFamily="34" charset="-122"/>
              </a:rPr>
              <a:t>是不支持该操作的。</a:t>
            </a:r>
            <a:r>
              <a:rPr lang="en-US" altLang="zh-CN" dirty="0" err="1" smtClean="0">
                <a:solidFill>
                  <a:prstClr val="white"/>
                </a:solidFill>
                <a:latin typeface="微软雅黑" panose="020B0503020204020204" pitchFamily="34" charset="-122"/>
                <a:ea typeface="微软雅黑" panose="020B0503020204020204" pitchFamily="34" charset="-122"/>
              </a:rPr>
              <a:t>codis</a:t>
            </a:r>
            <a:r>
              <a:rPr lang="zh-CN" altLang="en-US" dirty="0" smtClean="0">
                <a:solidFill>
                  <a:prstClr val="white"/>
                </a:solidFill>
                <a:latin typeface="微软雅黑" panose="020B0503020204020204" pitchFamily="34" charset="-122"/>
                <a:ea typeface="微软雅黑" panose="020B0503020204020204" pitchFamily="34" charset="-122"/>
              </a:rPr>
              <a:t>对原生</a:t>
            </a:r>
            <a:r>
              <a:rPr lang="en-US" altLang="zh-CN" dirty="0" err="1" smtClean="0">
                <a:solidFill>
                  <a:prstClr val="white"/>
                </a:solidFill>
                <a:latin typeface="微软雅黑" panose="020B0503020204020204" pitchFamily="34" charset="-122"/>
                <a:ea typeface="微软雅黑" panose="020B0503020204020204" pitchFamily="34" charset="-122"/>
              </a:rPr>
              <a:t>redis</a:t>
            </a:r>
            <a:r>
              <a:rPr lang="zh-CN" altLang="en-US" dirty="0" smtClean="0">
                <a:solidFill>
                  <a:prstClr val="white"/>
                </a:solidFill>
                <a:latin typeface="微软雅黑" panose="020B0503020204020204" pitchFamily="34" charset="-122"/>
                <a:ea typeface="微软雅黑" panose="020B0503020204020204" pitchFamily="34" charset="-122"/>
              </a:rPr>
              <a:t>做了改造，增加了</a:t>
            </a:r>
            <a:r>
              <a:rPr lang="en-US" altLang="zh-CN" dirty="0" smtClean="0">
                <a:solidFill>
                  <a:prstClr val="white"/>
                </a:solidFill>
                <a:latin typeface="微软雅黑" panose="020B0503020204020204" pitchFamily="34" charset="-122"/>
                <a:ea typeface="微软雅黑" panose="020B0503020204020204" pitchFamily="34" charset="-122"/>
              </a:rPr>
              <a:t>SLOTSSCAN</a:t>
            </a:r>
            <a:r>
              <a:rPr lang="zh-CN" altLang="en-US" dirty="0" smtClean="0">
                <a:solidFill>
                  <a:prstClr val="white"/>
                </a:solidFill>
                <a:latin typeface="微软雅黑" panose="020B0503020204020204" pitchFamily="34" charset="-122"/>
                <a:ea typeface="微软雅黑" panose="020B0503020204020204" pitchFamily="34" charset="-122"/>
              </a:rPr>
              <a:t>指令，可以遍历指定槽下所有的</a:t>
            </a:r>
            <a:r>
              <a:rPr lang="en-US" altLang="zh-CN" dirty="0" smtClean="0">
                <a:solidFill>
                  <a:prstClr val="white"/>
                </a:solidFill>
                <a:latin typeface="微软雅黑" panose="020B0503020204020204" pitchFamily="34" charset="-122"/>
                <a:ea typeface="微软雅黑" panose="020B0503020204020204" pitchFamily="34" charset="-122"/>
              </a:rPr>
              <a:t>key</a:t>
            </a:r>
            <a:r>
              <a:rPr lang="zh-CN" altLang="en-US" dirty="0" smtClean="0">
                <a:solidFill>
                  <a:prstClr val="white"/>
                </a:solidFill>
                <a:latin typeface="微软雅黑" panose="020B0503020204020204" pitchFamily="34" charset="-122"/>
                <a:ea typeface="微软雅黑" panose="020B0503020204020204" pitchFamily="34" charset="-122"/>
              </a:rPr>
              <a:t>。</a:t>
            </a:r>
            <a:r>
              <a:rPr lang="en-US" altLang="zh-CN" dirty="0" err="1" smtClean="0">
                <a:solidFill>
                  <a:prstClr val="white"/>
                </a:solidFill>
                <a:latin typeface="微软雅黑" panose="020B0503020204020204" pitchFamily="34" charset="-122"/>
                <a:ea typeface="微软雅黑" panose="020B0503020204020204" pitchFamily="34" charset="-122"/>
              </a:rPr>
              <a:t>codis</a:t>
            </a:r>
            <a:r>
              <a:rPr lang="zh-CN" altLang="en-US" dirty="0" smtClean="0">
                <a:solidFill>
                  <a:prstClr val="white"/>
                </a:solidFill>
                <a:latin typeface="微软雅黑" panose="020B0503020204020204" pitchFamily="34" charset="-122"/>
                <a:ea typeface="微软雅黑" panose="020B0503020204020204" pitchFamily="34" charset="-122"/>
              </a:rPr>
              <a:t>通过</a:t>
            </a:r>
            <a:r>
              <a:rPr lang="en-US" altLang="zh-CN" dirty="0" smtClean="0">
                <a:solidFill>
                  <a:prstClr val="white"/>
                </a:solidFill>
                <a:latin typeface="微软雅黑" panose="020B0503020204020204" pitchFamily="34" charset="-122"/>
                <a:ea typeface="微软雅黑" panose="020B0503020204020204" pitchFamily="34" charset="-122"/>
              </a:rPr>
              <a:t>SLOTSSCAN</a:t>
            </a:r>
            <a:r>
              <a:rPr lang="zh-CN" altLang="en-US" dirty="0" smtClean="0">
                <a:solidFill>
                  <a:prstClr val="white"/>
                </a:solidFill>
                <a:latin typeface="微软雅黑" panose="020B0503020204020204" pitchFamily="34" charset="-122"/>
                <a:ea typeface="微软雅黑" panose="020B0503020204020204" pitchFamily="34" charset="-122"/>
              </a:rPr>
              <a:t>扫描出待迁移槽位的所有</a:t>
            </a:r>
            <a:r>
              <a:rPr lang="en-US" altLang="zh-CN" dirty="0" smtClean="0">
                <a:solidFill>
                  <a:prstClr val="white"/>
                </a:solidFill>
                <a:latin typeface="微软雅黑" panose="020B0503020204020204" pitchFamily="34" charset="-122"/>
                <a:ea typeface="微软雅黑" panose="020B0503020204020204" pitchFamily="34" charset="-122"/>
              </a:rPr>
              <a:t>key</a:t>
            </a:r>
            <a:r>
              <a:rPr lang="zh-CN" altLang="en-US" dirty="0" smtClean="0">
                <a:solidFill>
                  <a:prstClr val="white"/>
                </a:solidFill>
                <a:latin typeface="微软雅黑" panose="020B0503020204020204" pitchFamily="34" charset="-122"/>
                <a:ea typeface="微软雅黑" panose="020B0503020204020204" pitchFamily="34" charset="-122"/>
              </a:rPr>
              <a:t>，然后挨个迁移每个</a:t>
            </a:r>
            <a:r>
              <a:rPr lang="en-US" altLang="zh-CN" dirty="0" smtClean="0">
                <a:solidFill>
                  <a:prstClr val="white"/>
                </a:solidFill>
                <a:latin typeface="微软雅黑" panose="020B0503020204020204" pitchFamily="34" charset="-122"/>
                <a:ea typeface="微软雅黑" panose="020B0503020204020204" pitchFamily="34" charset="-122"/>
              </a:rPr>
              <a:t>key</a:t>
            </a:r>
            <a:r>
              <a:rPr lang="zh-CN" altLang="en-US" dirty="0" smtClean="0">
                <a:solidFill>
                  <a:prstClr val="white"/>
                </a:solidFill>
                <a:latin typeface="微软雅黑" panose="020B0503020204020204" pitchFamily="34" charset="-122"/>
                <a:ea typeface="微软雅黑" panose="020B0503020204020204" pitchFamily="34" charset="-122"/>
              </a:rPr>
              <a:t>到新的</a:t>
            </a:r>
            <a:r>
              <a:rPr lang="en-US" altLang="zh-CN" dirty="0" err="1" smtClean="0">
                <a:solidFill>
                  <a:prstClr val="white"/>
                </a:solidFill>
                <a:latin typeface="微软雅黑" panose="020B0503020204020204" pitchFamily="34" charset="-122"/>
                <a:ea typeface="微软雅黑" panose="020B0503020204020204" pitchFamily="34" charset="-122"/>
              </a:rPr>
              <a:t>codis</a:t>
            </a:r>
            <a:r>
              <a:rPr lang="en-US" altLang="zh-CN" dirty="0" smtClean="0">
                <a:solidFill>
                  <a:prstClr val="white"/>
                </a:solidFill>
                <a:latin typeface="微软雅黑" panose="020B0503020204020204" pitchFamily="34" charset="-122"/>
                <a:ea typeface="微软雅黑" panose="020B0503020204020204" pitchFamily="34" charset="-122"/>
              </a:rPr>
              <a:t> server </a:t>
            </a:r>
            <a:r>
              <a:rPr lang="zh-CN" altLang="en-US" dirty="0" smtClean="0">
                <a:solidFill>
                  <a:prstClr val="white"/>
                </a:solidFill>
                <a:latin typeface="微软雅黑" panose="020B0503020204020204" pitchFamily="34" charset="-122"/>
                <a:ea typeface="微软雅黑" panose="020B0503020204020204" pitchFamily="34" charset="-122"/>
              </a:rPr>
              <a:t>节点。</a:t>
            </a:r>
            <a:endParaRPr lang="en-US" altLang="zh-CN" dirty="0" smtClean="0">
              <a:solidFill>
                <a:prstClr val="white"/>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23555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0A0F23"/>
        </a:solidFill>
        <a:effectLst/>
      </p:bgPr>
    </p:bg>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xmlns="" id="{CBDC52CD-1D62-48AF-A9DF-9F18AEA2B1F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801385" y="-114300"/>
            <a:ext cx="1301859" cy="920356"/>
          </a:xfrm>
          <a:prstGeom prst="rect">
            <a:avLst/>
          </a:prstGeom>
        </p:spPr>
      </p:pic>
      <p:pic>
        <p:nvPicPr>
          <p:cNvPr id="14" name="图片 13">
            <a:extLst>
              <a:ext uri="{FF2B5EF4-FFF2-40B4-BE49-F238E27FC236}">
                <a16:creationId xmlns:a16="http://schemas.microsoft.com/office/drawing/2014/main" xmlns="" id="{F78DA958-9B1B-47DA-A870-8C0B3A7D8866}"/>
              </a:ext>
            </a:extLst>
          </p:cNvPr>
          <p:cNvPicPr>
            <a:picLocks noChangeAspect="1"/>
          </p:cNvPicPr>
          <p:nvPr/>
        </p:nvPicPr>
        <p:blipFill rotWithShape="1">
          <a:blip r:embed="rId4" cstate="print">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rcRect b="63537"/>
          <a:stretch/>
        </p:blipFill>
        <p:spPr>
          <a:xfrm>
            <a:off x="11184164" y="217733"/>
            <a:ext cx="572339" cy="337210"/>
          </a:xfrm>
          <a:prstGeom prst="rect">
            <a:avLst/>
          </a:prstGeom>
        </p:spPr>
      </p:pic>
      <p:cxnSp>
        <p:nvCxnSpPr>
          <p:cNvPr id="15" name="直接连接符 14">
            <a:extLst>
              <a:ext uri="{FF2B5EF4-FFF2-40B4-BE49-F238E27FC236}">
                <a16:creationId xmlns:a16="http://schemas.microsoft.com/office/drawing/2014/main" xmlns="" id="{93240A06-D526-4907-A163-94ABB41190CC}"/>
              </a:ext>
            </a:extLst>
          </p:cNvPr>
          <p:cNvCxnSpPr/>
          <p:nvPr/>
        </p:nvCxnSpPr>
        <p:spPr>
          <a:xfrm>
            <a:off x="11103244" y="225825"/>
            <a:ext cx="0" cy="2435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xmlns="" id="{74C59758-12AB-44A5-92FA-DB52904027AE}"/>
              </a:ext>
            </a:extLst>
          </p:cNvPr>
          <p:cNvSpPr/>
          <p:nvPr/>
        </p:nvSpPr>
        <p:spPr>
          <a:xfrm>
            <a:off x="802332" y="1287114"/>
            <a:ext cx="10765483" cy="3416320"/>
          </a:xfrm>
          <a:prstGeom prst="rect">
            <a:avLst/>
          </a:prstGeom>
        </p:spPr>
        <p:txBody>
          <a:bodyPr wrap="square">
            <a:spAutoFit/>
          </a:bodyPr>
          <a:lstStyle/>
          <a:p>
            <a:pPr indent="457200">
              <a:lnSpc>
                <a:spcPct val="150000"/>
              </a:lnSpc>
            </a:pPr>
            <a:r>
              <a:rPr lang="en-US" altLang="zh-CN" dirty="0" err="1">
                <a:solidFill>
                  <a:prstClr val="white"/>
                </a:solidFill>
                <a:latin typeface="微软雅黑" panose="020B0503020204020204" pitchFamily="34" charset="-122"/>
                <a:ea typeface="微软雅黑" panose="020B0503020204020204" pitchFamily="34" charset="-122"/>
              </a:rPr>
              <a:t>Redis</a:t>
            </a:r>
            <a:r>
              <a:rPr lang="en-US" altLang="zh-CN" dirty="0">
                <a:solidFill>
                  <a:prstClr val="white"/>
                </a:solidFill>
                <a:latin typeface="微软雅黑" panose="020B0503020204020204" pitchFamily="34" charset="-122"/>
                <a:ea typeface="微软雅黑" panose="020B0503020204020204" pitchFamily="34" charset="-122"/>
              </a:rPr>
              <a:t> Cluster</a:t>
            </a:r>
            <a:r>
              <a:rPr lang="zh-CN" altLang="en-US" dirty="0" smtClean="0">
                <a:solidFill>
                  <a:prstClr val="white"/>
                </a:solidFill>
                <a:latin typeface="微软雅黑" panose="020B0503020204020204" pitchFamily="34" charset="-122"/>
                <a:ea typeface="微软雅黑" panose="020B0503020204020204" pitchFamily="34" charset="-122"/>
              </a:rPr>
              <a:t>是</a:t>
            </a:r>
            <a:r>
              <a:rPr lang="en-US" altLang="zh-CN" dirty="0" smtClean="0">
                <a:solidFill>
                  <a:prstClr val="white"/>
                </a:solidFill>
                <a:latin typeface="微软雅黑" panose="020B0503020204020204" pitchFamily="34" charset="-122"/>
                <a:ea typeface="微软雅黑" panose="020B0503020204020204" pitchFamily="34" charset="-122"/>
              </a:rPr>
              <a:t>redis3.0</a:t>
            </a:r>
            <a:r>
              <a:rPr lang="zh-CN" altLang="en-US" dirty="0" smtClean="0">
                <a:solidFill>
                  <a:prstClr val="white"/>
                </a:solidFill>
                <a:latin typeface="微软雅黑" panose="020B0503020204020204" pitchFamily="34" charset="-122"/>
                <a:ea typeface="微软雅黑" panose="020B0503020204020204" pitchFamily="34" charset="-122"/>
              </a:rPr>
              <a:t>版本开始加入的官方集群方</a:t>
            </a:r>
            <a:r>
              <a:rPr lang="zh-CN" altLang="en-US" dirty="0">
                <a:solidFill>
                  <a:prstClr val="white"/>
                </a:solidFill>
                <a:latin typeface="微软雅黑" panose="020B0503020204020204" pitchFamily="34" charset="-122"/>
                <a:ea typeface="微软雅黑" panose="020B0503020204020204" pitchFamily="34" charset="-122"/>
              </a:rPr>
              <a:t>案。节点之间通过去中心化的方式，提供了完整的</a:t>
            </a:r>
            <a:r>
              <a:rPr lang="en-US" altLang="zh-CN" dirty="0" err="1">
                <a:solidFill>
                  <a:prstClr val="white"/>
                </a:solidFill>
                <a:latin typeface="微软雅黑" panose="020B0503020204020204" pitchFamily="34" charset="-122"/>
                <a:ea typeface="微软雅黑" panose="020B0503020204020204" pitchFamily="34" charset="-122"/>
              </a:rPr>
              <a:t>sharding</a:t>
            </a:r>
            <a:r>
              <a:rPr lang="zh-CN" altLang="en-US" dirty="0">
                <a:solidFill>
                  <a:prstClr val="white"/>
                </a:solidFill>
                <a:latin typeface="微软雅黑" panose="020B0503020204020204" pitchFamily="34" charset="-122"/>
                <a:ea typeface="微软雅黑" panose="020B0503020204020204" pitchFamily="34" charset="-122"/>
              </a:rPr>
              <a:t>、</a:t>
            </a:r>
            <a:r>
              <a:rPr lang="en-US" altLang="zh-CN" dirty="0">
                <a:solidFill>
                  <a:prstClr val="white"/>
                </a:solidFill>
                <a:latin typeface="微软雅黑" panose="020B0503020204020204" pitchFamily="34" charset="-122"/>
                <a:ea typeface="微软雅黑" panose="020B0503020204020204" pitchFamily="34" charset="-122"/>
              </a:rPr>
              <a:t>replication</a:t>
            </a:r>
            <a:r>
              <a:rPr lang="zh-CN" altLang="en-US" dirty="0">
                <a:solidFill>
                  <a:prstClr val="white"/>
                </a:solidFill>
                <a:latin typeface="微软雅黑" panose="020B0503020204020204" pitchFamily="34" charset="-122"/>
                <a:ea typeface="微软雅黑" panose="020B0503020204020204" pitchFamily="34" charset="-122"/>
              </a:rPr>
              <a:t>（复制机制仍使用原有机制，并且具备感知主备的能力）、</a:t>
            </a:r>
            <a:r>
              <a:rPr lang="en-US" altLang="zh-CN" dirty="0">
                <a:solidFill>
                  <a:prstClr val="white"/>
                </a:solidFill>
                <a:latin typeface="微软雅黑" panose="020B0503020204020204" pitchFamily="34" charset="-122"/>
                <a:ea typeface="微软雅黑" panose="020B0503020204020204" pitchFamily="34" charset="-122"/>
              </a:rPr>
              <a:t>failover</a:t>
            </a:r>
            <a:r>
              <a:rPr lang="zh-CN" altLang="en-US" dirty="0">
                <a:solidFill>
                  <a:prstClr val="white"/>
                </a:solidFill>
                <a:latin typeface="微软雅黑" panose="020B0503020204020204" pitchFamily="34" charset="-122"/>
                <a:ea typeface="微软雅黑" panose="020B0503020204020204" pitchFamily="34" charset="-122"/>
              </a:rPr>
              <a:t>解决方</a:t>
            </a:r>
            <a:r>
              <a:rPr lang="zh-CN" altLang="en-US" dirty="0" smtClean="0">
                <a:solidFill>
                  <a:prstClr val="white"/>
                </a:solidFill>
                <a:latin typeface="微软雅黑" panose="020B0503020204020204" pitchFamily="34" charset="-122"/>
                <a:ea typeface="微软雅黑" panose="020B0503020204020204" pitchFamily="34" charset="-122"/>
              </a:rPr>
              <a:t>案。</a:t>
            </a:r>
            <a:endParaRPr lang="en-US" altLang="zh-CN" dirty="0" smtClean="0">
              <a:solidFill>
                <a:prstClr val="white"/>
              </a:solidFill>
              <a:latin typeface="微软雅黑" panose="020B0503020204020204" pitchFamily="34" charset="-122"/>
              <a:ea typeface="微软雅黑" panose="020B0503020204020204" pitchFamily="34" charset="-122"/>
            </a:endParaRPr>
          </a:p>
          <a:p>
            <a:pPr indent="457200">
              <a:lnSpc>
                <a:spcPct val="150000"/>
              </a:lnSpc>
            </a:pPr>
            <a:r>
              <a:rPr lang="en-US" altLang="zh-CN" dirty="0" err="1">
                <a:solidFill>
                  <a:prstClr val="white"/>
                </a:solidFill>
                <a:latin typeface="微软雅黑" panose="020B0503020204020204" pitchFamily="34" charset="-122"/>
                <a:ea typeface="微软雅黑" panose="020B0503020204020204" pitchFamily="34" charset="-122"/>
              </a:rPr>
              <a:t>Redis</a:t>
            </a:r>
            <a:r>
              <a:rPr lang="en-US" altLang="zh-CN" dirty="0">
                <a:solidFill>
                  <a:prstClr val="white"/>
                </a:solidFill>
                <a:latin typeface="微软雅黑" panose="020B0503020204020204" pitchFamily="34" charset="-122"/>
                <a:ea typeface="微软雅黑" panose="020B0503020204020204" pitchFamily="34" charset="-122"/>
              </a:rPr>
              <a:t> </a:t>
            </a:r>
            <a:r>
              <a:rPr lang="en-US" altLang="zh-CN" dirty="0" smtClean="0">
                <a:solidFill>
                  <a:prstClr val="white"/>
                </a:solidFill>
                <a:latin typeface="微软雅黑" panose="020B0503020204020204" pitchFamily="34" charset="-122"/>
                <a:ea typeface="微软雅黑" panose="020B0503020204020204" pitchFamily="34" charset="-122"/>
              </a:rPr>
              <a:t>Cluster </a:t>
            </a:r>
            <a:r>
              <a:rPr lang="zh-CN" altLang="en-US" dirty="0" smtClean="0">
                <a:solidFill>
                  <a:prstClr val="white"/>
                </a:solidFill>
                <a:latin typeface="微软雅黑" panose="020B0503020204020204" pitchFamily="34" charset="-122"/>
                <a:ea typeface="微软雅黑" panose="020B0503020204020204" pitchFamily="34" charset="-122"/>
              </a:rPr>
              <a:t>将所有数据划分为</a:t>
            </a:r>
            <a:r>
              <a:rPr lang="en-US" altLang="zh-CN" dirty="0" smtClean="0">
                <a:solidFill>
                  <a:prstClr val="white"/>
                </a:solidFill>
                <a:latin typeface="微软雅黑" panose="020B0503020204020204" pitchFamily="34" charset="-122"/>
                <a:ea typeface="微软雅黑" panose="020B0503020204020204" pitchFamily="34" charset="-122"/>
              </a:rPr>
              <a:t>16384</a:t>
            </a:r>
            <a:r>
              <a:rPr lang="zh-CN" altLang="en-US" dirty="0" smtClean="0">
                <a:solidFill>
                  <a:prstClr val="white"/>
                </a:solidFill>
                <a:latin typeface="微软雅黑" panose="020B0503020204020204" pitchFamily="34" charset="-122"/>
                <a:ea typeface="微软雅黑" panose="020B0503020204020204" pitchFamily="34" charset="-122"/>
              </a:rPr>
              <a:t>个槽位，每个节点对应一部分槽位。槽位的信息存储在每个节点中。这点和</a:t>
            </a:r>
            <a:r>
              <a:rPr lang="en-US" altLang="zh-CN" dirty="0" err="1" smtClean="0">
                <a:solidFill>
                  <a:prstClr val="white"/>
                </a:solidFill>
                <a:latin typeface="微软雅黑" panose="020B0503020204020204" pitchFamily="34" charset="-122"/>
                <a:ea typeface="微软雅黑" panose="020B0503020204020204" pitchFamily="34" charset="-122"/>
              </a:rPr>
              <a:t>codis</a:t>
            </a:r>
            <a:r>
              <a:rPr lang="zh-CN" altLang="en-US" dirty="0">
                <a:solidFill>
                  <a:prstClr val="white"/>
                </a:solidFill>
                <a:latin typeface="微软雅黑" panose="020B0503020204020204" pitchFamily="34" charset="-122"/>
                <a:ea typeface="微软雅黑" panose="020B0503020204020204" pitchFamily="34" charset="-122"/>
              </a:rPr>
              <a:t>不</a:t>
            </a:r>
            <a:r>
              <a:rPr lang="zh-CN" altLang="en-US" dirty="0" smtClean="0">
                <a:solidFill>
                  <a:prstClr val="white"/>
                </a:solidFill>
                <a:latin typeface="微软雅黑" panose="020B0503020204020204" pitchFamily="34" charset="-122"/>
                <a:ea typeface="微软雅黑" panose="020B0503020204020204" pitchFamily="34" charset="-122"/>
              </a:rPr>
              <a:t>同，后者需要额外的</a:t>
            </a:r>
            <a:r>
              <a:rPr lang="en-US" altLang="zh-CN" dirty="0" err="1" smtClean="0">
                <a:solidFill>
                  <a:prstClr val="white"/>
                </a:solidFill>
                <a:latin typeface="微软雅黑" panose="020B0503020204020204" pitchFamily="34" charset="-122"/>
                <a:ea typeface="微软雅黑" panose="020B0503020204020204" pitchFamily="34" charset="-122"/>
              </a:rPr>
              <a:t>storge</a:t>
            </a:r>
            <a:r>
              <a:rPr lang="zh-CN" altLang="en-US" dirty="0" smtClean="0">
                <a:solidFill>
                  <a:prstClr val="white"/>
                </a:solidFill>
                <a:latin typeface="微软雅黑" panose="020B0503020204020204" pitchFamily="34" charset="-122"/>
                <a:ea typeface="微软雅黑" panose="020B0503020204020204" pitchFamily="34" charset="-122"/>
              </a:rPr>
              <a:t>来存储这些信息。</a:t>
            </a:r>
            <a:endParaRPr lang="en-US" altLang="zh-CN" dirty="0" smtClean="0">
              <a:solidFill>
                <a:prstClr val="white"/>
              </a:solidFill>
              <a:latin typeface="微软雅黑" panose="020B0503020204020204" pitchFamily="34" charset="-122"/>
              <a:ea typeface="微软雅黑" panose="020B0503020204020204" pitchFamily="34" charset="-122"/>
            </a:endParaRPr>
          </a:p>
          <a:p>
            <a:pPr indent="457200">
              <a:lnSpc>
                <a:spcPct val="150000"/>
              </a:lnSpc>
            </a:pPr>
            <a:r>
              <a:rPr lang="en-US" altLang="zh-CN" dirty="0" smtClean="0">
                <a:solidFill>
                  <a:prstClr val="white"/>
                </a:solidFill>
                <a:latin typeface="微软雅黑" panose="020B0503020204020204" pitchFamily="34" charset="-122"/>
                <a:ea typeface="微软雅黑" panose="020B0503020204020204" pitchFamily="34" charset="-122"/>
              </a:rPr>
              <a:t>key</a:t>
            </a:r>
            <a:r>
              <a:rPr lang="zh-CN" altLang="en-US" dirty="0" smtClean="0">
                <a:solidFill>
                  <a:prstClr val="white"/>
                </a:solidFill>
                <a:latin typeface="微软雅黑" panose="020B0503020204020204" pitchFamily="34" charset="-122"/>
                <a:ea typeface="微软雅黑" panose="020B0503020204020204" pitchFamily="34" charset="-122"/>
              </a:rPr>
              <a:t>映射到那个槽的算法是，对</a:t>
            </a:r>
            <a:r>
              <a:rPr lang="en-US" altLang="zh-CN" dirty="0" smtClean="0">
                <a:solidFill>
                  <a:prstClr val="white"/>
                </a:solidFill>
                <a:latin typeface="微软雅黑" panose="020B0503020204020204" pitchFamily="34" charset="-122"/>
                <a:ea typeface="微软雅黑" panose="020B0503020204020204" pitchFamily="34" charset="-122"/>
              </a:rPr>
              <a:t>key</a:t>
            </a:r>
            <a:r>
              <a:rPr lang="zh-CN" altLang="en-US" dirty="0" smtClean="0">
                <a:solidFill>
                  <a:prstClr val="white"/>
                </a:solidFill>
                <a:latin typeface="微软雅黑" panose="020B0503020204020204" pitchFamily="34" charset="-122"/>
                <a:ea typeface="微软雅黑" panose="020B0503020204020204" pitchFamily="34" charset="-122"/>
              </a:rPr>
              <a:t>做</a:t>
            </a:r>
            <a:r>
              <a:rPr lang="en-US" altLang="zh-CN" dirty="0" smtClean="0">
                <a:solidFill>
                  <a:prstClr val="white"/>
                </a:solidFill>
                <a:latin typeface="微软雅黑" panose="020B0503020204020204" pitchFamily="34" charset="-122"/>
                <a:ea typeface="微软雅黑" panose="020B0503020204020204" pitchFamily="34" charset="-122"/>
              </a:rPr>
              <a:t>crc16</a:t>
            </a:r>
            <a:r>
              <a:rPr lang="zh-CN" altLang="en-US" dirty="0" smtClean="0">
                <a:solidFill>
                  <a:prstClr val="white"/>
                </a:solidFill>
                <a:latin typeface="微软雅黑" panose="020B0503020204020204" pitchFamily="34" charset="-122"/>
                <a:ea typeface="微软雅黑" panose="020B0503020204020204" pitchFamily="34" charset="-122"/>
              </a:rPr>
              <a:t>哈希算法，获得整数值，再对</a:t>
            </a:r>
            <a:r>
              <a:rPr lang="en-US" altLang="zh-CN" dirty="0" smtClean="0">
                <a:solidFill>
                  <a:prstClr val="white"/>
                </a:solidFill>
                <a:latin typeface="微软雅黑" panose="020B0503020204020204" pitchFamily="34" charset="-122"/>
                <a:ea typeface="微软雅黑" panose="020B0503020204020204" pitchFamily="34" charset="-122"/>
              </a:rPr>
              <a:t>16384</a:t>
            </a:r>
            <a:r>
              <a:rPr lang="zh-CN" altLang="en-US" dirty="0" smtClean="0">
                <a:solidFill>
                  <a:prstClr val="white"/>
                </a:solidFill>
                <a:latin typeface="微软雅黑" panose="020B0503020204020204" pitchFamily="34" charset="-122"/>
                <a:ea typeface="微软雅黑" panose="020B0503020204020204" pitchFamily="34" charset="-122"/>
              </a:rPr>
              <a:t>求余，所得余数就是对应的槽。</a:t>
            </a:r>
            <a:endParaRPr lang="en-US" altLang="zh-CN" dirty="0" smtClean="0">
              <a:solidFill>
                <a:prstClr val="white"/>
              </a:solidFill>
              <a:latin typeface="微软雅黑" panose="020B0503020204020204" pitchFamily="34" charset="-122"/>
              <a:ea typeface="微软雅黑" panose="020B0503020204020204" pitchFamily="34" charset="-122"/>
            </a:endParaRPr>
          </a:p>
          <a:p>
            <a:pPr indent="457200">
              <a:lnSpc>
                <a:spcPct val="150000"/>
              </a:lnSpc>
            </a:pPr>
            <a:r>
              <a:rPr lang="zh-CN" altLang="en-US" dirty="0">
                <a:solidFill>
                  <a:prstClr val="white"/>
                </a:solidFill>
                <a:latin typeface="微软雅黑" panose="020B0503020204020204" pitchFamily="34" charset="-122"/>
                <a:ea typeface="微软雅黑" panose="020B0503020204020204" pitchFamily="34" charset="-122"/>
              </a:rPr>
              <a:t>可</a:t>
            </a:r>
            <a:r>
              <a:rPr lang="zh-CN" altLang="en-US" dirty="0" smtClean="0">
                <a:solidFill>
                  <a:prstClr val="white"/>
                </a:solidFill>
                <a:latin typeface="微软雅黑" panose="020B0503020204020204" pitchFamily="34" charset="-122"/>
                <a:ea typeface="微软雅黑" panose="020B0503020204020204" pitchFamily="34" charset="-122"/>
              </a:rPr>
              <a:t>以手动设置每个节点对应的槽位，槽位信息发送变化后，节点会把最新的槽位信息发送给其它节点，以便告知其它节点自己负责的槽位。以保持配置的一致性。</a:t>
            </a:r>
            <a:endParaRPr lang="zh-CN" altLang="en-US" dirty="0">
              <a:solidFill>
                <a:prstClr val="white"/>
              </a:solidFill>
              <a:latin typeface="微软雅黑" panose="020B0503020204020204" pitchFamily="34" charset="-122"/>
              <a:ea typeface="微软雅黑" panose="020B0503020204020204" pitchFamily="34" charset="-122"/>
            </a:endParaRPr>
          </a:p>
        </p:txBody>
      </p:sp>
      <p:sp>
        <p:nvSpPr>
          <p:cNvPr id="10" name="TextBox 9"/>
          <p:cNvSpPr txBox="1"/>
          <p:nvPr/>
        </p:nvSpPr>
        <p:spPr>
          <a:xfrm>
            <a:off x="704849" y="605109"/>
            <a:ext cx="10862965" cy="584775"/>
          </a:xfrm>
          <a:prstGeom prst="rect">
            <a:avLst/>
          </a:prstGeom>
          <a:noFill/>
        </p:spPr>
        <p:txBody>
          <a:bodyPr wrap="square" rtlCol="0">
            <a:spAutoFit/>
          </a:bodyPr>
          <a:lstStyle/>
          <a:p>
            <a:pPr>
              <a:defRPr/>
            </a:pPr>
            <a:r>
              <a:rPr lang="en-US" altLang="zh-CN" sz="32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5.4</a:t>
            </a:r>
            <a:r>
              <a:rPr lang="zh-CN" altLang="en-US" sz="32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、官方集群方案（</a:t>
            </a:r>
            <a:r>
              <a:rPr lang="en-US" altLang="zh-CN" sz="3200" b="1" dirty="0" err="1">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redis</a:t>
            </a:r>
            <a:r>
              <a:rPr lang="en-US" altLang="zh-CN" sz="32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 cluster</a:t>
            </a:r>
            <a:r>
              <a:rPr lang="zh-CN" altLang="en-US" sz="32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2819612194"/>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heel(1)">
                                      <p:cBhvr>
                                        <p:cTn id="7"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0A0F23"/>
        </a:solidFill>
        <a:effectLst/>
      </p:bgPr>
    </p:bg>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xmlns="" id="{CBDC52CD-1D62-48AF-A9DF-9F18AEA2B1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01385" y="-114300"/>
            <a:ext cx="1301859" cy="920356"/>
          </a:xfrm>
          <a:prstGeom prst="rect">
            <a:avLst/>
          </a:prstGeom>
        </p:spPr>
      </p:pic>
      <p:pic>
        <p:nvPicPr>
          <p:cNvPr id="14" name="图片 13">
            <a:extLst>
              <a:ext uri="{FF2B5EF4-FFF2-40B4-BE49-F238E27FC236}">
                <a16:creationId xmlns:a16="http://schemas.microsoft.com/office/drawing/2014/main" xmlns="" id="{F78DA958-9B1B-47DA-A870-8C0B3A7D8866}"/>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b="63537"/>
          <a:stretch/>
        </p:blipFill>
        <p:spPr>
          <a:xfrm>
            <a:off x="11184164" y="217733"/>
            <a:ext cx="572339" cy="337210"/>
          </a:xfrm>
          <a:prstGeom prst="rect">
            <a:avLst/>
          </a:prstGeom>
        </p:spPr>
      </p:pic>
      <p:cxnSp>
        <p:nvCxnSpPr>
          <p:cNvPr id="15" name="直接连接符 14">
            <a:extLst>
              <a:ext uri="{FF2B5EF4-FFF2-40B4-BE49-F238E27FC236}">
                <a16:creationId xmlns:a16="http://schemas.microsoft.com/office/drawing/2014/main" xmlns="" id="{93240A06-D526-4907-A163-94ABB41190CC}"/>
              </a:ext>
            </a:extLst>
          </p:cNvPr>
          <p:cNvCxnSpPr/>
          <p:nvPr/>
        </p:nvCxnSpPr>
        <p:spPr>
          <a:xfrm>
            <a:off x="11103244" y="225825"/>
            <a:ext cx="0" cy="2435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704850" y="605109"/>
            <a:ext cx="7689850" cy="523220"/>
          </a:xfrm>
          <a:prstGeom prst="rect">
            <a:avLst/>
          </a:prstGeom>
          <a:noFill/>
        </p:spPr>
        <p:txBody>
          <a:bodyPr wrap="square" rtlCol="0">
            <a:spAutoFit/>
          </a:bodyPr>
          <a:lstStyle/>
          <a:p>
            <a:pPr>
              <a:defRPr/>
            </a:pPr>
            <a:r>
              <a:rPr lang="en-US" altLang="zh-CN"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5.4.1 </a:t>
            </a:r>
            <a:r>
              <a:rPr lang="en-US" altLang="zh-CN" sz="2800" b="1" dirty="0" err="1">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Redis</a:t>
            </a:r>
            <a:r>
              <a:rPr lang="en-US" altLang="zh-CN"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 Cluster</a:t>
            </a:r>
            <a:r>
              <a:rPr lang="zh-CN" altLang="en-US"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架构介绍</a:t>
            </a:r>
          </a:p>
        </p:txBody>
      </p:sp>
      <p:grpSp>
        <p:nvGrpSpPr>
          <p:cNvPr id="111" name="组合 110"/>
          <p:cNvGrpSpPr/>
          <p:nvPr/>
        </p:nvGrpSpPr>
        <p:grpSpPr>
          <a:xfrm>
            <a:off x="1066846" y="1192324"/>
            <a:ext cx="10559097" cy="5164933"/>
            <a:chOff x="1066846" y="1192324"/>
            <a:chExt cx="10559097" cy="5164933"/>
          </a:xfrm>
        </p:grpSpPr>
        <p:grpSp>
          <p:nvGrpSpPr>
            <p:cNvPr id="6" name="组合 5"/>
            <p:cNvGrpSpPr/>
            <p:nvPr/>
          </p:nvGrpSpPr>
          <p:grpSpPr>
            <a:xfrm>
              <a:off x="5088843" y="1192324"/>
              <a:ext cx="1756229" cy="1284995"/>
              <a:chOff x="5733141" y="1586851"/>
              <a:chExt cx="1756229" cy="1284995"/>
            </a:xfrm>
          </p:grpSpPr>
          <p:sp>
            <p:nvSpPr>
              <p:cNvPr id="2" name="圆角矩形 1"/>
              <p:cNvSpPr/>
              <p:nvPr/>
            </p:nvSpPr>
            <p:spPr>
              <a:xfrm>
                <a:off x="5733141" y="1586851"/>
                <a:ext cx="1756229" cy="953148"/>
              </a:xfrm>
              <a:prstGeom prst="roundRect">
                <a:avLst/>
              </a:prstGeom>
              <a:solidFill>
                <a:schemeClr val="accent4">
                  <a:lumMod val="75000"/>
                </a:schemeClr>
              </a:solidFill>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3" name="矩形 2"/>
              <p:cNvSpPr/>
              <p:nvPr/>
            </p:nvSpPr>
            <p:spPr>
              <a:xfrm>
                <a:off x="6023431" y="1857831"/>
                <a:ext cx="595086" cy="377371"/>
              </a:xfrm>
              <a:prstGeom prst="rect">
                <a:avLst/>
              </a:prstGeom>
              <a:solidFill>
                <a:schemeClr val="tx2"/>
              </a:solidFill>
              <a:ln w="12700" cmpd="sng">
                <a:solidFill>
                  <a:srgbClr val="00B0F0"/>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600" dirty="0" smtClean="0">
                    <a:solidFill>
                      <a:schemeClr val="bg1"/>
                    </a:solidFill>
                  </a:rPr>
                  <a:t>1</a:t>
                </a:r>
                <a:endParaRPr lang="zh-CN" altLang="en-US" sz="1600" dirty="0">
                  <a:solidFill>
                    <a:schemeClr val="bg1"/>
                  </a:solidFill>
                </a:endParaRPr>
              </a:p>
            </p:txBody>
          </p:sp>
          <p:sp>
            <p:nvSpPr>
              <p:cNvPr id="12" name="矩形 11"/>
              <p:cNvSpPr/>
              <p:nvPr/>
            </p:nvSpPr>
            <p:spPr>
              <a:xfrm>
                <a:off x="6633031" y="1857831"/>
                <a:ext cx="595086" cy="377371"/>
              </a:xfrm>
              <a:prstGeom prst="rect">
                <a:avLst/>
              </a:prstGeom>
              <a:solidFill>
                <a:schemeClr val="tx2"/>
              </a:solidFill>
              <a:ln w="12700" cmpd="sng">
                <a:solidFill>
                  <a:srgbClr val="00B0F0"/>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600" dirty="0" smtClean="0">
                    <a:solidFill>
                      <a:schemeClr val="bg1"/>
                    </a:solidFill>
                  </a:rPr>
                  <a:t>2</a:t>
                </a:r>
                <a:endParaRPr lang="zh-CN" altLang="en-US" sz="1600" dirty="0">
                  <a:solidFill>
                    <a:schemeClr val="bg1"/>
                  </a:solidFill>
                </a:endParaRPr>
              </a:p>
            </p:txBody>
          </p:sp>
          <p:sp>
            <p:nvSpPr>
              <p:cNvPr id="4" name="文本框 3"/>
              <p:cNvSpPr txBox="1"/>
              <p:nvPr/>
            </p:nvSpPr>
            <p:spPr>
              <a:xfrm>
                <a:off x="6179459" y="2235202"/>
                <a:ext cx="907143" cy="338554"/>
              </a:xfrm>
              <a:prstGeom prst="rect">
                <a:avLst/>
              </a:prstGeom>
              <a:noFill/>
            </p:spPr>
            <p:txBody>
              <a:bodyPr wrap="square" rtlCol="0">
                <a:spAutoFit/>
              </a:bodyPr>
              <a:lstStyle/>
              <a:p>
                <a:pPr algn="ctr"/>
                <a:r>
                  <a:rPr lang="en-US" altLang="zh-CN" sz="1600" dirty="0" smtClean="0">
                    <a:solidFill>
                      <a:schemeClr val="bg1"/>
                    </a:solidFill>
                    <a:latin typeface="微软雅黑" panose="020B0503020204020204" pitchFamily="34" charset="-122"/>
                    <a:ea typeface="微软雅黑" panose="020B0503020204020204" pitchFamily="34" charset="-122"/>
                  </a:rPr>
                  <a:t>slot</a:t>
                </a:r>
                <a:endParaRPr lang="zh-CN" altLang="en-US" sz="1600" dirty="0" smtClean="0">
                  <a:solidFill>
                    <a:schemeClr val="bg1"/>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6101444" y="2533292"/>
                <a:ext cx="1063171" cy="338554"/>
              </a:xfrm>
              <a:prstGeom prst="rect">
                <a:avLst/>
              </a:prstGeom>
              <a:noFill/>
            </p:spPr>
            <p:txBody>
              <a:bodyPr wrap="square" rtlCol="0">
                <a:spAutoFit/>
              </a:bodyPr>
              <a:lstStyle/>
              <a:p>
                <a:pPr algn="ctr"/>
                <a:r>
                  <a:rPr lang="en-US" altLang="zh-CN" sz="1600" dirty="0" smtClean="0">
                    <a:solidFill>
                      <a:schemeClr val="accent4"/>
                    </a:solidFill>
                    <a:latin typeface="微软雅黑" panose="020B0503020204020204" pitchFamily="34" charset="-122"/>
                    <a:ea typeface="微软雅黑" panose="020B0503020204020204" pitchFamily="34" charset="-122"/>
                  </a:rPr>
                  <a:t>A1</a:t>
                </a:r>
                <a:endParaRPr lang="zh-CN" altLang="en-US" sz="1600" dirty="0" smtClean="0">
                  <a:solidFill>
                    <a:schemeClr val="accent4"/>
                  </a:solidFill>
                  <a:latin typeface="微软雅黑" panose="020B0503020204020204" pitchFamily="34" charset="-122"/>
                  <a:ea typeface="微软雅黑" panose="020B0503020204020204" pitchFamily="34" charset="-122"/>
                </a:endParaRPr>
              </a:p>
            </p:txBody>
          </p:sp>
        </p:grpSp>
        <p:grpSp>
          <p:nvGrpSpPr>
            <p:cNvPr id="40" name="组合 39"/>
            <p:cNvGrpSpPr/>
            <p:nvPr/>
          </p:nvGrpSpPr>
          <p:grpSpPr>
            <a:xfrm>
              <a:off x="1576385" y="2175598"/>
              <a:ext cx="1756229" cy="1284995"/>
              <a:chOff x="5733141" y="1586851"/>
              <a:chExt cx="1756229" cy="1284995"/>
            </a:xfrm>
          </p:grpSpPr>
          <p:sp>
            <p:nvSpPr>
              <p:cNvPr id="41" name="圆角矩形 40"/>
              <p:cNvSpPr/>
              <p:nvPr/>
            </p:nvSpPr>
            <p:spPr>
              <a:xfrm>
                <a:off x="5733141" y="1586851"/>
                <a:ext cx="1756229" cy="953148"/>
              </a:xfrm>
              <a:prstGeom prst="roundRect">
                <a:avLst/>
              </a:prstGeom>
              <a:solidFill>
                <a:schemeClr val="accent4">
                  <a:lumMod val="75000"/>
                </a:schemeClr>
              </a:solidFill>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42" name="矩形 41"/>
              <p:cNvSpPr/>
              <p:nvPr/>
            </p:nvSpPr>
            <p:spPr>
              <a:xfrm>
                <a:off x="6023431" y="1857831"/>
                <a:ext cx="595086" cy="377371"/>
              </a:xfrm>
              <a:prstGeom prst="rect">
                <a:avLst/>
              </a:prstGeom>
              <a:solidFill>
                <a:schemeClr val="tx2"/>
              </a:solidFill>
              <a:ln w="12700" cmpd="sng">
                <a:solidFill>
                  <a:srgbClr val="00B0F0"/>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600" dirty="0" smtClean="0">
                    <a:solidFill>
                      <a:schemeClr val="bg1"/>
                    </a:solidFill>
                  </a:rPr>
                  <a:t>1</a:t>
                </a:r>
                <a:endParaRPr lang="zh-CN" altLang="en-US" sz="1600" dirty="0">
                  <a:solidFill>
                    <a:schemeClr val="bg1"/>
                  </a:solidFill>
                </a:endParaRPr>
              </a:p>
            </p:txBody>
          </p:sp>
          <p:sp>
            <p:nvSpPr>
              <p:cNvPr id="43" name="矩形 42"/>
              <p:cNvSpPr/>
              <p:nvPr/>
            </p:nvSpPr>
            <p:spPr>
              <a:xfrm>
                <a:off x="6633031" y="1857831"/>
                <a:ext cx="595086" cy="377371"/>
              </a:xfrm>
              <a:prstGeom prst="rect">
                <a:avLst/>
              </a:prstGeom>
              <a:solidFill>
                <a:schemeClr val="tx2"/>
              </a:solidFill>
              <a:ln w="12700" cmpd="sng">
                <a:solidFill>
                  <a:srgbClr val="00B0F0"/>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600" dirty="0" smtClean="0">
                    <a:solidFill>
                      <a:schemeClr val="bg1"/>
                    </a:solidFill>
                  </a:rPr>
                  <a:t>2</a:t>
                </a:r>
                <a:endParaRPr lang="zh-CN" altLang="en-US" sz="1600" dirty="0">
                  <a:solidFill>
                    <a:schemeClr val="bg1"/>
                  </a:solidFill>
                </a:endParaRPr>
              </a:p>
            </p:txBody>
          </p:sp>
          <p:sp>
            <p:nvSpPr>
              <p:cNvPr id="44" name="文本框 43"/>
              <p:cNvSpPr txBox="1"/>
              <p:nvPr/>
            </p:nvSpPr>
            <p:spPr>
              <a:xfrm>
                <a:off x="6179459" y="2235202"/>
                <a:ext cx="907143" cy="338554"/>
              </a:xfrm>
              <a:prstGeom prst="rect">
                <a:avLst/>
              </a:prstGeom>
              <a:noFill/>
            </p:spPr>
            <p:txBody>
              <a:bodyPr wrap="square" rtlCol="0">
                <a:spAutoFit/>
              </a:bodyPr>
              <a:lstStyle/>
              <a:p>
                <a:pPr algn="ctr"/>
                <a:r>
                  <a:rPr lang="en-US" altLang="zh-CN" sz="1600" dirty="0" smtClean="0">
                    <a:solidFill>
                      <a:schemeClr val="bg1"/>
                    </a:solidFill>
                    <a:latin typeface="微软雅黑" panose="020B0503020204020204" pitchFamily="34" charset="-122"/>
                    <a:ea typeface="微软雅黑" panose="020B0503020204020204" pitchFamily="34" charset="-122"/>
                  </a:rPr>
                  <a:t>slot</a:t>
                </a:r>
                <a:endParaRPr lang="zh-CN" altLang="en-US" sz="1600" dirty="0" smtClean="0">
                  <a:solidFill>
                    <a:schemeClr val="bg1"/>
                  </a:solidFill>
                  <a:latin typeface="微软雅黑" panose="020B0503020204020204" pitchFamily="34" charset="-122"/>
                  <a:ea typeface="微软雅黑" panose="020B0503020204020204" pitchFamily="34" charset="-122"/>
                </a:endParaRPr>
              </a:p>
            </p:txBody>
          </p:sp>
          <p:sp>
            <p:nvSpPr>
              <p:cNvPr id="45" name="文本框 44"/>
              <p:cNvSpPr txBox="1"/>
              <p:nvPr/>
            </p:nvSpPr>
            <p:spPr>
              <a:xfrm>
                <a:off x="6101444" y="2533292"/>
                <a:ext cx="1063171" cy="338554"/>
              </a:xfrm>
              <a:prstGeom prst="rect">
                <a:avLst/>
              </a:prstGeom>
              <a:noFill/>
            </p:spPr>
            <p:txBody>
              <a:bodyPr wrap="square" rtlCol="0">
                <a:spAutoFit/>
              </a:bodyPr>
              <a:lstStyle/>
              <a:p>
                <a:pPr algn="ctr"/>
                <a:r>
                  <a:rPr lang="en-US" altLang="zh-CN" sz="1600" dirty="0" smtClean="0">
                    <a:solidFill>
                      <a:schemeClr val="accent4"/>
                    </a:solidFill>
                    <a:latin typeface="微软雅黑" panose="020B0503020204020204" pitchFamily="34" charset="-122"/>
                    <a:ea typeface="微软雅黑" panose="020B0503020204020204" pitchFamily="34" charset="-122"/>
                  </a:rPr>
                  <a:t>A</a:t>
                </a:r>
                <a:endParaRPr lang="zh-CN" altLang="en-US" sz="1600" dirty="0" smtClean="0">
                  <a:solidFill>
                    <a:schemeClr val="accent4"/>
                  </a:solidFill>
                  <a:latin typeface="微软雅黑" panose="020B0503020204020204" pitchFamily="34" charset="-122"/>
                  <a:ea typeface="微软雅黑" panose="020B0503020204020204" pitchFamily="34" charset="-122"/>
                </a:endParaRPr>
              </a:p>
            </p:txBody>
          </p:sp>
        </p:grpSp>
        <p:grpSp>
          <p:nvGrpSpPr>
            <p:cNvPr id="46" name="组合 45"/>
            <p:cNvGrpSpPr/>
            <p:nvPr/>
          </p:nvGrpSpPr>
          <p:grpSpPr>
            <a:xfrm>
              <a:off x="3238342" y="4577394"/>
              <a:ext cx="1756229" cy="1284995"/>
              <a:chOff x="5733141" y="1586851"/>
              <a:chExt cx="1756229" cy="1284995"/>
            </a:xfrm>
          </p:grpSpPr>
          <p:sp>
            <p:nvSpPr>
              <p:cNvPr id="47" name="圆角矩形 46"/>
              <p:cNvSpPr/>
              <p:nvPr/>
            </p:nvSpPr>
            <p:spPr>
              <a:xfrm>
                <a:off x="5733141" y="1586851"/>
                <a:ext cx="1756229" cy="953148"/>
              </a:xfrm>
              <a:prstGeom prst="roundRect">
                <a:avLst/>
              </a:prstGeom>
              <a:solidFill>
                <a:schemeClr val="accent4">
                  <a:lumMod val="75000"/>
                </a:schemeClr>
              </a:solidFill>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48" name="矩形 47"/>
              <p:cNvSpPr/>
              <p:nvPr/>
            </p:nvSpPr>
            <p:spPr>
              <a:xfrm>
                <a:off x="6023431" y="1857831"/>
                <a:ext cx="595086" cy="377371"/>
              </a:xfrm>
              <a:prstGeom prst="rect">
                <a:avLst/>
              </a:prstGeom>
              <a:solidFill>
                <a:schemeClr val="tx2"/>
              </a:solidFill>
              <a:ln w="12700" cmpd="sng">
                <a:solidFill>
                  <a:srgbClr val="00B0F0"/>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600" dirty="0">
                    <a:solidFill>
                      <a:schemeClr val="bg1"/>
                    </a:solidFill>
                  </a:rPr>
                  <a:t>3</a:t>
                </a:r>
                <a:endParaRPr lang="zh-CN" altLang="en-US" sz="1600" dirty="0">
                  <a:solidFill>
                    <a:schemeClr val="bg1"/>
                  </a:solidFill>
                </a:endParaRPr>
              </a:p>
            </p:txBody>
          </p:sp>
          <p:sp>
            <p:nvSpPr>
              <p:cNvPr id="49" name="矩形 48"/>
              <p:cNvSpPr/>
              <p:nvPr/>
            </p:nvSpPr>
            <p:spPr>
              <a:xfrm>
                <a:off x="6633031" y="1857831"/>
                <a:ext cx="595086" cy="377371"/>
              </a:xfrm>
              <a:prstGeom prst="rect">
                <a:avLst/>
              </a:prstGeom>
              <a:solidFill>
                <a:schemeClr val="tx2"/>
              </a:solidFill>
              <a:ln w="12700" cmpd="sng">
                <a:solidFill>
                  <a:srgbClr val="00B0F0"/>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600" dirty="0">
                    <a:solidFill>
                      <a:schemeClr val="bg1"/>
                    </a:solidFill>
                  </a:rPr>
                  <a:t>4</a:t>
                </a:r>
                <a:endParaRPr lang="zh-CN" altLang="en-US" sz="1600" dirty="0">
                  <a:solidFill>
                    <a:schemeClr val="bg1"/>
                  </a:solidFill>
                </a:endParaRPr>
              </a:p>
            </p:txBody>
          </p:sp>
          <p:sp>
            <p:nvSpPr>
              <p:cNvPr id="50" name="文本框 49"/>
              <p:cNvSpPr txBox="1"/>
              <p:nvPr/>
            </p:nvSpPr>
            <p:spPr>
              <a:xfrm>
                <a:off x="6179459" y="2235202"/>
                <a:ext cx="907143" cy="338554"/>
              </a:xfrm>
              <a:prstGeom prst="rect">
                <a:avLst/>
              </a:prstGeom>
              <a:noFill/>
            </p:spPr>
            <p:txBody>
              <a:bodyPr wrap="square" rtlCol="0">
                <a:spAutoFit/>
              </a:bodyPr>
              <a:lstStyle/>
              <a:p>
                <a:pPr algn="ctr"/>
                <a:r>
                  <a:rPr lang="en-US" altLang="zh-CN" sz="1600" dirty="0" smtClean="0">
                    <a:solidFill>
                      <a:schemeClr val="bg1"/>
                    </a:solidFill>
                    <a:latin typeface="微软雅黑" panose="020B0503020204020204" pitchFamily="34" charset="-122"/>
                    <a:ea typeface="微软雅黑" panose="020B0503020204020204" pitchFamily="34" charset="-122"/>
                  </a:rPr>
                  <a:t>slot</a:t>
                </a:r>
                <a:endParaRPr lang="zh-CN" altLang="en-US" sz="1600" dirty="0" smtClean="0">
                  <a:solidFill>
                    <a:schemeClr val="bg1"/>
                  </a:solidFill>
                  <a:latin typeface="微软雅黑" panose="020B0503020204020204" pitchFamily="34" charset="-122"/>
                  <a:ea typeface="微软雅黑" panose="020B0503020204020204" pitchFamily="34" charset="-122"/>
                </a:endParaRPr>
              </a:p>
            </p:txBody>
          </p:sp>
          <p:sp>
            <p:nvSpPr>
              <p:cNvPr id="51" name="文本框 50"/>
              <p:cNvSpPr txBox="1"/>
              <p:nvPr/>
            </p:nvSpPr>
            <p:spPr>
              <a:xfrm>
                <a:off x="6101444" y="2533292"/>
                <a:ext cx="1063171" cy="338554"/>
              </a:xfrm>
              <a:prstGeom prst="rect">
                <a:avLst/>
              </a:prstGeom>
              <a:noFill/>
            </p:spPr>
            <p:txBody>
              <a:bodyPr wrap="square" rtlCol="0">
                <a:spAutoFit/>
              </a:bodyPr>
              <a:lstStyle/>
              <a:p>
                <a:pPr algn="ctr"/>
                <a:r>
                  <a:rPr lang="en-US" altLang="zh-CN" sz="1600" dirty="0">
                    <a:solidFill>
                      <a:schemeClr val="accent4"/>
                    </a:solidFill>
                    <a:latin typeface="微软雅黑" panose="020B0503020204020204" pitchFamily="34" charset="-122"/>
                    <a:ea typeface="微软雅黑" panose="020B0503020204020204" pitchFamily="34" charset="-122"/>
                  </a:rPr>
                  <a:t>B</a:t>
                </a:r>
                <a:endParaRPr lang="zh-CN" altLang="en-US" sz="1600" dirty="0" smtClean="0">
                  <a:solidFill>
                    <a:schemeClr val="accent4"/>
                  </a:solidFill>
                  <a:latin typeface="微软雅黑" panose="020B0503020204020204" pitchFamily="34" charset="-122"/>
                  <a:ea typeface="微软雅黑" panose="020B0503020204020204" pitchFamily="34" charset="-122"/>
                </a:endParaRPr>
              </a:p>
            </p:txBody>
          </p:sp>
        </p:grpSp>
        <p:grpSp>
          <p:nvGrpSpPr>
            <p:cNvPr id="52" name="组合 51"/>
            <p:cNvGrpSpPr/>
            <p:nvPr/>
          </p:nvGrpSpPr>
          <p:grpSpPr>
            <a:xfrm>
              <a:off x="6348383" y="4059663"/>
              <a:ext cx="1756229" cy="1284995"/>
              <a:chOff x="5733141" y="1586851"/>
              <a:chExt cx="1756229" cy="1284995"/>
            </a:xfrm>
          </p:grpSpPr>
          <p:sp>
            <p:nvSpPr>
              <p:cNvPr id="53" name="圆角矩形 52"/>
              <p:cNvSpPr/>
              <p:nvPr/>
            </p:nvSpPr>
            <p:spPr>
              <a:xfrm>
                <a:off x="5733141" y="1586851"/>
                <a:ext cx="1756229" cy="953148"/>
              </a:xfrm>
              <a:prstGeom prst="roundRect">
                <a:avLst/>
              </a:prstGeom>
              <a:solidFill>
                <a:schemeClr val="accent4">
                  <a:lumMod val="75000"/>
                </a:schemeClr>
              </a:solidFill>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54" name="矩形 53"/>
              <p:cNvSpPr/>
              <p:nvPr/>
            </p:nvSpPr>
            <p:spPr>
              <a:xfrm>
                <a:off x="6023431" y="1857831"/>
                <a:ext cx="595086" cy="377371"/>
              </a:xfrm>
              <a:prstGeom prst="rect">
                <a:avLst/>
              </a:prstGeom>
              <a:solidFill>
                <a:schemeClr val="tx2"/>
              </a:solidFill>
              <a:ln w="12700" cmpd="sng">
                <a:solidFill>
                  <a:srgbClr val="00B0F0"/>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600" dirty="0">
                    <a:solidFill>
                      <a:schemeClr val="bg1"/>
                    </a:solidFill>
                  </a:rPr>
                  <a:t>3</a:t>
                </a:r>
                <a:endParaRPr lang="zh-CN" altLang="en-US" sz="1600" dirty="0">
                  <a:solidFill>
                    <a:schemeClr val="bg1"/>
                  </a:solidFill>
                </a:endParaRPr>
              </a:p>
            </p:txBody>
          </p:sp>
          <p:sp>
            <p:nvSpPr>
              <p:cNvPr id="55" name="矩形 54"/>
              <p:cNvSpPr/>
              <p:nvPr/>
            </p:nvSpPr>
            <p:spPr>
              <a:xfrm>
                <a:off x="6633031" y="1857831"/>
                <a:ext cx="595086" cy="377371"/>
              </a:xfrm>
              <a:prstGeom prst="rect">
                <a:avLst/>
              </a:prstGeom>
              <a:solidFill>
                <a:schemeClr val="tx2"/>
              </a:solidFill>
              <a:ln w="12700" cmpd="sng">
                <a:solidFill>
                  <a:srgbClr val="00B0F0"/>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600" dirty="0" smtClean="0">
                    <a:solidFill>
                      <a:schemeClr val="bg1"/>
                    </a:solidFill>
                  </a:rPr>
                  <a:t>4</a:t>
                </a:r>
                <a:endParaRPr lang="zh-CN" altLang="en-US" sz="1600" dirty="0">
                  <a:solidFill>
                    <a:schemeClr val="bg1"/>
                  </a:solidFill>
                </a:endParaRPr>
              </a:p>
            </p:txBody>
          </p:sp>
          <p:sp>
            <p:nvSpPr>
              <p:cNvPr id="56" name="文本框 55"/>
              <p:cNvSpPr txBox="1"/>
              <p:nvPr/>
            </p:nvSpPr>
            <p:spPr>
              <a:xfrm>
                <a:off x="6179459" y="2235202"/>
                <a:ext cx="907143" cy="338554"/>
              </a:xfrm>
              <a:prstGeom prst="rect">
                <a:avLst/>
              </a:prstGeom>
              <a:noFill/>
            </p:spPr>
            <p:txBody>
              <a:bodyPr wrap="square" rtlCol="0">
                <a:spAutoFit/>
              </a:bodyPr>
              <a:lstStyle/>
              <a:p>
                <a:pPr algn="ctr"/>
                <a:r>
                  <a:rPr lang="en-US" altLang="zh-CN" sz="1600" dirty="0" smtClean="0">
                    <a:solidFill>
                      <a:schemeClr val="bg1"/>
                    </a:solidFill>
                    <a:latin typeface="微软雅黑" panose="020B0503020204020204" pitchFamily="34" charset="-122"/>
                    <a:ea typeface="微软雅黑" panose="020B0503020204020204" pitchFamily="34" charset="-122"/>
                  </a:rPr>
                  <a:t>slot</a:t>
                </a:r>
                <a:endParaRPr lang="zh-CN" altLang="en-US" sz="1600" dirty="0" smtClean="0">
                  <a:solidFill>
                    <a:schemeClr val="bg1"/>
                  </a:solidFill>
                  <a:latin typeface="微软雅黑" panose="020B0503020204020204" pitchFamily="34" charset="-122"/>
                  <a:ea typeface="微软雅黑" panose="020B0503020204020204" pitchFamily="34" charset="-122"/>
                </a:endParaRPr>
              </a:p>
            </p:txBody>
          </p:sp>
          <p:sp>
            <p:nvSpPr>
              <p:cNvPr id="57" name="文本框 56"/>
              <p:cNvSpPr txBox="1"/>
              <p:nvPr/>
            </p:nvSpPr>
            <p:spPr>
              <a:xfrm>
                <a:off x="6101444" y="2533292"/>
                <a:ext cx="1063171" cy="338554"/>
              </a:xfrm>
              <a:prstGeom prst="rect">
                <a:avLst/>
              </a:prstGeom>
              <a:noFill/>
            </p:spPr>
            <p:txBody>
              <a:bodyPr wrap="square" rtlCol="0">
                <a:spAutoFit/>
              </a:bodyPr>
              <a:lstStyle/>
              <a:p>
                <a:pPr algn="ctr"/>
                <a:r>
                  <a:rPr lang="en-US" altLang="zh-CN" sz="1600" dirty="0" smtClean="0">
                    <a:solidFill>
                      <a:schemeClr val="accent4"/>
                    </a:solidFill>
                    <a:latin typeface="微软雅黑" panose="020B0503020204020204" pitchFamily="34" charset="-122"/>
                    <a:ea typeface="微软雅黑" panose="020B0503020204020204" pitchFamily="34" charset="-122"/>
                  </a:rPr>
                  <a:t>B1</a:t>
                </a:r>
                <a:endParaRPr lang="zh-CN" altLang="en-US" sz="1600" dirty="0" smtClean="0">
                  <a:solidFill>
                    <a:schemeClr val="accent4"/>
                  </a:solidFill>
                  <a:latin typeface="微软雅黑" panose="020B0503020204020204" pitchFamily="34" charset="-122"/>
                  <a:ea typeface="微软雅黑" panose="020B0503020204020204" pitchFamily="34" charset="-122"/>
                </a:endParaRPr>
              </a:p>
            </p:txBody>
          </p:sp>
        </p:grpSp>
        <p:grpSp>
          <p:nvGrpSpPr>
            <p:cNvPr id="58" name="组合 57"/>
            <p:cNvGrpSpPr/>
            <p:nvPr/>
          </p:nvGrpSpPr>
          <p:grpSpPr>
            <a:xfrm>
              <a:off x="8104612" y="1837044"/>
              <a:ext cx="1756229" cy="1284995"/>
              <a:chOff x="5733141" y="1586851"/>
              <a:chExt cx="1756229" cy="1284995"/>
            </a:xfrm>
          </p:grpSpPr>
          <p:sp>
            <p:nvSpPr>
              <p:cNvPr id="59" name="圆角矩形 58"/>
              <p:cNvSpPr/>
              <p:nvPr/>
            </p:nvSpPr>
            <p:spPr>
              <a:xfrm>
                <a:off x="5733141" y="1586851"/>
                <a:ext cx="1756229" cy="953148"/>
              </a:xfrm>
              <a:prstGeom prst="roundRect">
                <a:avLst/>
              </a:prstGeom>
              <a:solidFill>
                <a:schemeClr val="accent4">
                  <a:lumMod val="75000"/>
                </a:schemeClr>
              </a:solidFill>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60" name="矩形 59"/>
              <p:cNvSpPr/>
              <p:nvPr/>
            </p:nvSpPr>
            <p:spPr>
              <a:xfrm>
                <a:off x="6023431" y="1857831"/>
                <a:ext cx="595086" cy="377371"/>
              </a:xfrm>
              <a:prstGeom prst="rect">
                <a:avLst/>
              </a:prstGeom>
              <a:solidFill>
                <a:schemeClr val="tx2"/>
              </a:solidFill>
              <a:ln w="12700" cmpd="sng">
                <a:solidFill>
                  <a:srgbClr val="00B0F0"/>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600" dirty="0" smtClean="0">
                    <a:solidFill>
                      <a:schemeClr val="bg1"/>
                    </a:solidFill>
                  </a:rPr>
                  <a:t>3</a:t>
                </a:r>
                <a:endParaRPr lang="zh-CN" altLang="en-US" sz="1600" dirty="0">
                  <a:solidFill>
                    <a:schemeClr val="bg1"/>
                  </a:solidFill>
                </a:endParaRPr>
              </a:p>
            </p:txBody>
          </p:sp>
          <p:sp>
            <p:nvSpPr>
              <p:cNvPr id="61" name="矩形 60"/>
              <p:cNvSpPr/>
              <p:nvPr/>
            </p:nvSpPr>
            <p:spPr>
              <a:xfrm>
                <a:off x="6633031" y="1857831"/>
                <a:ext cx="595086" cy="377371"/>
              </a:xfrm>
              <a:prstGeom prst="rect">
                <a:avLst/>
              </a:prstGeom>
              <a:solidFill>
                <a:schemeClr val="tx2"/>
              </a:solidFill>
              <a:ln w="12700" cmpd="sng">
                <a:solidFill>
                  <a:srgbClr val="00B0F0"/>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sz="1600" dirty="0" smtClean="0">
                    <a:solidFill>
                      <a:schemeClr val="bg1"/>
                    </a:solidFill>
                  </a:rPr>
                  <a:t>4</a:t>
                </a:r>
                <a:endParaRPr lang="zh-CN" altLang="en-US" sz="1600" dirty="0">
                  <a:solidFill>
                    <a:schemeClr val="bg1"/>
                  </a:solidFill>
                </a:endParaRPr>
              </a:p>
            </p:txBody>
          </p:sp>
          <p:sp>
            <p:nvSpPr>
              <p:cNvPr id="62" name="文本框 61"/>
              <p:cNvSpPr txBox="1"/>
              <p:nvPr/>
            </p:nvSpPr>
            <p:spPr>
              <a:xfrm>
                <a:off x="6179459" y="2235202"/>
                <a:ext cx="907143" cy="338554"/>
              </a:xfrm>
              <a:prstGeom prst="rect">
                <a:avLst/>
              </a:prstGeom>
              <a:noFill/>
            </p:spPr>
            <p:txBody>
              <a:bodyPr wrap="square" rtlCol="0">
                <a:spAutoFit/>
              </a:bodyPr>
              <a:lstStyle/>
              <a:p>
                <a:pPr algn="ctr"/>
                <a:r>
                  <a:rPr lang="en-US" altLang="zh-CN" sz="1600" dirty="0" smtClean="0">
                    <a:solidFill>
                      <a:schemeClr val="bg1"/>
                    </a:solidFill>
                    <a:latin typeface="微软雅黑" panose="020B0503020204020204" pitchFamily="34" charset="-122"/>
                    <a:ea typeface="微软雅黑" panose="020B0503020204020204" pitchFamily="34" charset="-122"/>
                  </a:rPr>
                  <a:t>slot</a:t>
                </a:r>
                <a:endParaRPr lang="zh-CN" altLang="en-US" sz="1600" dirty="0" smtClean="0">
                  <a:solidFill>
                    <a:schemeClr val="bg1"/>
                  </a:solidFill>
                  <a:latin typeface="微软雅黑" panose="020B0503020204020204" pitchFamily="34" charset="-122"/>
                  <a:ea typeface="微软雅黑" panose="020B0503020204020204" pitchFamily="34" charset="-122"/>
                </a:endParaRPr>
              </a:p>
            </p:txBody>
          </p:sp>
          <p:sp>
            <p:nvSpPr>
              <p:cNvPr id="63" name="文本框 62"/>
              <p:cNvSpPr txBox="1"/>
              <p:nvPr/>
            </p:nvSpPr>
            <p:spPr>
              <a:xfrm>
                <a:off x="6101444" y="2533292"/>
                <a:ext cx="1063171" cy="338554"/>
              </a:xfrm>
              <a:prstGeom prst="rect">
                <a:avLst/>
              </a:prstGeom>
              <a:noFill/>
            </p:spPr>
            <p:txBody>
              <a:bodyPr wrap="square" rtlCol="0">
                <a:spAutoFit/>
              </a:bodyPr>
              <a:lstStyle/>
              <a:p>
                <a:pPr algn="ctr"/>
                <a:r>
                  <a:rPr lang="en-US" altLang="zh-CN" sz="1600" dirty="0" smtClean="0">
                    <a:solidFill>
                      <a:schemeClr val="accent4"/>
                    </a:solidFill>
                    <a:latin typeface="微软雅黑" panose="020B0503020204020204" pitchFamily="34" charset="-122"/>
                    <a:ea typeface="微软雅黑" panose="020B0503020204020204" pitchFamily="34" charset="-122"/>
                  </a:rPr>
                  <a:t>B2</a:t>
                </a:r>
                <a:endParaRPr lang="zh-CN" altLang="en-US" sz="1600" dirty="0" smtClean="0">
                  <a:solidFill>
                    <a:schemeClr val="accent4"/>
                  </a:solidFill>
                  <a:latin typeface="微软雅黑" panose="020B0503020204020204" pitchFamily="34" charset="-122"/>
                  <a:ea typeface="微软雅黑" panose="020B0503020204020204" pitchFamily="34" charset="-122"/>
                </a:endParaRPr>
              </a:p>
            </p:txBody>
          </p:sp>
        </p:grpSp>
        <p:sp>
          <p:nvSpPr>
            <p:cNvPr id="64" name="businessman_57134">
              <a:extLst>
                <a:ext uri="{FF2B5EF4-FFF2-40B4-BE49-F238E27FC236}">
                  <a16:creationId xmlns:a16="http://schemas.microsoft.com/office/drawing/2014/main" xmlns="" id="{44B06DE3-64A7-49DB-9F42-1E5B21107308}"/>
                </a:ext>
              </a:extLst>
            </p:cNvPr>
            <p:cNvSpPr>
              <a:spLocks noChangeAspect="1"/>
            </p:cNvSpPr>
            <p:nvPr/>
          </p:nvSpPr>
          <p:spPr bwMode="auto">
            <a:xfrm>
              <a:off x="1066846" y="4877893"/>
              <a:ext cx="558601" cy="609685"/>
            </a:xfrm>
            <a:custGeom>
              <a:avLst/>
              <a:gdLst>
                <a:gd name="connsiteX0" fmla="*/ 243589 w 557114"/>
                <a:gd name="connsiteY0" fmla="*/ 355438 h 608062"/>
                <a:gd name="connsiteX1" fmla="*/ 277656 w 557114"/>
                <a:gd name="connsiteY1" fmla="*/ 355438 h 608062"/>
                <a:gd name="connsiteX2" fmla="*/ 277940 w 557114"/>
                <a:gd name="connsiteY2" fmla="*/ 355438 h 608062"/>
                <a:gd name="connsiteX3" fmla="*/ 278604 w 557114"/>
                <a:gd name="connsiteY3" fmla="*/ 355438 h 608062"/>
                <a:gd name="connsiteX4" fmla="*/ 279174 w 557114"/>
                <a:gd name="connsiteY4" fmla="*/ 355438 h 608062"/>
                <a:gd name="connsiteX5" fmla="*/ 279458 w 557114"/>
                <a:gd name="connsiteY5" fmla="*/ 355438 h 608062"/>
                <a:gd name="connsiteX6" fmla="*/ 279553 w 557114"/>
                <a:gd name="connsiteY6" fmla="*/ 355438 h 608062"/>
                <a:gd name="connsiteX7" fmla="*/ 313620 w 557114"/>
                <a:gd name="connsiteY7" fmla="*/ 355438 h 608062"/>
                <a:gd name="connsiteX8" fmla="*/ 324438 w 557114"/>
                <a:gd name="connsiteY8" fmla="*/ 375432 h 608062"/>
                <a:gd name="connsiteX9" fmla="*/ 298152 w 557114"/>
                <a:gd name="connsiteY9" fmla="*/ 430202 h 608062"/>
                <a:gd name="connsiteX10" fmla="*/ 301948 w 557114"/>
                <a:gd name="connsiteY10" fmla="*/ 510272 h 608062"/>
                <a:gd name="connsiteX11" fmla="*/ 356891 w 557114"/>
                <a:gd name="connsiteY11" fmla="*/ 389172 h 608062"/>
                <a:gd name="connsiteX12" fmla="*/ 356986 w 557114"/>
                <a:gd name="connsiteY12" fmla="*/ 389172 h 608062"/>
                <a:gd name="connsiteX13" fmla="*/ 376628 w 557114"/>
                <a:gd name="connsiteY13" fmla="*/ 375337 h 608062"/>
                <a:gd name="connsiteX14" fmla="*/ 383556 w 557114"/>
                <a:gd name="connsiteY14" fmla="*/ 376474 h 608062"/>
                <a:gd name="connsiteX15" fmla="*/ 383745 w 557114"/>
                <a:gd name="connsiteY15" fmla="*/ 376569 h 608062"/>
                <a:gd name="connsiteX16" fmla="*/ 518588 w 557114"/>
                <a:gd name="connsiteY16" fmla="*/ 438920 h 608062"/>
                <a:gd name="connsiteX17" fmla="*/ 557114 w 557114"/>
                <a:gd name="connsiteY17" fmla="*/ 482224 h 608062"/>
                <a:gd name="connsiteX18" fmla="*/ 557114 w 557114"/>
                <a:gd name="connsiteY18" fmla="*/ 608062 h 608062"/>
                <a:gd name="connsiteX19" fmla="*/ 279743 w 557114"/>
                <a:gd name="connsiteY19" fmla="*/ 608062 h 608062"/>
                <a:gd name="connsiteX20" fmla="*/ 279458 w 557114"/>
                <a:gd name="connsiteY20" fmla="*/ 608062 h 608062"/>
                <a:gd name="connsiteX21" fmla="*/ 279364 w 557114"/>
                <a:gd name="connsiteY21" fmla="*/ 608062 h 608062"/>
                <a:gd name="connsiteX22" fmla="*/ 279174 w 557114"/>
                <a:gd name="connsiteY22" fmla="*/ 608062 h 608062"/>
                <a:gd name="connsiteX23" fmla="*/ 278984 w 557114"/>
                <a:gd name="connsiteY23" fmla="*/ 608062 h 608062"/>
                <a:gd name="connsiteX24" fmla="*/ 278604 w 557114"/>
                <a:gd name="connsiteY24" fmla="*/ 608062 h 608062"/>
                <a:gd name="connsiteX25" fmla="*/ 278130 w 557114"/>
                <a:gd name="connsiteY25" fmla="*/ 608062 h 608062"/>
                <a:gd name="connsiteX26" fmla="*/ 277940 w 557114"/>
                <a:gd name="connsiteY26" fmla="*/ 608062 h 608062"/>
                <a:gd name="connsiteX27" fmla="*/ 277845 w 557114"/>
                <a:gd name="connsiteY27" fmla="*/ 608062 h 608062"/>
                <a:gd name="connsiteX28" fmla="*/ 277750 w 557114"/>
                <a:gd name="connsiteY28" fmla="*/ 608062 h 608062"/>
                <a:gd name="connsiteX29" fmla="*/ 277656 w 557114"/>
                <a:gd name="connsiteY29" fmla="*/ 608062 h 608062"/>
                <a:gd name="connsiteX30" fmla="*/ 277371 w 557114"/>
                <a:gd name="connsiteY30" fmla="*/ 608062 h 608062"/>
                <a:gd name="connsiteX31" fmla="*/ 0 w 557114"/>
                <a:gd name="connsiteY31" fmla="*/ 608062 h 608062"/>
                <a:gd name="connsiteX32" fmla="*/ 0 w 557114"/>
                <a:gd name="connsiteY32" fmla="*/ 482224 h 608062"/>
                <a:gd name="connsiteX33" fmla="*/ 38621 w 557114"/>
                <a:gd name="connsiteY33" fmla="*/ 438920 h 608062"/>
                <a:gd name="connsiteX34" fmla="*/ 173464 w 557114"/>
                <a:gd name="connsiteY34" fmla="*/ 376569 h 608062"/>
                <a:gd name="connsiteX35" fmla="*/ 173558 w 557114"/>
                <a:gd name="connsiteY35" fmla="*/ 376474 h 608062"/>
                <a:gd name="connsiteX36" fmla="*/ 180486 w 557114"/>
                <a:gd name="connsiteY36" fmla="*/ 375337 h 608062"/>
                <a:gd name="connsiteX37" fmla="*/ 200223 w 557114"/>
                <a:gd name="connsiteY37" fmla="*/ 389172 h 608062"/>
                <a:gd name="connsiteX38" fmla="*/ 255166 w 557114"/>
                <a:gd name="connsiteY38" fmla="*/ 510272 h 608062"/>
                <a:gd name="connsiteX39" fmla="*/ 258962 w 557114"/>
                <a:gd name="connsiteY39" fmla="*/ 430202 h 608062"/>
                <a:gd name="connsiteX40" fmla="*/ 232676 w 557114"/>
                <a:gd name="connsiteY40" fmla="*/ 375432 h 608062"/>
                <a:gd name="connsiteX41" fmla="*/ 243589 w 557114"/>
                <a:gd name="connsiteY41" fmla="*/ 355438 h 608062"/>
                <a:gd name="connsiteX42" fmla="*/ 276250 w 557114"/>
                <a:gd name="connsiteY42" fmla="*/ 0 h 608062"/>
                <a:gd name="connsiteX43" fmla="*/ 277674 w 557114"/>
                <a:gd name="connsiteY43" fmla="*/ 0 h 608062"/>
                <a:gd name="connsiteX44" fmla="*/ 277863 w 557114"/>
                <a:gd name="connsiteY44" fmla="*/ 0 h 608062"/>
                <a:gd name="connsiteX45" fmla="*/ 277958 w 557114"/>
                <a:gd name="connsiteY45" fmla="*/ 0 h 608062"/>
                <a:gd name="connsiteX46" fmla="*/ 279382 w 557114"/>
                <a:gd name="connsiteY46" fmla="*/ 0 h 608062"/>
                <a:gd name="connsiteX47" fmla="*/ 402570 w 557114"/>
                <a:gd name="connsiteY47" fmla="*/ 104895 h 608062"/>
                <a:gd name="connsiteX48" fmla="*/ 394693 w 557114"/>
                <a:gd name="connsiteY48" fmla="*/ 159001 h 608062"/>
                <a:gd name="connsiteX49" fmla="*/ 405892 w 557114"/>
                <a:gd name="connsiteY49" fmla="*/ 184774 h 608062"/>
                <a:gd name="connsiteX50" fmla="*/ 377040 w 557114"/>
                <a:gd name="connsiteY50" fmla="*/ 236890 h 608062"/>
                <a:gd name="connsiteX51" fmla="*/ 315731 w 557114"/>
                <a:gd name="connsiteY51" fmla="*/ 311274 h 608062"/>
                <a:gd name="connsiteX52" fmla="*/ 277958 w 557114"/>
                <a:gd name="connsiteY52" fmla="*/ 319707 h 608062"/>
                <a:gd name="connsiteX53" fmla="*/ 277958 w 557114"/>
                <a:gd name="connsiteY53" fmla="*/ 319802 h 608062"/>
                <a:gd name="connsiteX54" fmla="*/ 277863 w 557114"/>
                <a:gd name="connsiteY54" fmla="*/ 319802 h 608062"/>
                <a:gd name="connsiteX55" fmla="*/ 277674 w 557114"/>
                <a:gd name="connsiteY55" fmla="*/ 319802 h 608062"/>
                <a:gd name="connsiteX56" fmla="*/ 277674 w 557114"/>
                <a:gd name="connsiteY56" fmla="*/ 319707 h 608062"/>
                <a:gd name="connsiteX57" fmla="*/ 239901 w 557114"/>
                <a:gd name="connsiteY57" fmla="*/ 311274 h 608062"/>
                <a:gd name="connsiteX58" fmla="*/ 178592 w 557114"/>
                <a:gd name="connsiteY58" fmla="*/ 236890 h 608062"/>
                <a:gd name="connsiteX59" fmla="*/ 149740 w 557114"/>
                <a:gd name="connsiteY59" fmla="*/ 184774 h 608062"/>
                <a:gd name="connsiteX60" fmla="*/ 161034 w 557114"/>
                <a:gd name="connsiteY60" fmla="*/ 159001 h 608062"/>
                <a:gd name="connsiteX61" fmla="*/ 153062 w 557114"/>
                <a:gd name="connsiteY61" fmla="*/ 104895 h 608062"/>
                <a:gd name="connsiteX62" fmla="*/ 276250 w 557114"/>
                <a:gd name="connsiteY62" fmla="*/ 0 h 608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557114" h="608062">
                  <a:moveTo>
                    <a:pt x="243589" y="355438"/>
                  </a:moveTo>
                  <a:lnTo>
                    <a:pt x="277656" y="355438"/>
                  </a:lnTo>
                  <a:lnTo>
                    <a:pt x="277940" y="355438"/>
                  </a:lnTo>
                  <a:lnTo>
                    <a:pt x="278604" y="355438"/>
                  </a:lnTo>
                  <a:lnTo>
                    <a:pt x="279174" y="355438"/>
                  </a:lnTo>
                  <a:lnTo>
                    <a:pt x="279458" y="355438"/>
                  </a:lnTo>
                  <a:lnTo>
                    <a:pt x="279553" y="355438"/>
                  </a:lnTo>
                  <a:lnTo>
                    <a:pt x="313620" y="355438"/>
                  </a:lnTo>
                  <a:cubicBezTo>
                    <a:pt x="325007" y="355438"/>
                    <a:pt x="330511" y="364630"/>
                    <a:pt x="324438" y="375432"/>
                  </a:cubicBezTo>
                  <a:cubicBezTo>
                    <a:pt x="321781" y="379980"/>
                    <a:pt x="298152" y="430202"/>
                    <a:pt x="298152" y="430202"/>
                  </a:cubicBezTo>
                  <a:lnTo>
                    <a:pt x="301948" y="510272"/>
                  </a:lnTo>
                  <a:cubicBezTo>
                    <a:pt x="317700" y="481655"/>
                    <a:pt x="343131" y="422432"/>
                    <a:pt x="356891" y="389172"/>
                  </a:cubicBezTo>
                  <a:cubicBezTo>
                    <a:pt x="356891" y="389172"/>
                    <a:pt x="356891" y="389172"/>
                    <a:pt x="356986" y="389172"/>
                  </a:cubicBezTo>
                  <a:cubicBezTo>
                    <a:pt x="359832" y="381117"/>
                    <a:pt x="367519" y="375337"/>
                    <a:pt x="376628" y="375337"/>
                  </a:cubicBezTo>
                  <a:cubicBezTo>
                    <a:pt x="379096" y="375337"/>
                    <a:pt x="381373" y="375716"/>
                    <a:pt x="383556" y="376474"/>
                  </a:cubicBezTo>
                  <a:cubicBezTo>
                    <a:pt x="383650" y="376474"/>
                    <a:pt x="383650" y="376474"/>
                    <a:pt x="383745" y="376569"/>
                  </a:cubicBezTo>
                  <a:cubicBezTo>
                    <a:pt x="387446" y="377706"/>
                    <a:pt x="464973" y="411724"/>
                    <a:pt x="518588" y="438920"/>
                  </a:cubicBezTo>
                  <a:cubicBezTo>
                    <a:pt x="542595" y="451049"/>
                    <a:pt x="557114" y="466305"/>
                    <a:pt x="557114" y="482224"/>
                  </a:cubicBezTo>
                  <a:lnTo>
                    <a:pt x="557114" y="608062"/>
                  </a:lnTo>
                  <a:lnTo>
                    <a:pt x="279743" y="608062"/>
                  </a:lnTo>
                  <a:lnTo>
                    <a:pt x="279458" y="608062"/>
                  </a:lnTo>
                  <a:lnTo>
                    <a:pt x="279364" y="608062"/>
                  </a:lnTo>
                  <a:lnTo>
                    <a:pt x="279174" y="608062"/>
                  </a:lnTo>
                  <a:lnTo>
                    <a:pt x="278984" y="608062"/>
                  </a:lnTo>
                  <a:lnTo>
                    <a:pt x="278604" y="608062"/>
                  </a:lnTo>
                  <a:lnTo>
                    <a:pt x="278130" y="608062"/>
                  </a:lnTo>
                  <a:lnTo>
                    <a:pt x="277940" y="608062"/>
                  </a:lnTo>
                  <a:lnTo>
                    <a:pt x="277845" y="608062"/>
                  </a:lnTo>
                  <a:lnTo>
                    <a:pt x="277750" y="608062"/>
                  </a:lnTo>
                  <a:lnTo>
                    <a:pt x="277656" y="608062"/>
                  </a:lnTo>
                  <a:lnTo>
                    <a:pt x="277371" y="608062"/>
                  </a:lnTo>
                  <a:lnTo>
                    <a:pt x="0" y="608062"/>
                  </a:lnTo>
                  <a:lnTo>
                    <a:pt x="0" y="482224"/>
                  </a:lnTo>
                  <a:cubicBezTo>
                    <a:pt x="0" y="466305"/>
                    <a:pt x="14519" y="451049"/>
                    <a:pt x="38621" y="438920"/>
                  </a:cubicBezTo>
                  <a:cubicBezTo>
                    <a:pt x="92141" y="411724"/>
                    <a:pt x="169668" y="377706"/>
                    <a:pt x="173464" y="376569"/>
                  </a:cubicBezTo>
                  <a:cubicBezTo>
                    <a:pt x="173464" y="376474"/>
                    <a:pt x="173464" y="376474"/>
                    <a:pt x="173558" y="376474"/>
                  </a:cubicBezTo>
                  <a:cubicBezTo>
                    <a:pt x="175741" y="375716"/>
                    <a:pt x="178018" y="375337"/>
                    <a:pt x="180486" y="375337"/>
                  </a:cubicBezTo>
                  <a:cubicBezTo>
                    <a:pt x="189595" y="375337"/>
                    <a:pt x="197282" y="381117"/>
                    <a:pt x="200223" y="389172"/>
                  </a:cubicBezTo>
                  <a:cubicBezTo>
                    <a:pt x="214078" y="422432"/>
                    <a:pt x="239414" y="481655"/>
                    <a:pt x="255166" y="510272"/>
                  </a:cubicBezTo>
                  <a:lnTo>
                    <a:pt x="258962" y="430202"/>
                  </a:lnTo>
                  <a:cubicBezTo>
                    <a:pt x="258962" y="430202"/>
                    <a:pt x="235333" y="379980"/>
                    <a:pt x="232676" y="375432"/>
                  </a:cubicBezTo>
                  <a:cubicBezTo>
                    <a:pt x="226603" y="364630"/>
                    <a:pt x="232107" y="355438"/>
                    <a:pt x="243589" y="355438"/>
                  </a:cubicBezTo>
                  <a:close/>
                  <a:moveTo>
                    <a:pt x="276250" y="0"/>
                  </a:moveTo>
                  <a:cubicBezTo>
                    <a:pt x="276725" y="0"/>
                    <a:pt x="277199" y="0"/>
                    <a:pt x="277674" y="0"/>
                  </a:cubicBezTo>
                  <a:cubicBezTo>
                    <a:pt x="277769" y="0"/>
                    <a:pt x="277769" y="0"/>
                    <a:pt x="277863" y="0"/>
                  </a:cubicBezTo>
                  <a:cubicBezTo>
                    <a:pt x="277863" y="0"/>
                    <a:pt x="277863" y="0"/>
                    <a:pt x="277958" y="0"/>
                  </a:cubicBezTo>
                  <a:cubicBezTo>
                    <a:pt x="278433" y="0"/>
                    <a:pt x="278907" y="0"/>
                    <a:pt x="279382" y="0"/>
                  </a:cubicBezTo>
                  <a:cubicBezTo>
                    <a:pt x="385487" y="0"/>
                    <a:pt x="405417" y="75615"/>
                    <a:pt x="402570" y="104895"/>
                  </a:cubicBezTo>
                  <a:cubicBezTo>
                    <a:pt x="400387" y="128395"/>
                    <a:pt x="394693" y="159001"/>
                    <a:pt x="394693" y="159001"/>
                  </a:cubicBezTo>
                  <a:cubicBezTo>
                    <a:pt x="394693" y="159001"/>
                    <a:pt x="405892" y="164118"/>
                    <a:pt x="405892" y="184774"/>
                  </a:cubicBezTo>
                  <a:cubicBezTo>
                    <a:pt x="402001" y="236511"/>
                    <a:pt x="381311" y="214149"/>
                    <a:pt x="377040" y="236890"/>
                  </a:cubicBezTo>
                  <a:cubicBezTo>
                    <a:pt x="370017" y="274603"/>
                    <a:pt x="336610" y="301893"/>
                    <a:pt x="315731" y="311274"/>
                  </a:cubicBezTo>
                  <a:cubicBezTo>
                    <a:pt x="303583" y="316770"/>
                    <a:pt x="291055" y="319518"/>
                    <a:pt x="277958" y="319707"/>
                  </a:cubicBezTo>
                  <a:lnTo>
                    <a:pt x="277958" y="319802"/>
                  </a:lnTo>
                  <a:cubicBezTo>
                    <a:pt x="277863" y="319802"/>
                    <a:pt x="277863" y="319802"/>
                    <a:pt x="277863" y="319802"/>
                  </a:cubicBezTo>
                  <a:cubicBezTo>
                    <a:pt x="277769" y="319802"/>
                    <a:pt x="277769" y="319802"/>
                    <a:pt x="277674" y="319802"/>
                  </a:cubicBezTo>
                  <a:lnTo>
                    <a:pt x="277674" y="319707"/>
                  </a:lnTo>
                  <a:cubicBezTo>
                    <a:pt x="264577" y="319518"/>
                    <a:pt x="252049" y="316770"/>
                    <a:pt x="239901" y="311274"/>
                  </a:cubicBezTo>
                  <a:cubicBezTo>
                    <a:pt x="219022" y="301893"/>
                    <a:pt x="185615" y="274603"/>
                    <a:pt x="178592" y="236890"/>
                  </a:cubicBezTo>
                  <a:cubicBezTo>
                    <a:pt x="174321" y="214149"/>
                    <a:pt x="153631" y="236511"/>
                    <a:pt x="149740" y="184774"/>
                  </a:cubicBezTo>
                  <a:cubicBezTo>
                    <a:pt x="149740" y="164118"/>
                    <a:pt x="161034" y="159001"/>
                    <a:pt x="161034" y="159001"/>
                  </a:cubicBezTo>
                  <a:cubicBezTo>
                    <a:pt x="161034" y="159001"/>
                    <a:pt x="155245" y="128395"/>
                    <a:pt x="153062" y="104895"/>
                  </a:cubicBezTo>
                  <a:cubicBezTo>
                    <a:pt x="150215" y="75615"/>
                    <a:pt x="170145" y="0"/>
                    <a:pt x="276250" y="0"/>
                  </a:cubicBezTo>
                  <a:close/>
                </a:path>
              </a:pathLst>
            </a:custGeom>
            <a:solidFill>
              <a:schemeClr val="bg1"/>
            </a:solidFill>
            <a:ln>
              <a:noFill/>
            </a:ln>
          </p:spPr>
        </p:sp>
        <p:cxnSp>
          <p:nvCxnSpPr>
            <p:cNvPr id="8" name="直接箭头连接符 7"/>
            <p:cNvCxnSpPr>
              <a:stCxn id="45" idx="0"/>
              <a:endCxn id="47" idx="0"/>
            </p:cNvCxnSpPr>
            <p:nvPr/>
          </p:nvCxnSpPr>
          <p:spPr>
            <a:xfrm>
              <a:off x="2476274" y="3122039"/>
              <a:ext cx="1640183" cy="1455355"/>
            </a:xfrm>
            <a:prstGeom prst="straightConnector1">
              <a:avLst/>
            </a:prstGeom>
            <a:ln w="25400" cmpd="sng">
              <a:solidFill>
                <a:schemeClr val="accent1"/>
              </a:solidFill>
              <a:prstDash val="solid"/>
              <a:headEnd type="stealth"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66" name="直接箭头连接符 65"/>
            <p:cNvCxnSpPr>
              <a:stCxn id="41" idx="3"/>
              <a:endCxn id="2" idx="1"/>
            </p:cNvCxnSpPr>
            <p:nvPr/>
          </p:nvCxnSpPr>
          <p:spPr>
            <a:xfrm flipV="1">
              <a:off x="3332614" y="1668898"/>
              <a:ext cx="1756229" cy="983274"/>
            </a:xfrm>
            <a:prstGeom prst="straightConnector1">
              <a:avLst/>
            </a:prstGeom>
            <a:ln w="25400" cmpd="sng">
              <a:solidFill>
                <a:schemeClr val="accent1"/>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8" name="直接箭头连接符 67"/>
            <p:cNvCxnSpPr>
              <a:stCxn id="41" idx="3"/>
              <a:endCxn id="59" idx="1"/>
            </p:cNvCxnSpPr>
            <p:nvPr/>
          </p:nvCxnSpPr>
          <p:spPr>
            <a:xfrm flipV="1">
              <a:off x="3332614" y="2313618"/>
              <a:ext cx="4771998" cy="338554"/>
            </a:xfrm>
            <a:prstGeom prst="straightConnector1">
              <a:avLst/>
            </a:prstGeom>
            <a:ln w="25400" cmpd="sng">
              <a:solidFill>
                <a:schemeClr val="accent1"/>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0" name="直接箭头连接符 69"/>
            <p:cNvCxnSpPr>
              <a:stCxn id="41" idx="3"/>
              <a:endCxn id="53" idx="1"/>
            </p:cNvCxnSpPr>
            <p:nvPr/>
          </p:nvCxnSpPr>
          <p:spPr>
            <a:xfrm>
              <a:off x="3332614" y="2652172"/>
              <a:ext cx="3015769" cy="1884065"/>
            </a:xfrm>
            <a:prstGeom prst="straightConnector1">
              <a:avLst/>
            </a:prstGeom>
            <a:ln w="25400" cmpd="sng">
              <a:solidFill>
                <a:schemeClr val="accent1"/>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2" name="直接箭头连接符 71"/>
            <p:cNvCxnSpPr>
              <a:stCxn id="47" idx="0"/>
            </p:cNvCxnSpPr>
            <p:nvPr/>
          </p:nvCxnSpPr>
          <p:spPr>
            <a:xfrm flipV="1">
              <a:off x="4116457" y="2175598"/>
              <a:ext cx="1375154" cy="2401796"/>
            </a:xfrm>
            <a:prstGeom prst="straightConnector1">
              <a:avLst/>
            </a:prstGeom>
            <a:ln w="25400" cmpd="sng">
              <a:solidFill>
                <a:schemeClr val="accent1"/>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4" name="直接箭头连接符 73"/>
            <p:cNvCxnSpPr>
              <a:stCxn id="47" idx="0"/>
              <a:endCxn id="59" idx="1"/>
            </p:cNvCxnSpPr>
            <p:nvPr/>
          </p:nvCxnSpPr>
          <p:spPr>
            <a:xfrm flipV="1">
              <a:off x="4116457" y="2313618"/>
              <a:ext cx="3988155" cy="2263776"/>
            </a:xfrm>
            <a:prstGeom prst="straightConnector1">
              <a:avLst/>
            </a:prstGeom>
            <a:ln w="25400" cmpd="sng">
              <a:solidFill>
                <a:schemeClr val="accent1"/>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6" name="直接箭头连接符 75"/>
            <p:cNvCxnSpPr>
              <a:stCxn id="47" idx="3"/>
              <a:endCxn id="53" idx="1"/>
            </p:cNvCxnSpPr>
            <p:nvPr/>
          </p:nvCxnSpPr>
          <p:spPr>
            <a:xfrm flipV="1">
              <a:off x="4994571" y="4536237"/>
              <a:ext cx="1353812" cy="517731"/>
            </a:xfrm>
            <a:prstGeom prst="straightConnector1">
              <a:avLst/>
            </a:prstGeom>
            <a:ln w="25400" cmpd="sng">
              <a:solidFill>
                <a:schemeClr val="accent1"/>
              </a:solidFill>
              <a:prstDash val="solid"/>
              <a:headEnd type="stealth" w="lg" len="lg"/>
              <a:tailEnd type="triangle"/>
            </a:ln>
          </p:spPr>
          <p:style>
            <a:lnRef idx="1">
              <a:schemeClr val="accent1"/>
            </a:lnRef>
            <a:fillRef idx="0">
              <a:schemeClr val="accent1"/>
            </a:fillRef>
            <a:effectRef idx="0">
              <a:schemeClr val="accent1"/>
            </a:effectRef>
            <a:fontRef idx="minor">
              <a:schemeClr val="tx1"/>
            </a:fontRef>
          </p:style>
        </p:cxnSp>
        <p:cxnSp>
          <p:nvCxnSpPr>
            <p:cNvPr id="78" name="直接箭头连接符 77"/>
            <p:cNvCxnSpPr>
              <a:stCxn id="53" idx="0"/>
              <a:endCxn id="4" idx="2"/>
            </p:cNvCxnSpPr>
            <p:nvPr/>
          </p:nvCxnSpPr>
          <p:spPr>
            <a:xfrm flipH="1" flipV="1">
              <a:off x="5988733" y="2179229"/>
              <a:ext cx="1237765" cy="1880434"/>
            </a:xfrm>
            <a:prstGeom prst="straightConnector1">
              <a:avLst/>
            </a:prstGeom>
            <a:ln w="25400" cmpd="sng">
              <a:solidFill>
                <a:schemeClr val="accent1"/>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0" name="直接箭头连接符 79"/>
            <p:cNvCxnSpPr>
              <a:stCxn id="53" idx="0"/>
              <a:endCxn id="63" idx="0"/>
            </p:cNvCxnSpPr>
            <p:nvPr/>
          </p:nvCxnSpPr>
          <p:spPr>
            <a:xfrm flipV="1">
              <a:off x="7226498" y="2783485"/>
              <a:ext cx="1778003" cy="1276178"/>
            </a:xfrm>
            <a:prstGeom prst="straightConnector1">
              <a:avLst/>
            </a:prstGeom>
            <a:ln w="25400" cmpd="sng">
              <a:solidFill>
                <a:schemeClr val="accent1"/>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2" name="直接箭头连接符 81"/>
            <p:cNvCxnSpPr>
              <a:stCxn id="59" idx="0"/>
              <a:endCxn id="2" idx="3"/>
            </p:cNvCxnSpPr>
            <p:nvPr/>
          </p:nvCxnSpPr>
          <p:spPr>
            <a:xfrm flipH="1" flipV="1">
              <a:off x="6845072" y="1668898"/>
              <a:ext cx="2137655" cy="168146"/>
            </a:xfrm>
            <a:prstGeom prst="straightConnector1">
              <a:avLst/>
            </a:prstGeom>
            <a:ln w="25400" cmpd="sng">
              <a:solidFill>
                <a:schemeClr val="accent1"/>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87" name="矩形 86"/>
            <p:cNvSpPr/>
            <p:nvPr/>
          </p:nvSpPr>
          <p:spPr>
            <a:xfrm>
              <a:off x="8982726" y="4848374"/>
              <a:ext cx="2643217" cy="1508883"/>
            </a:xfrm>
            <a:prstGeom prst="rect">
              <a:avLst/>
            </a:prstGeom>
            <a:ln w="25400" cmpd="sng">
              <a:solidFill>
                <a:schemeClr val="bg1">
                  <a:lumMod val="95000"/>
                </a:schemeClr>
              </a:solidFill>
              <a:prstDash val="sysDot"/>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88" name="直接箭头连接符 87"/>
            <p:cNvCxnSpPr/>
            <p:nvPr/>
          </p:nvCxnSpPr>
          <p:spPr>
            <a:xfrm flipH="1">
              <a:off x="9247038" y="5171242"/>
              <a:ext cx="882322" cy="4139"/>
            </a:xfrm>
            <a:prstGeom prst="straightConnector1">
              <a:avLst/>
            </a:prstGeom>
            <a:ln w="25400" cmpd="sng">
              <a:solidFill>
                <a:schemeClr val="accent1"/>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92" name="文本框 91"/>
            <p:cNvSpPr txBox="1"/>
            <p:nvPr/>
          </p:nvSpPr>
          <p:spPr>
            <a:xfrm>
              <a:off x="10289633" y="4958096"/>
              <a:ext cx="1247609" cy="369332"/>
            </a:xfrm>
            <a:prstGeom prst="rect">
              <a:avLst/>
            </a:prstGeom>
            <a:noFill/>
          </p:spPr>
          <p:txBody>
            <a:bodyPr wrap="square" rtlCol="0">
              <a:spAutoFit/>
            </a:bodyPr>
            <a:lstStyle/>
            <a:p>
              <a:pPr algn="l"/>
              <a:r>
                <a:rPr lang="en-US" altLang="zh-CN" dirty="0" err="1" smtClean="0">
                  <a:solidFill>
                    <a:schemeClr val="bg1"/>
                  </a:solidFill>
                  <a:latin typeface="微软雅黑" panose="020B0503020204020204" pitchFamily="34" charset="-122"/>
                  <a:ea typeface="微软雅黑" panose="020B0503020204020204" pitchFamily="34" charset="-122"/>
                </a:rPr>
                <a:t>Redis</a:t>
              </a:r>
              <a:r>
                <a:rPr lang="en-US" altLang="zh-CN" dirty="0" smtClean="0">
                  <a:solidFill>
                    <a:schemeClr val="bg1"/>
                  </a:solidFill>
                  <a:latin typeface="微软雅黑" panose="020B0503020204020204" pitchFamily="34" charset="-122"/>
                  <a:ea typeface="微软雅黑" panose="020B0503020204020204" pitchFamily="34" charset="-122"/>
                </a:rPr>
                <a:t> Bus</a:t>
              </a:r>
              <a:endParaRPr lang="zh-CN" altLang="en-US" dirty="0" smtClean="0">
                <a:solidFill>
                  <a:schemeClr val="bg1"/>
                </a:solidFill>
                <a:latin typeface="微软雅黑" panose="020B0503020204020204" pitchFamily="34" charset="-122"/>
                <a:ea typeface="微软雅黑" panose="020B0503020204020204" pitchFamily="34" charset="-122"/>
              </a:endParaRPr>
            </a:p>
          </p:txBody>
        </p:sp>
        <p:sp>
          <p:nvSpPr>
            <p:cNvPr id="93" name="文本框 92"/>
            <p:cNvSpPr txBox="1"/>
            <p:nvPr/>
          </p:nvSpPr>
          <p:spPr>
            <a:xfrm>
              <a:off x="10289634" y="5408798"/>
              <a:ext cx="1247609" cy="369332"/>
            </a:xfrm>
            <a:prstGeom prst="rect">
              <a:avLst/>
            </a:prstGeom>
            <a:noFill/>
          </p:spPr>
          <p:txBody>
            <a:bodyPr wrap="square" rtlCol="0">
              <a:spAutoFit/>
            </a:bodyPr>
            <a:lstStyle/>
            <a:p>
              <a:pPr algn="l"/>
              <a:r>
                <a:rPr lang="zh-CN" altLang="en-US" dirty="0">
                  <a:solidFill>
                    <a:schemeClr val="bg1"/>
                  </a:solidFill>
                  <a:latin typeface="微软雅黑" panose="020B0503020204020204" pitchFamily="34" charset="-122"/>
                  <a:ea typeface="微软雅黑" panose="020B0503020204020204" pitchFamily="34" charset="-122"/>
                </a:rPr>
                <a:t>主</a:t>
              </a:r>
              <a:r>
                <a:rPr lang="zh-CN" altLang="en-US" dirty="0" smtClean="0">
                  <a:solidFill>
                    <a:schemeClr val="bg1"/>
                  </a:solidFill>
                  <a:latin typeface="微软雅黑" panose="020B0503020204020204" pitchFamily="34" charset="-122"/>
                  <a:ea typeface="微软雅黑" panose="020B0503020204020204" pitchFamily="34" charset="-122"/>
                </a:rPr>
                <a:t>从复制</a:t>
              </a:r>
              <a:endParaRPr lang="en-US" altLang="zh-CN" dirty="0" smtClean="0">
                <a:solidFill>
                  <a:schemeClr val="bg1"/>
                </a:solidFill>
                <a:latin typeface="微软雅黑" panose="020B0503020204020204" pitchFamily="34" charset="-122"/>
                <a:ea typeface="微软雅黑" panose="020B0503020204020204" pitchFamily="34" charset="-122"/>
              </a:endParaRPr>
            </a:p>
          </p:txBody>
        </p:sp>
        <p:sp>
          <p:nvSpPr>
            <p:cNvPr id="94" name="文本框 93"/>
            <p:cNvSpPr txBox="1"/>
            <p:nvPr/>
          </p:nvSpPr>
          <p:spPr>
            <a:xfrm>
              <a:off x="10289635" y="5859500"/>
              <a:ext cx="1247609" cy="369332"/>
            </a:xfrm>
            <a:prstGeom prst="rect">
              <a:avLst/>
            </a:prstGeom>
            <a:noFill/>
          </p:spPr>
          <p:txBody>
            <a:bodyPr wrap="square" rtlCol="0">
              <a:spAutoFit/>
            </a:bodyPr>
            <a:lstStyle/>
            <a:p>
              <a:pPr algn="l"/>
              <a:r>
                <a:rPr lang="zh-CN" altLang="en-US" dirty="0">
                  <a:solidFill>
                    <a:schemeClr val="bg1"/>
                  </a:solidFill>
                  <a:latin typeface="微软雅黑" panose="020B0503020204020204" pitchFamily="34" charset="-122"/>
                  <a:ea typeface="微软雅黑" panose="020B0503020204020204" pitchFamily="34" charset="-122"/>
                </a:rPr>
                <a:t>对</a:t>
              </a:r>
              <a:r>
                <a:rPr lang="zh-CN" altLang="en-US" dirty="0" smtClean="0">
                  <a:solidFill>
                    <a:schemeClr val="bg1"/>
                  </a:solidFill>
                  <a:latin typeface="微软雅黑" panose="020B0503020204020204" pitchFamily="34" charset="-122"/>
                  <a:ea typeface="微软雅黑" panose="020B0503020204020204" pitchFamily="34" charset="-122"/>
                </a:rPr>
                <a:t>外服务</a:t>
              </a:r>
              <a:endParaRPr lang="en-US" altLang="zh-CN" dirty="0" smtClean="0">
                <a:solidFill>
                  <a:schemeClr val="bg1"/>
                </a:solidFill>
                <a:latin typeface="微软雅黑" panose="020B0503020204020204" pitchFamily="34" charset="-122"/>
                <a:ea typeface="微软雅黑" panose="020B0503020204020204" pitchFamily="34" charset="-122"/>
              </a:endParaRPr>
            </a:p>
          </p:txBody>
        </p:sp>
        <p:cxnSp>
          <p:nvCxnSpPr>
            <p:cNvPr id="95" name="直接箭头连接符 94"/>
            <p:cNvCxnSpPr/>
            <p:nvPr/>
          </p:nvCxnSpPr>
          <p:spPr>
            <a:xfrm flipH="1">
              <a:off x="9247038" y="5623594"/>
              <a:ext cx="882322" cy="4139"/>
            </a:xfrm>
            <a:prstGeom prst="straightConnector1">
              <a:avLst/>
            </a:prstGeom>
            <a:ln w="25400" cmpd="sng">
              <a:solidFill>
                <a:schemeClr val="accent4"/>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6" name="直接箭头连接符 95"/>
            <p:cNvCxnSpPr/>
            <p:nvPr/>
          </p:nvCxnSpPr>
          <p:spPr>
            <a:xfrm flipH="1">
              <a:off x="9247038" y="6037239"/>
              <a:ext cx="882322" cy="4139"/>
            </a:xfrm>
            <a:prstGeom prst="straightConnector1">
              <a:avLst/>
            </a:prstGeom>
            <a:ln w="25400" cmpd="sng">
              <a:solidFill>
                <a:srgbClr val="C0000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8" name="直接箭头连接符 97"/>
            <p:cNvCxnSpPr>
              <a:stCxn id="41" idx="0"/>
              <a:endCxn id="2" idx="1"/>
            </p:cNvCxnSpPr>
            <p:nvPr/>
          </p:nvCxnSpPr>
          <p:spPr>
            <a:xfrm flipV="1">
              <a:off x="2454500" y="1668898"/>
              <a:ext cx="2634343" cy="506700"/>
            </a:xfrm>
            <a:prstGeom prst="straightConnector1">
              <a:avLst/>
            </a:prstGeom>
            <a:ln w="25400" cmpd="sng">
              <a:solidFill>
                <a:schemeClr val="accent4"/>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0" name="直接箭头连接符 99"/>
            <p:cNvCxnSpPr/>
            <p:nvPr/>
          </p:nvCxnSpPr>
          <p:spPr>
            <a:xfrm flipV="1">
              <a:off x="4981892" y="4982508"/>
              <a:ext cx="1410039" cy="298632"/>
            </a:xfrm>
            <a:prstGeom prst="straightConnector1">
              <a:avLst/>
            </a:prstGeom>
            <a:ln w="25400" cmpd="sng">
              <a:solidFill>
                <a:schemeClr val="accent4"/>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2" name="直接箭头连接符 101"/>
            <p:cNvCxnSpPr/>
            <p:nvPr/>
          </p:nvCxnSpPr>
          <p:spPr>
            <a:xfrm flipV="1">
              <a:off x="4923817" y="2652172"/>
              <a:ext cx="3180795" cy="2022085"/>
            </a:xfrm>
            <a:prstGeom prst="straightConnector1">
              <a:avLst/>
            </a:prstGeom>
            <a:ln w="25400" cmpd="sng">
              <a:solidFill>
                <a:schemeClr val="accent4"/>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6" name="直接箭头连接符 105"/>
            <p:cNvCxnSpPr/>
            <p:nvPr/>
          </p:nvCxnSpPr>
          <p:spPr>
            <a:xfrm flipV="1">
              <a:off x="1346146" y="3183683"/>
              <a:ext cx="647876" cy="1591135"/>
            </a:xfrm>
            <a:prstGeom prst="straightConnector1">
              <a:avLst/>
            </a:prstGeom>
            <a:ln w="25400" cmpd="sng">
              <a:solidFill>
                <a:srgbClr val="C0000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8" name="直接箭头连接符 107"/>
            <p:cNvCxnSpPr>
              <a:endCxn id="47" idx="1"/>
            </p:cNvCxnSpPr>
            <p:nvPr/>
          </p:nvCxnSpPr>
          <p:spPr>
            <a:xfrm flipV="1">
              <a:off x="1576385" y="5053968"/>
              <a:ext cx="1661957" cy="77856"/>
            </a:xfrm>
            <a:prstGeom prst="straightConnector1">
              <a:avLst/>
            </a:prstGeom>
            <a:ln w="25400" cmpd="sng">
              <a:solidFill>
                <a:srgbClr val="C0000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110" name="文本框 109"/>
            <p:cNvSpPr txBox="1"/>
            <p:nvPr/>
          </p:nvSpPr>
          <p:spPr>
            <a:xfrm>
              <a:off x="5410703" y="5943728"/>
              <a:ext cx="1415568" cy="369332"/>
            </a:xfrm>
            <a:prstGeom prst="rect">
              <a:avLst/>
            </a:prstGeom>
            <a:noFill/>
          </p:spPr>
          <p:txBody>
            <a:bodyPr wrap="square" rtlCol="0">
              <a:spAutoFit/>
            </a:bodyPr>
            <a:lstStyle/>
            <a:p>
              <a:pPr algn="ctr"/>
              <a:r>
                <a:rPr lang="zh-CN" altLang="en-US" dirty="0" smtClean="0">
                  <a:solidFill>
                    <a:schemeClr val="bg1"/>
                  </a:solidFill>
                  <a:latin typeface="微软雅黑" panose="020B0503020204020204" pitchFamily="34" charset="-122"/>
                  <a:ea typeface="微软雅黑" panose="020B0503020204020204" pitchFamily="34" charset="-122"/>
                </a:rPr>
                <a:t>图</a:t>
              </a:r>
              <a:r>
                <a:rPr lang="en-US" altLang="zh-CN" dirty="0" smtClean="0">
                  <a:solidFill>
                    <a:schemeClr val="bg1"/>
                  </a:solidFill>
                  <a:latin typeface="微软雅黑" panose="020B0503020204020204" pitchFamily="34" charset="-122"/>
                  <a:ea typeface="微软雅黑" panose="020B0503020204020204" pitchFamily="34" charset="-122"/>
                </a:rPr>
                <a:t>5.4.1 - 1</a:t>
              </a:r>
              <a:endParaRPr lang="zh-CN" altLang="en-US" dirty="0" smtClean="0">
                <a:solidFill>
                  <a:schemeClr val="bg1"/>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2407276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1"/>
                                        </p:tgtEl>
                                        <p:attrNameLst>
                                          <p:attrName>style.visibility</p:attrName>
                                        </p:attrNameLst>
                                      </p:cBhvr>
                                      <p:to>
                                        <p:strVal val="visible"/>
                                      </p:to>
                                    </p:set>
                                    <p:anim calcmode="lin" valueType="num">
                                      <p:cBhvr additive="base">
                                        <p:cTn id="7" dur="500" fill="hold"/>
                                        <p:tgtEl>
                                          <p:spTgt spid="111"/>
                                        </p:tgtEl>
                                        <p:attrNameLst>
                                          <p:attrName>ppt_x</p:attrName>
                                        </p:attrNameLst>
                                      </p:cBhvr>
                                      <p:tavLst>
                                        <p:tav tm="0">
                                          <p:val>
                                            <p:strVal val="#ppt_x"/>
                                          </p:val>
                                        </p:tav>
                                        <p:tav tm="100000">
                                          <p:val>
                                            <p:strVal val="#ppt_x"/>
                                          </p:val>
                                        </p:tav>
                                      </p:tavLst>
                                    </p:anim>
                                    <p:anim calcmode="lin" valueType="num">
                                      <p:cBhvr additive="base">
                                        <p:cTn id="8" dur="500" fill="hold"/>
                                        <p:tgtEl>
                                          <p:spTgt spid="1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0A0F23"/>
        </a:solidFill>
        <a:effectLst/>
      </p:bgPr>
    </p:bg>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xmlns="" id="{CBDC52CD-1D62-48AF-A9DF-9F18AEA2B1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01385" y="-114300"/>
            <a:ext cx="1301859" cy="920356"/>
          </a:xfrm>
          <a:prstGeom prst="rect">
            <a:avLst/>
          </a:prstGeom>
        </p:spPr>
      </p:pic>
      <p:pic>
        <p:nvPicPr>
          <p:cNvPr id="14" name="图片 13">
            <a:extLst>
              <a:ext uri="{FF2B5EF4-FFF2-40B4-BE49-F238E27FC236}">
                <a16:creationId xmlns:a16="http://schemas.microsoft.com/office/drawing/2014/main" xmlns="" id="{F78DA958-9B1B-47DA-A870-8C0B3A7D8866}"/>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b="63537"/>
          <a:stretch/>
        </p:blipFill>
        <p:spPr>
          <a:xfrm>
            <a:off x="11184164" y="217733"/>
            <a:ext cx="572339" cy="337210"/>
          </a:xfrm>
          <a:prstGeom prst="rect">
            <a:avLst/>
          </a:prstGeom>
        </p:spPr>
      </p:pic>
      <p:cxnSp>
        <p:nvCxnSpPr>
          <p:cNvPr id="15" name="直接连接符 14">
            <a:extLst>
              <a:ext uri="{FF2B5EF4-FFF2-40B4-BE49-F238E27FC236}">
                <a16:creationId xmlns:a16="http://schemas.microsoft.com/office/drawing/2014/main" xmlns="" id="{93240A06-D526-4907-A163-94ABB41190CC}"/>
              </a:ext>
            </a:extLst>
          </p:cNvPr>
          <p:cNvCxnSpPr/>
          <p:nvPr/>
        </p:nvCxnSpPr>
        <p:spPr>
          <a:xfrm>
            <a:off x="11103244" y="225825"/>
            <a:ext cx="0" cy="2435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704850" y="605109"/>
            <a:ext cx="7689850" cy="523220"/>
          </a:xfrm>
          <a:prstGeom prst="rect">
            <a:avLst/>
          </a:prstGeom>
          <a:noFill/>
        </p:spPr>
        <p:txBody>
          <a:bodyPr wrap="square" rtlCol="0">
            <a:spAutoFit/>
          </a:bodyPr>
          <a:lstStyle/>
          <a:p>
            <a:pPr>
              <a:defRPr/>
            </a:pPr>
            <a:r>
              <a:rPr lang="en-US" altLang="zh-CN"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5.4.1 </a:t>
            </a:r>
            <a:r>
              <a:rPr lang="en-US" altLang="zh-CN" sz="2800" b="1" dirty="0" err="1">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Redis</a:t>
            </a:r>
            <a:r>
              <a:rPr lang="en-US" altLang="zh-CN"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 Cluster</a:t>
            </a:r>
            <a:r>
              <a:rPr lang="zh-CN" altLang="en-US"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架构介绍</a:t>
            </a:r>
          </a:p>
        </p:txBody>
      </p:sp>
      <p:sp>
        <p:nvSpPr>
          <p:cNvPr id="7" name="文本框 6"/>
          <p:cNvSpPr txBox="1"/>
          <p:nvPr/>
        </p:nvSpPr>
        <p:spPr>
          <a:xfrm>
            <a:off x="841829" y="1436914"/>
            <a:ext cx="10628504" cy="4801314"/>
          </a:xfrm>
          <a:prstGeom prst="rect">
            <a:avLst/>
          </a:prstGeom>
          <a:noFill/>
        </p:spPr>
        <p:txBody>
          <a:bodyPr wrap="square" rtlCol="0">
            <a:spAutoFit/>
          </a:bodyPr>
          <a:lstStyle/>
          <a:p>
            <a:pPr indent="457200" algn="l">
              <a:lnSpc>
                <a:spcPct val="150000"/>
              </a:lnSpc>
            </a:pPr>
            <a:r>
              <a:rPr lang="zh-CN" altLang="en-US" dirty="0">
                <a:solidFill>
                  <a:schemeClr val="bg1"/>
                </a:solidFill>
                <a:latin typeface="微软雅黑" panose="020B0503020204020204" pitchFamily="34" charset="-122"/>
                <a:ea typeface="微软雅黑" panose="020B0503020204020204" pitchFamily="34" charset="-122"/>
              </a:rPr>
              <a:t>如</a:t>
            </a:r>
            <a:r>
              <a:rPr lang="zh-CN" altLang="en-US" dirty="0" smtClean="0">
                <a:solidFill>
                  <a:schemeClr val="bg1"/>
                </a:solidFill>
                <a:latin typeface="微软雅黑" panose="020B0503020204020204" pitchFamily="34" charset="-122"/>
                <a:ea typeface="微软雅黑" panose="020B0503020204020204" pitchFamily="34" charset="-122"/>
              </a:rPr>
              <a:t>图</a:t>
            </a:r>
            <a:r>
              <a:rPr lang="en-US" altLang="zh-CN" dirty="0" smtClean="0">
                <a:solidFill>
                  <a:schemeClr val="bg1"/>
                </a:solidFill>
                <a:latin typeface="微软雅黑" panose="020B0503020204020204" pitchFamily="34" charset="-122"/>
                <a:ea typeface="微软雅黑" panose="020B0503020204020204" pitchFamily="34" charset="-122"/>
              </a:rPr>
              <a:t>5.4.1 -1</a:t>
            </a:r>
            <a:r>
              <a:rPr lang="zh-CN" altLang="en-US" dirty="0" smtClean="0">
                <a:solidFill>
                  <a:schemeClr val="bg1"/>
                </a:solidFill>
                <a:latin typeface="微软雅黑" panose="020B0503020204020204" pitchFamily="34" charset="-122"/>
                <a:ea typeface="微软雅黑" panose="020B0503020204020204" pitchFamily="34" charset="-122"/>
              </a:rPr>
              <a:t>是包含</a:t>
            </a:r>
            <a:r>
              <a:rPr lang="en-US" altLang="zh-CN" dirty="0" smtClean="0">
                <a:solidFill>
                  <a:schemeClr val="bg1"/>
                </a:solidFill>
                <a:latin typeface="微软雅黑" panose="020B0503020204020204" pitchFamily="34" charset="-122"/>
                <a:ea typeface="微软雅黑" panose="020B0503020204020204" pitchFamily="34" charset="-122"/>
              </a:rPr>
              <a:t>5</a:t>
            </a:r>
            <a:r>
              <a:rPr lang="zh-CN" altLang="en-US" dirty="0" smtClean="0">
                <a:solidFill>
                  <a:schemeClr val="bg1"/>
                </a:solidFill>
                <a:latin typeface="微软雅黑" panose="020B0503020204020204" pitchFamily="34" charset="-122"/>
                <a:ea typeface="微软雅黑" panose="020B0503020204020204" pitchFamily="34" charset="-122"/>
              </a:rPr>
              <a:t>个节点的集群，其中</a:t>
            </a:r>
            <a:r>
              <a:rPr lang="zh-CN" altLang="en-US" dirty="0">
                <a:solidFill>
                  <a:schemeClr val="bg1"/>
                </a:solidFill>
                <a:latin typeface="微软雅黑" panose="020B0503020204020204" pitchFamily="34" charset="-122"/>
                <a:ea typeface="微软雅黑" panose="020B0503020204020204" pitchFamily="34" charset="-122"/>
              </a:rPr>
              <a:t>节</a:t>
            </a:r>
            <a:r>
              <a:rPr lang="zh-CN" altLang="en-US" dirty="0" smtClean="0">
                <a:solidFill>
                  <a:schemeClr val="bg1"/>
                </a:solidFill>
                <a:latin typeface="微软雅黑" panose="020B0503020204020204" pitchFamily="34" charset="-122"/>
                <a:ea typeface="微软雅黑" panose="020B0503020204020204" pitchFamily="34" charset="-122"/>
              </a:rPr>
              <a:t>点</a:t>
            </a:r>
            <a:r>
              <a:rPr lang="en-US" altLang="zh-CN" dirty="0" smtClean="0">
                <a:solidFill>
                  <a:schemeClr val="bg1"/>
                </a:solidFill>
                <a:latin typeface="微软雅黑" panose="020B0503020204020204" pitchFamily="34" charset="-122"/>
                <a:ea typeface="微软雅黑" panose="020B0503020204020204" pitchFamily="34" charset="-122"/>
              </a:rPr>
              <a:t>A</a:t>
            </a:r>
            <a:r>
              <a:rPr lang="zh-CN" altLang="en-US" dirty="0" smtClean="0">
                <a:solidFill>
                  <a:schemeClr val="bg1"/>
                </a:solidFill>
                <a:latin typeface="微软雅黑" panose="020B0503020204020204" pitchFamily="34" charset="-122"/>
                <a:ea typeface="微软雅黑" panose="020B0503020204020204" pitchFamily="34" charset="-122"/>
              </a:rPr>
              <a:t>，</a:t>
            </a:r>
            <a:r>
              <a:rPr lang="en-US" altLang="zh-CN" dirty="0" smtClean="0">
                <a:solidFill>
                  <a:schemeClr val="bg1"/>
                </a:solidFill>
                <a:latin typeface="微软雅黑" panose="020B0503020204020204" pitchFamily="34" charset="-122"/>
                <a:ea typeface="微软雅黑" panose="020B0503020204020204" pitchFamily="34" charset="-122"/>
              </a:rPr>
              <a:t>B</a:t>
            </a:r>
            <a:r>
              <a:rPr lang="zh-CN" altLang="en-US" dirty="0" smtClean="0">
                <a:solidFill>
                  <a:schemeClr val="bg1"/>
                </a:solidFill>
                <a:latin typeface="微软雅黑" panose="020B0503020204020204" pitchFamily="34" charset="-122"/>
                <a:ea typeface="微软雅黑" panose="020B0503020204020204" pitchFamily="34" charset="-122"/>
              </a:rPr>
              <a:t>为</a:t>
            </a:r>
            <a:r>
              <a:rPr lang="en-US" altLang="zh-CN" dirty="0" smtClean="0">
                <a:solidFill>
                  <a:schemeClr val="bg1"/>
                </a:solidFill>
                <a:latin typeface="微软雅黑" panose="020B0503020204020204" pitchFamily="34" charset="-122"/>
                <a:ea typeface="微软雅黑" panose="020B0503020204020204" pitchFamily="34" charset="-122"/>
              </a:rPr>
              <a:t>master</a:t>
            </a:r>
            <a:r>
              <a:rPr lang="zh-CN" altLang="en-US" dirty="0" smtClean="0">
                <a:solidFill>
                  <a:schemeClr val="bg1"/>
                </a:solidFill>
                <a:latin typeface="微软雅黑" panose="020B0503020204020204" pitchFamily="34" charset="-122"/>
                <a:ea typeface="微软雅黑" panose="020B0503020204020204" pitchFamily="34" charset="-122"/>
              </a:rPr>
              <a:t>，可以对外提供服务。客户端连接任意的</a:t>
            </a:r>
            <a:r>
              <a:rPr lang="en-US" altLang="zh-CN" dirty="0" smtClean="0">
                <a:solidFill>
                  <a:schemeClr val="bg1"/>
                </a:solidFill>
                <a:latin typeface="微软雅黑" panose="020B0503020204020204" pitchFamily="34" charset="-122"/>
                <a:ea typeface="微软雅黑" panose="020B0503020204020204" pitchFamily="34" charset="-122"/>
              </a:rPr>
              <a:t>master</a:t>
            </a:r>
            <a:r>
              <a:rPr lang="zh-CN" altLang="en-US" dirty="0" smtClean="0">
                <a:solidFill>
                  <a:schemeClr val="bg1"/>
                </a:solidFill>
                <a:latin typeface="微软雅黑" panose="020B0503020204020204" pitchFamily="34" charset="-122"/>
                <a:ea typeface="微软雅黑" panose="020B0503020204020204" pitchFamily="34" charset="-122"/>
              </a:rPr>
              <a:t>节点都可以访问整个集群。示意图只画了</a:t>
            </a:r>
            <a:r>
              <a:rPr lang="en-US" altLang="zh-CN" dirty="0" smtClean="0">
                <a:solidFill>
                  <a:schemeClr val="bg1"/>
                </a:solidFill>
                <a:latin typeface="微软雅黑" panose="020B0503020204020204" pitchFamily="34" charset="-122"/>
                <a:ea typeface="微软雅黑" panose="020B0503020204020204" pitchFamily="34" charset="-122"/>
              </a:rPr>
              <a:t>5</a:t>
            </a:r>
            <a:r>
              <a:rPr lang="zh-CN" altLang="en-US" dirty="0" smtClean="0">
                <a:solidFill>
                  <a:schemeClr val="bg1"/>
                </a:solidFill>
                <a:latin typeface="微软雅黑" panose="020B0503020204020204" pitchFamily="34" charset="-122"/>
                <a:ea typeface="微软雅黑" panose="020B0503020204020204" pitchFamily="34" charset="-122"/>
              </a:rPr>
              <a:t>个槽，</a:t>
            </a:r>
            <a:r>
              <a:rPr lang="en-US" altLang="zh-CN" dirty="0" err="1" smtClean="0">
                <a:solidFill>
                  <a:schemeClr val="bg1"/>
                </a:solidFill>
                <a:latin typeface="微软雅黑" panose="020B0503020204020204" pitchFamily="34" charset="-122"/>
                <a:ea typeface="微软雅黑" panose="020B0503020204020204" pitchFamily="34" charset="-122"/>
              </a:rPr>
              <a:t>Redis</a:t>
            </a:r>
            <a:r>
              <a:rPr lang="en-US" altLang="zh-CN" dirty="0" smtClean="0">
                <a:solidFill>
                  <a:schemeClr val="bg1"/>
                </a:solidFill>
                <a:latin typeface="微软雅黑" panose="020B0503020204020204" pitchFamily="34" charset="-122"/>
                <a:ea typeface="微软雅黑" panose="020B0503020204020204" pitchFamily="34" charset="-122"/>
              </a:rPr>
              <a:t> Cluster</a:t>
            </a:r>
            <a:r>
              <a:rPr lang="zh-CN" altLang="en-US" dirty="0" smtClean="0">
                <a:solidFill>
                  <a:schemeClr val="bg1"/>
                </a:solidFill>
                <a:latin typeface="微软雅黑" panose="020B0503020204020204" pitchFamily="34" charset="-122"/>
                <a:ea typeface="微软雅黑" panose="020B0503020204020204" pitchFamily="34" charset="-122"/>
              </a:rPr>
              <a:t>实际上有</a:t>
            </a:r>
            <a:r>
              <a:rPr lang="en-US" altLang="zh-CN" dirty="0" smtClean="0">
                <a:solidFill>
                  <a:schemeClr val="bg1"/>
                </a:solidFill>
                <a:latin typeface="微软雅黑" panose="020B0503020204020204" pitchFamily="34" charset="-122"/>
                <a:ea typeface="微软雅黑" panose="020B0503020204020204" pitchFamily="34" charset="-122"/>
              </a:rPr>
              <a:t>16384</a:t>
            </a:r>
            <a:r>
              <a:rPr lang="zh-CN" altLang="en-US" dirty="0" smtClean="0">
                <a:solidFill>
                  <a:schemeClr val="bg1"/>
                </a:solidFill>
                <a:latin typeface="微软雅黑" panose="020B0503020204020204" pitchFamily="34" charset="-122"/>
                <a:ea typeface="微软雅黑" panose="020B0503020204020204" pitchFamily="34" charset="-122"/>
              </a:rPr>
              <a:t>个槽。</a:t>
            </a:r>
            <a:endParaRPr lang="en-US" altLang="zh-CN" dirty="0" smtClean="0">
              <a:solidFill>
                <a:schemeClr val="bg1"/>
              </a:solidFill>
              <a:latin typeface="微软雅黑" panose="020B0503020204020204" pitchFamily="34" charset="-122"/>
              <a:ea typeface="微软雅黑" panose="020B0503020204020204" pitchFamily="34" charset="-122"/>
            </a:endParaRPr>
          </a:p>
          <a:p>
            <a:pPr indent="457200" algn="l">
              <a:lnSpc>
                <a:spcPct val="150000"/>
              </a:lnSpc>
            </a:pPr>
            <a:r>
              <a:rPr lang="zh-CN" altLang="en-US" dirty="0" smtClean="0">
                <a:solidFill>
                  <a:schemeClr val="bg1"/>
                </a:solidFill>
                <a:latin typeface="微软雅黑" panose="020B0503020204020204" pitchFamily="34" charset="-122"/>
                <a:ea typeface="微软雅黑" panose="020B0503020204020204" pitchFamily="34" charset="-122"/>
              </a:rPr>
              <a:t>集群中所有的</a:t>
            </a:r>
            <a:r>
              <a:rPr lang="en-US" altLang="zh-CN" dirty="0" err="1" smtClean="0">
                <a:solidFill>
                  <a:schemeClr val="bg1"/>
                </a:solidFill>
                <a:latin typeface="微软雅黑" panose="020B0503020204020204" pitchFamily="34" charset="-122"/>
                <a:ea typeface="微软雅黑" panose="020B0503020204020204" pitchFamily="34" charset="-122"/>
              </a:rPr>
              <a:t>redis</a:t>
            </a:r>
            <a:r>
              <a:rPr lang="zh-CN" altLang="en-US" dirty="0" smtClean="0">
                <a:solidFill>
                  <a:schemeClr val="bg1"/>
                </a:solidFill>
                <a:latin typeface="微软雅黑" panose="020B0503020204020204" pitchFamily="34" charset="-122"/>
                <a:ea typeface="微软雅黑" panose="020B0503020204020204" pitchFamily="34" charset="-122"/>
              </a:rPr>
              <a:t>通过</a:t>
            </a:r>
            <a:r>
              <a:rPr lang="en-US" altLang="zh-CN" dirty="0" err="1" smtClean="0">
                <a:solidFill>
                  <a:schemeClr val="bg1"/>
                </a:solidFill>
                <a:latin typeface="微软雅黑" panose="020B0503020204020204" pitchFamily="34" charset="-122"/>
                <a:ea typeface="微软雅黑" panose="020B0503020204020204" pitchFamily="34" charset="-122"/>
              </a:rPr>
              <a:t>Redis</a:t>
            </a:r>
            <a:r>
              <a:rPr lang="en-US" altLang="zh-CN" dirty="0" smtClean="0">
                <a:solidFill>
                  <a:schemeClr val="bg1"/>
                </a:solidFill>
                <a:latin typeface="微软雅黑" panose="020B0503020204020204" pitchFamily="34" charset="-122"/>
                <a:ea typeface="微软雅黑" panose="020B0503020204020204" pitchFamily="34" charset="-122"/>
              </a:rPr>
              <a:t> Bus</a:t>
            </a:r>
            <a:r>
              <a:rPr lang="zh-CN" altLang="en-US" dirty="0" smtClean="0">
                <a:solidFill>
                  <a:schemeClr val="bg1"/>
                </a:solidFill>
                <a:latin typeface="微软雅黑" panose="020B0503020204020204" pitchFamily="34" charset="-122"/>
                <a:ea typeface="微软雅黑" panose="020B0503020204020204" pitchFamily="34" charset="-122"/>
              </a:rPr>
              <a:t>连接，用来保持槽信息等配置的同步。</a:t>
            </a:r>
            <a:endParaRPr lang="en-US" altLang="zh-CN" dirty="0" smtClean="0">
              <a:solidFill>
                <a:schemeClr val="bg1"/>
              </a:solidFill>
              <a:latin typeface="微软雅黑" panose="020B0503020204020204" pitchFamily="34" charset="-122"/>
              <a:ea typeface="微软雅黑" panose="020B0503020204020204" pitchFamily="34" charset="-122"/>
            </a:endParaRPr>
          </a:p>
          <a:p>
            <a:pPr indent="457200" algn="l">
              <a:lnSpc>
                <a:spcPct val="150000"/>
              </a:lnSpc>
            </a:pPr>
            <a:r>
              <a:rPr lang="zh-CN" altLang="en-US" dirty="0" smtClean="0">
                <a:solidFill>
                  <a:schemeClr val="bg1"/>
                </a:solidFill>
                <a:latin typeface="微软雅黑" panose="020B0503020204020204" pitchFamily="34" charset="-122"/>
                <a:ea typeface="微软雅黑" panose="020B0503020204020204" pitchFamily="34" charset="-122"/>
              </a:rPr>
              <a:t>集群的节点的主备同步方式还与非集群模式保持一致。</a:t>
            </a:r>
            <a:endParaRPr lang="en-US" altLang="zh-CN" dirty="0" smtClean="0">
              <a:solidFill>
                <a:schemeClr val="bg1"/>
              </a:solidFill>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en-US" altLang="zh-CN" sz="2400" dirty="0" smtClean="0">
                <a:solidFill>
                  <a:schemeClr val="bg1"/>
                </a:solidFill>
                <a:latin typeface="微软雅黑" panose="020B0503020204020204" pitchFamily="34" charset="-122"/>
                <a:ea typeface="微软雅黑" panose="020B0503020204020204" pitchFamily="34" charset="-122"/>
              </a:rPr>
              <a:t>Hash Tags</a:t>
            </a:r>
          </a:p>
          <a:p>
            <a:pPr indent="457200">
              <a:lnSpc>
                <a:spcPct val="150000"/>
              </a:lnSpc>
            </a:pPr>
            <a:r>
              <a:rPr lang="en-US" altLang="zh-CN" dirty="0" err="1" smtClean="0">
                <a:solidFill>
                  <a:schemeClr val="bg1"/>
                </a:solidFill>
                <a:latin typeface="微软雅黑" panose="020B0503020204020204" pitchFamily="34" charset="-122"/>
                <a:ea typeface="微软雅黑" panose="020B0503020204020204" pitchFamily="34" charset="-122"/>
              </a:rPr>
              <a:t>redis</a:t>
            </a:r>
            <a:r>
              <a:rPr lang="zh-CN" altLang="en-US" dirty="0" smtClean="0">
                <a:solidFill>
                  <a:schemeClr val="bg1"/>
                </a:solidFill>
                <a:latin typeface="微软雅黑" panose="020B0503020204020204" pitchFamily="34" charset="-122"/>
                <a:ea typeface="微软雅黑" panose="020B0503020204020204" pitchFamily="34" charset="-122"/>
              </a:rPr>
              <a:t>集群不支持操作多个</a:t>
            </a:r>
            <a:r>
              <a:rPr lang="en-US" altLang="zh-CN" dirty="0" smtClean="0">
                <a:solidFill>
                  <a:schemeClr val="bg1"/>
                </a:solidFill>
                <a:latin typeface="微软雅黑" panose="020B0503020204020204" pitchFamily="34" charset="-122"/>
                <a:ea typeface="微软雅黑" panose="020B0503020204020204" pitchFamily="34" charset="-122"/>
              </a:rPr>
              <a:t>key</a:t>
            </a:r>
            <a:r>
              <a:rPr lang="zh-CN" altLang="en-US" dirty="0" smtClean="0">
                <a:solidFill>
                  <a:schemeClr val="bg1"/>
                </a:solidFill>
                <a:latin typeface="微软雅黑" panose="020B0503020204020204" pitchFamily="34" charset="-122"/>
                <a:ea typeface="微软雅黑" panose="020B0503020204020204" pitchFamily="34" charset="-122"/>
              </a:rPr>
              <a:t>的命令。如</a:t>
            </a:r>
            <a:r>
              <a:rPr lang="en-US" altLang="zh-CN" dirty="0">
                <a:solidFill>
                  <a:schemeClr val="bg1"/>
                </a:solidFill>
                <a:latin typeface="微软雅黑" panose="020B0503020204020204" pitchFamily="34" charset="-122"/>
                <a:ea typeface="微软雅黑" panose="020B0503020204020204" pitchFamily="34" charset="-122"/>
              </a:rPr>
              <a:t>SINTER, </a:t>
            </a:r>
            <a:r>
              <a:rPr lang="en-US" altLang="zh-CN" dirty="0" smtClean="0">
                <a:solidFill>
                  <a:schemeClr val="bg1"/>
                </a:solidFill>
                <a:latin typeface="微软雅黑" panose="020B0503020204020204" pitchFamily="34" charset="-122"/>
                <a:ea typeface="微软雅黑" panose="020B0503020204020204" pitchFamily="34" charset="-122"/>
              </a:rPr>
              <a:t>BRPOP</a:t>
            </a:r>
            <a:r>
              <a:rPr lang="zh-CN" altLang="en-US" dirty="0" smtClean="0">
                <a:solidFill>
                  <a:schemeClr val="bg1"/>
                </a:solidFill>
                <a:latin typeface="微软雅黑" panose="020B0503020204020204" pitchFamily="34" charset="-122"/>
                <a:ea typeface="微软雅黑" panose="020B0503020204020204" pitchFamily="34" charset="-122"/>
              </a:rPr>
              <a:t>。因为不同的</a:t>
            </a:r>
            <a:r>
              <a:rPr lang="en-US" altLang="zh-CN" dirty="0" smtClean="0">
                <a:solidFill>
                  <a:schemeClr val="bg1"/>
                </a:solidFill>
                <a:latin typeface="微软雅黑" panose="020B0503020204020204" pitchFamily="34" charset="-122"/>
                <a:ea typeface="微软雅黑" panose="020B0503020204020204" pitchFamily="34" charset="-122"/>
              </a:rPr>
              <a:t>key</a:t>
            </a:r>
            <a:r>
              <a:rPr lang="zh-CN" altLang="en-US" dirty="0" smtClean="0">
                <a:solidFill>
                  <a:schemeClr val="bg1"/>
                </a:solidFill>
                <a:latin typeface="微软雅黑" panose="020B0503020204020204" pitchFamily="34" charset="-122"/>
                <a:ea typeface="微软雅黑" panose="020B0503020204020204" pitchFamily="34" charset="-122"/>
              </a:rPr>
              <a:t>可能分布在不同的槽以至于分布在不同的节点。这种情况</a:t>
            </a:r>
            <a:r>
              <a:rPr lang="en-US" altLang="zh-CN" dirty="0" err="1" smtClean="0">
                <a:solidFill>
                  <a:schemeClr val="bg1"/>
                </a:solidFill>
                <a:latin typeface="微软雅黑" panose="020B0503020204020204" pitchFamily="34" charset="-122"/>
                <a:ea typeface="微软雅黑" panose="020B0503020204020204" pitchFamily="34" charset="-122"/>
              </a:rPr>
              <a:t>redis</a:t>
            </a:r>
            <a:r>
              <a:rPr lang="zh-CN" altLang="en-US" dirty="0" smtClean="0">
                <a:solidFill>
                  <a:schemeClr val="bg1"/>
                </a:solidFill>
                <a:latin typeface="微软雅黑" panose="020B0503020204020204" pitchFamily="34" charset="-122"/>
                <a:ea typeface="微软雅黑" panose="020B0503020204020204" pitchFamily="34" charset="-122"/>
              </a:rPr>
              <a:t>会报错。</a:t>
            </a:r>
            <a:endParaRPr lang="en-US" altLang="zh-CN" dirty="0" smtClean="0">
              <a:solidFill>
                <a:schemeClr val="bg1"/>
              </a:solidFill>
              <a:latin typeface="微软雅黑" panose="020B0503020204020204" pitchFamily="34" charset="-122"/>
              <a:ea typeface="微软雅黑" panose="020B0503020204020204" pitchFamily="34" charset="-122"/>
            </a:endParaRPr>
          </a:p>
          <a:p>
            <a:pPr indent="457200">
              <a:lnSpc>
                <a:spcPct val="150000"/>
              </a:lnSpc>
            </a:pPr>
            <a:r>
              <a:rPr lang="en-US" altLang="zh-CN" dirty="0" err="1" smtClean="0">
                <a:solidFill>
                  <a:schemeClr val="bg1"/>
                </a:solidFill>
                <a:latin typeface="微软雅黑" panose="020B0503020204020204" pitchFamily="34" charset="-122"/>
                <a:ea typeface="微软雅黑" panose="020B0503020204020204" pitchFamily="34" charset="-122"/>
              </a:rPr>
              <a:t>Redis</a:t>
            </a:r>
            <a:r>
              <a:rPr lang="en-US" altLang="zh-CN" dirty="0" smtClean="0">
                <a:solidFill>
                  <a:schemeClr val="bg1"/>
                </a:solidFill>
                <a:latin typeface="微软雅黑" panose="020B0503020204020204" pitchFamily="34" charset="-122"/>
                <a:ea typeface="微软雅黑" panose="020B0503020204020204" pitchFamily="34" charset="-122"/>
              </a:rPr>
              <a:t> Cluster</a:t>
            </a:r>
            <a:r>
              <a:rPr lang="zh-CN" altLang="en-US" dirty="0" smtClean="0">
                <a:solidFill>
                  <a:schemeClr val="bg1"/>
                </a:solidFill>
                <a:latin typeface="微软雅黑" panose="020B0503020204020204" pitchFamily="34" charset="-122"/>
                <a:ea typeface="微软雅黑" panose="020B0503020204020204" pitchFamily="34" charset="-122"/>
              </a:rPr>
              <a:t>支持同一个命令操作的</a:t>
            </a:r>
            <a:r>
              <a:rPr lang="zh-CN" altLang="en-US" dirty="0">
                <a:solidFill>
                  <a:schemeClr val="bg1"/>
                </a:solidFill>
                <a:latin typeface="微软雅黑" panose="020B0503020204020204" pitchFamily="34" charset="-122"/>
                <a:ea typeface="微软雅黑" panose="020B0503020204020204" pitchFamily="34" charset="-122"/>
              </a:rPr>
              <a:t>多</a:t>
            </a:r>
            <a:r>
              <a:rPr lang="zh-CN" altLang="en-US" dirty="0" smtClean="0">
                <a:solidFill>
                  <a:schemeClr val="bg1"/>
                </a:solidFill>
                <a:latin typeface="微软雅黑" panose="020B0503020204020204" pitchFamily="34" charset="-122"/>
                <a:ea typeface="微软雅黑" panose="020B0503020204020204" pitchFamily="34" charset="-122"/>
              </a:rPr>
              <a:t>个</a:t>
            </a:r>
            <a:r>
              <a:rPr lang="en-US" altLang="zh-CN" dirty="0" smtClean="0">
                <a:solidFill>
                  <a:schemeClr val="bg1"/>
                </a:solidFill>
                <a:latin typeface="微软雅黑" panose="020B0503020204020204" pitchFamily="34" charset="-122"/>
                <a:ea typeface="微软雅黑" panose="020B0503020204020204" pitchFamily="34" charset="-122"/>
              </a:rPr>
              <a:t>key </a:t>
            </a:r>
            <a:r>
              <a:rPr lang="zh-CN" altLang="en-US" dirty="0">
                <a:solidFill>
                  <a:schemeClr val="bg1"/>
                </a:solidFill>
                <a:latin typeface="微软雅黑" panose="020B0503020204020204" pitchFamily="34" charset="-122"/>
                <a:ea typeface="微软雅黑" panose="020B0503020204020204" pitchFamily="34" charset="-122"/>
              </a:rPr>
              <a:t>落</a:t>
            </a:r>
            <a:r>
              <a:rPr lang="zh-CN" altLang="en-US" dirty="0" smtClean="0">
                <a:solidFill>
                  <a:schemeClr val="bg1"/>
                </a:solidFill>
                <a:latin typeface="微软雅黑" panose="020B0503020204020204" pitchFamily="34" charset="-122"/>
                <a:ea typeface="微软雅黑" panose="020B0503020204020204" pitchFamily="34" charset="-122"/>
              </a:rPr>
              <a:t>在同一个槽的命令。</a:t>
            </a:r>
            <a:endParaRPr lang="en-US" altLang="zh-CN" dirty="0" smtClean="0">
              <a:solidFill>
                <a:schemeClr val="bg1"/>
              </a:solidFill>
              <a:latin typeface="微软雅黑" panose="020B0503020204020204" pitchFamily="34" charset="-122"/>
              <a:ea typeface="微软雅黑" panose="020B0503020204020204" pitchFamily="34" charset="-122"/>
            </a:endParaRPr>
          </a:p>
          <a:p>
            <a:pPr indent="457200">
              <a:lnSpc>
                <a:spcPct val="150000"/>
              </a:lnSpc>
            </a:pPr>
            <a:r>
              <a:rPr lang="zh-CN" altLang="en-US" dirty="0">
                <a:solidFill>
                  <a:schemeClr val="bg1"/>
                </a:solidFill>
                <a:latin typeface="微软雅黑" panose="020B0503020204020204" pitchFamily="34" charset="-122"/>
                <a:ea typeface="微软雅黑" panose="020B0503020204020204" pitchFamily="34" charset="-122"/>
              </a:rPr>
              <a:t>当一个</a:t>
            </a:r>
            <a:r>
              <a:rPr lang="en-US" altLang="zh-CN" dirty="0">
                <a:solidFill>
                  <a:schemeClr val="bg1"/>
                </a:solidFill>
                <a:latin typeface="微软雅黑" panose="020B0503020204020204" pitchFamily="34" charset="-122"/>
                <a:ea typeface="微软雅黑" panose="020B0503020204020204" pitchFamily="34" charset="-122"/>
              </a:rPr>
              <a:t>key</a:t>
            </a:r>
            <a:r>
              <a:rPr lang="zh-CN" altLang="en-US" dirty="0">
                <a:solidFill>
                  <a:schemeClr val="bg1"/>
                </a:solidFill>
                <a:latin typeface="微软雅黑" panose="020B0503020204020204" pitchFamily="34" charset="-122"/>
                <a:ea typeface="微软雅黑" panose="020B0503020204020204" pitchFamily="34" charset="-122"/>
              </a:rPr>
              <a:t>包含 </a:t>
            </a:r>
            <a:r>
              <a:rPr lang="en-US" altLang="zh-CN" b="1" dirty="0">
                <a:solidFill>
                  <a:srgbClr val="FFD343"/>
                </a:solidFill>
                <a:latin typeface="微软雅黑" panose="020B0503020204020204" pitchFamily="34" charset="-122"/>
                <a:ea typeface="微软雅黑" panose="020B0503020204020204" pitchFamily="34" charset="-122"/>
              </a:rPr>
              <a:t>{} </a:t>
            </a:r>
            <a:r>
              <a:rPr lang="zh-CN" altLang="en-US" dirty="0">
                <a:solidFill>
                  <a:schemeClr val="bg1"/>
                </a:solidFill>
                <a:latin typeface="微软雅黑" panose="020B0503020204020204" pitchFamily="34" charset="-122"/>
                <a:ea typeface="微软雅黑" panose="020B0503020204020204" pitchFamily="34" charset="-122"/>
              </a:rPr>
              <a:t>的时候，就不对整个</a:t>
            </a:r>
            <a:r>
              <a:rPr lang="en-US" altLang="zh-CN" dirty="0">
                <a:solidFill>
                  <a:schemeClr val="bg1"/>
                </a:solidFill>
                <a:latin typeface="微软雅黑" panose="020B0503020204020204" pitchFamily="34" charset="-122"/>
                <a:ea typeface="微软雅黑" panose="020B0503020204020204" pitchFamily="34" charset="-122"/>
              </a:rPr>
              <a:t>key</a:t>
            </a:r>
            <a:r>
              <a:rPr lang="zh-CN" altLang="en-US" dirty="0">
                <a:solidFill>
                  <a:schemeClr val="bg1"/>
                </a:solidFill>
                <a:latin typeface="微软雅黑" panose="020B0503020204020204" pitchFamily="34" charset="-122"/>
                <a:ea typeface="微软雅黑" panose="020B0503020204020204" pitchFamily="34" charset="-122"/>
              </a:rPr>
              <a:t>做</a:t>
            </a:r>
            <a:r>
              <a:rPr lang="en-US" altLang="zh-CN" dirty="0">
                <a:solidFill>
                  <a:schemeClr val="bg1"/>
                </a:solidFill>
                <a:latin typeface="微软雅黑" panose="020B0503020204020204" pitchFamily="34" charset="-122"/>
                <a:ea typeface="微软雅黑" panose="020B0503020204020204" pitchFamily="34" charset="-122"/>
              </a:rPr>
              <a:t>hash</a:t>
            </a:r>
            <a:r>
              <a:rPr lang="zh-CN" altLang="en-US" dirty="0">
                <a:solidFill>
                  <a:schemeClr val="bg1"/>
                </a:solidFill>
                <a:latin typeface="微软雅黑" panose="020B0503020204020204" pitchFamily="34" charset="-122"/>
                <a:ea typeface="微软雅黑" panose="020B0503020204020204" pitchFamily="34" charset="-122"/>
              </a:rPr>
              <a:t>，而仅对 </a:t>
            </a:r>
            <a:r>
              <a:rPr lang="en-US" altLang="zh-CN" dirty="0">
                <a:solidFill>
                  <a:schemeClr val="bg1"/>
                </a:solidFill>
                <a:latin typeface="微软雅黑" panose="020B0503020204020204" pitchFamily="34" charset="-122"/>
                <a:ea typeface="微软雅黑" panose="020B0503020204020204" pitchFamily="34" charset="-122"/>
              </a:rPr>
              <a:t>{} </a:t>
            </a:r>
            <a:r>
              <a:rPr lang="zh-CN" altLang="en-US" dirty="0">
                <a:solidFill>
                  <a:schemeClr val="bg1"/>
                </a:solidFill>
                <a:latin typeface="微软雅黑" panose="020B0503020204020204" pitchFamily="34" charset="-122"/>
                <a:ea typeface="微软雅黑" panose="020B0503020204020204" pitchFamily="34" charset="-122"/>
              </a:rPr>
              <a:t>包括的字符串做</a:t>
            </a:r>
            <a:r>
              <a:rPr lang="en-US" altLang="zh-CN" dirty="0">
                <a:solidFill>
                  <a:schemeClr val="bg1"/>
                </a:solidFill>
                <a:latin typeface="微软雅黑" panose="020B0503020204020204" pitchFamily="34" charset="-122"/>
                <a:ea typeface="微软雅黑" panose="020B0503020204020204" pitchFamily="34" charset="-122"/>
              </a:rPr>
              <a:t>hash</a:t>
            </a:r>
            <a:r>
              <a:rPr lang="zh-CN" altLang="en-US" dirty="0" smtClean="0">
                <a:solidFill>
                  <a:schemeClr val="bg1"/>
                </a:solidFill>
                <a:latin typeface="微软雅黑" panose="020B0503020204020204" pitchFamily="34" charset="-122"/>
                <a:ea typeface="微软雅黑" panose="020B0503020204020204" pitchFamily="34" charset="-122"/>
              </a:rPr>
              <a:t>。</a:t>
            </a:r>
            <a:endParaRPr lang="en-US" altLang="zh-CN" dirty="0" smtClean="0">
              <a:solidFill>
                <a:schemeClr val="bg1"/>
              </a:solidFill>
              <a:latin typeface="微软雅黑" panose="020B0503020204020204" pitchFamily="34" charset="-122"/>
              <a:ea typeface="微软雅黑" panose="020B0503020204020204" pitchFamily="34" charset="-122"/>
            </a:endParaRPr>
          </a:p>
          <a:p>
            <a:pPr indent="457200">
              <a:lnSpc>
                <a:spcPct val="150000"/>
              </a:lnSpc>
            </a:pPr>
            <a:r>
              <a:rPr lang="zh-CN" altLang="en-US" dirty="0">
                <a:solidFill>
                  <a:schemeClr val="bg1"/>
                </a:solidFill>
                <a:latin typeface="微软雅黑" panose="020B0503020204020204" pitchFamily="34" charset="-122"/>
                <a:ea typeface="微软雅黑" panose="020B0503020204020204" pitchFamily="34" charset="-122"/>
              </a:rPr>
              <a:t>假</a:t>
            </a:r>
            <a:r>
              <a:rPr lang="zh-CN" altLang="en-US" dirty="0" smtClean="0">
                <a:solidFill>
                  <a:schemeClr val="bg1"/>
                </a:solidFill>
                <a:latin typeface="微软雅黑" panose="020B0503020204020204" pitchFamily="34" charset="-122"/>
                <a:ea typeface="微软雅黑" panose="020B0503020204020204" pitchFamily="34" charset="-122"/>
              </a:rPr>
              <a:t>设</a:t>
            </a:r>
            <a:r>
              <a:rPr lang="en-US" altLang="zh-CN" dirty="0" smtClean="0">
                <a:solidFill>
                  <a:schemeClr val="bg1"/>
                </a:solidFill>
                <a:latin typeface="微软雅黑" panose="020B0503020204020204" pitchFamily="34" charset="-122"/>
                <a:ea typeface="微软雅黑" panose="020B0503020204020204" pitchFamily="34" charset="-122"/>
              </a:rPr>
              <a:t>key1 = </a:t>
            </a:r>
            <a:r>
              <a:rPr lang="en-US" altLang="zh-CN" dirty="0" err="1" smtClean="0">
                <a:solidFill>
                  <a:schemeClr val="bg1"/>
                </a:solidFill>
                <a:latin typeface="微软雅黑" panose="020B0503020204020204" pitchFamily="34" charset="-122"/>
                <a:ea typeface="微软雅黑" panose="020B0503020204020204" pitchFamily="34" charset="-122"/>
              </a:rPr>
              <a:t>orderno</a:t>
            </a:r>
            <a:r>
              <a:rPr lang="en-US" altLang="zh-CN" dirty="0" smtClean="0">
                <a:solidFill>
                  <a:schemeClr val="bg1"/>
                </a:solidFill>
                <a:latin typeface="微软雅黑" panose="020B0503020204020204" pitchFamily="34" charset="-122"/>
                <a:ea typeface="微软雅黑" panose="020B0503020204020204" pitchFamily="34" charset="-122"/>
              </a:rPr>
              <a:t>:</a:t>
            </a:r>
            <a:r>
              <a:rPr lang="en-US" altLang="zh-CN" b="1" dirty="0">
                <a:solidFill>
                  <a:srgbClr val="FFD343"/>
                </a:solidFill>
                <a:latin typeface="微软雅黑" panose="020B0503020204020204" pitchFamily="34" charset="-122"/>
                <a:ea typeface="微软雅黑" panose="020B0503020204020204" pitchFamily="34" charset="-122"/>
              </a:rPr>
              <a:t>{000001}</a:t>
            </a:r>
            <a:r>
              <a:rPr lang="en-US" altLang="zh-CN" dirty="0" smtClean="0">
                <a:solidFill>
                  <a:schemeClr val="bg1"/>
                </a:solidFill>
                <a:latin typeface="微软雅黑" panose="020B0503020204020204" pitchFamily="34" charset="-122"/>
                <a:ea typeface="微软雅黑" panose="020B0503020204020204" pitchFamily="34" charset="-122"/>
              </a:rPr>
              <a:t>:ids  </a:t>
            </a:r>
            <a:r>
              <a:rPr lang="zh-CN" altLang="en-US" dirty="0" smtClean="0">
                <a:solidFill>
                  <a:schemeClr val="bg1"/>
                </a:solidFill>
                <a:latin typeface="微软雅黑" panose="020B0503020204020204" pitchFamily="34" charset="-122"/>
                <a:ea typeface="微软雅黑" panose="020B0503020204020204" pitchFamily="34" charset="-122"/>
              </a:rPr>
              <a:t>， </a:t>
            </a:r>
            <a:r>
              <a:rPr lang="en-US" altLang="zh-CN" dirty="0" smtClean="0">
                <a:solidFill>
                  <a:schemeClr val="bg1"/>
                </a:solidFill>
                <a:latin typeface="微软雅黑" panose="020B0503020204020204" pitchFamily="34" charset="-122"/>
                <a:ea typeface="微软雅黑" panose="020B0503020204020204" pitchFamily="34" charset="-122"/>
              </a:rPr>
              <a:t>key2 =</a:t>
            </a:r>
            <a:r>
              <a:rPr lang="en-US" altLang="zh-CN" dirty="0">
                <a:solidFill>
                  <a:schemeClr val="bg1"/>
                </a:solidFill>
                <a:latin typeface="微软雅黑" panose="020B0503020204020204" pitchFamily="34" charset="-122"/>
                <a:ea typeface="微软雅黑" panose="020B0503020204020204" pitchFamily="34" charset="-122"/>
              </a:rPr>
              <a:t> </a:t>
            </a:r>
            <a:r>
              <a:rPr lang="en-US" altLang="zh-CN" dirty="0" err="1" smtClean="0">
                <a:solidFill>
                  <a:schemeClr val="bg1"/>
                </a:solidFill>
                <a:latin typeface="微软雅黑" panose="020B0503020204020204" pitchFamily="34" charset="-122"/>
                <a:ea typeface="微软雅黑" panose="020B0503020204020204" pitchFamily="34" charset="-122"/>
              </a:rPr>
              <a:t>orderno</a:t>
            </a:r>
            <a:r>
              <a:rPr lang="en-US" altLang="zh-CN" dirty="0">
                <a:solidFill>
                  <a:schemeClr val="bg1"/>
                </a:solidFill>
                <a:latin typeface="微软雅黑" panose="020B0503020204020204" pitchFamily="34" charset="-122"/>
                <a:ea typeface="微软雅黑" panose="020B0503020204020204" pitchFamily="34" charset="-122"/>
              </a:rPr>
              <a:t>:</a:t>
            </a:r>
            <a:r>
              <a:rPr lang="en-US" altLang="zh-CN" b="1" dirty="0">
                <a:solidFill>
                  <a:srgbClr val="FFD343"/>
                </a:solidFill>
                <a:latin typeface="微软雅黑" panose="020B0503020204020204" pitchFamily="34" charset="-122"/>
                <a:ea typeface="微软雅黑" panose="020B0503020204020204" pitchFamily="34" charset="-122"/>
              </a:rPr>
              <a:t>{000001}</a:t>
            </a:r>
            <a:r>
              <a:rPr lang="en-US" altLang="zh-CN" dirty="0">
                <a:solidFill>
                  <a:schemeClr val="bg1"/>
                </a:solidFill>
                <a:latin typeface="微软雅黑" panose="020B0503020204020204" pitchFamily="34" charset="-122"/>
                <a:ea typeface="微软雅黑" panose="020B0503020204020204" pitchFamily="34" charset="-122"/>
              </a:rPr>
              <a:t>: detail</a:t>
            </a:r>
            <a:r>
              <a:rPr lang="en-US" altLang="zh-CN" dirty="0" smtClean="0">
                <a:solidFill>
                  <a:schemeClr val="bg1"/>
                </a:solidFill>
                <a:latin typeface="微软雅黑" panose="020B0503020204020204" pitchFamily="34" charset="-122"/>
                <a:ea typeface="微软雅黑" panose="020B0503020204020204" pitchFamily="34" charset="-122"/>
              </a:rPr>
              <a:t> </a:t>
            </a:r>
            <a:endParaRPr lang="zh-CN" altLang="en-US" dirty="0">
              <a:solidFill>
                <a:schemeClr val="bg1"/>
              </a:solidFill>
              <a:latin typeface="微软雅黑" panose="020B0503020204020204" pitchFamily="34" charset="-122"/>
              <a:ea typeface="微软雅黑" panose="020B0503020204020204" pitchFamily="34" charset="-122"/>
            </a:endParaRPr>
          </a:p>
          <a:p>
            <a:pPr indent="457200">
              <a:lnSpc>
                <a:spcPct val="150000"/>
              </a:lnSpc>
            </a:pPr>
            <a:r>
              <a:rPr lang="zh-CN" altLang="en-US" dirty="0" smtClean="0">
                <a:solidFill>
                  <a:schemeClr val="bg1"/>
                </a:solidFill>
                <a:latin typeface="微软雅黑" panose="020B0503020204020204" pitchFamily="34" charset="-122"/>
                <a:ea typeface="微软雅黑" panose="020B0503020204020204" pitchFamily="34" charset="-122"/>
              </a:rPr>
              <a:t>则</a:t>
            </a:r>
            <a:r>
              <a:rPr lang="en-US" altLang="zh-CN" dirty="0" smtClean="0">
                <a:solidFill>
                  <a:schemeClr val="bg1"/>
                </a:solidFill>
                <a:latin typeface="微软雅黑" panose="020B0503020204020204" pitchFamily="34" charset="-122"/>
                <a:ea typeface="微软雅黑" panose="020B0503020204020204" pitchFamily="34" charset="-122"/>
              </a:rPr>
              <a:t>key1,key2</a:t>
            </a:r>
            <a:r>
              <a:rPr lang="zh-CN" altLang="en-US" dirty="0">
                <a:solidFill>
                  <a:schemeClr val="bg1"/>
                </a:solidFill>
                <a:latin typeface="微软雅黑" panose="020B0503020204020204" pitchFamily="34" charset="-122"/>
                <a:ea typeface="微软雅黑" panose="020B0503020204020204" pitchFamily="34" charset="-122"/>
              </a:rPr>
              <a:t>对</a:t>
            </a:r>
            <a:r>
              <a:rPr lang="zh-CN" altLang="en-US" dirty="0" smtClean="0">
                <a:solidFill>
                  <a:schemeClr val="bg1"/>
                </a:solidFill>
                <a:latin typeface="微软雅黑" panose="020B0503020204020204" pitchFamily="34" charset="-122"/>
                <a:ea typeface="微软雅黑" panose="020B0503020204020204" pitchFamily="34" charset="-122"/>
              </a:rPr>
              <a:t>应的槽位都是通过</a:t>
            </a:r>
            <a:r>
              <a:rPr lang="en-US" altLang="zh-CN" dirty="0" smtClean="0">
                <a:solidFill>
                  <a:schemeClr val="bg1"/>
                </a:solidFill>
                <a:latin typeface="微软雅黑" panose="020B0503020204020204" pitchFamily="34" charset="-122"/>
                <a:ea typeface="微软雅黑" panose="020B0503020204020204" pitchFamily="34" charset="-122"/>
              </a:rPr>
              <a:t>CRC16(000001)</a:t>
            </a:r>
            <a:r>
              <a:rPr lang="zh-CN" altLang="en-US" dirty="0">
                <a:solidFill>
                  <a:schemeClr val="bg1"/>
                </a:solidFill>
                <a:latin typeface="微软雅黑" panose="020B0503020204020204" pitchFamily="34" charset="-122"/>
                <a:ea typeface="微软雅黑" panose="020B0503020204020204" pitchFamily="34" charset="-122"/>
              </a:rPr>
              <a:t>和</a:t>
            </a:r>
            <a:r>
              <a:rPr lang="en-US" altLang="zh-CN" dirty="0" smtClean="0">
                <a:solidFill>
                  <a:schemeClr val="bg1"/>
                </a:solidFill>
                <a:latin typeface="微软雅黑" panose="020B0503020204020204" pitchFamily="34" charset="-122"/>
                <a:ea typeface="微软雅黑" panose="020B0503020204020204" pitchFamily="34" charset="-122"/>
              </a:rPr>
              <a:t>16384</a:t>
            </a:r>
            <a:r>
              <a:rPr lang="zh-CN" altLang="en-US" dirty="0" smtClean="0">
                <a:solidFill>
                  <a:schemeClr val="bg1"/>
                </a:solidFill>
                <a:latin typeface="微软雅黑" panose="020B0503020204020204" pitchFamily="34" charset="-122"/>
                <a:ea typeface="微软雅黑" panose="020B0503020204020204" pitchFamily="34" charset="-122"/>
              </a:rPr>
              <a:t>求余所得，能保证落在同一个槽。</a:t>
            </a:r>
          </a:p>
        </p:txBody>
      </p:sp>
    </p:spTree>
    <p:extLst>
      <p:ext uri="{BB962C8B-B14F-4D97-AF65-F5344CB8AC3E}">
        <p14:creationId xmlns:p14="http://schemas.microsoft.com/office/powerpoint/2010/main" val="4291752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0A0F23"/>
        </a:solidFill>
        <a:effectLst/>
      </p:bgPr>
    </p:bg>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xmlns="" id="{CBDC52CD-1D62-48AF-A9DF-9F18AEA2B1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01385" y="-114300"/>
            <a:ext cx="1301859" cy="920356"/>
          </a:xfrm>
          <a:prstGeom prst="rect">
            <a:avLst/>
          </a:prstGeom>
        </p:spPr>
      </p:pic>
      <p:pic>
        <p:nvPicPr>
          <p:cNvPr id="14" name="图片 13">
            <a:extLst>
              <a:ext uri="{FF2B5EF4-FFF2-40B4-BE49-F238E27FC236}">
                <a16:creationId xmlns:a16="http://schemas.microsoft.com/office/drawing/2014/main" xmlns="" id="{F78DA958-9B1B-47DA-A870-8C0B3A7D8866}"/>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b="63537"/>
          <a:stretch/>
        </p:blipFill>
        <p:spPr>
          <a:xfrm>
            <a:off x="11184164" y="217733"/>
            <a:ext cx="572339" cy="337210"/>
          </a:xfrm>
          <a:prstGeom prst="rect">
            <a:avLst/>
          </a:prstGeom>
        </p:spPr>
      </p:pic>
      <p:cxnSp>
        <p:nvCxnSpPr>
          <p:cNvPr id="15" name="直接连接符 14">
            <a:extLst>
              <a:ext uri="{FF2B5EF4-FFF2-40B4-BE49-F238E27FC236}">
                <a16:creationId xmlns:a16="http://schemas.microsoft.com/office/drawing/2014/main" xmlns="" id="{93240A06-D526-4907-A163-94ABB41190CC}"/>
              </a:ext>
            </a:extLst>
          </p:cNvPr>
          <p:cNvCxnSpPr/>
          <p:nvPr/>
        </p:nvCxnSpPr>
        <p:spPr>
          <a:xfrm>
            <a:off x="11103244" y="225825"/>
            <a:ext cx="0" cy="2435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extBox 9"/>
          <p:cNvSpPr txBox="1"/>
          <p:nvPr/>
        </p:nvSpPr>
        <p:spPr>
          <a:xfrm>
            <a:off x="704850" y="806056"/>
            <a:ext cx="8883650" cy="523220"/>
          </a:xfrm>
          <a:prstGeom prst="rect">
            <a:avLst/>
          </a:prstGeom>
          <a:noFill/>
        </p:spPr>
        <p:txBody>
          <a:bodyPr wrap="square" rtlCol="0">
            <a:spAutoFit/>
          </a:bodyPr>
          <a:lstStyle/>
          <a:p>
            <a:pPr>
              <a:defRPr/>
            </a:pPr>
            <a:r>
              <a:rPr lang="en-US" altLang="zh-CN"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5.4.2 </a:t>
            </a:r>
            <a:r>
              <a:rPr lang="zh-CN" altLang="en-US"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集群中数据的路由？</a:t>
            </a:r>
          </a:p>
        </p:txBody>
      </p:sp>
      <p:sp>
        <p:nvSpPr>
          <p:cNvPr id="12" name="矩形 11">
            <a:extLst>
              <a:ext uri="{FF2B5EF4-FFF2-40B4-BE49-F238E27FC236}">
                <a16:creationId xmlns:a16="http://schemas.microsoft.com/office/drawing/2014/main" xmlns="" id="{74C59758-12AB-44A5-92FA-DB52904027AE}"/>
              </a:ext>
            </a:extLst>
          </p:cNvPr>
          <p:cNvSpPr/>
          <p:nvPr/>
        </p:nvSpPr>
        <p:spPr>
          <a:xfrm>
            <a:off x="704850" y="1587751"/>
            <a:ext cx="10765483" cy="3000821"/>
          </a:xfrm>
          <a:prstGeom prst="rect">
            <a:avLst/>
          </a:prstGeom>
        </p:spPr>
        <p:txBody>
          <a:bodyPr wrap="square">
            <a:spAutoFit/>
          </a:bodyPr>
          <a:lstStyle/>
          <a:p>
            <a:pPr indent="457200">
              <a:lnSpc>
                <a:spcPct val="150000"/>
              </a:lnSpc>
            </a:pPr>
            <a:r>
              <a:rPr lang="en-US" altLang="zh-CN" dirty="0" err="1" smtClean="0">
                <a:solidFill>
                  <a:prstClr val="white"/>
                </a:solidFill>
                <a:latin typeface="微软雅黑" panose="020B0503020204020204" pitchFamily="34" charset="-122"/>
                <a:ea typeface="微软雅黑" panose="020B0503020204020204" pitchFamily="34" charset="-122"/>
              </a:rPr>
              <a:t>Redis</a:t>
            </a:r>
            <a:r>
              <a:rPr lang="en-US" altLang="zh-CN" dirty="0" smtClean="0">
                <a:solidFill>
                  <a:prstClr val="white"/>
                </a:solidFill>
                <a:latin typeface="微软雅黑" panose="020B0503020204020204" pitchFamily="34" charset="-122"/>
                <a:ea typeface="微软雅黑" panose="020B0503020204020204" pitchFamily="34" charset="-122"/>
              </a:rPr>
              <a:t> Cluster</a:t>
            </a:r>
            <a:r>
              <a:rPr lang="zh-CN" altLang="en-US" dirty="0" smtClean="0">
                <a:solidFill>
                  <a:prstClr val="white"/>
                </a:solidFill>
                <a:latin typeface="微软雅黑" panose="020B0503020204020204" pitchFamily="34" charset="-122"/>
                <a:ea typeface="微软雅黑" panose="020B0503020204020204" pitchFamily="34" charset="-122"/>
              </a:rPr>
              <a:t>是一个去中心化，重客户端的架构，客户端可用访问集群中所有的</a:t>
            </a:r>
            <a:r>
              <a:rPr lang="en-US" altLang="zh-CN" dirty="0" smtClean="0">
                <a:solidFill>
                  <a:prstClr val="white"/>
                </a:solidFill>
                <a:latin typeface="微软雅黑" panose="020B0503020204020204" pitchFamily="34" charset="-122"/>
                <a:ea typeface="微软雅黑" panose="020B0503020204020204" pitchFamily="34" charset="-122"/>
              </a:rPr>
              <a:t>master</a:t>
            </a:r>
            <a:r>
              <a:rPr lang="zh-CN" altLang="en-US" dirty="0" smtClean="0">
                <a:solidFill>
                  <a:prstClr val="white"/>
                </a:solidFill>
                <a:latin typeface="微软雅黑" panose="020B0503020204020204" pitchFamily="34" charset="-122"/>
                <a:ea typeface="微软雅黑" panose="020B0503020204020204" pitchFamily="34" charset="-122"/>
              </a:rPr>
              <a:t>节点。当客户端连接到集群时，也会得到一份集群的槽位信息并缓存到本地。</a:t>
            </a:r>
            <a:endParaRPr lang="en-US" altLang="zh-CN" dirty="0" smtClean="0">
              <a:solidFill>
                <a:prstClr val="white"/>
              </a:solidFill>
              <a:latin typeface="微软雅黑" panose="020B0503020204020204" pitchFamily="34" charset="-122"/>
              <a:ea typeface="微软雅黑" panose="020B0503020204020204" pitchFamily="34" charset="-122"/>
            </a:endParaRPr>
          </a:p>
          <a:p>
            <a:pPr indent="457200">
              <a:lnSpc>
                <a:spcPct val="150000"/>
              </a:lnSpc>
            </a:pPr>
            <a:r>
              <a:rPr lang="zh-CN" altLang="en-US" dirty="0" smtClean="0">
                <a:solidFill>
                  <a:prstClr val="white"/>
                </a:solidFill>
                <a:latin typeface="微软雅黑" panose="020B0503020204020204" pitchFamily="34" charset="-122"/>
                <a:ea typeface="微软雅黑" panose="020B0503020204020204" pitchFamily="34" charset="-122"/>
              </a:rPr>
              <a:t>当访问一个</a:t>
            </a:r>
            <a:r>
              <a:rPr lang="en-US" altLang="zh-CN" dirty="0" smtClean="0">
                <a:solidFill>
                  <a:prstClr val="white"/>
                </a:solidFill>
                <a:latin typeface="微软雅黑" panose="020B0503020204020204" pitchFamily="34" charset="-122"/>
                <a:ea typeface="微软雅黑" panose="020B0503020204020204" pitchFamily="34" charset="-122"/>
              </a:rPr>
              <a:t>key</a:t>
            </a:r>
            <a:r>
              <a:rPr lang="zh-CN" altLang="en-US" dirty="0" smtClean="0">
                <a:solidFill>
                  <a:prstClr val="white"/>
                </a:solidFill>
                <a:latin typeface="微软雅黑" panose="020B0503020204020204" pitchFamily="34" charset="-122"/>
                <a:ea typeface="微软雅黑" panose="020B0503020204020204" pitchFamily="34" charset="-122"/>
              </a:rPr>
              <a:t>时，客户端先对</a:t>
            </a:r>
            <a:r>
              <a:rPr lang="en-US" altLang="zh-CN" dirty="0" smtClean="0">
                <a:solidFill>
                  <a:prstClr val="white"/>
                </a:solidFill>
                <a:latin typeface="微软雅黑" panose="020B0503020204020204" pitchFamily="34" charset="-122"/>
                <a:ea typeface="微软雅黑" panose="020B0503020204020204" pitchFamily="34" charset="-122"/>
              </a:rPr>
              <a:t>key</a:t>
            </a:r>
            <a:r>
              <a:rPr lang="zh-CN" altLang="en-US" dirty="0" smtClean="0">
                <a:solidFill>
                  <a:prstClr val="white"/>
                </a:solidFill>
                <a:latin typeface="微软雅黑" panose="020B0503020204020204" pitchFamily="34" charset="-122"/>
                <a:ea typeface="微软雅黑" panose="020B0503020204020204" pitchFamily="34" charset="-122"/>
              </a:rPr>
              <a:t>做</a:t>
            </a:r>
            <a:r>
              <a:rPr lang="en-US" altLang="zh-CN" dirty="0" smtClean="0">
                <a:solidFill>
                  <a:prstClr val="white"/>
                </a:solidFill>
                <a:latin typeface="微软雅黑" panose="020B0503020204020204" pitchFamily="34" charset="-122"/>
                <a:ea typeface="微软雅黑" panose="020B0503020204020204" pitchFamily="34" charset="-122"/>
              </a:rPr>
              <a:t>crc16</a:t>
            </a:r>
            <a:r>
              <a:rPr lang="zh-CN" altLang="en-US" dirty="0" smtClean="0">
                <a:solidFill>
                  <a:prstClr val="white"/>
                </a:solidFill>
                <a:latin typeface="微软雅黑" panose="020B0503020204020204" pitchFamily="34" charset="-122"/>
                <a:ea typeface="微软雅黑" panose="020B0503020204020204" pitchFamily="34" charset="-122"/>
              </a:rPr>
              <a:t>计算，和</a:t>
            </a:r>
            <a:r>
              <a:rPr lang="en-US" altLang="zh-CN" dirty="0" smtClean="0">
                <a:solidFill>
                  <a:prstClr val="white"/>
                </a:solidFill>
                <a:latin typeface="微软雅黑" panose="020B0503020204020204" pitchFamily="34" charset="-122"/>
                <a:ea typeface="微软雅黑" panose="020B0503020204020204" pitchFamily="34" charset="-122"/>
              </a:rPr>
              <a:t>16384</a:t>
            </a:r>
            <a:r>
              <a:rPr lang="zh-CN" altLang="en-US" dirty="0" smtClean="0">
                <a:solidFill>
                  <a:prstClr val="white"/>
                </a:solidFill>
                <a:latin typeface="微软雅黑" panose="020B0503020204020204" pitchFamily="34" charset="-122"/>
                <a:ea typeface="微软雅黑" panose="020B0503020204020204" pitchFamily="34" charset="-122"/>
              </a:rPr>
              <a:t>取余，得到对应的槽位，再从本地缓存中查找槽位对应的节点，然后直接访问该节点执行命令。</a:t>
            </a:r>
            <a:endParaRPr lang="en-US" altLang="zh-CN" dirty="0" smtClean="0">
              <a:solidFill>
                <a:prstClr val="white"/>
              </a:solidFill>
              <a:latin typeface="微软雅黑" panose="020B0503020204020204" pitchFamily="34" charset="-122"/>
              <a:ea typeface="微软雅黑" panose="020B0503020204020204" pitchFamily="34" charset="-122"/>
            </a:endParaRPr>
          </a:p>
          <a:p>
            <a:pPr indent="457200">
              <a:lnSpc>
                <a:spcPct val="150000"/>
              </a:lnSpc>
            </a:pPr>
            <a:r>
              <a:rPr lang="zh-CN" altLang="en-US" dirty="0">
                <a:solidFill>
                  <a:prstClr val="white"/>
                </a:solidFill>
                <a:latin typeface="微软雅黑" panose="020B0503020204020204" pitchFamily="34" charset="-122"/>
                <a:ea typeface="微软雅黑" panose="020B0503020204020204" pitchFamily="34" charset="-122"/>
              </a:rPr>
              <a:t>如</a:t>
            </a:r>
            <a:r>
              <a:rPr lang="zh-CN" altLang="en-US" dirty="0" smtClean="0">
                <a:solidFill>
                  <a:prstClr val="white"/>
                </a:solidFill>
                <a:latin typeface="微软雅黑" panose="020B0503020204020204" pitchFamily="34" charset="-122"/>
                <a:ea typeface="微软雅黑" panose="020B0503020204020204" pitchFamily="34" charset="-122"/>
              </a:rPr>
              <a:t>果集群发生了变化，客户端向一个错误的节点发出了指令后。该节点发现该槽位不归自己管，它会向客户端发送一个</a:t>
            </a:r>
            <a:r>
              <a:rPr lang="en-US" altLang="zh-CN" dirty="0" smtClean="0">
                <a:solidFill>
                  <a:prstClr val="white"/>
                </a:solidFill>
                <a:latin typeface="微软雅黑" panose="020B0503020204020204" pitchFamily="34" charset="-122"/>
                <a:ea typeface="微软雅黑" panose="020B0503020204020204" pitchFamily="34" charset="-122"/>
              </a:rPr>
              <a:t>MOVED</a:t>
            </a:r>
            <a:r>
              <a:rPr lang="zh-CN" altLang="en-US" dirty="0" smtClean="0">
                <a:solidFill>
                  <a:prstClr val="white"/>
                </a:solidFill>
                <a:latin typeface="微软雅黑" panose="020B0503020204020204" pitchFamily="34" charset="-122"/>
                <a:ea typeface="微软雅黑" panose="020B0503020204020204" pitchFamily="34" charset="-122"/>
              </a:rPr>
              <a:t>指令并携带目标操作的节点地址。</a:t>
            </a:r>
            <a:r>
              <a:rPr lang="zh-CN" altLang="en-US" dirty="0">
                <a:solidFill>
                  <a:prstClr val="white"/>
                </a:solidFill>
                <a:latin typeface="微软雅黑" panose="020B0503020204020204" pitchFamily="34" charset="-122"/>
                <a:ea typeface="微软雅黑" panose="020B0503020204020204" pitchFamily="34" charset="-122"/>
              </a:rPr>
              <a:t>客户</a:t>
            </a:r>
            <a:r>
              <a:rPr lang="zh-CN" altLang="en-US" dirty="0" smtClean="0">
                <a:solidFill>
                  <a:prstClr val="white"/>
                </a:solidFill>
                <a:latin typeface="微软雅黑" panose="020B0503020204020204" pitchFamily="34" charset="-122"/>
                <a:ea typeface="微软雅黑" panose="020B0503020204020204" pitchFamily="34" charset="-122"/>
              </a:rPr>
              <a:t>端收到该指令，会重新向新节点发送命令，并缓存最新的槽映射信息。</a:t>
            </a:r>
            <a:endParaRPr lang="en-US" altLang="zh-CN" dirty="0" smtClean="0">
              <a:solidFill>
                <a:prstClr val="white"/>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41382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0A0F23"/>
        </a:solidFill>
        <a:effectLst/>
      </p:bgPr>
    </p:bg>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xmlns="" id="{CBDC52CD-1D62-48AF-A9DF-9F18AEA2B1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01385" y="-114300"/>
            <a:ext cx="1301859" cy="920356"/>
          </a:xfrm>
          <a:prstGeom prst="rect">
            <a:avLst/>
          </a:prstGeom>
        </p:spPr>
      </p:pic>
      <p:pic>
        <p:nvPicPr>
          <p:cNvPr id="14" name="图片 13">
            <a:extLst>
              <a:ext uri="{FF2B5EF4-FFF2-40B4-BE49-F238E27FC236}">
                <a16:creationId xmlns:a16="http://schemas.microsoft.com/office/drawing/2014/main" xmlns="" id="{F78DA958-9B1B-47DA-A870-8C0B3A7D8866}"/>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b="63537"/>
          <a:stretch/>
        </p:blipFill>
        <p:spPr>
          <a:xfrm>
            <a:off x="11184164" y="217733"/>
            <a:ext cx="572339" cy="337210"/>
          </a:xfrm>
          <a:prstGeom prst="rect">
            <a:avLst/>
          </a:prstGeom>
        </p:spPr>
      </p:pic>
      <p:cxnSp>
        <p:nvCxnSpPr>
          <p:cNvPr id="15" name="直接连接符 14">
            <a:extLst>
              <a:ext uri="{FF2B5EF4-FFF2-40B4-BE49-F238E27FC236}">
                <a16:creationId xmlns:a16="http://schemas.microsoft.com/office/drawing/2014/main" xmlns="" id="{93240A06-D526-4907-A163-94ABB41190CC}"/>
              </a:ext>
            </a:extLst>
          </p:cNvPr>
          <p:cNvCxnSpPr/>
          <p:nvPr/>
        </p:nvCxnSpPr>
        <p:spPr>
          <a:xfrm>
            <a:off x="11103244" y="225825"/>
            <a:ext cx="0" cy="2435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xmlns="" id="{74C59758-12AB-44A5-92FA-DB52904027AE}"/>
              </a:ext>
            </a:extLst>
          </p:cNvPr>
          <p:cNvSpPr/>
          <p:nvPr/>
        </p:nvSpPr>
        <p:spPr>
          <a:xfrm>
            <a:off x="802332" y="1287114"/>
            <a:ext cx="10765483" cy="3416320"/>
          </a:xfrm>
          <a:prstGeom prst="rect">
            <a:avLst/>
          </a:prstGeom>
        </p:spPr>
        <p:txBody>
          <a:bodyPr wrap="square">
            <a:spAutoFit/>
          </a:bodyPr>
          <a:lstStyle/>
          <a:p>
            <a:pPr indent="457200">
              <a:lnSpc>
                <a:spcPct val="150000"/>
              </a:lnSpc>
            </a:pPr>
            <a:r>
              <a:rPr lang="en-US" altLang="zh-CN" dirty="0" err="1" smtClean="0">
                <a:solidFill>
                  <a:prstClr val="white"/>
                </a:solidFill>
                <a:latin typeface="微软雅黑" panose="020B0503020204020204" pitchFamily="34" charset="-122"/>
                <a:ea typeface="微软雅黑" panose="020B0503020204020204" pitchFamily="34" charset="-122"/>
              </a:rPr>
              <a:t>Redis</a:t>
            </a:r>
            <a:r>
              <a:rPr lang="en-US" altLang="zh-CN" dirty="0" smtClean="0">
                <a:solidFill>
                  <a:prstClr val="white"/>
                </a:solidFill>
                <a:latin typeface="微软雅黑" panose="020B0503020204020204" pitchFamily="34" charset="-122"/>
                <a:ea typeface="微软雅黑" panose="020B0503020204020204" pitchFamily="34" charset="-122"/>
              </a:rPr>
              <a:t> Cluster </a:t>
            </a:r>
            <a:r>
              <a:rPr lang="zh-CN" altLang="en-US" dirty="0" smtClean="0">
                <a:solidFill>
                  <a:prstClr val="white"/>
                </a:solidFill>
                <a:latin typeface="微软雅黑" panose="020B0503020204020204" pitchFamily="34" charset="-122"/>
                <a:ea typeface="微软雅黑" panose="020B0503020204020204" pitchFamily="34" charset="-122"/>
              </a:rPr>
              <a:t>数据的迁移需要手动执行，官方提供的脚本</a:t>
            </a:r>
            <a:r>
              <a:rPr lang="en-US" altLang="zh-CN" dirty="0" err="1" smtClean="0">
                <a:solidFill>
                  <a:prstClr val="white"/>
                </a:solidFill>
                <a:latin typeface="微软雅黑" panose="020B0503020204020204" pitchFamily="34" charset="-122"/>
                <a:ea typeface="微软雅黑" panose="020B0503020204020204" pitchFamily="34" charset="-122"/>
              </a:rPr>
              <a:t>redis-trib</a:t>
            </a:r>
            <a:r>
              <a:rPr lang="zh-CN" altLang="en-US" dirty="0" smtClean="0">
                <a:solidFill>
                  <a:prstClr val="white"/>
                </a:solidFill>
                <a:latin typeface="微软雅黑" panose="020B0503020204020204" pitchFamily="34" charset="-122"/>
                <a:ea typeface="微软雅黑" panose="020B0503020204020204" pitchFamily="34" charset="-122"/>
              </a:rPr>
              <a:t>可以查看槽位的分布。</a:t>
            </a:r>
            <a:r>
              <a:rPr lang="en-US" altLang="zh-CN" dirty="0" err="1" smtClean="0">
                <a:solidFill>
                  <a:prstClr val="white"/>
                </a:solidFill>
                <a:latin typeface="微软雅黑" panose="020B0503020204020204" pitchFamily="34" charset="-122"/>
                <a:ea typeface="微软雅黑" panose="020B0503020204020204" pitchFamily="34" charset="-122"/>
              </a:rPr>
              <a:t>Redis</a:t>
            </a:r>
            <a:r>
              <a:rPr lang="zh-CN" altLang="en-US" dirty="0" smtClean="0">
                <a:solidFill>
                  <a:prstClr val="white"/>
                </a:solidFill>
                <a:latin typeface="微软雅黑" panose="020B0503020204020204" pitchFamily="34" charset="-122"/>
                <a:ea typeface="微软雅黑" panose="020B0503020204020204" pitchFamily="34" charset="-122"/>
              </a:rPr>
              <a:t>迁移的单位是槽，当一个槽真正迁移时，这个槽就处于中间过渡状态。迁移前槽所在的源节点状态为</a:t>
            </a:r>
            <a:r>
              <a:rPr lang="en-US" altLang="zh-CN" dirty="0" smtClean="0">
                <a:solidFill>
                  <a:prstClr val="white"/>
                </a:solidFill>
                <a:latin typeface="微软雅黑" panose="020B0503020204020204" pitchFamily="34" charset="-122"/>
                <a:ea typeface="微软雅黑" panose="020B0503020204020204" pitchFamily="34" charset="-122"/>
              </a:rPr>
              <a:t>migrating</a:t>
            </a:r>
            <a:r>
              <a:rPr lang="zh-CN" altLang="en-US" dirty="0" smtClean="0">
                <a:solidFill>
                  <a:prstClr val="white"/>
                </a:solidFill>
                <a:latin typeface="微软雅黑" panose="020B0503020204020204" pitchFamily="34" charset="-122"/>
                <a:ea typeface="微软雅黑" panose="020B0503020204020204" pitchFamily="34" charset="-122"/>
              </a:rPr>
              <a:t>，槽迁移的目标节点状态为</a:t>
            </a:r>
            <a:r>
              <a:rPr lang="en-US" altLang="zh-CN" dirty="0" smtClean="0">
                <a:solidFill>
                  <a:prstClr val="white"/>
                </a:solidFill>
                <a:latin typeface="微软雅黑" panose="020B0503020204020204" pitchFamily="34" charset="-122"/>
                <a:ea typeface="微软雅黑" panose="020B0503020204020204" pitchFamily="34" charset="-122"/>
              </a:rPr>
              <a:t>importing</a:t>
            </a:r>
            <a:r>
              <a:rPr lang="zh-CN" altLang="en-US" dirty="0" smtClean="0">
                <a:solidFill>
                  <a:prstClr val="white"/>
                </a:solidFill>
                <a:latin typeface="微软雅黑" panose="020B0503020204020204" pitchFamily="34" charset="-122"/>
                <a:ea typeface="微软雅黑" panose="020B0503020204020204" pitchFamily="34" charset="-122"/>
              </a:rPr>
              <a:t>。迁移工具首先会在源节点和目标节点设置好中间状态，然后获取源节点槽位的</a:t>
            </a:r>
            <a:r>
              <a:rPr lang="en-US" altLang="zh-CN" dirty="0" smtClean="0">
                <a:solidFill>
                  <a:prstClr val="white"/>
                </a:solidFill>
                <a:latin typeface="微软雅黑" panose="020B0503020204020204" pitchFamily="34" charset="-122"/>
                <a:ea typeface="微软雅黑" panose="020B0503020204020204" pitchFamily="34" charset="-122"/>
              </a:rPr>
              <a:t>key</a:t>
            </a:r>
            <a:r>
              <a:rPr lang="zh-CN" altLang="en-US" dirty="0" smtClean="0">
                <a:solidFill>
                  <a:prstClr val="white"/>
                </a:solidFill>
                <a:latin typeface="微软雅黑" panose="020B0503020204020204" pitchFamily="34" charset="-122"/>
                <a:ea typeface="微软雅黑" panose="020B0503020204020204" pitchFamily="34" charset="-122"/>
              </a:rPr>
              <a:t>列表。再依次对</a:t>
            </a:r>
            <a:r>
              <a:rPr lang="en-US" altLang="zh-CN" dirty="0" smtClean="0">
                <a:solidFill>
                  <a:prstClr val="white"/>
                </a:solidFill>
                <a:latin typeface="微软雅黑" panose="020B0503020204020204" pitchFamily="34" charset="-122"/>
                <a:ea typeface="微软雅黑" panose="020B0503020204020204" pitchFamily="34" charset="-122"/>
              </a:rPr>
              <a:t>key</a:t>
            </a:r>
            <a:r>
              <a:rPr lang="zh-CN" altLang="en-US" dirty="0" smtClean="0">
                <a:solidFill>
                  <a:prstClr val="white"/>
                </a:solidFill>
                <a:latin typeface="微软雅黑" panose="020B0503020204020204" pitchFamily="34" charset="-122"/>
                <a:ea typeface="微软雅黑" panose="020B0503020204020204" pitchFamily="34" charset="-122"/>
              </a:rPr>
              <a:t>进行迁移。</a:t>
            </a:r>
            <a:endParaRPr lang="en-US" altLang="zh-CN" dirty="0" smtClean="0">
              <a:solidFill>
                <a:prstClr val="white"/>
              </a:solidFill>
              <a:latin typeface="微软雅黑" panose="020B0503020204020204" pitchFamily="34" charset="-122"/>
              <a:ea typeface="微软雅黑" panose="020B0503020204020204" pitchFamily="34" charset="-122"/>
            </a:endParaRPr>
          </a:p>
          <a:p>
            <a:pPr indent="457200">
              <a:lnSpc>
                <a:spcPct val="150000"/>
              </a:lnSpc>
            </a:pPr>
            <a:r>
              <a:rPr lang="zh-CN" altLang="en-US" dirty="0" smtClean="0">
                <a:solidFill>
                  <a:prstClr val="white"/>
                </a:solidFill>
                <a:latin typeface="微软雅黑" panose="020B0503020204020204" pitchFamily="34" charset="-122"/>
                <a:ea typeface="微软雅黑" panose="020B0503020204020204" pitchFamily="34" charset="-122"/>
              </a:rPr>
              <a:t>迁移的流程大致如下：从源节点获取</a:t>
            </a:r>
            <a:r>
              <a:rPr lang="en-US" altLang="zh-CN" dirty="0" smtClean="0">
                <a:solidFill>
                  <a:prstClr val="white"/>
                </a:solidFill>
                <a:latin typeface="微软雅黑" panose="020B0503020204020204" pitchFamily="34" charset="-122"/>
                <a:ea typeface="微软雅黑" panose="020B0503020204020204" pitchFamily="34" charset="-122"/>
              </a:rPr>
              <a:t>key</a:t>
            </a:r>
            <a:r>
              <a:rPr lang="zh-CN" altLang="en-US" dirty="0" smtClean="0">
                <a:solidFill>
                  <a:prstClr val="white"/>
                </a:solidFill>
                <a:latin typeface="微软雅黑" panose="020B0503020204020204" pitchFamily="34" charset="-122"/>
                <a:ea typeface="微软雅黑" panose="020B0503020204020204" pitchFamily="34" charset="-122"/>
              </a:rPr>
              <a:t>及内容 </a:t>
            </a:r>
            <a:r>
              <a:rPr lang="en-US" altLang="zh-CN" dirty="0" smtClean="0">
                <a:solidFill>
                  <a:prstClr val="white"/>
                </a:solidFill>
                <a:latin typeface="微软雅黑" panose="020B0503020204020204" pitchFamily="34" charset="-122"/>
                <a:ea typeface="微软雅黑" panose="020B0503020204020204" pitchFamily="34" charset="-122"/>
                <a:sym typeface="Wingdings" panose="05000000000000000000" pitchFamily="2" charset="2"/>
              </a:rPr>
              <a:t>  </a:t>
            </a:r>
            <a:r>
              <a:rPr lang="zh-CN" altLang="en-US" dirty="0">
                <a:solidFill>
                  <a:prstClr val="white"/>
                </a:solidFill>
                <a:latin typeface="微软雅黑" panose="020B0503020204020204" pitchFamily="34" charset="-122"/>
                <a:ea typeface="微软雅黑" panose="020B0503020204020204" pitchFamily="34" charset="-122"/>
                <a:sym typeface="Wingdings" panose="05000000000000000000" pitchFamily="2" charset="2"/>
              </a:rPr>
              <a:t>存</a:t>
            </a:r>
            <a:r>
              <a:rPr lang="zh-CN" altLang="en-US" dirty="0" smtClean="0">
                <a:solidFill>
                  <a:prstClr val="white"/>
                </a:solidFill>
                <a:latin typeface="微软雅黑" panose="020B0503020204020204" pitchFamily="34" charset="-122"/>
                <a:ea typeface="微软雅黑" panose="020B0503020204020204" pitchFamily="34" charset="-122"/>
                <a:sym typeface="Wingdings" panose="05000000000000000000" pitchFamily="2" charset="2"/>
              </a:rPr>
              <a:t>到目标节点  </a:t>
            </a:r>
            <a:r>
              <a:rPr lang="en-US" altLang="zh-CN" dirty="0" smtClean="0">
                <a:solidFill>
                  <a:prstClr val="white"/>
                </a:solidFill>
                <a:latin typeface="微软雅黑" panose="020B0503020204020204" pitchFamily="34" charset="-122"/>
                <a:ea typeface="微软雅黑" panose="020B0503020204020204" pitchFamily="34" charset="-122"/>
                <a:sym typeface="Wingdings" panose="05000000000000000000" pitchFamily="2" charset="2"/>
              </a:rPr>
              <a:t>  </a:t>
            </a:r>
            <a:r>
              <a:rPr lang="zh-CN" altLang="en-US" dirty="0" smtClean="0">
                <a:solidFill>
                  <a:prstClr val="white"/>
                </a:solidFill>
                <a:latin typeface="微软雅黑" panose="020B0503020204020204" pitchFamily="34" charset="-122"/>
                <a:ea typeface="微软雅黑" panose="020B0503020204020204" pitchFamily="34" charset="-122"/>
                <a:sym typeface="Wingdings" panose="05000000000000000000" pitchFamily="2" charset="2"/>
              </a:rPr>
              <a:t>从源节点删除</a:t>
            </a:r>
            <a:r>
              <a:rPr lang="en-US" altLang="zh-CN" dirty="0" smtClean="0">
                <a:solidFill>
                  <a:prstClr val="white"/>
                </a:solidFill>
                <a:latin typeface="微软雅黑" panose="020B0503020204020204" pitchFamily="34" charset="-122"/>
                <a:ea typeface="微软雅黑" panose="020B0503020204020204" pitchFamily="34" charset="-122"/>
                <a:sym typeface="Wingdings" panose="05000000000000000000" pitchFamily="2" charset="2"/>
              </a:rPr>
              <a:t>key</a:t>
            </a:r>
            <a:r>
              <a:rPr lang="zh-CN" altLang="en-US" dirty="0" smtClean="0">
                <a:solidFill>
                  <a:prstClr val="white"/>
                </a:solidFill>
                <a:latin typeface="微软雅黑" panose="020B0503020204020204" pitchFamily="34" charset="-122"/>
                <a:ea typeface="微软雅黑" panose="020B0503020204020204" pitchFamily="34" charset="-122"/>
                <a:sym typeface="Wingdings" panose="05000000000000000000" pitchFamily="2" charset="2"/>
              </a:rPr>
              <a:t>及内容。单个</a:t>
            </a:r>
            <a:r>
              <a:rPr lang="en-US" altLang="zh-CN" dirty="0" smtClean="0">
                <a:solidFill>
                  <a:prstClr val="white"/>
                </a:solidFill>
                <a:latin typeface="微软雅黑" panose="020B0503020204020204" pitchFamily="34" charset="-122"/>
                <a:ea typeface="微软雅黑" panose="020B0503020204020204" pitchFamily="34" charset="-122"/>
                <a:sym typeface="Wingdings" panose="05000000000000000000" pitchFamily="2" charset="2"/>
              </a:rPr>
              <a:t>key</a:t>
            </a:r>
            <a:r>
              <a:rPr lang="zh-CN" altLang="en-US" dirty="0" smtClean="0">
                <a:solidFill>
                  <a:prstClr val="white"/>
                </a:solidFill>
                <a:latin typeface="微软雅黑" panose="020B0503020204020204" pitchFamily="34" charset="-122"/>
                <a:ea typeface="微软雅黑" panose="020B0503020204020204" pitchFamily="34" charset="-122"/>
                <a:sym typeface="Wingdings" panose="05000000000000000000" pitchFamily="2" charset="2"/>
              </a:rPr>
              <a:t>的迁移是同步的。如果单个</a:t>
            </a:r>
            <a:r>
              <a:rPr lang="en-US" altLang="zh-CN" dirty="0" smtClean="0">
                <a:solidFill>
                  <a:prstClr val="white"/>
                </a:solidFill>
                <a:latin typeface="微软雅黑" panose="020B0503020204020204" pitchFamily="34" charset="-122"/>
                <a:ea typeface="微软雅黑" panose="020B0503020204020204" pitchFamily="34" charset="-122"/>
                <a:sym typeface="Wingdings" panose="05000000000000000000" pitchFamily="2" charset="2"/>
              </a:rPr>
              <a:t>key</a:t>
            </a:r>
            <a:r>
              <a:rPr lang="zh-CN" altLang="en-US" dirty="0" smtClean="0">
                <a:solidFill>
                  <a:prstClr val="white"/>
                </a:solidFill>
                <a:latin typeface="微软雅黑" panose="020B0503020204020204" pitchFamily="34" charset="-122"/>
                <a:ea typeface="微软雅黑" panose="020B0503020204020204" pitchFamily="34" charset="-122"/>
                <a:sym typeface="Wingdings" panose="05000000000000000000" pitchFamily="2" charset="2"/>
              </a:rPr>
              <a:t>的内容迁移消耗过多时间，由于</a:t>
            </a:r>
            <a:r>
              <a:rPr lang="en-US" altLang="zh-CN" dirty="0" err="1" smtClean="0">
                <a:solidFill>
                  <a:prstClr val="white"/>
                </a:solidFill>
                <a:latin typeface="微软雅黑" panose="020B0503020204020204" pitchFamily="34" charset="-122"/>
                <a:ea typeface="微软雅黑" panose="020B0503020204020204" pitchFamily="34" charset="-122"/>
                <a:sym typeface="Wingdings" panose="05000000000000000000" pitchFamily="2" charset="2"/>
              </a:rPr>
              <a:t>redis</a:t>
            </a:r>
            <a:r>
              <a:rPr lang="zh-CN" altLang="en-US" dirty="0" smtClean="0">
                <a:solidFill>
                  <a:prstClr val="white"/>
                </a:solidFill>
                <a:latin typeface="微软雅黑" panose="020B0503020204020204" pitchFamily="34" charset="-122"/>
                <a:ea typeface="微软雅黑" panose="020B0503020204020204" pitchFamily="34" charset="-122"/>
                <a:sym typeface="Wingdings" panose="05000000000000000000" pitchFamily="2" charset="2"/>
              </a:rPr>
              <a:t>的单线程模型。必然影响迁移中的节点对外提供服务。这是集群环境下，单个</a:t>
            </a:r>
            <a:r>
              <a:rPr lang="en-US" altLang="zh-CN" dirty="0" smtClean="0">
                <a:solidFill>
                  <a:prstClr val="white"/>
                </a:solidFill>
                <a:latin typeface="微软雅黑" panose="020B0503020204020204" pitchFamily="34" charset="-122"/>
                <a:ea typeface="微软雅黑" panose="020B0503020204020204" pitchFamily="34" charset="-122"/>
                <a:sym typeface="Wingdings" panose="05000000000000000000" pitchFamily="2" charset="2"/>
              </a:rPr>
              <a:t>key</a:t>
            </a:r>
            <a:r>
              <a:rPr lang="zh-CN" altLang="en-US" dirty="0">
                <a:solidFill>
                  <a:prstClr val="white"/>
                </a:solidFill>
                <a:latin typeface="微软雅黑" panose="020B0503020204020204" pitchFamily="34" charset="-122"/>
                <a:ea typeface="微软雅黑" panose="020B0503020204020204" pitchFamily="34" charset="-122"/>
                <a:sym typeface="Wingdings" panose="05000000000000000000" pitchFamily="2" charset="2"/>
              </a:rPr>
              <a:t>不</a:t>
            </a:r>
            <a:r>
              <a:rPr lang="zh-CN" altLang="en-US" dirty="0" smtClean="0">
                <a:solidFill>
                  <a:prstClr val="white"/>
                </a:solidFill>
                <a:latin typeface="微软雅黑" panose="020B0503020204020204" pitchFamily="34" charset="-122"/>
                <a:ea typeface="微软雅黑" panose="020B0503020204020204" pitchFamily="34" charset="-122"/>
                <a:sym typeface="Wingdings" panose="05000000000000000000" pitchFamily="2" charset="2"/>
              </a:rPr>
              <a:t>能保存太多数据的原因之一。</a:t>
            </a:r>
            <a:endParaRPr lang="en-US" altLang="zh-CN" dirty="0" smtClean="0">
              <a:solidFill>
                <a:prstClr val="white"/>
              </a:solidFill>
              <a:latin typeface="微软雅黑" panose="020B0503020204020204" pitchFamily="34" charset="-122"/>
              <a:ea typeface="微软雅黑" panose="020B0503020204020204" pitchFamily="34" charset="-122"/>
            </a:endParaRPr>
          </a:p>
          <a:p>
            <a:pPr indent="457200">
              <a:lnSpc>
                <a:spcPct val="150000"/>
              </a:lnSpc>
            </a:pPr>
            <a:endParaRPr lang="zh-CN" altLang="en-US" dirty="0">
              <a:solidFill>
                <a:prstClr val="white"/>
              </a:solidFill>
              <a:latin typeface="微软雅黑" panose="020B0503020204020204" pitchFamily="34" charset="-122"/>
              <a:ea typeface="微软雅黑" panose="020B0503020204020204" pitchFamily="34" charset="-122"/>
            </a:endParaRPr>
          </a:p>
        </p:txBody>
      </p:sp>
      <p:sp>
        <p:nvSpPr>
          <p:cNvPr id="10" name="TextBox 9"/>
          <p:cNvSpPr txBox="1"/>
          <p:nvPr/>
        </p:nvSpPr>
        <p:spPr>
          <a:xfrm>
            <a:off x="704850" y="605109"/>
            <a:ext cx="8883650" cy="523220"/>
          </a:xfrm>
          <a:prstGeom prst="rect">
            <a:avLst/>
          </a:prstGeom>
          <a:noFill/>
        </p:spPr>
        <p:txBody>
          <a:bodyPr wrap="square" rtlCol="0">
            <a:spAutoFit/>
          </a:bodyPr>
          <a:lstStyle/>
          <a:p>
            <a:pPr>
              <a:defRPr/>
            </a:pPr>
            <a:r>
              <a:rPr lang="en-US" altLang="zh-CN"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5.4.3 </a:t>
            </a:r>
            <a:r>
              <a:rPr lang="zh-CN" altLang="en-US"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扩容（缩容）时如何迁移数据？</a:t>
            </a:r>
          </a:p>
        </p:txBody>
      </p:sp>
    </p:spTree>
    <p:extLst>
      <p:ext uri="{BB962C8B-B14F-4D97-AF65-F5344CB8AC3E}">
        <p14:creationId xmlns:p14="http://schemas.microsoft.com/office/powerpoint/2010/main" val="189024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heel(1)">
                                      <p:cBhvr>
                                        <p:cTn id="7"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0A0F23"/>
        </a:solidFill>
        <a:effectLst/>
      </p:bgPr>
    </p:bg>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xmlns="" id="{CBDC52CD-1D62-48AF-A9DF-9F18AEA2B1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01385" y="-114300"/>
            <a:ext cx="1301859" cy="920356"/>
          </a:xfrm>
          <a:prstGeom prst="rect">
            <a:avLst/>
          </a:prstGeom>
        </p:spPr>
      </p:pic>
      <p:pic>
        <p:nvPicPr>
          <p:cNvPr id="14" name="图片 13">
            <a:extLst>
              <a:ext uri="{FF2B5EF4-FFF2-40B4-BE49-F238E27FC236}">
                <a16:creationId xmlns:a16="http://schemas.microsoft.com/office/drawing/2014/main" xmlns="" id="{F78DA958-9B1B-47DA-A870-8C0B3A7D8866}"/>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b="63537"/>
          <a:stretch/>
        </p:blipFill>
        <p:spPr>
          <a:xfrm>
            <a:off x="11184164" y="217733"/>
            <a:ext cx="572339" cy="337210"/>
          </a:xfrm>
          <a:prstGeom prst="rect">
            <a:avLst/>
          </a:prstGeom>
        </p:spPr>
      </p:pic>
      <p:cxnSp>
        <p:nvCxnSpPr>
          <p:cNvPr id="15" name="直接连接符 14">
            <a:extLst>
              <a:ext uri="{FF2B5EF4-FFF2-40B4-BE49-F238E27FC236}">
                <a16:creationId xmlns:a16="http://schemas.microsoft.com/office/drawing/2014/main" xmlns="" id="{93240A06-D526-4907-A163-94ABB41190CC}"/>
              </a:ext>
            </a:extLst>
          </p:cNvPr>
          <p:cNvCxnSpPr/>
          <p:nvPr/>
        </p:nvCxnSpPr>
        <p:spPr>
          <a:xfrm>
            <a:off x="11103244" y="225825"/>
            <a:ext cx="0" cy="2435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xmlns="" id="{74C59758-12AB-44A5-92FA-DB52904027AE}"/>
              </a:ext>
            </a:extLst>
          </p:cNvPr>
          <p:cNvSpPr/>
          <p:nvPr/>
        </p:nvSpPr>
        <p:spPr>
          <a:xfrm>
            <a:off x="802332" y="1287114"/>
            <a:ext cx="10765483" cy="2585323"/>
          </a:xfrm>
          <a:prstGeom prst="rect">
            <a:avLst/>
          </a:prstGeom>
        </p:spPr>
        <p:txBody>
          <a:bodyPr wrap="square">
            <a:spAutoFit/>
          </a:bodyPr>
          <a:lstStyle/>
          <a:p>
            <a:pPr indent="457200">
              <a:lnSpc>
                <a:spcPct val="150000"/>
              </a:lnSpc>
            </a:pPr>
            <a:r>
              <a:rPr lang="zh-CN" altLang="en-US" dirty="0" smtClean="0">
                <a:solidFill>
                  <a:prstClr val="white"/>
                </a:solidFill>
                <a:latin typeface="微软雅黑" panose="020B0503020204020204" pitchFamily="34" charset="-122"/>
                <a:ea typeface="微软雅黑" panose="020B0503020204020204" pitchFamily="34" charset="-122"/>
              </a:rPr>
              <a:t>集群在迁移过程中可以继续对外提供服务，当访问的</a:t>
            </a:r>
            <a:r>
              <a:rPr lang="en-US" altLang="zh-CN" dirty="0" smtClean="0">
                <a:solidFill>
                  <a:prstClr val="white"/>
                </a:solidFill>
                <a:latin typeface="微软雅黑" panose="020B0503020204020204" pitchFamily="34" charset="-122"/>
                <a:ea typeface="微软雅黑" panose="020B0503020204020204" pitchFamily="34" charset="-122"/>
              </a:rPr>
              <a:t>key</a:t>
            </a:r>
            <a:r>
              <a:rPr lang="zh-CN" altLang="en-US" dirty="0" smtClean="0">
                <a:solidFill>
                  <a:prstClr val="white"/>
                </a:solidFill>
                <a:latin typeface="微软雅黑" panose="020B0503020204020204" pitchFamily="34" charset="-122"/>
                <a:ea typeface="微软雅黑" panose="020B0503020204020204" pitchFamily="34" charset="-122"/>
              </a:rPr>
              <a:t>刚好处于迁移中的槽时。客户端还是会继续访问旧的节点。如果对应的数据还在旧的节点，那么旧节点正常处理。如果不在，则存在两种可能，要么在新节点，要么根本不存</a:t>
            </a:r>
            <a:r>
              <a:rPr lang="zh-CN" altLang="en-US" dirty="0">
                <a:solidFill>
                  <a:prstClr val="white"/>
                </a:solidFill>
                <a:latin typeface="微软雅黑" panose="020B0503020204020204" pitchFamily="34" charset="-122"/>
                <a:ea typeface="微软雅黑" panose="020B0503020204020204" pitchFamily="34" charset="-122"/>
              </a:rPr>
              <a:t>在</a:t>
            </a:r>
            <a:r>
              <a:rPr lang="zh-CN" altLang="en-US" dirty="0" smtClean="0">
                <a:solidFill>
                  <a:prstClr val="white"/>
                </a:solidFill>
                <a:latin typeface="微软雅黑" panose="020B0503020204020204" pitchFamily="34" charset="-122"/>
                <a:ea typeface="微软雅黑" panose="020B0503020204020204" pitchFamily="34" charset="-122"/>
              </a:rPr>
              <a:t>。旧节点并不清楚是哪一种情况，于是返回一个</a:t>
            </a:r>
            <a:r>
              <a:rPr lang="en-US" altLang="zh-CN" dirty="0" smtClean="0">
                <a:solidFill>
                  <a:prstClr val="white"/>
                </a:solidFill>
                <a:latin typeface="微软雅黑" panose="020B0503020204020204" pitchFamily="34" charset="-122"/>
                <a:ea typeface="微软雅黑" panose="020B0503020204020204" pitchFamily="34" charset="-122"/>
              </a:rPr>
              <a:t>ASK</a:t>
            </a:r>
            <a:r>
              <a:rPr lang="zh-CN" altLang="en-US" dirty="0" smtClean="0">
                <a:solidFill>
                  <a:prstClr val="white"/>
                </a:solidFill>
                <a:latin typeface="微软雅黑" panose="020B0503020204020204" pitchFamily="34" charset="-122"/>
                <a:ea typeface="微软雅黑" panose="020B0503020204020204" pitchFamily="34" charset="-122"/>
              </a:rPr>
              <a:t>指令并携带目标节点的信息。客户端收到</a:t>
            </a:r>
            <a:r>
              <a:rPr lang="en-US" altLang="zh-CN" dirty="0" smtClean="0">
                <a:solidFill>
                  <a:prstClr val="white"/>
                </a:solidFill>
                <a:latin typeface="微软雅黑" panose="020B0503020204020204" pitchFamily="34" charset="-122"/>
                <a:ea typeface="微软雅黑" panose="020B0503020204020204" pitchFamily="34" charset="-122"/>
              </a:rPr>
              <a:t>ASK</a:t>
            </a:r>
            <a:r>
              <a:rPr lang="zh-CN" altLang="en-US" dirty="0" smtClean="0">
                <a:solidFill>
                  <a:prstClr val="white"/>
                </a:solidFill>
                <a:latin typeface="微软雅黑" panose="020B0503020204020204" pitchFamily="34" charset="-122"/>
                <a:ea typeface="微软雅黑" panose="020B0503020204020204" pitchFamily="34" charset="-122"/>
              </a:rPr>
              <a:t>指令，会向目标节点发送一个不带任何参数的</a:t>
            </a:r>
            <a:r>
              <a:rPr lang="en-US" altLang="zh-CN" dirty="0" smtClean="0">
                <a:solidFill>
                  <a:prstClr val="white"/>
                </a:solidFill>
                <a:latin typeface="微软雅黑" panose="020B0503020204020204" pitchFamily="34" charset="-122"/>
                <a:ea typeface="微软雅黑" panose="020B0503020204020204" pitchFamily="34" charset="-122"/>
              </a:rPr>
              <a:t>ASKING</a:t>
            </a:r>
            <a:r>
              <a:rPr lang="zh-CN" altLang="en-US" dirty="0" smtClean="0">
                <a:solidFill>
                  <a:prstClr val="white"/>
                </a:solidFill>
                <a:latin typeface="微软雅黑" panose="020B0503020204020204" pitchFamily="34" charset="-122"/>
                <a:ea typeface="微软雅黑" panose="020B0503020204020204" pitchFamily="34" charset="-122"/>
              </a:rPr>
              <a:t>指令，告诉目标节点，下一个命令 强制</a:t>
            </a:r>
            <a:r>
              <a:rPr lang="zh-CN" altLang="en-US" dirty="0">
                <a:solidFill>
                  <a:prstClr val="white"/>
                </a:solidFill>
                <a:latin typeface="微软雅黑" panose="020B0503020204020204" pitchFamily="34" charset="-122"/>
                <a:ea typeface="微软雅黑" panose="020B0503020204020204" pitchFamily="34" charset="-122"/>
              </a:rPr>
              <a:t>执行</a:t>
            </a:r>
            <a:r>
              <a:rPr lang="zh-CN" altLang="en-US" dirty="0" smtClean="0">
                <a:solidFill>
                  <a:prstClr val="white"/>
                </a:solidFill>
                <a:latin typeface="微软雅黑" panose="020B0503020204020204" pitchFamily="34" charset="-122"/>
                <a:ea typeface="微软雅黑" panose="020B0503020204020204" pitchFamily="34" charset="-122"/>
              </a:rPr>
              <a:t>，无论它操作的</a:t>
            </a:r>
            <a:r>
              <a:rPr lang="en-US" altLang="zh-CN" dirty="0" smtClean="0">
                <a:solidFill>
                  <a:prstClr val="white"/>
                </a:solidFill>
                <a:latin typeface="微软雅黑" panose="020B0503020204020204" pitchFamily="34" charset="-122"/>
                <a:ea typeface="微软雅黑" panose="020B0503020204020204" pitchFamily="34" charset="-122"/>
              </a:rPr>
              <a:t>key</a:t>
            </a:r>
            <a:r>
              <a:rPr lang="zh-CN" altLang="en-US" dirty="0" smtClean="0">
                <a:solidFill>
                  <a:prstClr val="white"/>
                </a:solidFill>
                <a:latin typeface="微软雅黑" panose="020B0503020204020204" pitchFamily="34" charset="-122"/>
                <a:ea typeface="微软雅黑" panose="020B0503020204020204" pitchFamily="34" charset="-122"/>
              </a:rPr>
              <a:t>映射到的槽是不是它管理。最后客户端发送指令到目标节点。整个过程如图 </a:t>
            </a:r>
            <a:r>
              <a:rPr lang="en-US" altLang="zh-CN" dirty="0" smtClean="0">
                <a:solidFill>
                  <a:prstClr val="white"/>
                </a:solidFill>
                <a:latin typeface="微软雅黑" panose="020B0503020204020204" pitchFamily="34" charset="-122"/>
                <a:ea typeface="微软雅黑" panose="020B0503020204020204" pitchFamily="34" charset="-122"/>
              </a:rPr>
              <a:t>5.4.4 -1 </a:t>
            </a:r>
            <a:endParaRPr lang="zh-CN" altLang="en-US" dirty="0">
              <a:solidFill>
                <a:prstClr val="white"/>
              </a:solidFill>
              <a:latin typeface="微软雅黑" panose="020B0503020204020204" pitchFamily="34" charset="-122"/>
              <a:ea typeface="微软雅黑" panose="020B0503020204020204" pitchFamily="34" charset="-122"/>
            </a:endParaRPr>
          </a:p>
        </p:txBody>
      </p:sp>
      <p:sp>
        <p:nvSpPr>
          <p:cNvPr id="10" name="TextBox 9"/>
          <p:cNvSpPr txBox="1"/>
          <p:nvPr/>
        </p:nvSpPr>
        <p:spPr>
          <a:xfrm>
            <a:off x="704849" y="605109"/>
            <a:ext cx="10862965" cy="523220"/>
          </a:xfrm>
          <a:prstGeom prst="rect">
            <a:avLst/>
          </a:prstGeom>
          <a:noFill/>
        </p:spPr>
        <p:txBody>
          <a:bodyPr wrap="square" rtlCol="0">
            <a:spAutoFit/>
          </a:bodyPr>
          <a:lstStyle/>
          <a:p>
            <a:pPr>
              <a:defRPr/>
            </a:pPr>
            <a:r>
              <a:rPr lang="en-US" altLang="zh-CN"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5.4.4 </a:t>
            </a:r>
            <a:r>
              <a:rPr lang="zh-CN" altLang="en-US"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扩容（缩容）时如何处理对迁移过程中数据的访问？</a:t>
            </a:r>
          </a:p>
        </p:txBody>
      </p:sp>
      <p:grpSp>
        <p:nvGrpSpPr>
          <p:cNvPr id="61" name="组合 60"/>
          <p:cNvGrpSpPr/>
          <p:nvPr/>
        </p:nvGrpSpPr>
        <p:grpSpPr>
          <a:xfrm>
            <a:off x="2700823" y="3944138"/>
            <a:ext cx="6871016" cy="2712234"/>
            <a:chOff x="2700823" y="4031222"/>
            <a:chExt cx="6871016" cy="2712234"/>
          </a:xfrm>
        </p:grpSpPr>
        <p:grpSp>
          <p:nvGrpSpPr>
            <p:cNvPr id="59" name="组合 58"/>
            <p:cNvGrpSpPr/>
            <p:nvPr/>
          </p:nvGrpSpPr>
          <p:grpSpPr>
            <a:xfrm>
              <a:off x="2700823" y="4031222"/>
              <a:ext cx="6871016" cy="2346036"/>
              <a:chOff x="1268077" y="3856657"/>
              <a:chExt cx="6871016" cy="2346036"/>
            </a:xfrm>
          </p:grpSpPr>
          <p:sp>
            <p:nvSpPr>
              <p:cNvPr id="8" name="圆角矩形 7"/>
              <p:cNvSpPr/>
              <p:nvPr/>
            </p:nvSpPr>
            <p:spPr>
              <a:xfrm>
                <a:off x="4940274" y="3856657"/>
                <a:ext cx="1536527" cy="663015"/>
              </a:xfrm>
              <a:prstGeom prst="roundRect">
                <a:avLst/>
              </a:prstGeom>
              <a:solidFill>
                <a:schemeClr val="accent4">
                  <a:lumMod val="75000"/>
                </a:schemeClr>
              </a:solidFill>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dirty="0">
                    <a:solidFill>
                      <a:prstClr val="white"/>
                    </a:solidFill>
                    <a:latin typeface="微软雅黑" panose="020B0503020204020204" pitchFamily="34" charset="-122"/>
                    <a:ea typeface="微软雅黑" panose="020B0503020204020204" pitchFamily="34" charset="-122"/>
                  </a:rPr>
                  <a:t>importing</a:t>
                </a:r>
                <a:endParaRPr lang="zh-CN" altLang="en-US" dirty="0"/>
              </a:p>
            </p:txBody>
          </p:sp>
          <p:sp>
            <p:nvSpPr>
              <p:cNvPr id="12" name="businessman_57134">
                <a:extLst>
                  <a:ext uri="{FF2B5EF4-FFF2-40B4-BE49-F238E27FC236}">
                    <a16:creationId xmlns:a16="http://schemas.microsoft.com/office/drawing/2014/main" xmlns="" id="{44B06DE3-64A7-49DB-9F42-1E5B21107308}"/>
                  </a:ext>
                </a:extLst>
              </p:cNvPr>
              <p:cNvSpPr>
                <a:spLocks noChangeAspect="1"/>
              </p:cNvSpPr>
              <p:nvPr/>
            </p:nvSpPr>
            <p:spPr bwMode="auto">
              <a:xfrm>
                <a:off x="1268077" y="4506428"/>
                <a:ext cx="1015655" cy="1510677"/>
              </a:xfrm>
              <a:custGeom>
                <a:avLst/>
                <a:gdLst>
                  <a:gd name="connsiteX0" fmla="*/ 243589 w 557114"/>
                  <a:gd name="connsiteY0" fmla="*/ 355438 h 608062"/>
                  <a:gd name="connsiteX1" fmla="*/ 277656 w 557114"/>
                  <a:gd name="connsiteY1" fmla="*/ 355438 h 608062"/>
                  <a:gd name="connsiteX2" fmla="*/ 277940 w 557114"/>
                  <a:gd name="connsiteY2" fmla="*/ 355438 h 608062"/>
                  <a:gd name="connsiteX3" fmla="*/ 278604 w 557114"/>
                  <a:gd name="connsiteY3" fmla="*/ 355438 h 608062"/>
                  <a:gd name="connsiteX4" fmla="*/ 279174 w 557114"/>
                  <a:gd name="connsiteY4" fmla="*/ 355438 h 608062"/>
                  <a:gd name="connsiteX5" fmla="*/ 279458 w 557114"/>
                  <a:gd name="connsiteY5" fmla="*/ 355438 h 608062"/>
                  <a:gd name="connsiteX6" fmla="*/ 279553 w 557114"/>
                  <a:gd name="connsiteY6" fmla="*/ 355438 h 608062"/>
                  <a:gd name="connsiteX7" fmla="*/ 313620 w 557114"/>
                  <a:gd name="connsiteY7" fmla="*/ 355438 h 608062"/>
                  <a:gd name="connsiteX8" fmla="*/ 324438 w 557114"/>
                  <a:gd name="connsiteY8" fmla="*/ 375432 h 608062"/>
                  <a:gd name="connsiteX9" fmla="*/ 298152 w 557114"/>
                  <a:gd name="connsiteY9" fmla="*/ 430202 h 608062"/>
                  <a:gd name="connsiteX10" fmla="*/ 301948 w 557114"/>
                  <a:gd name="connsiteY10" fmla="*/ 510272 h 608062"/>
                  <a:gd name="connsiteX11" fmla="*/ 356891 w 557114"/>
                  <a:gd name="connsiteY11" fmla="*/ 389172 h 608062"/>
                  <a:gd name="connsiteX12" fmla="*/ 356986 w 557114"/>
                  <a:gd name="connsiteY12" fmla="*/ 389172 h 608062"/>
                  <a:gd name="connsiteX13" fmla="*/ 376628 w 557114"/>
                  <a:gd name="connsiteY13" fmla="*/ 375337 h 608062"/>
                  <a:gd name="connsiteX14" fmla="*/ 383556 w 557114"/>
                  <a:gd name="connsiteY14" fmla="*/ 376474 h 608062"/>
                  <a:gd name="connsiteX15" fmla="*/ 383745 w 557114"/>
                  <a:gd name="connsiteY15" fmla="*/ 376569 h 608062"/>
                  <a:gd name="connsiteX16" fmla="*/ 518588 w 557114"/>
                  <a:gd name="connsiteY16" fmla="*/ 438920 h 608062"/>
                  <a:gd name="connsiteX17" fmla="*/ 557114 w 557114"/>
                  <a:gd name="connsiteY17" fmla="*/ 482224 h 608062"/>
                  <a:gd name="connsiteX18" fmla="*/ 557114 w 557114"/>
                  <a:gd name="connsiteY18" fmla="*/ 608062 h 608062"/>
                  <a:gd name="connsiteX19" fmla="*/ 279743 w 557114"/>
                  <a:gd name="connsiteY19" fmla="*/ 608062 h 608062"/>
                  <a:gd name="connsiteX20" fmla="*/ 279458 w 557114"/>
                  <a:gd name="connsiteY20" fmla="*/ 608062 h 608062"/>
                  <a:gd name="connsiteX21" fmla="*/ 279364 w 557114"/>
                  <a:gd name="connsiteY21" fmla="*/ 608062 h 608062"/>
                  <a:gd name="connsiteX22" fmla="*/ 279174 w 557114"/>
                  <a:gd name="connsiteY22" fmla="*/ 608062 h 608062"/>
                  <a:gd name="connsiteX23" fmla="*/ 278984 w 557114"/>
                  <a:gd name="connsiteY23" fmla="*/ 608062 h 608062"/>
                  <a:gd name="connsiteX24" fmla="*/ 278604 w 557114"/>
                  <a:gd name="connsiteY24" fmla="*/ 608062 h 608062"/>
                  <a:gd name="connsiteX25" fmla="*/ 278130 w 557114"/>
                  <a:gd name="connsiteY25" fmla="*/ 608062 h 608062"/>
                  <a:gd name="connsiteX26" fmla="*/ 277940 w 557114"/>
                  <a:gd name="connsiteY26" fmla="*/ 608062 h 608062"/>
                  <a:gd name="connsiteX27" fmla="*/ 277845 w 557114"/>
                  <a:gd name="connsiteY27" fmla="*/ 608062 h 608062"/>
                  <a:gd name="connsiteX28" fmla="*/ 277750 w 557114"/>
                  <a:gd name="connsiteY28" fmla="*/ 608062 h 608062"/>
                  <a:gd name="connsiteX29" fmla="*/ 277656 w 557114"/>
                  <a:gd name="connsiteY29" fmla="*/ 608062 h 608062"/>
                  <a:gd name="connsiteX30" fmla="*/ 277371 w 557114"/>
                  <a:gd name="connsiteY30" fmla="*/ 608062 h 608062"/>
                  <a:gd name="connsiteX31" fmla="*/ 0 w 557114"/>
                  <a:gd name="connsiteY31" fmla="*/ 608062 h 608062"/>
                  <a:gd name="connsiteX32" fmla="*/ 0 w 557114"/>
                  <a:gd name="connsiteY32" fmla="*/ 482224 h 608062"/>
                  <a:gd name="connsiteX33" fmla="*/ 38621 w 557114"/>
                  <a:gd name="connsiteY33" fmla="*/ 438920 h 608062"/>
                  <a:gd name="connsiteX34" fmla="*/ 173464 w 557114"/>
                  <a:gd name="connsiteY34" fmla="*/ 376569 h 608062"/>
                  <a:gd name="connsiteX35" fmla="*/ 173558 w 557114"/>
                  <a:gd name="connsiteY35" fmla="*/ 376474 h 608062"/>
                  <a:gd name="connsiteX36" fmla="*/ 180486 w 557114"/>
                  <a:gd name="connsiteY36" fmla="*/ 375337 h 608062"/>
                  <a:gd name="connsiteX37" fmla="*/ 200223 w 557114"/>
                  <a:gd name="connsiteY37" fmla="*/ 389172 h 608062"/>
                  <a:gd name="connsiteX38" fmla="*/ 255166 w 557114"/>
                  <a:gd name="connsiteY38" fmla="*/ 510272 h 608062"/>
                  <a:gd name="connsiteX39" fmla="*/ 258962 w 557114"/>
                  <a:gd name="connsiteY39" fmla="*/ 430202 h 608062"/>
                  <a:gd name="connsiteX40" fmla="*/ 232676 w 557114"/>
                  <a:gd name="connsiteY40" fmla="*/ 375432 h 608062"/>
                  <a:gd name="connsiteX41" fmla="*/ 243589 w 557114"/>
                  <a:gd name="connsiteY41" fmla="*/ 355438 h 608062"/>
                  <a:gd name="connsiteX42" fmla="*/ 276250 w 557114"/>
                  <a:gd name="connsiteY42" fmla="*/ 0 h 608062"/>
                  <a:gd name="connsiteX43" fmla="*/ 277674 w 557114"/>
                  <a:gd name="connsiteY43" fmla="*/ 0 h 608062"/>
                  <a:gd name="connsiteX44" fmla="*/ 277863 w 557114"/>
                  <a:gd name="connsiteY44" fmla="*/ 0 h 608062"/>
                  <a:gd name="connsiteX45" fmla="*/ 277958 w 557114"/>
                  <a:gd name="connsiteY45" fmla="*/ 0 h 608062"/>
                  <a:gd name="connsiteX46" fmla="*/ 279382 w 557114"/>
                  <a:gd name="connsiteY46" fmla="*/ 0 h 608062"/>
                  <a:gd name="connsiteX47" fmla="*/ 402570 w 557114"/>
                  <a:gd name="connsiteY47" fmla="*/ 104895 h 608062"/>
                  <a:gd name="connsiteX48" fmla="*/ 394693 w 557114"/>
                  <a:gd name="connsiteY48" fmla="*/ 159001 h 608062"/>
                  <a:gd name="connsiteX49" fmla="*/ 405892 w 557114"/>
                  <a:gd name="connsiteY49" fmla="*/ 184774 h 608062"/>
                  <a:gd name="connsiteX50" fmla="*/ 377040 w 557114"/>
                  <a:gd name="connsiteY50" fmla="*/ 236890 h 608062"/>
                  <a:gd name="connsiteX51" fmla="*/ 315731 w 557114"/>
                  <a:gd name="connsiteY51" fmla="*/ 311274 h 608062"/>
                  <a:gd name="connsiteX52" fmla="*/ 277958 w 557114"/>
                  <a:gd name="connsiteY52" fmla="*/ 319707 h 608062"/>
                  <a:gd name="connsiteX53" fmla="*/ 277958 w 557114"/>
                  <a:gd name="connsiteY53" fmla="*/ 319802 h 608062"/>
                  <a:gd name="connsiteX54" fmla="*/ 277863 w 557114"/>
                  <a:gd name="connsiteY54" fmla="*/ 319802 h 608062"/>
                  <a:gd name="connsiteX55" fmla="*/ 277674 w 557114"/>
                  <a:gd name="connsiteY55" fmla="*/ 319802 h 608062"/>
                  <a:gd name="connsiteX56" fmla="*/ 277674 w 557114"/>
                  <a:gd name="connsiteY56" fmla="*/ 319707 h 608062"/>
                  <a:gd name="connsiteX57" fmla="*/ 239901 w 557114"/>
                  <a:gd name="connsiteY57" fmla="*/ 311274 h 608062"/>
                  <a:gd name="connsiteX58" fmla="*/ 178592 w 557114"/>
                  <a:gd name="connsiteY58" fmla="*/ 236890 h 608062"/>
                  <a:gd name="connsiteX59" fmla="*/ 149740 w 557114"/>
                  <a:gd name="connsiteY59" fmla="*/ 184774 h 608062"/>
                  <a:gd name="connsiteX60" fmla="*/ 161034 w 557114"/>
                  <a:gd name="connsiteY60" fmla="*/ 159001 h 608062"/>
                  <a:gd name="connsiteX61" fmla="*/ 153062 w 557114"/>
                  <a:gd name="connsiteY61" fmla="*/ 104895 h 608062"/>
                  <a:gd name="connsiteX62" fmla="*/ 276250 w 557114"/>
                  <a:gd name="connsiteY62" fmla="*/ 0 h 608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557114" h="608062">
                    <a:moveTo>
                      <a:pt x="243589" y="355438"/>
                    </a:moveTo>
                    <a:lnTo>
                      <a:pt x="277656" y="355438"/>
                    </a:lnTo>
                    <a:lnTo>
                      <a:pt x="277940" y="355438"/>
                    </a:lnTo>
                    <a:lnTo>
                      <a:pt x="278604" y="355438"/>
                    </a:lnTo>
                    <a:lnTo>
                      <a:pt x="279174" y="355438"/>
                    </a:lnTo>
                    <a:lnTo>
                      <a:pt x="279458" y="355438"/>
                    </a:lnTo>
                    <a:lnTo>
                      <a:pt x="279553" y="355438"/>
                    </a:lnTo>
                    <a:lnTo>
                      <a:pt x="313620" y="355438"/>
                    </a:lnTo>
                    <a:cubicBezTo>
                      <a:pt x="325007" y="355438"/>
                      <a:pt x="330511" y="364630"/>
                      <a:pt x="324438" y="375432"/>
                    </a:cubicBezTo>
                    <a:cubicBezTo>
                      <a:pt x="321781" y="379980"/>
                      <a:pt x="298152" y="430202"/>
                      <a:pt x="298152" y="430202"/>
                    </a:cubicBezTo>
                    <a:lnTo>
                      <a:pt x="301948" y="510272"/>
                    </a:lnTo>
                    <a:cubicBezTo>
                      <a:pt x="317700" y="481655"/>
                      <a:pt x="343131" y="422432"/>
                      <a:pt x="356891" y="389172"/>
                    </a:cubicBezTo>
                    <a:cubicBezTo>
                      <a:pt x="356891" y="389172"/>
                      <a:pt x="356891" y="389172"/>
                      <a:pt x="356986" y="389172"/>
                    </a:cubicBezTo>
                    <a:cubicBezTo>
                      <a:pt x="359832" y="381117"/>
                      <a:pt x="367519" y="375337"/>
                      <a:pt x="376628" y="375337"/>
                    </a:cubicBezTo>
                    <a:cubicBezTo>
                      <a:pt x="379096" y="375337"/>
                      <a:pt x="381373" y="375716"/>
                      <a:pt x="383556" y="376474"/>
                    </a:cubicBezTo>
                    <a:cubicBezTo>
                      <a:pt x="383650" y="376474"/>
                      <a:pt x="383650" y="376474"/>
                      <a:pt x="383745" y="376569"/>
                    </a:cubicBezTo>
                    <a:cubicBezTo>
                      <a:pt x="387446" y="377706"/>
                      <a:pt x="464973" y="411724"/>
                      <a:pt x="518588" y="438920"/>
                    </a:cubicBezTo>
                    <a:cubicBezTo>
                      <a:pt x="542595" y="451049"/>
                      <a:pt x="557114" y="466305"/>
                      <a:pt x="557114" y="482224"/>
                    </a:cubicBezTo>
                    <a:lnTo>
                      <a:pt x="557114" y="608062"/>
                    </a:lnTo>
                    <a:lnTo>
                      <a:pt x="279743" y="608062"/>
                    </a:lnTo>
                    <a:lnTo>
                      <a:pt x="279458" y="608062"/>
                    </a:lnTo>
                    <a:lnTo>
                      <a:pt x="279364" y="608062"/>
                    </a:lnTo>
                    <a:lnTo>
                      <a:pt x="279174" y="608062"/>
                    </a:lnTo>
                    <a:lnTo>
                      <a:pt x="278984" y="608062"/>
                    </a:lnTo>
                    <a:lnTo>
                      <a:pt x="278604" y="608062"/>
                    </a:lnTo>
                    <a:lnTo>
                      <a:pt x="278130" y="608062"/>
                    </a:lnTo>
                    <a:lnTo>
                      <a:pt x="277940" y="608062"/>
                    </a:lnTo>
                    <a:lnTo>
                      <a:pt x="277845" y="608062"/>
                    </a:lnTo>
                    <a:lnTo>
                      <a:pt x="277750" y="608062"/>
                    </a:lnTo>
                    <a:lnTo>
                      <a:pt x="277656" y="608062"/>
                    </a:lnTo>
                    <a:lnTo>
                      <a:pt x="277371" y="608062"/>
                    </a:lnTo>
                    <a:lnTo>
                      <a:pt x="0" y="608062"/>
                    </a:lnTo>
                    <a:lnTo>
                      <a:pt x="0" y="482224"/>
                    </a:lnTo>
                    <a:cubicBezTo>
                      <a:pt x="0" y="466305"/>
                      <a:pt x="14519" y="451049"/>
                      <a:pt x="38621" y="438920"/>
                    </a:cubicBezTo>
                    <a:cubicBezTo>
                      <a:pt x="92141" y="411724"/>
                      <a:pt x="169668" y="377706"/>
                      <a:pt x="173464" y="376569"/>
                    </a:cubicBezTo>
                    <a:cubicBezTo>
                      <a:pt x="173464" y="376474"/>
                      <a:pt x="173464" y="376474"/>
                      <a:pt x="173558" y="376474"/>
                    </a:cubicBezTo>
                    <a:cubicBezTo>
                      <a:pt x="175741" y="375716"/>
                      <a:pt x="178018" y="375337"/>
                      <a:pt x="180486" y="375337"/>
                    </a:cubicBezTo>
                    <a:cubicBezTo>
                      <a:pt x="189595" y="375337"/>
                      <a:pt x="197282" y="381117"/>
                      <a:pt x="200223" y="389172"/>
                    </a:cubicBezTo>
                    <a:cubicBezTo>
                      <a:pt x="214078" y="422432"/>
                      <a:pt x="239414" y="481655"/>
                      <a:pt x="255166" y="510272"/>
                    </a:cubicBezTo>
                    <a:lnTo>
                      <a:pt x="258962" y="430202"/>
                    </a:lnTo>
                    <a:cubicBezTo>
                      <a:pt x="258962" y="430202"/>
                      <a:pt x="235333" y="379980"/>
                      <a:pt x="232676" y="375432"/>
                    </a:cubicBezTo>
                    <a:cubicBezTo>
                      <a:pt x="226603" y="364630"/>
                      <a:pt x="232107" y="355438"/>
                      <a:pt x="243589" y="355438"/>
                    </a:cubicBezTo>
                    <a:close/>
                    <a:moveTo>
                      <a:pt x="276250" y="0"/>
                    </a:moveTo>
                    <a:cubicBezTo>
                      <a:pt x="276725" y="0"/>
                      <a:pt x="277199" y="0"/>
                      <a:pt x="277674" y="0"/>
                    </a:cubicBezTo>
                    <a:cubicBezTo>
                      <a:pt x="277769" y="0"/>
                      <a:pt x="277769" y="0"/>
                      <a:pt x="277863" y="0"/>
                    </a:cubicBezTo>
                    <a:cubicBezTo>
                      <a:pt x="277863" y="0"/>
                      <a:pt x="277863" y="0"/>
                      <a:pt x="277958" y="0"/>
                    </a:cubicBezTo>
                    <a:cubicBezTo>
                      <a:pt x="278433" y="0"/>
                      <a:pt x="278907" y="0"/>
                      <a:pt x="279382" y="0"/>
                    </a:cubicBezTo>
                    <a:cubicBezTo>
                      <a:pt x="385487" y="0"/>
                      <a:pt x="405417" y="75615"/>
                      <a:pt x="402570" y="104895"/>
                    </a:cubicBezTo>
                    <a:cubicBezTo>
                      <a:pt x="400387" y="128395"/>
                      <a:pt x="394693" y="159001"/>
                      <a:pt x="394693" y="159001"/>
                    </a:cubicBezTo>
                    <a:cubicBezTo>
                      <a:pt x="394693" y="159001"/>
                      <a:pt x="405892" y="164118"/>
                      <a:pt x="405892" y="184774"/>
                    </a:cubicBezTo>
                    <a:cubicBezTo>
                      <a:pt x="402001" y="236511"/>
                      <a:pt x="381311" y="214149"/>
                      <a:pt x="377040" y="236890"/>
                    </a:cubicBezTo>
                    <a:cubicBezTo>
                      <a:pt x="370017" y="274603"/>
                      <a:pt x="336610" y="301893"/>
                      <a:pt x="315731" y="311274"/>
                    </a:cubicBezTo>
                    <a:cubicBezTo>
                      <a:pt x="303583" y="316770"/>
                      <a:pt x="291055" y="319518"/>
                      <a:pt x="277958" y="319707"/>
                    </a:cubicBezTo>
                    <a:lnTo>
                      <a:pt x="277958" y="319802"/>
                    </a:lnTo>
                    <a:cubicBezTo>
                      <a:pt x="277863" y="319802"/>
                      <a:pt x="277863" y="319802"/>
                      <a:pt x="277863" y="319802"/>
                    </a:cubicBezTo>
                    <a:cubicBezTo>
                      <a:pt x="277769" y="319802"/>
                      <a:pt x="277769" y="319802"/>
                      <a:pt x="277674" y="319802"/>
                    </a:cubicBezTo>
                    <a:lnTo>
                      <a:pt x="277674" y="319707"/>
                    </a:lnTo>
                    <a:cubicBezTo>
                      <a:pt x="264577" y="319518"/>
                      <a:pt x="252049" y="316770"/>
                      <a:pt x="239901" y="311274"/>
                    </a:cubicBezTo>
                    <a:cubicBezTo>
                      <a:pt x="219022" y="301893"/>
                      <a:pt x="185615" y="274603"/>
                      <a:pt x="178592" y="236890"/>
                    </a:cubicBezTo>
                    <a:cubicBezTo>
                      <a:pt x="174321" y="214149"/>
                      <a:pt x="153631" y="236511"/>
                      <a:pt x="149740" y="184774"/>
                    </a:cubicBezTo>
                    <a:cubicBezTo>
                      <a:pt x="149740" y="164118"/>
                      <a:pt x="161034" y="159001"/>
                      <a:pt x="161034" y="159001"/>
                    </a:cubicBezTo>
                    <a:cubicBezTo>
                      <a:pt x="161034" y="159001"/>
                      <a:pt x="155245" y="128395"/>
                      <a:pt x="153062" y="104895"/>
                    </a:cubicBezTo>
                    <a:cubicBezTo>
                      <a:pt x="150215" y="75615"/>
                      <a:pt x="170145" y="0"/>
                      <a:pt x="276250" y="0"/>
                    </a:cubicBezTo>
                    <a:close/>
                  </a:path>
                </a:pathLst>
              </a:custGeom>
              <a:solidFill>
                <a:schemeClr val="bg1"/>
              </a:solidFill>
              <a:ln>
                <a:noFill/>
              </a:ln>
            </p:spPr>
          </p:sp>
          <p:sp>
            <p:nvSpPr>
              <p:cNvPr id="17" name="圆角矩形 16"/>
              <p:cNvSpPr/>
              <p:nvPr/>
            </p:nvSpPr>
            <p:spPr>
              <a:xfrm>
                <a:off x="6602566" y="5172709"/>
                <a:ext cx="1536527" cy="663015"/>
              </a:xfrm>
              <a:prstGeom prst="roundRect">
                <a:avLst/>
              </a:prstGeom>
              <a:solidFill>
                <a:srgbClr val="00B050"/>
              </a:solidFill>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altLang="zh-CN" dirty="0">
                    <a:solidFill>
                      <a:prstClr val="white"/>
                    </a:solidFill>
                    <a:latin typeface="微软雅黑" panose="020B0503020204020204" pitchFamily="34" charset="-122"/>
                    <a:ea typeface="微软雅黑" panose="020B0503020204020204" pitchFamily="34" charset="-122"/>
                  </a:rPr>
                  <a:t>migrating</a:t>
                </a:r>
                <a:endParaRPr lang="zh-CN" altLang="en-US" dirty="0"/>
              </a:p>
            </p:txBody>
          </p:sp>
          <p:cxnSp>
            <p:nvCxnSpPr>
              <p:cNvPr id="18" name="直接箭头连接符 17"/>
              <p:cNvCxnSpPr/>
              <p:nvPr/>
            </p:nvCxnSpPr>
            <p:spPr>
              <a:xfrm flipH="1">
                <a:off x="2435902" y="5809059"/>
                <a:ext cx="4168097" cy="5174"/>
              </a:xfrm>
              <a:prstGeom prst="straightConnector1">
                <a:avLst/>
              </a:prstGeom>
              <a:ln w="25400" cmpd="sng">
                <a:solidFill>
                  <a:srgbClr val="C00000"/>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a:stCxn id="12" idx="16"/>
                <a:endCxn id="17" idx="1"/>
              </p:cNvCxnSpPr>
              <p:nvPr/>
            </p:nvCxnSpPr>
            <p:spPr>
              <a:xfrm flipV="1">
                <a:off x="2213497" y="5504217"/>
                <a:ext cx="4389069" cy="92669"/>
              </a:xfrm>
              <a:prstGeom prst="straightConnector1">
                <a:avLst/>
              </a:prstGeom>
              <a:ln w="25400" cmpd="sng">
                <a:solidFill>
                  <a:srgbClr val="C00000"/>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a:xfrm flipH="1">
                <a:off x="2243568" y="4544514"/>
                <a:ext cx="3231337" cy="969594"/>
              </a:xfrm>
              <a:prstGeom prst="straightConnector1">
                <a:avLst/>
              </a:prstGeom>
              <a:ln w="25400" cmpd="sng">
                <a:solidFill>
                  <a:srgbClr val="C00000"/>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p:nvPr/>
            </p:nvCxnSpPr>
            <p:spPr>
              <a:xfrm flipV="1">
                <a:off x="2031563" y="4394672"/>
                <a:ext cx="2903643" cy="927268"/>
              </a:xfrm>
              <a:prstGeom prst="straightConnector1">
                <a:avLst/>
              </a:prstGeom>
              <a:ln w="25400" cmpd="sng">
                <a:solidFill>
                  <a:srgbClr val="C00000"/>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p:nvPr/>
            </p:nvCxnSpPr>
            <p:spPr>
              <a:xfrm flipH="1">
                <a:off x="2127596" y="4164123"/>
                <a:ext cx="2807610" cy="849814"/>
              </a:xfrm>
              <a:prstGeom prst="straightConnector1">
                <a:avLst/>
              </a:prstGeom>
              <a:ln w="25400" cmpd="sng">
                <a:solidFill>
                  <a:srgbClr val="C00000"/>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nvCxnSpPr>
            <p:spPr>
              <a:xfrm flipV="1">
                <a:off x="2166504" y="3896946"/>
                <a:ext cx="2773770" cy="749906"/>
              </a:xfrm>
              <a:prstGeom prst="straightConnector1">
                <a:avLst/>
              </a:prstGeom>
              <a:ln w="25400" cmpd="sng">
                <a:solidFill>
                  <a:srgbClr val="C00000"/>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sp>
            <p:nvSpPr>
              <p:cNvPr id="40" name="文本框 39"/>
              <p:cNvSpPr txBox="1"/>
              <p:nvPr/>
            </p:nvSpPr>
            <p:spPr>
              <a:xfrm>
                <a:off x="7037000" y="5833361"/>
                <a:ext cx="667657" cy="369332"/>
              </a:xfrm>
              <a:prstGeom prst="rect">
                <a:avLst/>
              </a:prstGeom>
              <a:noFill/>
            </p:spPr>
            <p:txBody>
              <a:bodyPr wrap="square" rtlCol="0">
                <a:spAutoFit/>
              </a:bodyPr>
              <a:lstStyle/>
              <a:p>
                <a:pPr algn="ctr"/>
                <a:r>
                  <a:rPr lang="en-US" altLang="zh-CN" dirty="0" smtClean="0">
                    <a:solidFill>
                      <a:schemeClr val="bg1"/>
                    </a:solidFill>
                    <a:latin typeface="微软雅黑" panose="020B0503020204020204" pitchFamily="34" charset="-122"/>
                    <a:ea typeface="微软雅黑" panose="020B0503020204020204" pitchFamily="34" charset="-122"/>
                  </a:rPr>
                  <a:t>A</a:t>
                </a:r>
                <a:endParaRPr lang="zh-CN" altLang="en-US" dirty="0" smtClean="0">
                  <a:solidFill>
                    <a:schemeClr val="bg1"/>
                  </a:solidFill>
                  <a:latin typeface="微软雅黑" panose="020B0503020204020204" pitchFamily="34" charset="-122"/>
                  <a:ea typeface="微软雅黑" panose="020B0503020204020204" pitchFamily="34" charset="-122"/>
                </a:endParaRPr>
              </a:p>
            </p:txBody>
          </p:sp>
          <p:sp>
            <p:nvSpPr>
              <p:cNvPr id="41" name="文本框 40"/>
              <p:cNvSpPr txBox="1"/>
              <p:nvPr/>
            </p:nvSpPr>
            <p:spPr>
              <a:xfrm>
                <a:off x="5340375" y="4489164"/>
                <a:ext cx="667657" cy="369332"/>
              </a:xfrm>
              <a:prstGeom prst="rect">
                <a:avLst/>
              </a:prstGeom>
              <a:noFill/>
            </p:spPr>
            <p:txBody>
              <a:bodyPr wrap="square" rtlCol="0">
                <a:spAutoFit/>
              </a:bodyPr>
              <a:lstStyle/>
              <a:p>
                <a:pPr algn="ctr"/>
                <a:r>
                  <a:rPr lang="en-US" altLang="zh-CN" dirty="0">
                    <a:solidFill>
                      <a:schemeClr val="bg1"/>
                    </a:solidFill>
                    <a:latin typeface="微软雅黑" panose="020B0503020204020204" pitchFamily="34" charset="-122"/>
                    <a:ea typeface="微软雅黑" panose="020B0503020204020204" pitchFamily="34" charset="-122"/>
                  </a:rPr>
                  <a:t>B</a:t>
                </a:r>
                <a:endParaRPr lang="zh-CN" altLang="en-US" dirty="0" smtClean="0">
                  <a:solidFill>
                    <a:schemeClr val="bg1"/>
                  </a:solidFill>
                  <a:latin typeface="微软雅黑" panose="020B0503020204020204" pitchFamily="34" charset="-122"/>
                  <a:ea typeface="微软雅黑" panose="020B0503020204020204" pitchFamily="34" charset="-122"/>
                </a:endParaRPr>
              </a:p>
            </p:txBody>
          </p:sp>
          <p:sp>
            <p:nvSpPr>
              <p:cNvPr id="42" name="文本框 41"/>
              <p:cNvSpPr txBox="1"/>
              <p:nvPr/>
            </p:nvSpPr>
            <p:spPr>
              <a:xfrm>
                <a:off x="3625880" y="5770123"/>
                <a:ext cx="1849025" cy="307777"/>
              </a:xfrm>
              <a:prstGeom prst="rect">
                <a:avLst/>
              </a:prstGeom>
              <a:noFill/>
            </p:spPr>
            <p:txBody>
              <a:bodyPr wrap="square" rtlCol="0">
                <a:spAutoFit/>
              </a:bodyPr>
              <a:lstStyle/>
              <a:p>
                <a:pPr algn="ctr"/>
                <a:r>
                  <a:rPr lang="en-US" altLang="zh-CN" sz="1400" dirty="0" smtClean="0">
                    <a:solidFill>
                      <a:schemeClr val="bg1"/>
                    </a:solidFill>
                    <a:latin typeface="微软雅黑" panose="020B0503020204020204" pitchFamily="34" charset="-122"/>
                    <a:ea typeface="微软雅黑" panose="020B0503020204020204" pitchFamily="34" charset="-122"/>
                  </a:rPr>
                  <a:t>1. get key</a:t>
                </a:r>
                <a:endParaRPr lang="zh-CN" altLang="en-US" sz="1400" dirty="0" smtClean="0">
                  <a:solidFill>
                    <a:schemeClr val="bg1"/>
                  </a:solidFill>
                  <a:latin typeface="微软雅黑" panose="020B0503020204020204" pitchFamily="34" charset="-122"/>
                  <a:ea typeface="微软雅黑" panose="020B0503020204020204" pitchFamily="34" charset="-122"/>
                </a:endParaRPr>
              </a:p>
            </p:txBody>
          </p:sp>
          <p:sp>
            <p:nvSpPr>
              <p:cNvPr id="43" name="文本框 42"/>
              <p:cNvSpPr txBox="1"/>
              <p:nvPr/>
            </p:nvSpPr>
            <p:spPr>
              <a:xfrm>
                <a:off x="3849667" y="5298060"/>
                <a:ext cx="1849025" cy="307777"/>
              </a:xfrm>
              <a:prstGeom prst="rect">
                <a:avLst/>
              </a:prstGeom>
              <a:noFill/>
            </p:spPr>
            <p:txBody>
              <a:bodyPr wrap="square" rtlCol="0">
                <a:spAutoFit/>
              </a:bodyPr>
              <a:lstStyle/>
              <a:p>
                <a:pPr algn="ctr"/>
                <a:r>
                  <a:rPr lang="en-US" altLang="zh-CN" sz="1400" dirty="0">
                    <a:solidFill>
                      <a:schemeClr val="bg1"/>
                    </a:solidFill>
                    <a:latin typeface="微软雅黑" panose="020B0503020204020204" pitchFamily="34" charset="-122"/>
                    <a:ea typeface="微软雅黑" panose="020B0503020204020204" pitchFamily="34" charset="-122"/>
                  </a:rPr>
                  <a:t>2</a:t>
                </a:r>
                <a:r>
                  <a:rPr lang="en-US" altLang="zh-CN" sz="1400" dirty="0" smtClean="0">
                    <a:solidFill>
                      <a:schemeClr val="bg1"/>
                    </a:solidFill>
                    <a:latin typeface="微软雅黑" panose="020B0503020204020204" pitchFamily="34" charset="-122"/>
                    <a:ea typeface="微软雅黑" panose="020B0503020204020204" pitchFamily="34" charset="-122"/>
                  </a:rPr>
                  <a:t>. ask B</a:t>
                </a:r>
                <a:endParaRPr lang="zh-CN" altLang="en-US" sz="1400" dirty="0" smtClean="0">
                  <a:solidFill>
                    <a:schemeClr val="bg1"/>
                  </a:solidFill>
                  <a:latin typeface="微软雅黑" panose="020B0503020204020204" pitchFamily="34" charset="-122"/>
                  <a:ea typeface="微软雅黑" panose="020B0503020204020204" pitchFamily="34" charset="-122"/>
                </a:endParaRPr>
              </a:p>
            </p:txBody>
          </p:sp>
          <p:sp>
            <p:nvSpPr>
              <p:cNvPr id="44" name="文本框 43"/>
              <p:cNvSpPr txBox="1"/>
              <p:nvPr/>
            </p:nvSpPr>
            <p:spPr>
              <a:xfrm rot="20921772">
                <a:off x="3145292" y="4876336"/>
                <a:ext cx="1849025" cy="307777"/>
              </a:xfrm>
              <a:prstGeom prst="rect">
                <a:avLst/>
              </a:prstGeom>
              <a:noFill/>
            </p:spPr>
            <p:txBody>
              <a:bodyPr wrap="square" rtlCol="0">
                <a:spAutoFit/>
              </a:bodyPr>
              <a:lstStyle/>
              <a:p>
                <a:pPr algn="ctr"/>
                <a:r>
                  <a:rPr lang="en-US" altLang="zh-CN" sz="1400" dirty="0">
                    <a:solidFill>
                      <a:schemeClr val="bg1"/>
                    </a:solidFill>
                    <a:latin typeface="微软雅黑" panose="020B0503020204020204" pitchFamily="34" charset="-122"/>
                    <a:ea typeface="微软雅黑" panose="020B0503020204020204" pitchFamily="34" charset="-122"/>
                  </a:rPr>
                  <a:t>3</a:t>
                </a:r>
                <a:r>
                  <a:rPr lang="en-US" altLang="zh-CN" sz="1400" dirty="0" smtClean="0">
                    <a:solidFill>
                      <a:schemeClr val="bg1"/>
                    </a:solidFill>
                    <a:latin typeface="微软雅黑" panose="020B0503020204020204" pitchFamily="34" charset="-122"/>
                    <a:ea typeface="微软雅黑" panose="020B0503020204020204" pitchFamily="34" charset="-122"/>
                  </a:rPr>
                  <a:t>. asking</a:t>
                </a:r>
                <a:endParaRPr lang="zh-CN" altLang="en-US" sz="1400" dirty="0" smtClean="0">
                  <a:solidFill>
                    <a:schemeClr val="bg1"/>
                  </a:solidFill>
                  <a:latin typeface="微软雅黑" panose="020B0503020204020204" pitchFamily="34" charset="-122"/>
                  <a:ea typeface="微软雅黑" panose="020B0503020204020204" pitchFamily="34" charset="-122"/>
                </a:endParaRPr>
              </a:p>
            </p:txBody>
          </p:sp>
          <p:sp>
            <p:nvSpPr>
              <p:cNvPr id="45" name="文本框 44"/>
              <p:cNvSpPr txBox="1"/>
              <p:nvPr/>
            </p:nvSpPr>
            <p:spPr>
              <a:xfrm rot="20921772">
                <a:off x="3169474" y="4537711"/>
                <a:ext cx="1849025" cy="307777"/>
              </a:xfrm>
              <a:prstGeom prst="rect">
                <a:avLst/>
              </a:prstGeom>
              <a:noFill/>
            </p:spPr>
            <p:txBody>
              <a:bodyPr wrap="square" rtlCol="0">
                <a:spAutoFit/>
              </a:bodyPr>
              <a:lstStyle/>
              <a:p>
                <a:pPr algn="ctr"/>
                <a:r>
                  <a:rPr lang="en-US" altLang="zh-CN" sz="1400" dirty="0" smtClean="0">
                    <a:solidFill>
                      <a:schemeClr val="bg1"/>
                    </a:solidFill>
                    <a:latin typeface="微软雅黑" panose="020B0503020204020204" pitchFamily="34" charset="-122"/>
                    <a:ea typeface="微软雅黑" panose="020B0503020204020204" pitchFamily="34" charset="-122"/>
                  </a:rPr>
                  <a:t>4. OK</a:t>
                </a:r>
                <a:endParaRPr lang="zh-CN" altLang="en-US" sz="1400" dirty="0" smtClean="0">
                  <a:solidFill>
                    <a:schemeClr val="bg1"/>
                  </a:solidFill>
                  <a:latin typeface="微软雅黑" panose="020B0503020204020204" pitchFamily="34" charset="-122"/>
                  <a:ea typeface="微软雅黑" panose="020B0503020204020204" pitchFamily="34" charset="-122"/>
                </a:endParaRPr>
              </a:p>
            </p:txBody>
          </p:sp>
          <p:sp>
            <p:nvSpPr>
              <p:cNvPr id="50" name="文本框 49"/>
              <p:cNvSpPr txBox="1"/>
              <p:nvPr/>
            </p:nvSpPr>
            <p:spPr>
              <a:xfrm rot="20921772">
                <a:off x="2549141" y="4455017"/>
                <a:ext cx="1849025" cy="307777"/>
              </a:xfrm>
              <a:prstGeom prst="rect">
                <a:avLst/>
              </a:prstGeom>
              <a:noFill/>
            </p:spPr>
            <p:txBody>
              <a:bodyPr wrap="square" rtlCol="0">
                <a:spAutoFit/>
              </a:bodyPr>
              <a:lstStyle/>
              <a:p>
                <a:pPr algn="ctr"/>
                <a:r>
                  <a:rPr lang="en-US" altLang="zh-CN" sz="1400" dirty="0">
                    <a:solidFill>
                      <a:schemeClr val="bg1"/>
                    </a:solidFill>
                    <a:latin typeface="微软雅黑" panose="020B0503020204020204" pitchFamily="34" charset="-122"/>
                    <a:ea typeface="微软雅黑" panose="020B0503020204020204" pitchFamily="34" charset="-122"/>
                  </a:rPr>
                  <a:t>5</a:t>
                </a:r>
                <a:r>
                  <a:rPr lang="en-US" altLang="zh-CN" sz="1400" dirty="0" smtClean="0">
                    <a:solidFill>
                      <a:schemeClr val="bg1"/>
                    </a:solidFill>
                    <a:latin typeface="微软雅黑" panose="020B0503020204020204" pitchFamily="34" charset="-122"/>
                    <a:ea typeface="微软雅黑" panose="020B0503020204020204" pitchFamily="34" charset="-122"/>
                  </a:rPr>
                  <a:t>. get key</a:t>
                </a:r>
                <a:endParaRPr lang="zh-CN" altLang="en-US" sz="1400" dirty="0" smtClean="0">
                  <a:solidFill>
                    <a:schemeClr val="bg1"/>
                  </a:solidFill>
                  <a:latin typeface="微软雅黑" panose="020B0503020204020204" pitchFamily="34" charset="-122"/>
                  <a:ea typeface="微软雅黑" panose="020B0503020204020204" pitchFamily="34" charset="-122"/>
                </a:endParaRPr>
              </a:p>
            </p:txBody>
          </p:sp>
          <p:sp>
            <p:nvSpPr>
              <p:cNvPr id="51" name="文本框 50"/>
              <p:cNvSpPr txBox="1"/>
              <p:nvPr/>
            </p:nvSpPr>
            <p:spPr>
              <a:xfrm rot="20921772">
                <a:off x="2753795" y="4058507"/>
                <a:ext cx="1849025" cy="307777"/>
              </a:xfrm>
              <a:prstGeom prst="rect">
                <a:avLst/>
              </a:prstGeom>
              <a:noFill/>
            </p:spPr>
            <p:txBody>
              <a:bodyPr wrap="square" rtlCol="0">
                <a:spAutoFit/>
              </a:bodyPr>
              <a:lstStyle/>
              <a:p>
                <a:pPr algn="ctr"/>
                <a:r>
                  <a:rPr lang="en-US" altLang="zh-CN" sz="1400" dirty="0" smtClean="0">
                    <a:solidFill>
                      <a:schemeClr val="bg1"/>
                    </a:solidFill>
                    <a:latin typeface="微软雅黑" panose="020B0503020204020204" pitchFamily="34" charset="-122"/>
                    <a:ea typeface="微软雅黑" panose="020B0503020204020204" pitchFamily="34" charset="-122"/>
                  </a:rPr>
                  <a:t>6. </a:t>
                </a:r>
                <a:r>
                  <a:rPr lang="zh-CN" altLang="en-US" sz="1400" dirty="0" smtClean="0">
                    <a:solidFill>
                      <a:schemeClr val="bg1"/>
                    </a:solidFill>
                    <a:latin typeface="微软雅黑" panose="020B0503020204020204" pitchFamily="34" charset="-122"/>
                    <a:ea typeface="微软雅黑" panose="020B0503020204020204" pitchFamily="34" charset="-122"/>
                  </a:rPr>
                  <a:t>返回结果</a:t>
                </a:r>
              </a:p>
            </p:txBody>
          </p:sp>
        </p:grpSp>
        <p:sp>
          <p:nvSpPr>
            <p:cNvPr id="60" name="文本框 59"/>
            <p:cNvSpPr txBox="1"/>
            <p:nvPr/>
          </p:nvSpPr>
          <p:spPr>
            <a:xfrm>
              <a:off x="5085600" y="6374124"/>
              <a:ext cx="1625600" cy="369332"/>
            </a:xfrm>
            <a:prstGeom prst="rect">
              <a:avLst/>
            </a:prstGeom>
            <a:noFill/>
          </p:spPr>
          <p:txBody>
            <a:bodyPr wrap="square" rtlCol="0">
              <a:spAutoFit/>
            </a:bodyPr>
            <a:lstStyle/>
            <a:p>
              <a:pPr algn="ctr"/>
              <a:r>
                <a:rPr lang="zh-CN" altLang="en-US" dirty="0">
                  <a:solidFill>
                    <a:prstClr val="white"/>
                  </a:solidFill>
                  <a:latin typeface="微软雅黑" panose="020B0503020204020204" pitchFamily="34" charset="-122"/>
                  <a:ea typeface="微软雅黑" panose="020B0503020204020204" pitchFamily="34" charset="-122"/>
                </a:rPr>
                <a:t>图 </a:t>
              </a:r>
              <a:r>
                <a:rPr lang="en-US" altLang="zh-CN" dirty="0">
                  <a:solidFill>
                    <a:prstClr val="white"/>
                  </a:solidFill>
                  <a:latin typeface="微软雅黑" panose="020B0503020204020204" pitchFamily="34" charset="-122"/>
                  <a:ea typeface="微软雅黑" panose="020B0503020204020204" pitchFamily="34" charset="-122"/>
                </a:rPr>
                <a:t>5.4.4 -1</a:t>
              </a:r>
              <a:endParaRPr lang="zh-CN" altLang="en-US" dirty="0" smtClean="0">
                <a:solidFill>
                  <a:schemeClr val="bg1"/>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966112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1+#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61"/>
                                        </p:tgtEl>
                                        <p:attrNameLst>
                                          <p:attrName>style.visibility</p:attrName>
                                        </p:attrNameLst>
                                      </p:cBhvr>
                                      <p:to>
                                        <p:strVal val="visible"/>
                                      </p:to>
                                    </p:set>
                                    <p:anim calcmode="lin" valueType="num">
                                      <p:cBhvr additive="base">
                                        <p:cTn id="13" dur="500" fill="hold"/>
                                        <p:tgtEl>
                                          <p:spTgt spid="61"/>
                                        </p:tgtEl>
                                        <p:attrNameLst>
                                          <p:attrName>ppt_x</p:attrName>
                                        </p:attrNameLst>
                                      </p:cBhvr>
                                      <p:tavLst>
                                        <p:tav tm="0">
                                          <p:val>
                                            <p:strVal val="0-#ppt_w/2"/>
                                          </p:val>
                                        </p:tav>
                                        <p:tav tm="100000">
                                          <p:val>
                                            <p:strVal val="#ppt_x"/>
                                          </p:val>
                                        </p:tav>
                                      </p:tavLst>
                                    </p:anim>
                                    <p:anim calcmode="lin" valueType="num">
                                      <p:cBhvr additive="base">
                                        <p:cTn id="14" dur="500" fill="hold"/>
                                        <p:tgtEl>
                                          <p:spTgt spid="6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0A0F23"/>
        </a:solidFill>
        <a:effectLst/>
      </p:bgPr>
    </p:bg>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xmlns="" id="{CBDC52CD-1D62-48AF-A9DF-9F18AEA2B1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01385" y="-114300"/>
            <a:ext cx="1301859" cy="920356"/>
          </a:xfrm>
          <a:prstGeom prst="rect">
            <a:avLst/>
          </a:prstGeom>
        </p:spPr>
      </p:pic>
      <p:pic>
        <p:nvPicPr>
          <p:cNvPr id="14" name="图片 13">
            <a:extLst>
              <a:ext uri="{FF2B5EF4-FFF2-40B4-BE49-F238E27FC236}">
                <a16:creationId xmlns:a16="http://schemas.microsoft.com/office/drawing/2014/main" xmlns="" id="{F78DA958-9B1B-47DA-A870-8C0B3A7D8866}"/>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b="63537"/>
          <a:stretch/>
        </p:blipFill>
        <p:spPr>
          <a:xfrm>
            <a:off x="11184164" y="217733"/>
            <a:ext cx="572339" cy="337210"/>
          </a:xfrm>
          <a:prstGeom prst="rect">
            <a:avLst/>
          </a:prstGeom>
        </p:spPr>
      </p:pic>
      <p:cxnSp>
        <p:nvCxnSpPr>
          <p:cNvPr id="15" name="直接连接符 14">
            <a:extLst>
              <a:ext uri="{FF2B5EF4-FFF2-40B4-BE49-F238E27FC236}">
                <a16:creationId xmlns:a16="http://schemas.microsoft.com/office/drawing/2014/main" xmlns="" id="{93240A06-D526-4907-A163-94ABB41190CC}"/>
              </a:ext>
            </a:extLst>
          </p:cNvPr>
          <p:cNvCxnSpPr/>
          <p:nvPr/>
        </p:nvCxnSpPr>
        <p:spPr>
          <a:xfrm>
            <a:off x="11103244" y="225825"/>
            <a:ext cx="0" cy="2435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6" name="TextBox 9"/>
          <p:cNvSpPr txBox="1"/>
          <p:nvPr/>
        </p:nvSpPr>
        <p:spPr>
          <a:xfrm>
            <a:off x="590549" y="605109"/>
            <a:ext cx="11051653" cy="523220"/>
          </a:xfrm>
          <a:prstGeom prst="rect">
            <a:avLst/>
          </a:prstGeom>
          <a:noFill/>
        </p:spPr>
        <p:txBody>
          <a:bodyPr wrap="square" rtlCol="0">
            <a:spAutoFit/>
          </a:bodyPr>
          <a:lstStyle/>
          <a:p>
            <a:pPr algn="ctr">
              <a:defRPr/>
            </a:pPr>
            <a:r>
              <a:rPr lang="zh-CN" altLang="en-US" sz="2800" b="1" dirty="0">
                <a:gradFill flip="none" rotWithShape="1">
                  <a:gsLst>
                    <a:gs pos="0">
                      <a:srgbClr val="0F6FC6"/>
                    </a:gs>
                    <a:gs pos="25000">
                      <a:srgbClr val="009DD9"/>
                    </a:gs>
                    <a:gs pos="50000">
                      <a:srgbClr val="0BD0D9"/>
                    </a:gs>
                    <a:gs pos="75000">
                      <a:srgbClr val="10CF9B"/>
                    </a:gs>
                    <a:gs pos="100000">
                      <a:srgbClr val="7CCA62"/>
                    </a:gs>
                  </a:gsLst>
                  <a:lin ang="2700000" scaled="1"/>
                  <a:tileRect/>
                </a:gradFill>
                <a:latin typeface="微软雅黑" panose="020B0503020204020204" pitchFamily="34" charset="-122"/>
                <a:ea typeface="微软雅黑" panose="020B0503020204020204" pitchFamily="34" charset="-122"/>
              </a:rPr>
              <a:t>总结</a:t>
            </a:r>
          </a:p>
        </p:txBody>
      </p:sp>
      <p:sp>
        <p:nvSpPr>
          <p:cNvPr id="7" name="矩形 6">
            <a:extLst>
              <a:ext uri="{FF2B5EF4-FFF2-40B4-BE49-F238E27FC236}">
                <a16:creationId xmlns:a16="http://schemas.microsoft.com/office/drawing/2014/main" xmlns="" id="{74C59758-12AB-44A5-92FA-DB52904027AE}"/>
              </a:ext>
            </a:extLst>
          </p:cNvPr>
          <p:cNvSpPr/>
          <p:nvPr/>
        </p:nvSpPr>
        <p:spPr>
          <a:xfrm>
            <a:off x="802332" y="1287114"/>
            <a:ext cx="10765483" cy="5078313"/>
          </a:xfrm>
          <a:prstGeom prst="rect">
            <a:avLst/>
          </a:prstGeom>
        </p:spPr>
        <p:txBody>
          <a:bodyPr wrap="square">
            <a:spAutoFit/>
          </a:bodyPr>
          <a:lstStyle/>
          <a:p>
            <a:pPr indent="457200">
              <a:lnSpc>
                <a:spcPct val="150000"/>
              </a:lnSpc>
            </a:pPr>
            <a:r>
              <a:rPr lang="en-US" altLang="zh-CN" dirty="0" err="1" smtClean="0">
                <a:solidFill>
                  <a:prstClr val="white"/>
                </a:solidFill>
                <a:latin typeface="微软雅黑" panose="020B0503020204020204" pitchFamily="34" charset="-122"/>
                <a:ea typeface="微软雅黑" panose="020B0503020204020204" pitchFamily="34" charset="-122"/>
              </a:rPr>
              <a:t>redis</a:t>
            </a:r>
            <a:r>
              <a:rPr lang="zh-CN" altLang="en-US" dirty="0" smtClean="0">
                <a:solidFill>
                  <a:prstClr val="white"/>
                </a:solidFill>
                <a:latin typeface="微软雅黑" panose="020B0503020204020204" pitchFamily="34" charset="-122"/>
                <a:ea typeface="微软雅黑" panose="020B0503020204020204" pitchFamily="34" charset="-122"/>
              </a:rPr>
              <a:t>作为当前最流行，最重要的内存</a:t>
            </a:r>
            <a:r>
              <a:rPr lang="en-US" altLang="zh-CN" dirty="0" smtClean="0">
                <a:solidFill>
                  <a:prstClr val="white"/>
                </a:solidFill>
                <a:latin typeface="微软雅黑" panose="020B0503020204020204" pitchFamily="34" charset="-122"/>
                <a:ea typeface="微软雅黑" panose="020B0503020204020204" pitchFamily="34" charset="-122"/>
              </a:rPr>
              <a:t>key-value</a:t>
            </a:r>
            <a:r>
              <a:rPr lang="zh-CN" altLang="en-US" dirty="0" smtClean="0">
                <a:solidFill>
                  <a:prstClr val="white"/>
                </a:solidFill>
                <a:latin typeface="微软雅黑" panose="020B0503020204020204" pitchFamily="34" charset="-122"/>
                <a:ea typeface="微软雅黑" panose="020B0503020204020204" pitchFamily="34" charset="-122"/>
              </a:rPr>
              <a:t>数据库之一，其复杂的知识点远非几十页</a:t>
            </a:r>
            <a:r>
              <a:rPr lang="en-US" altLang="zh-CN" dirty="0" smtClean="0">
                <a:solidFill>
                  <a:prstClr val="white"/>
                </a:solidFill>
                <a:latin typeface="微软雅黑" panose="020B0503020204020204" pitchFamily="34" charset="-122"/>
                <a:ea typeface="微软雅黑" panose="020B0503020204020204" pitchFamily="34" charset="-122"/>
              </a:rPr>
              <a:t>PPT</a:t>
            </a:r>
            <a:r>
              <a:rPr lang="zh-CN" altLang="en-US" dirty="0" smtClean="0">
                <a:solidFill>
                  <a:prstClr val="white"/>
                </a:solidFill>
                <a:latin typeface="微软雅黑" panose="020B0503020204020204" pitchFamily="34" charset="-122"/>
                <a:ea typeface="微软雅黑" panose="020B0503020204020204" pitchFamily="34" charset="-122"/>
              </a:rPr>
              <a:t>所能讲述清楚。这里主要对平时开发涉及到的相关知识点做了介绍。要想对</a:t>
            </a:r>
            <a:r>
              <a:rPr lang="en-US" altLang="zh-CN" dirty="0" err="1" smtClean="0">
                <a:solidFill>
                  <a:prstClr val="white"/>
                </a:solidFill>
                <a:latin typeface="微软雅黑" panose="020B0503020204020204" pitchFamily="34" charset="-122"/>
                <a:ea typeface="微软雅黑" panose="020B0503020204020204" pitchFamily="34" charset="-122"/>
              </a:rPr>
              <a:t>redis</a:t>
            </a:r>
            <a:r>
              <a:rPr lang="zh-CN" altLang="en-US" dirty="0" smtClean="0">
                <a:solidFill>
                  <a:prstClr val="white"/>
                </a:solidFill>
                <a:latin typeface="微软雅黑" panose="020B0503020204020204" pitchFamily="34" charset="-122"/>
                <a:ea typeface="微软雅黑" panose="020B0503020204020204" pitchFamily="34" charset="-122"/>
              </a:rPr>
              <a:t>有更加深入的了解，需要更多的学习和实践，下面推荐一些在线的官方学习资源，毕竟官方资料从来都是最权威最严谨的。</a:t>
            </a:r>
            <a:endParaRPr lang="en-US" altLang="zh-CN" dirty="0" smtClean="0">
              <a:solidFill>
                <a:prstClr val="white"/>
              </a:solidFill>
              <a:latin typeface="微软雅黑" panose="020B0503020204020204" pitchFamily="34" charset="-122"/>
              <a:ea typeface="微软雅黑" panose="020B0503020204020204" pitchFamily="34" charset="-122"/>
            </a:endParaRPr>
          </a:p>
          <a:p>
            <a:pPr indent="457200">
              <a:lnSpc>
                <a:spcPct val="150000"/>
              </a:lnSpc>
            </a:pPr>
            <a:endParaRPr lang="en-US" altLang="zh-CN" dirty="0">
              <a:solidFill>
                <a:prstClr val="white"/>
              </a:solidFill>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defRPr/>
            </a:pPr>
            <a:r>
              <a:rPr lang="zh-CN" altLang="en-US" sz="1600" b="1" dirty="0">
                <a:solidFill>
                  <a:srgbClr val="FFD343"/>
                </a:solidFill>
                <a:latin typeface="微软雅黑" panose="020B0503020204020204" pitchFamily="34" charset="-122"/>
                <a:ea typeface="微软雅黑" panose="020B0503020204020204" pitchFamily="34" charset="-122"/>
              </a:rPr>
              <a:t>官网 </a:t>
            </a:r>
            <a:endParaRPr lang="en-US" altLang="zh-CN" sz="1600" b="1" dirty="0">
              <a:solidFill>
                <a:srgbClr val="FFD343"/>
              </a:solidFill>
              <a:latin typeface="微软雅黑" panose="020B0503020204020204" pitchFamily="34" charset="-122"/>
              <a:ea typeface="微软雅黑" panose="020B0503020204020204" pitchFamily="34" charset="-122"/>
            </a:endParaRPr>
          </a:p>
          <a:p>
            <a:pPr>
              <a:lnSpc>
                <a:spcPct val="150000"/>
              </a:lnSpc>
              <a:defRPr/>
            </a:pPr>
            <a:r>
              <a:rPr lang="en-US" altLang="zh-CN" sz="1600" dirty="0">
                <a:solidFill>
                  <a:prstClr val="white"/>
                </a:solidFill>
                <a:latin typeface="微软雅黑" panose="020B0503020204020204" pitchFamily="34" charset="-122"/>
                <a:ea typeface="微软雅黑" panose="020B0503020204020204" pitchFamily="34" charset="-122"/>
              </a:rPr>
              <a:t>https://redis.io/</a:t>
            </a:r>
          </a:p>
          <a:p>
            <a:pPr marL="285750" indent="-285750">
              <a:lnSpc>
                <a:spcPct val="150000"/>
              </a:lnSpc>
              <a:buFont typeface="Arial" panose="020B0604020202020204" pitchFamily="34" charset="0"/>
              <a:buChar char="•"/>
              <a:defRPr/>
            </a:pPr>
            <a:r>
              <a:rPr lang="zh-CN" altLang="en-US" sz="1600" b="1" dirty="0">
                <a:solidFill>
                  <a:srgbClr val="FFD343"/>
                </a:solidFill>
                <a:latin typeface="微软雅黑" panose="020B0503020204020204" pitchFamily="34" charset="-122"/>
                <a:ea typeface="微软雅黑" panose="020B0503020204020204" pitchFamily="34" charset="-122"/>
              </a:rPr>
              <a:t>在线测试</a:t>
            </a:r>
            <a:r>
              <a:rPr lang="en-US" altLang="zh-CN" sz="1600" b="1" dirty="0" err="1">
                <a:solidFill>
                  <a:srgbClr val="FFD343"/>
                </a:solidFill>
                <a:latin typeface="微软雅黑" panose="020B0503020204020204" pitchFamily="34" charset="-122"/>
                <a:ea typeface="微软雅黑" panose="020B0503020204020204" pitchFamily="34" charset="-122"/>
              </a:rPr>
              <a:t>redis</a:t>
            </a:r>
            <a:r>
              <a:rPr lang="zh-CN" altLang="en-US" sz="1600" b="1" dirty="0">
                <a:solidFill>
                  <a:srgbClr val="FFD343"/>
                </a:solidFill>
                <a:latin typeface="微软雅黑" panose="020B0503020204020204" pitchFamily="34" charset="-122"/>
                <a:ea typeface="微软雅黑" panose="020B0503020204020204" pitchFamily="34" charset="-122"/>
              </a:rPr>
              <a:t>命令</a:t>
            </a:r>
            <a:endParaRPr lang="en-US" altLang="zh-CN" sz="1600" b="1" dirty="0">
              <a:solidFill>
                <a:srgbClr val="FFD343"/>
              </a:solidFill>
              <a:latin typeface="微软雅黑" panose="020B0503020204020204" pitchFamily="34" charset="-122"/>
              <a:ea typeface="微软雅黑" panose="020B0503020204020204" pitchFamily="34" charset="-122"/>
            </a:endParaRPr>
          </a:p>
          <a:p>
            <a:pPr>
              <a:lnSpc>
                <a:spcPct val="150000"/>
              </a:lnSpc>
              <a:defRPr/>
            </a:pPr>
            <a:r>
              <a:rPr lang="zh-CN" altLang="en-US" sz="1600" dirty="0">
                <a:solidFill>
                  <a:prstClr val="white"/>
                </a:solidFill>
                <a:latin typeface="微软雅黑" panose="020B0503020204020204" pitchFamily="34" charset="-122"/>
                <a:ea typeface="微软雅黑" panose="020B0503020204020204" pitchFamily="34" charset="-122"/>
              </a:rPr>
              <a:t> </a:t>
            </a:r>
            <a:r>
              <a:rPr lang="en-US" altLang="zh-CN" sz="1600" dirty="0">
                <a:solidFill>
                  <a:prstClr val="white"/>
                </a:solidFill>
                <a:latin typeface="微软雅黑" panose="020B0503020204020204" pitchFamily="34" charset="-122"/>
                <a:ea typeface="微软雅黑" panose="020B0503020204020204" pitchFamily="34" charset="-122"/>
              </a:rPr>
              <a:t>http://try.redis.io/</a:t>
            </a:r>
          </a:p>
          <a:p>
            <a:pPr marL="285750" indent="-285750">
              <a:lnSpc>
                <a:spcPct val="150000"/>
              </a:lnSpc>
              <a:buFont typeface="Arial" panose="020B0604020202020204" pitchFamily="34" charset="0"/>
              <a:buChar char="•"/>
              <a:defRPr/>
            </a:pPr>
            <a:r>
              <a:rPr lang="en-US" altLang="zh-CN" sz="1600" b="1" dirty="0" err="1">
                <a:solidFill>
                  <a:srgbClr val="FFD343"/>
                </a:solidFill>
                <a:latin typeface="微软雅黑" panose="020B0503020204020204" pitchFamily="34" charset="-122"/>
                <a:ea typeface="微软雅黑" panose="020B0503020204020204" pitchFamily="34" charset="-122"/>
              </a:rPr>
              <a:t>Redis</a:t>
            </a:r>
            <a:r>
              <a:rPr lang="en-US" altLang="zh-CN" sz="1600" b="1" dirty="0">
                <a:solidFill>
                  <a:srgbClr val="FFD343"/>
                </a:solidFill>
                <a:latin typeface="微软雅黑" panose="020B0503020204020204" pitchFamily="34" charset="-122"/>
                <a:ea typeface="微软雅黑" panose="020B0503020204020204" pitchFamily="34" charset="-122"/>
              </a:rPr>
              <a:t> Cluster </a:t>
            </a:r>
          </a:p>
          <a:p>
            <a:pPr>
              <a:lnSpc>
                <a:spcPct val="150000"/>
              </a:lnSpc>
              <a:defRPr/>
            </a:pPr>
            <a:r>
              <a:rPr lang="en-US" altLang="zh-CN" sz="1600" dirty="0">
                <a:solidFill>
                  <a:prstClr val="white"/>
                </a:solidFill>
                <a:latin typeface="微软雅黑" panose="020B0503020204020204" pitchFamily="34" charset="-122"/>
                <a:ea typeface="微软雅黑" panose="020B0503020204020204" pitchFamily="34" charset="-122"/>
              </a:rPr>
              <a:t>https://redis.io/topics/cluster-tutorial</a:t>
            </a:r>
          </a:p>
          <a:p>
            <a:pPr>
              <a:lnSpc>
                <a:spcPct val="150000"/>
              </a:lnSpc>
              <a:defRPr/>
            </a:pPr>
            <a:r>
              <a:rPr lang="en-US" altLang="zh-CN" sz="1600" dirty="0">
                <a:solidFill>
                  <a:prstClr val="white"/>
                </a:solidFill>
                <a:latin typeface="微软雅黑" panose="020B0503020204020204" pitchFamily="34" charset="-122"/>
                <a:ea typeface="微软雅黑" panose="020B0503020204020204" pitchFamily="34" charset="-122"/>
              </a:rPr>
              <a:t>https://redis.io/topics/cluster-spec</a:t>
            </a:r>
          </a:p>
          <a:p>
            <a:pPr marL="285750" indent="-285750">
              <a:lnSpc>
                <a:spcPct val="150000"/>
              </a:lnSpc>
              <a:buFont typeface="Arial" panose="020B0604020202020204" pitchFamily="34" charset="0"/>
              <a:buChar char="•"/>
              <a:defRPr/>
            </a:pPr>
            <a:r>
              <a:rPr lang="en-US" altLang="zh-CN" sz="1600" b="1" dirty="0" err="1">
                <a:solidFill>
                  <a:srgbClr val="FFD343"/>
                </a:solidFill>
                <a:latin typeface="微软雅黑" panose="020B0503020204020204" pitchFamily="34" charset="-122"/>
                <a:ea typeface="微软雅黑" panose="020B0503020204020204" pitchFamily="34" charset="-122"/>
              </a:rPr>
              <a:t>codis</a:t>
            </a:r>
            <a:endParaRPr lang="en-US" altLang="zh-CN" sz="1600" b="1" dirty="0">
              <a:solidFill>
                <a:srgbClr val="FFD343"/>
              </a:solidFill>
              <a:latin typeface="微软雅黑" panose="020B0503020204020204" pitchFamily="34" charset="-122"/>
              <a:ea typeface="微软雅黑" panose="020B0503020204020204" pitchFamily="34" charset="-122"/>
            </a:endParaRPr>
          </a:p>
          <a:p>
            <a:pPr>
              <a:lnSpc>
                <a:spcPct val="150000"/>
              </a:lnSpc>
              <a:defRPr/>
            </a:pPr>
            <a:r>
              <a:rPr lang="en-US" altLang="zh-CN" sz="1600" dirty="0">
                <a:solidFill>
                  <a:prstClr val="white"/>
                </a:solidFill>
                <a:latin typeface="微软雅黑" panose="020B0503020204020204" pitchFamily="34" charset="-122"/>
                <a:ea typeface="微软雅黑" panose="020B0503020204020204" pitchFamily="34" charset="-122"/>
              </a:rPr>
              <a:t>https://</a:t>
            </a:r>
            <a:r>
              <a:rPr lang="en-US" altLang="zh-CN" sz="1600" dirty="0" smtClean="0">
                <a:solidFill>
                  <a:prstClr val="white"/>
                </a:solidFill>
                <a:latin typeface="微软雅黑" panose="020B0503020204020204" pitchFamily="34" charset="-122"/>
                <a:ea typeface="微软雅黑" panose="020B0503020204020204" pitchFamily="34" charset="-122"/>
              </a:rPr>
              <a:t>github.com/CodisLabs/codis</a:t>
            </a:r>
            <a:endParaRPr lang="en-US" altLang="zh-CN" dirty="0" smtClean="0">
              <a:solidFill>
                <a:prstClr val="white"/>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08101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0A0F23"/>
        </a:solidFill>
        <a:effectLst/>
      </p:bgPr>
    </p:bg>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xmlns="" id="{CBDC52CD-1D62-48AF-A9DF-9F18AEA2B1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01385" y="-114300"/>
            <a:ext cx="1301859" cy="920356"/>
          </a:xfrm>
          <a:prstGeom prst="rect">
            <a:avLst/>
          </a:prstGeom>
        </p:spPr>
      </p:pic>
      <p:pic>
        <p:nvPicPr>
          <p:cNvPr id="14" name="图片 13">
            <a:extLst>
              <a:ext uri="{FF2B5EF4-FFF2-40B4-BE49-F238E27FC236}">
                <a16:creationId xmlns:a16="http://schemas.microsoft.com/office/drawing/2014/main" xmlns="" id="{F78DA958-9B1B-47DA-A870-8C0B3A7D8866}"/>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b="63537"/>
          <a:stretch/>
        </p:blipFill>
        <p:spPr>
          <a:xfrm>
            <a:off x="11184164" y="217733"/>
            <a:ext cx="572339" cy="337210"/>
          </a:xfrm>
          <a:prstGeom prst="rect">
            <a:avLst/>
          </a:prstGeom>
        </p:spPr>
      </p:pic>
      <p:cxnSp>
        <p:nvCxnSpPr>
          <p:cNvPr id="15" name="直接连接符 14">
            <a:extLst>
              <a:ext uri="{FF2B5EF4-FFF2-40B4-BE49-F238E27FC236}">
                <a16:creationId xmlns:a16="http://schemas.microsoft.com/office/drawing/2014/main" xmlns="" id="{93240A06-D526-4907-A163-94ABB41190CC}"/>
              </a:ext>
            </a:extLst>
          </p:cNvPr>
          <p:cNvCxnSpPr/>
          <p:nvPr/>
        </p:nvCxnSpPr>
        <p:spPr>
          <a:xfrm>
            <a:off x="11103244" y="225825"/>
            <a:ext cx="0" cy="2435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1026" name="Picture 2" descr="d:\user\01374755\desktop\IMG20190705_092101.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0598" y="2506280"/>
            <a:ext cx="2524125" cy="3295650"/>
          </a:xfrm>
          <a:prstGeom prst="rect">
            <a:avLst/>
          </a:prstGeom>
          <a:noFill/>
          <a:extLst>
            <a:ext uri="{909E8E84-426E-40DD-AFC4-6F175D3DCCD1}">
              <a14:hiddenFill xmlns:a14="http://schemas.microsoft.com/office/drawing/2010/main">
                <a:solidFill>
                  <a:srgbClr val="FFFFFF"/>
                </a:solidFill>
              </a14:hiddenFill>
            </a:ext>
          </a:extLst>
        </p:spPr>
      </p:pic>
      <p:sp>
        <p:nvSpPr>
          <p:cNvPr id="2" name="椭圆形标注 1"/>
          <p:cNvSpPr/>
          <p:nvPr/>
        </p:nvSpPr>
        <p:spPr>
          <a:xfrm>
            <a:off x="3062536" y="1240050"/>
            <a:ext cx="2621075" cy="1336431"/>
          </a:xfrm>
          <a:prstGeom prst="wedgeEllipseCallout">
            <a:avLst/>
          </a:prstGeom>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r>
              <a:rPr lang="zh-CN" altLang="en-US" dirty="0" smtClean="0">
                <a:solidFill>
                  <a:srgbClr val="92D050"/>
                </a:solidFill>
              </a:rPr>
              <a:t>鲁迅还说过：光看不练假</a:t>
            </a:r>
            <a:r>
              <a:rPr lang="zh-CN" altLang="en-US" smtClean="0">
                <a:solidFill>
                  <a:srgbClr val="92D050"/>
                </a:solidFill>
              </a:rPr>
              <a:t>把式</a:t>
            </a:r>
            <a:endParaRPr lang="zh-CN" altLang="en-US" dirty="0">
              <a:solidFill>
                <a:srgbClr val="92D050"/>
              </a:solidFill>
            </a:endParaRPr>
          </a:p>
        </p:txBody>
      </p:sp>
      <p:sp>
        <p:nvSpPr>
          <p:cNvPr id="16" name="椭圆形标注 15"/>
          <p:cNvSpPr/>
          <p:nvPr/>
        </p:nvSpPr>
        <p:spPr>
          <a:xfrm flipH="1">
            <a:off x="6031522" y="1189884"/>
            <a:ext cx="3130061" cy="1365712"/>
          </a:xfrm>
          <a:prstGeom prst="wedgeEllipseCallout">
            <a:avLst/>
          </a:prstGeom>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r>
              <a:rPr lang="zh-CN" altLang="en-US" dirty="0" smtClean="0">
                <a:solidFill>
                  <a:schemeClr val="accent4"/>
                </a:solidFill>
              </a:rPr>
              <a:t>我没说过这话，不过确实在理</a:t>
            </a:r>
            <a:endParaRPr lang="zh-CN" altLang="en-US" dirty="0">
              <a:solidFill>
                <a:schemeClr val="accent4"/>
              </a:solidFill>
            </a:endParaRPr>
          </a:p>
        </p:txBody>
      </p:sp>
      <p:pic>
        <p:nvPicPr>
          <p:cNvPr id="2052"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08730" y="2555596"/>
            <a:ext cx="2590800" cy="3143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椭圆形标注 10"/>
          <p:cNvSpPr/>
          <p:nvPr/>
        </p:nvSpPr>
        <p:spPr>
          <a:xfrm>
            <a:off x="527051" y="897496"/>
            <a:ext cx="2535485" cy="1336431"/>
          </a:xfrm>
          <a:prstGeom prst="wedgeEllipseCallout">
            <a:avLst/>
          </a:prstGeom>
          <a:ln w="12700" cmpd="sng">
            <a:solidFill>
              <a:schemeClr val="bg1">
                <a:lumMod val="95000"/>
              </a:schemeClr>
            </a:solidFill>
            <a:prstDash val="solid"/>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r>
              <a:rPr lang="zh-CN" altLang="en-US" dirty="0" smtClean="0">
                <a:solidFill>
                  <a:srgbClr val="92D050"/>
                </a:solidFill>
              </a:rPr>
              <a:t>鲁迅说过：读万卷书，不如行万里路。</a:t>
            </a:r>
            <a:endParaRPr lang="zh-CN" altLang="en-US" dirty="0">
              <a:solidFill>
                <a:srgbClr val="92D050"/>
              </a:solidFill>
            </a:endParaRPr>
          </a:p>
        </p:txBody>
      </p:sp>
    </p:spTree>
    <p:extLst>
      <p:ext uri="{BB962C8B-B14F-4D97-AF65-F5344CB8AC3E}">
        <p14:creationId xmlns:p14="http://schemas.microsoft.com/office/powerpoint/2010/main" val="3600140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500"/>
                                        <p:tgtEl>
                                          <p:spTgt spid="1026"/>
                                        </p:tgtEl>
                                      </p:cBhvr>
                                    </p:animEffect>
                                  </p:childTnLst>
                                </p:cTn>
                              </p:par>
                            </p:childTnLst>
                          </p:cTn>
                        </p:par>
                      </p:childTnLst>
                    </p:cTn>
                  </p:par>
                  <p:par>
                    <p:cTn id="8" fill="hold">
                      <p:stCondLst>
                        <p:cond delay="indefinite"/>
                      </p:stCondLst>
                      <p:childTnLst>
                        <p:par>
                          <p:cTn id="9" fill="hold">
                            <p:stCondLst>
                              <p:cond delay="0"/>
                            </p:stCondLst>
                            <p:childTnLst>
                              <p:par>
                                <p:cTn id="10" presetID="26"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down)">
                                      <p:cBhvr>
                                        <p:cTn id="12" dur="580">
                                          <p:stCondLst>
                                            <p:cond delay="0"/>
                                          </p:stCondLst>
                                        </p:cTn>
                                        <p:tgtEl>
                                          <p:spTgt spid="11"/>
                                        </p:tgtEl>
                                      </p:cBhvr>
                                    </p:animEffect>
                                    <p:anim calcmode="lin" valueType="num">
                                      <p:cBhvr>
                                        <p:cTn id="13" dur="1822" tmFilter="0,0; 0.14,0.36; 0.43,0.73; 0.71,0.91; 1.0,1.0">
                                          <p:stCondLst>
                                            <p:cond delay="0"/>
                                          </p:stCondLst>
                                        </p:cTn>
                                        <p:tgtEl>
                                          <p:spTgt spid="11"/>
                                        </p:tgtEl>
                                        <p:attrNameLst>
                                          <p:attrName>ppt_x</p:attrName>
                                        </p:attrNameLst>
                                      </p:cBhvr>
                                      <p:tavLst>
                                        <p:tav tm="0">
                                          <p:val>
                                            <p:strVal val="#ppt_x-0.25"/>
                                          </p:val>
                                        </p:tav>
                                        <p:tav tm="100000">
                                          <p:val>
                                            <p:strVal val="#ppt_x"/>
                                          </p:val>
                                        </p:tav>
                                      </p:tavLst>
                                    </p:anim>
                                    <p:anim calcmode="lin" valueType="num">
                                      <p:cBhvr>
                                        <p:cTn id="14" dur="664" tmFilter="0.0,0.0; 0.25,0.07; 0.50,0.2; 0.75,0.467; 1.0,1.0">
                                          <p:stCondLst>
                                            <p:cond delay="0"/>
                                          </p:stCondLst>
                                        </p:cTn>
                                        <p:tgtEl>
                                          <p:spTgt spid="11"/>
                                        </p:tgtEl>
                                        <p:attrNameLst>
                                          <p:attrName>ppt_y</p:attrName>
                                        </p:attrNameLst>
                                      </p:cBhvr>
                                      <p:tavLst>
                                        <p:tav tm="0" fmla="#ppt_y-sin(pi*$)/3">
                                          <p:val>
                                            <p:fltVal val="0.5"/>
                                          </p:val>
                                        </p:tav>
                                        <p:tav tm="100000">
                                          <p:val>
                                            <p:fltVal val="1"/>
                                          </p:val>
                                        </p:tav>
                                      </p:tavLst>
                                    </p:anim>
                                    <p:anim calcmode="lin" valueType="num">
                                      <p:cBhvr>
                                        <p:cTn id="15" dur="664" tmFilter="0, 0; 0.125,0.2665; 0.25,0.4; 0.375,0.465; 0.5,0.5;  0.625,0.535; 0.75,0.6; 0.875,0.7335; 1,1">
                                          <p:stCondLst>
                                            <p:cond delay="664"/>
                                          </p:stCondLst>
                                        </p:cTn>
                                        <p:tgtEl>
                                          <p:spTgt spid="11"/>
                                        </p:tgtEl>
                                        <p:attrNameLst>
                                          <p:attrName>ppt_y</p:attrName>
                                        </p:attrNameLst>
                                      </p:cBhvr>
                                      <p:tavLst>
                                        <p:tav tm="0" fmla="#ppt_y-sin(pi*$)/9">
                                          <p:val>
                                            <p:fltVal val="0"/>
                                          </p:val>
                                        </p:tav>
                                        <p:tav tm="100000">
                                          <p:val>
                                            <p:fltVal val="1"/>
                                          </p:val>
                                        </p:tav>
                                      </p:tavLst>
                                    </p:anim>
                                    <p:anim calcmode="lin" valueType="num">
                                      <p:cBhvr>
                                        <p:cTn id="16" dur="332" tmFilter="0, 0; 0.125,0.2665; 0.25,0.4; 0.375,0.465; 0.5,0.5;  0.625,0.535; 0.75,0.6; 0.875,0.7335; 1,1">
                                          <p:stCondLst>
                                            <p:cond delay="1324"/>
                                          </p:stCondLst>
                                        </p:cTn>
                                        <p:tgtEl>
                                          <p:spTgt spid="11"/>
                                        </p:tgtEl>
                                        <p:attrNameLst>
                                          <p:attrName>ppt_y</p:attrName>
                                        </p:attrNameLst>
                                      </p:cBhvr>
                                      <p:tavLst>
                                        <p:tav tm="0" fmla="#ppt_y-sin(pi*$)/27">
                                          <p:val>
                                            <p:fltVal val="0"/>
                                          </p:val>
                                        </p:tav>
                                        <p:tav tm="100000">
                                          <p:val>
                                            <p:fltVal val="1"/>
                                          </p:val>
                                        </p:tav>
                                      </p:tavLst>
                                    </p:anim>
                                    <p:anim calcmode="lin" valueType="num">
                                      <p:cBhvr>
                                        <p:cTn id="17" dur="164" tmFilter="0, 0; 0.125,0.2665; 0.25,0.4; 0.375,0.465; 0.5,0.5;  0.625,0.535; 0.75,0.6; 0.875,0.7335; 1,1">
                                          <p:stCondLst>
                                            <p:cond delay="1656"/>
                                          </p:stCondLst>
                                        </p:cTn>
                                        <p:tgtEl>
                                          <p:spTgt spid="11"/>
                                        </p:tgtEl>
                                        <p:attrNameLst>
                                          <p:attrName>ppt_y</p:attrName>
                                        </p:attrNameLst>
                                      </p:cBhvr>
                                      <p:tavLst>
                                        <p:tav tm="0" fmla="#ppt_y-sin(pi*$)/81">
                                          <p:val>
                                            <p:fltVal val="0"/>
                                          </p:val>
                                        </p:tav>
                                        <p:tav tm="100000">
                                          <p:val>
                                            <p:fltVal val="1"/>
                                          </p:val>
                                        </p:tav>
                                      </p:tavLst>
                                    </p:anim>
                                    <p:animScale>
                                      <p:cBhvr>
                                        <p:cTn id="18" dur="26">
                                          <p:stCondLst>
                                            <p:cond delay="650"/>
                                          </p:stCondLst>
                                        </p:cTn>
                                        <p:tgtEl>
                                          <p:spTgt spid="11"/>
                                        </p:tgtEl>
                                      </p:cBhvr>
                                      <p:to x="100000" y="60000"/>
                                    </p:animScale>
                                    <p:animScale>
                                      <p:cBhvr>
                                        <p:cTn id="19" dur="166" decel="50000">
                                          <p:stCondLst>
                                            <p:cond delay="676"/>
                                          </p:stCondLst>
                                        </p:cTn>
                                        <p:tgtEl>
                                          <p:spTgt spid="11"/>
                                        </p:tgtEl>
                                      </p:cBhvr>
                                      <p:to x="100000" y="100000"/>
                                    </p:animScale>
                                    <p:animScale>
                                      <p:cBhvr>
                                        <p:cTn id="20" dur="26">
                                          <p:stCondLst>
                                            <p:cond delay="1312"/>
                                          </p:stCondLst>
                                        </p:cTn>
                                        <p:tgtEl>
                                          <p:spTgt spid="11"/>
                                        </p:tgtEl>
                                      </p:cBhvr>
                                      <p:to x="100000" y="80000"/>
                                    </p:animScale>
                                    <p:animScale>
                                      <p:cBhvr>
                                        <p:cTn id="21" dur="166" decel="50000">
                                          <p:stCondLst>
                                            <p:cond delay="1338"/>
                                          </p:stCondLst>
                                        </p:cTn>
                                        <p:tgtEl>
                                          <p:spTgt spid="11"/>
                                        </p:tgtEl>
                                      </p:cBhvr>
                                      <p:to x="100000" y="100000"/>
                                    </p:animScale>
                                    <p:animScale>
                                      <p:cBhvr>
                                        <p:cTn id="22" dur="26">
                                          <p:stCondLst>
                                            <p:cond delay="1642"/>
                                          </p:stCondLst>
                                        </p:cTn>
                                        <p:tgtEl>
                                          <p:spTgt spid="11"/>
                                        </p:tgtEl>
                                      </p:cBhvr>
                                      <p:to x="100000" y="90000"/>
                                    </p:animScale>
                                    <p:animScale>
                                      <p:cBhvr>
                                        <p:cTn id="23" dur="166" decel="50000">
                                          <p:stCondLst>
                                            <p:cond delay="1668"/>
                                          </p:stCondLst>
                                        </p:cTn>
                                        <p:tgtEl>
                                          <p:spTgt spid="11"/>
                                        </p:tgtEl>
                                      </p:cBhvr>
                                      <p:to x="100000" y="100000"/>
                                    </p:animScale>
                                    <p:animScale>
                                      <p:cBhvr>
                                        <p:cTn id="24" dur="26">
                                          <p:stCondLst>
                                            <p:cond delay="1808"/>
                                          </p:stCondLst>
                                        </p:cTn>
                                        <p:tgtEl>
                                          <p:spTgt spid="11"/>
                                        </p:tgtEl>
                                      </p:cBhvr>
                                      <p:to x="100000" y="95000"/>
                                    </p:animScale>
                                    <p:animScale>
                                      <p:cBhvr>
                                        <p:cTn id="25" dur="166" decel="50000">
                                          <p:stCondLst>
                                            <p:cond delay="1834"/>
                                          </p:stCondLst>
                                        </p:cTn>
                                        <p:tgtEl>
                                          <p:spTgt spid="11"/>
                                        </p:tgtEl>
                                      </p:cBhvr>
                                      <p:to x="100000" y="100000"/>
                                    </p:animScale>
                                  </p:childTnLst>
                                </p:cTn>
                              </p:par>
                            </p:childTnLst>
                          </p:cTn>
                        </p:par>
                      </p:childTnLst>
                    </p:cTn>
                  </p:par>
                  <p:par>
                    <p:cTn id="26" fill="hold">
                      <p:stCondLst>
                        <p:cond delay="indefinite"/>
                      </p:stCondLst>
                      <p:childTnLst>
                        <p:par>
                          <p:cTn id="27" fill="hold">
                            <p:stCondLst>
                              <p:cond delay="0"/>
                            </p:stCondLst>
                            <p:childTnLst>
                              <p:par>
                                <p:cTn id="28" presetID="26" presetClass="entr" presetSubtype="0" fill="hold" grpId="0" nodeType="clickEffect">
                                  <p:stCondLst>
                                    <p:cond delay="0"/>
                                  </p:stCondLst>
                                  <p:childTnLst>
                                    <p:set>
                                      <p:cBhvr>
                                        <p:cTn id="29" dur="1" fill="hold">
                                          <p:stCondLst>
                                            <p:cond delay="0"/>
                                          </p:stCondLst>
                                        </p:cTn>
                                        <p:tgtEl>
                                          <p:spTgt spid="2"/>
                                        </p:tgtEl>
                                        <p:attrNameLst>
                                          <p:attrName>style.visibility</p:attrName>
                                        </p:attrNameLst>
                                      </p:cBhvr>
                                      <p:to>
                                        <p:strVal val="visible"/>
                                      </p:to>
                                    </p:set>
                                    <p:animEffect transition="in" filter="wipe(down)">
                                      <p:cBhvr>
                                        <p:cTn id="30" dur="580">
                                          <p:stCondLst>
                                            <p:cond delay="0"/>
                                          </p:stCondLst>
                                        </p:cTn>
                                        <p:tgtEl>
                                          <p:spTgt spid="2"/>
                                        </p:tgtEl>
                                      </p:cBhvr>
                                    </p:animEffect>
                                    <p:anim calcmode="lin" valueType="num">
                                      <p:cBhvr>
                                        <p:cTn id="31"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32"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33"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34"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35"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36" dur="26">
                                          <p:stCondLst>
                                            <p:cond delay="650"/>
                                          </p:stCondLst>
                                        </p:cTn>
                                        <p:tgtEl>
                                          <p:spTgt spid="2"/>
                                        </p:tgtEl>
                                      </p:cBhvr>
                                      <p:to x="100000" y="60000"/>
                                    </p:animScale>
                                    <p:animScale>
                                      <p:cBhvr>
                                        <p:cTn id="37" dur="166" decel="50000">
                                          <p:stCondLst>
                                            <p:cond delay="676"/>
                                          </p:stCondLst>
                                        </p:cTn>
                                        <p:tgtEl>
                                          <p:spTgt spid="2"/>
                                        </p:tgtEl>
                                      </p:cBhvr>
                                      <p:to x="100000" y="100000"/>
                                    </p:animScale>
                                    <p:animScale>
                                      <p:cBhvr>
                                        <p:cTn id="38" dur="26">
                                          <p:stCondLst>
                                            <p:cond delay="1312"/>
                                          </p:stCondLst>
                                        </p:cTn>
                                        <p:tgtEl>
                                          <p:spTgt spid="2"/>
                                        </p:tgtEl>
                                      </p:cBhvr>
                                      <p:to x="100000" y="80000"/>
                                    </p:animScale>
                                    <p:animScale>
                                      <p:cBhvr>
                                        <p:cTn id="39" dur="166" decel="50000">
                                          <p:stCondLst>
                                            <p:cond delay="1338"/>
                                          </p:stCondLst>
                                        </p:cTn>
                                        <p:tgtEl>
                                          <p:spTgt spid="2"/>
                                        </p:tgtEl>
                                      </p:cBhvr>
                                      <p:to x="100000" y="100000"/>
                                    </p:animScale>
                                    <p:animScale>
                                      <p:cBhvr>
                                        <p:cTn id="40" dur="26">
                                          <p:stCondLst>
                                            <p:cond delay="1642"/>
                                          </p:stCondLst>
                                        </p:cTn>
                                        <p:tgtEl>
                                          <p:spTgt spid="2"/>
                                        </p:tgtEl>
                                      </p:cBhvr>
                                      <p:to x="100000" y="90000"/>
                                    </p:animScale>
                                    <p:animScale>
                                      <p:cBhvr>
                                        <p:cTn id="41" dur="166" decel="50000">
                                          <p:stCondLst>
                                            <p:cond delay="1668"/>
                                          </p:stCondLst>
                                        </p:cTn>
                                        <p:tgtEl>
                                          <p:spTgt spid="2"/>
                                        </p:tgtEl>
                                      </p:cBhvr>
                                      <p:to x="100000" y="100000"/>
                                    </p:animScale>
                                    <p:animScale>
                                      <p:cBhvr>
                                        <p:cTn id="42" dur="26">
                                          <p:stCondLst>
                                            <p:cond delay="1808"/>
                                          </p:stCondLst>
                                        </p:cTn>
                                        <p:tgtEl>
                                          <p:spTgt spid="2"/>
                                        </p:tgtEl>
                                      </p:cBhvr>
                                      <p:to x="100000" y="95000"/>
                                    </p:animScale>
                                    <p:animScale>
                                      <p:cBhvr>
                                        <p:cTn id="43" dur="166" decel="50000">
                                          <p:stCondLst>
                                            <p:cond delay="1834"/>
                                          </p:stCondLst>
                                        </p:cTn>
                                        <p:tgtEl>
                                          <p:spTgt spid="2"/>
                                        </p:tgtEl>
                                      </p:cBhvr>
                                      <p:to x="100000" y="100000"/>
                                    </p:animScale>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nodeType="clickEffect">
                                  <p:stCondLst>
                                    <p:cond delay="0"/>
                                  </p:stCondLst>
                                  <p:childTnLst>
                                    <p:set>
                                      <p:cBhvr>
                                        <p:cTn id="47" dur="1" fill="hold">
                                          <p:stCondLst>
                                            <p:cond delay="0"/>
                                          </p:stCondLst>
                                        </p:cTn>
                                        <p:tgtEl>
                                          <p:spTgt spid="2052"/>
                                        </p:tgtEl>
                                        <p:attrNameLst>
                                          <p:attrName>style.visibility</p:attrName>
                                        </p:attrNameLst>
                                      </p:cBhvr>
                                      <p:to>
                                        <p:strVal val="visible"/>
                                      </p:to>
                                    </p:set>
                                    <p:anim calcmode="lin" valueType="num">
                                      <p:cBhvr additive="base">
                                        <p:cTn id="48" dur="500" fill="hold"/>
                                        <p:tgtEl>
                                          <p:spTgt spid="2052"/>
                                        </p:tgtEl>
                                        <p:attrNameLst>
                                          <p:attrName>ppt_x</p:attrName>
                                        </p:attrNameLst>
                                      </p:cBhvr>
                                      <p:tavLst>
                                        <p:tav tm="0">
                                          <p:val>
                                            <p:strVal val="#ppt_x"/>
                                          </p:val>
                                        </p:tav>
                                        <p:tav tm="100000">
                                          <p:val>
                                            <p:strVal val="#ppt_x"/>
                                          </p:val>
                                        </p:tav>
                                      </p:tavLst>
                                    </p:anim>
                                    <p:anim calcmode="lin" valueType="num">
                                      <p:cBhvr additive="base">
                                        <p:cTn id="49" dur="500" fill="hold"/>
                                        <p:tgtEl>
                                          <p:spTgt spid="2052"/>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53" presetClass="entr" presetSubtype="16" fill="hold" grpId="0" nodeType="clickEffect">
                                  <p:stCondLst>
                                    <p:cond delay="0"/>
                                  </p:stCondLst>
                                  <p:childTnLst>
                                    <p:set>
                                      <p:cBhvr>
                                        <p:cTn id="53" dur="1" fill="hold">
                                          <p:stCondLst>
                                            <p:cond delay="0"/>
                                          </p:stCondLst>
                                        </p:cTn>
                                        <p:tgtEl>
                                          <p:spTgt spid="16"/>
                                        </p:tgtEl>
                                        <p:attrNameLst>
                                          <p:attrName>style.visibility</p:attrName>
                                        </p:attrNameLst>
                                      </p:cBhvr>
                                      <p:to>
                                        <p:strVal val="visible"/>
                                      </p:to>
                                    </p:set>
                                    <p:anim calcmode="lin" valueType="num">
                                      <p:cBhvr>
                                        <p:cTn id="54" dur="500" fill="hold"/>
                                        <p:tgtEl>
                                          <p:spTgt spid="16"/>
                                        </p:tgtEl>
                                        <p:attrNameLst>
                                          <p:attrName>ppt_w</p:attrName>
                                        </p:attrNameLst>
                                      </p:cBhvr>
                                      <p:tavLst>
                                        <p:tav tm="0">
                                          <p:val>
                                            <p:fltVal val="0"/>
                                          </p:val>
                                        </p:tav>
                                        <p:tav tm="100000">
                                          <p:val>
                                            <p:strVal val="#ppt_w"/>
                                          </p:val>
                                        </p:tav>
                                      </p:tavLst>
                                    </p:anim>
                                    <p:anim calcmode="lin" valueType="num">
                                      <p:cBhvr>
                                        <p:cTn id="55" dur="500" fill="hold"/>
                                        <p:tgtEl>
                                          <p:spTgt spid="16"/>
                                        </p:tgtEl>
                                        <p:attrNameLst>
                                          <p:attrName>ppt_h</p:attrName>
                                        </p:attrNameLst>
                                      </p:cBhvr>
                                      <p:tavLst>
                                        <p:tav tm="0">
                                          <p:val>
                                            <p:fltVal val="0"/>
                                          </p:val>
                                        </p:tav>
                                        <p:tav tm="100000">
                                          <p:val>
                                            <p:strVal val="#ppt_h"/>
                                          </p:val>
                                        </p:tav>
                                      </p:tavLst>
                                    </p:anim>
                                    <p:animEffect transition="in" filter="fade">
                                      <p:cBhvr>
                                        <p:cTn id="5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6" grpId="0" animBg="1"/>
      <p:bldP spid="11"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0A0F23"/>
        </a:solidFill>
        <a:effectLst/>
      </p:bgPr>
    </p:bg>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xmlns="" id="{4D06C7D9-2E35-4870-89D6-CC7DF27379E6}"/>
              </a:ext>
            </a:extLst>
          </p:cNvPr>
          <p:cNvPicPr>
            <a:picLocks noChangeAspect="1"/>
          </p:cNvPicPr>
          <p:nvPr/>
        </p:nvPicPr>
        <p:blipFill>
          <a:blip r:embed="rId3"/>
          <a:stretch>
            <a:fillRect/>
          </a:stretch>
        </p:blipFill>
        <p:spPr>
          <a:xfrm>
            <a:off x="-665864" y="2963362"/>
            <a:ext cx="13523728" cy="3835386"/>
          </a:xfrm>
          <a:prstGeom prst="rect">
            <a:avLst/>
          </a:prstGeom>
          <a:effectLst>
            <a:softEdge rad="914400"/>
          </a:effectLst>
        </p:spPr>
      </p:pic>
      <p:cxnSp>
        <p:nvCxnSpPr>
          <p:cNvPr id="13" name="直接连接符 12">
            <a:extLst>
              <a:ext uri="{FF2B5EF4-FFF2-40B4-BE49-F238E27FC236}">
                <a16:creationId xmlns:a16="http://schemas.microsoft.com/office/drawing/2014/main" xmlns="" id="{F1DB460F-824B-4CE8-93E9-19BD83061384}"/>
              </a:ext>
            </a:extLst>
          </p:cNvPr>
          <p:cNvCxnSpPr/>
          <p:nvPr/>
        </p:nvCxnSpPr>
        <p:spPr>
          <a:xfrm>
            <a:off x="2226000" y="2542183"/>
            <a:ext cx="7740000" cy="0"/>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xmlns="" id="{45FFF273-8493-4A27-9ED7-7D3681CA8C4D}"/>
              </a:ext>
            </a:extLst>
          </p:cNvPr>
          <p:cNvSpPr txBox="1"/>
          <p:nvPr/>
        </p:nvSpPr>
        <p:spPr>
          <a:xfrm>
            <a:off x="1853891" y="658255"/>
            <a:ext cx="8484218" cy="1862048"/>
          </a:xfrm>
          <a:prstGeom prst="rect">
            <a:avLst/>
          </a:prstGeom>
          <a:noFill/>
        </p:spPr>
        <p:txBody>
          <a:bodyPr wrap="square" rtlCol="0">
            <a:spAutoFit/>
          </a:bodyPr>
          <a:lstStyle/>
          <a:p>
            <a:pPr algn="ctr"/>
            <a:r>
              <a:rPr lang="en-US" altLang="zh-CN" sz="11500" b="1" dirty="0">
                <a:solidFill>
                  <a:schemeClr val="bg1"/>
                </a:solidFill>
                <a:latin typeface="Impact" panose="020B0806030902050204" pitchFamily="34" charset="0"/>
                <a:ea typeface="微软雅黑" panose="020B0503020204020204" pitchFamily="34" charset="-122"/>
              </a:rPr>
              <a:t>THANK  YOU</a:t>
            </a:r>
            <a:endParaRPr lang="zh-CN" altLang="en-US" sz="11500" b="1" dirty="0">
              <a:solidFill>
                <a:schemeClr val="bg1"/>
              </a:solidFill>
              <a:latin typeface="Impact" panose="020B0806030902050204" pitchFamily="34" charset="0"/>
              <a:ea typeface="微软雅黑" panose="020B0503020204020204" pitchFamily="34" charset="-122"/>
            </a:endParaRPr>
          </a:p>
        </p:txBody>
      </p:sp>
      <p:pic>
        <p:nvPicPr>
          <p:cNvPr id="17" name="图片 16">
            <a:extLst>
              <a:ext uri="{FF2B5EF4-FFF2-40B4-BE49-F238E27FC236}">
                <a16:creationId xmlns:a16="http://schemas.microsoft.com/office/drawing/2014/main" xmlns="" id="{E5CCC47D-84A9-4D8E-A1A1-6E199AF25907}"/>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25444" t="36090" r="25257" b="37109"/>
          <a:stretch/>
        </p:blipFill>
        <p:spPr>
          <a:xfrm>
            <a:off x="4559430" y="5979226"/>
            <a:ext cx="1663119" cy="594361"/>
          </a:xfrm>
          <a:prstGeom prst="rect">
            <a:avLst/>
          </a:prstGeom>
        </p:spPr>
      </p:pic>
      <p:pic>
        <p:nvPicPr>
          <p:cNvPr id="18" name="图片 17">
            <a:extLst>
              <a:ext uri="{FF2B5EF4-FFF2-40B4-BE49-F238E27FC236}">
                <a16:creationId xmlns:a16="http://schemas.microsoft.com/office/drawing/2014/main" xmlns="" id="{EFB0864B-840C-4D6F-B138-FF9F33C77C4E}"/>
              </a:ext>
            </a:extLst>
          </p:cNvPr>
          <p:cNvPicPr>
            <a:picLocks noChangeAspect="1"/>
          </p:cNvPicPr>
          <p:nvPr/>
        </p:nvPicPr>
        <p:blipFill rotWithShape="1">
          <a:blip r:embed="rId5">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rcRect b="63537"/>
          <a:stretch/>
        </p:blipFill>
        <p:spPr>
          <a:xfrm>
            <a:off x="6362108" y="6103029"/>
            <a:ext cx="834639" cy="491752"/>
          </a:xfrm>
          <a:prstGeom prst="rect">
            <a:avLst/>
          </a:prstGeom>
        </p:spPr>
      </p:pic>
    </p:spTree>
    <p:extLst>
      <p:ext uri="{BB962C8B-B14F-4D97-AF65-F5344CB8AC3E}">
        <p14:creationId xmlns:p14="http://schemas.microsoft.com/office/powerpoint/2010/main" val="819707085"/>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0A0F23"/>
        </a:solidFill>
        <a:effectLst/>
      </p:bgPr>
    </p:bg>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xmlns="" id="{A1F08B25-094F-4660-B43F-3A58DDEB410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801385" y="-114300"/>
            <a:ext cx="1301859" cy="920356"/>
          </a:xfrm>
          <a:prstGeom prst="rect">
            <a:avLst/>
          </a:prstGeom>
        </p:spPr>
      </p:pic>
      <p:pic>
        <p:nvPicPr>
          <p:cNvPr id="6" name="图片 5">
            <a:extLst>
              <a:ext uri="{FF2B5EF4-FFF2-40B4-BE49-F238E27FC236}">
                <a16:creationId xmlns:a16="http://schemas.microsoft.com/office/drawing/2014/main" xmlns="" id="{6AD42ACF-DE24-4A31-B43E-9B026E824A53}"/>
              </a:ext>
            </a:extLst>
          </p:cNvPr>
          <p:cNvPicPr>
            <a:picLocks noChangeAspect="1"/>
          </p:cNvPicPr>
          <p:nvPr/>
        </p:nvPicPr>
        <p:blipFill rotWithShape="1">
          <a:blip r:embed="rId5" cstate="print">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rcRect b="63537"/>
          <a:stretch/>
        </p:blipFill>
        <p:spPr>
          <a:xfrm>
            <a:off x="11184164" y="217733"/>
            <a:ext cx="572339" cy="337210"/>
          </a:xfrm>
          <a:prstGeom prst="rect">
            <a:avLst/>
          </a:prstGeom>
        </p:spPr>
      </p:pic>
      <p:cxnSp>
        <p:nvCxnSpPr>
          <p:cNvPr id="7" name="直接连接符 6">
            <a:extLst>
              <a:ext uri="{FF2B5EF4-FFF2-40B4-BE49-F238E27FC236}">
                <a16:creationId xmlns:a16="http://schemas.microsoft.com/office/drawing/2014/main" xmlns="" id="{846A2AA0-00AE-4F7B-B3AB-2E16A5EF995E}"/>
              </a:ext>
            </a:extLst>
          </p:cNvPr>
          <p:cNvCxnSpPr/>
          <p:nvPr/>
        </p:nvCxnSpPr>
        <p:spPr>
          <a:xfrm>
            <a:off x="11103244" y="225825"/>
            <a:ext cx="0" cy="24351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文本框 14"/>
          <p:cNvSpPr txBox="1"/>
          <p:nvPr/>
        </p:nvSpPr>
        <p:spPr>
          <a:xfrm>
            <a:off x="5388114" y="1280160"/>
            <a:ext cx="1415772" cy="461665"/>
          </a:xfrm>
          <a:prstGeom prst="rect">
            <a:avLst/>
          </a:prstGeom>
          <a:noFill/>
        </p:spPr>
        <p:txBody>
          <a:bodyPr wrap="none" rtlCol="0">
            <a:spAutoFit/>
          </a:bodyPr>
          <a:lstStyle/>
          <a:p>
            <a:pPr algn="ctr"/>
            <a:r>
              <a:rPr lang="zh-CN" altLang="en-US" sz="2400" b="1" dirty="0" smtClean="0">
                <a:solidFill>
                  <a:prstClr val="white"/>
                </a:solidFill>
                <a:latin typeface="微软雅黑" panose="020B0503020204020204" pitchFamily="34" charset="-122"/>
                <a:ea typeface="微软雅黑" panose="020B0503020204020204" pitchFamily="34" charset="-122"/>
              </a:rPr>
              <a:t>版权声明</a:t>
            </a:r>
          </a:p>
        </p:txBody>
      </p:sp>
      <p:sp>
        <p:nvSpPr>
          <p:cNvPr id="17" name="文本框 16"/>
          <p:cNvSpPr txBox="1"/>
          <p:nvPr/>
        </p:nvSpPr>
        <p:spPr>
          <a:xfrm>
            <a:off x="1018009" y="2612811"/>
            <a:ext cx="10155981" cy="1754326"/>
          </a:xfrm>
          <a:prstGeom prst="rect">
            <a:avLst/>
          </a:prstGeom>
          <a:noFill/>
        </p:spPr>
        <p:txBody>
          <a:bodyPr wrap="square" rtlCol="0">
            <a:spAutoFit/>
          </a:bodyPr>
          <a:lstStyle/>
          <a:p>
            <a:pPr algn="ctr">
              <a:lnSpc>
                <a:spcPct val="150000"/>
              </a:lnSpc>
            </a:pPr>
            <a:r>
              <a:rPr lang="zh-CN" altLang="en-US" dirty="0" smtClean="0">
                <a:solidFill>
                  <a:prstClr val="white"/>
                </a:solidFill>
                <a:latin typeface="微软雅黑" panose="020B0503020204020204" pitchFamily="34" charset="-122"/>
                <a:ea typeface="微软雅黑" panose="020B0503020204020204" pitchFamily="34" charset="-122"/>
              </a:rPr>
              <a:t>本课件所采用的部分文字、图片及代码片段摘录于网络社区，</a:t>
            </a:r>
            <a:endParaRPr lang="en-US" altLang="zh-CN" dirty="0" smtClean="0">
              <a:solidFill>
                <a:prstClr val="white"/>
              </a:solidFill>
              <a:latin typeface="微软雅黑" panose="020B0503020204020204" pitchFamily="34" charset="-122"/>
              <a:ea typeface="微软雅黑" panose="020B0503020204020204" pitchFamily="34" charset="-122"/>
            </a:endParaRPr>
          </a:p>
          <a:p>
            <a:pPr algn="ctr">
              <a:lnSpc>
                <a:spcPct val="150000"/>
              </a:lnSpc>
            </a:pPr>
            <a:r>
              <a:rPr lang="zh-CN" altLang="en-US" dirty="0" smtClean="0">
                <a:solidFill>
                  <a:prstClr val="white"/>
                </a:solidFill>
                <a:latin typeface="微软雅黑" panose="020B0503020204020204" pitchFamily="34" charset="-122"/>
                <a:ea typeface="微软雅黑" panose="020B0503020204020204" pitchFamily="34" charset="-122"/>
              </a:rPr>
              <a:t>本课件仅用于顺丰科技有限公司内部学习、研究之用，不涉及商业用途。</a:t>
            </a:r>
            <a:endParaRPr lang="en-US" altLang="zh-CN" dirty="0" smtClean="0">
              <a:solidFill>
                <a:prstClr val="white"/>
              </a:solidFill>
              <a:latin typeface="微软雅黑" panose="020B0503020204020204" pitchFamily="34" charset="-122"/>
              <a:ea typeface="微软雅黑" panose="020B0503020204020204" pitchFamily="34" charset="-122"/>
            </a:endParaRPr>
          </a:p>
          <a:p>
            <a:pPr algn="ctr">
              <a:lnSpc>
                <a:spcPct val="150000"/>
              </a:lnSpc>
            </a:pPr>
            <a:r>
              <a:rPr lang="zh-CN" altLang="en-US" dirty="0" smtClean="0">
                <a:solidFill>
                  <a:prstClr val="white"/>
                </a:solidFill>
                <a:latin typeface="微软雅黑" panose="020B0503020204020204" pitchFamily="34" charset="-122"/>
                <a:ea typeface="微软雅黑" panose="020B0503020204020204" pitchFamily="34" charset="-122"/>
              </a:rPr>
              <a:t>所涉对应部分文字、图片及代码片段版权归属原版权方所有，</a:t>
            </a:r>
            <a:endParaRPr lang="en-US" altLang="zh-CN" dirty="0" smtClean="0">
              <a:solidFill>
                <a:prstClr val="white"/>
              </a:solidFill>
              <a:latin typeface="微软雅黑" panose="020B0503020204020204" pitchFamily="34" charset="-122"/>
              <a:ea typeface="微软雅黑" panose="020B0503020204020204" pitchFamily="34" charset="-122"/>
            </a:endParaRPr>
          </a:p>
          <a:p>
            <a:pPr algn="ctr">
              <a:lnSpc>
                <a:spcPct val="150000"/>
              </a:lnSpc>
            </a:pPr>
            <a:r>
              <a:rPr lang="zh-CN" altLang="en-US" dirty="0" smtClean="0">
                <a:solidFill>
                  <a:prstClr val="white"/>
                </a:solidFill>
                <a:latin typeface="微软雅黑" panose="020B0503020204020204" pitchFamily="34" charset="-122"/>
                <a:ea typeface="微软雅黑" panose="020B0503020204020204" pitchFamily="34" charset="-122"/>
              </a:rPr>
              <a:t>本课件版权归属顺丰科技有限公司。</a:t>
            </a:r>
          </a:p>
        </p:txBody>
      </p:sp>
    </p:spTree>
    <p:extLst>
      <p:ext uri="{BB962C8B-B14F-4D97-AF65-F5344CB8AC3E}">
        <p14:creationId xmlns:p14="http://schemas.microsoft.com/office/powerpoint/2010/main" val="1701998647"/>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defRPr dirty="0" smtClean="0">
            <a:solidFill>
              <a:schemeClr val="bg1"/>
            </a:solidFill>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defRPr dirty="0" smtClean="0">
            <a:solidFill>
              <a:schemeClr val="bg1"/>
            </a:solidFill>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3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mpd="sng">
          <a:solidFill>
            <a:schemeClr val="bg1">
              <a:lumMod val="95000"/>
            </a:schemeClr>
          </a:solidFill>
          <a:prstDash val="solid"/>
          <a:tailEnd type="arrow"/>
        </a:ln>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lnDef>
      <a:spPr>
        <a:ln w="25400" cmpd="sng">
          <a:solidFill>
            <a:srgbClr val="C00000"/>
          </a:solidFill>
          <a:prstDash val="solid"/>
          <a:headEnd type="triangl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dirty="0" smtClean="0">
            <a:solidFill>
              <a:schemeClr val="bg1"/>
            </a:solidFill>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4.xml><?xml version="1.0" encoding="utf-8"?>
<a:theme xmlns:a="http://schemas.openxmlformats.org/drawingml/2006/main" name="2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defRPr dirty="0" smtClean="0">
            <a:solidFill>
              <a:schemeClr val="bg1"/>
            </a:solidFill>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otalTime>5009</TotalTime>
  <Words>8383</Words>
  <Application>Microsoft Office PowerPoint</Application>
  <PresentationFormat>自定义</PresentationFormat>
  <Paragraphs>815</Paragraphs>
  <Slides>75</Slides>
  <Notes>6</Notes>
  <HiddenSlides>0</HiddenSlides>
  <MMClips>0</MMClips>
  <ScaleCrop>false</ScaleCrop>
  <HeadingPairs>
    <vt:vector size="4" baseType="variant">
      <vt:variant>
        <vt:lpstr>主题</vt:lpstr>
      </vt:variant>
      <vt:variant>
        <vt:i4>4</vt:i4>
      </vt:variant>
      <vt:variant>
        <vt:lpstr>幻灯片标题</vt:lpstr>
      </vt:variant>
      <vt:variant>
        <vt:i4>75</vt:i4>
      </vt:variant>
    </vt:vector>
  </HeadingPairs>
  <TitlesOfParts>
    <vt:vector size="79" baseType="lpstr">
      <vt:lpstr>Office 主题​​</vt:lpstr>
      <vt:lpstr>1_Office 主题​​</vt:lpstr>
      <vt:lpstr>3_Office 主题​​</vt:lpstr>
      <vt:lpstr>2_Office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姜龙</dc:creator>
  <cp:lastModifiedBy>Windows7</cp:lastModifiedBy>
  <cp:revision>582</cp:revision>
  <dcterms:created xsi:type="dcterms:W3CDTF">2019-03-12T09:40:13Z</dcterms:created>
  <dcterms:modified xsi:type="dcterms:W3CDTF">2019-07-18T09:49:06Z</dcterms:modified>
</cp:coreProperties>
</file>